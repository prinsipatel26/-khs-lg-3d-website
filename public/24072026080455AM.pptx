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3"/>
  </p:notesMasterIdLst>
  <p:handoutMasterIdLst>
    <p:handoutMasterId r:id="rId154"/>
  </p:handoutMasterIdLst>
  <p:sldIdLst>
    <p:sldId id="283" r:id="rId2"/>
    <p:sldId id="694" r:id="rId3"/>
    <p:sldId id="505" r:id="rId4"/>
    <p:sldId id="506" r:id="rId5"/>
    <p:sldId id="684" r:id="rId6"/>
    <p:sldId id="663" r:id="rId7"/>
    <p:sldId id="664" r:id="rId8"/>
    <p:sldId id="762" r:id="rId9"/>
    <p:sldId id="665" r:id="rId10"/>
    <p:sldId id="666" r:id="rId11"/>
    <p:sldId id="667" r:id="rId12"/>
    <p:sldId id="669" r:id="rId13"/>
    <p:sldId id="670" r:id="rId14"/>
    <p:sldId id="671" r:id="rId15"/>
    <p:sldId id="672" r:id="rId16"/>
    <p:sldId id="673" r:id="rId17"/>
    <p:sldId id="674" r:id="rId18"/>
    <p:sldId id="675" r:id="rId19"/>
    <p:sldId id="693" r:id="rId20"/>
    <p:sldId id="773" r:id="rId21"/>
    <p:sldId id="774" r:id="rId22"/>
    <p:sldId id="676" r:id="rId23"/>
    <p:sldId id="679" r:id="rId24"/>
    <p:sldId id="677" r:id="rId25"/>
    <p:sldId id="680" r:id="rId26"/>
    <p:sldId id="681" r:id="rId27"/>
    <p:sldId id="682" r:id="rId28"/>
    <p:sldId id="683" r:id="rId29"/>
    <p:sldId id="686" r:id="rId30"/>
    <p:sldId id="687" r:id="rId31"/>
    <p:sldId id="692" r:id="rId32"/>
    <p:sldId id="688" r:id="rId33"/>
    <p:sldId id="695" r:id="rId34"/>
    <p:sldId id="696" r:id="rId35"/>
    <p:sldId id="691" r:id="rId36"/>
    <p:sldId id="763" r:id="rId37"/>
    <p:sldId id="697" r:id="rId38"/>
    <p:sldId id="698" r:id="rId39"/>
    <p:sldId id="699" r:id="rId40"/>
    <p:sldId id="700" r:id="rId41"/>
    <p:sldId id="701" r:id="rId42"/>
    <p:sldId id="702" r:id="rId43"/>
    <p:sldId id="703" r:id="rId44"/>
    <p:sldId id="704" r:id="rId45"/>
    <p:sldId id="705" r:id="rId46"/>
    <p:sldId id="706" r:id="rId47"/>
    <p:sldId id="707" r:id="rId48"/>
    <p:sldId id="708" r:id="rId49"/>
    <p:sldId id="709" r:id="rId50"/>
    <p:sldId id="764" r:id="rId51"/>
    <p:sldId id="542" r:id="rId52"/>
    <p:sldId id="775" r:id="rId53"/>
    <p:sldId id="538" r:id="rId54"/>
    <p:sldId id="710" r:id="rId55"/>
    <p:sldId id="728" r:id="rId56"/>
    <p:sldId id="715" r:id="rId57"/>
    <p:sldId id="716" r:id="rId58"/>
    <p:sldId id="717" r:id="rId59"/>
    <p:sldId id="718" r:id="rId60"/>
    <p:sldId id="719" r:id="rId61"/>
    <p:sldId id="720" r:id="rId62"/>
    <p:sldId id="722" r:id="rId63"/>
    <p:sldId id="723" r:id="rId64"/>
    <p:sldId id="724" r:id="rId65"/>
    <p:sldId id="725" r:id="rId66"/>
    <p:sldId id="726" r:id="rId67"/>
    <p:sldId id="727" r:id="rId68"/>
    <p:sldId id="737" r:id="rId69"/>
    <p:sldId id="731" r:id="rId70"/>
    <p:sldId id="765" r:id="rId71"/>
    <p:sldId id="735" r:id="rId72"/>
    <p:sldId id="732" r:id="rId73"/>
    <p:sldId id="733" r:id="rId74"/>
    <p:sldId id="734" r:id="rId75"/>
    <p:sldId id="741" r:id="rId76"/>
    <p:sldId id="743" r:id="rId77"/>
    <p:sldId id="742" r:id="rId78"/>
    <p:sldId id="738" r:id="rId79"/>
    <p:sldId id="739" r:id="rId80"/>
    <p:sldId id="730" r:id="rId81"/>
    <p:sldId id="711" r:id="rId82"/>
    <p:sldId id="755" r:id="rId83"/>
    <p:sldId id="758" r:id="rId84"/>
    <p:sldId id="757" r:id="rId85"/>
    <p:sldId id="776" r:id="rId86"/>
    <p:sldId id="777" r:id="rId87"/>
    <p:sldId id="779" r:id="rId88"/>
    <p:sldId id="778" r:id="rId89"/>
    <p:sldId id="780" r:id="rId90"/>
    <p:sldId id="766" r:id="rId91"/>
    <p:sldId id="781" r:id="rId92"/>
    <p:sldId id="782" r:id="rId93"/>
    <p:sldId id="783" r:id="rId94"/>
    <p:sldId id="784" r:id="rId95"/>
    <p:sldId id="785" r:id="rId96"/>
    <p:sldId id="786" r:id="rId97"/>
    <p:sldId id="787" r:id="rId98"/>
    <p:sldId id="788" r:id="rId99"/>
    <p:sldId id="789" r:id="rId100"/>
    <p:sldId id="790" r:id="rId101"/>
    <p:sldId id="791" r:id="rId102"/>
    <p:sldId id="792" r:id="rId103"/>
    <p:sldId id="793" r:id="rId104"/>
    <p:sldId id="794" r:id="rId105"/>
    <p:sldId id="767" r:id="rId106"/>
    <p:sldId id="433" r:id="rId107"/>
    <p:sldId id="768" r:id="rId108"/>
    <p:sldId id="455" r:id="rId109"/>
    <p:sldId id="795" r:id="rId110"/>
    <p:sldId id="796" r:id="rId111"/>
    <p:sldId id="797" r:id="rId112"/>
    <p:sldId id="769" r:id="rId113"/>
    <p:sldId id="798" r:id="rId114"/>
    <p:sldId id="461" r:id="rId115"/>
    <p:sldId id="462" r:id="rId116"/>
    <p:sldId id="435" r:id="rId117"/>
    <p:sldId id="799" r:id="rId118"/>
    <p:sldId id="463" r:id="rId119"/>
    <p:sldId id="800" r:id="rId120"/>
    <p:sldId id="801" r:id="rId121"/>
    <p:sldId id="802" r:id="rId122"/>
    <p:sldId id="803" r:id="rId123"/>
    <p:sldId id="804" r:id="rId124"/>
    <p:sldId id="805" r:id="rId125"/>
    <p:sldId id="806" r:id="rId126"/>
    <p:sldId id="807" r:id="rId127"/>
    <p:sldId id="808" r:id="rId128"/>
    <p:sldId id="809" r:id="rId129"/>
    <p:sldId id="810" r:id="rId130"/>
    <p:sldId id="770" r:id="rId131"/>
    <p:sldId id="811" r:id="rId132"/>
    <p:sldId id="812" r:id="rId133"/>
    <p:sldId id="813" r:id="rId134"/>
    <p:sldId id="814" r:id="rId135"/>
    <p:sldId id="815" r:id="rId136"/>
    <p:sldId id="816" r:id="rId137"/>
    <p:sldId id="817" r:id="rId138"/>
    <p:sldId id="771" r:id="rId139"/>
    <p:sldId id="818" r:id="rId140"/>
    <p:sldId id="819" r:id="rId141"/>
    <p:sldId id="820" r:id="rId142"/>
    <p:sldId id="821" r:id="rId143"/>
    <p:sldId id="822" r:id="rId144"/>
    <p:sldId id="772" r:id="rId145"/>
    <p:sldId id="823" r:id="rId146"/>
    <p:sldId id="824" r:id="rId147"/>
    <p:sldId id="825" r:id="rId148"/>
    <p:sldId id="826" r:id="rId149"/>
    <p:sldId id="827" r:id="rId150"/>
    <p:sldId id="828" r:id="rId151"/>
    <p:sldId id="366" r:id="rId152"/>
  </p:sldIdLst>
  <p:sldSz cx="12192000" cy="6858000"/>
  <p:notesSz cx="6858000" cy="9144000"/>
  <p:embeddedFontLst>
    <p:embeddedFont>
      <p:font typeface="Cambria Math" panose="02040503050406030204" pitchFamily="18" charset="0"/>
      <p:regular r:id="rId155"/>
    </p:embeddedFont>
    <p:embeddedFont>
      <p:font typeface="MS PGothic" panose="020B0600070205080204" pitchFamily="34" charset="-128"/>
      <p:regular r:id="rId156"/>
    </p:embeddedFont>
    <p:embeddedFont>
      <p:font typeface="MS PGothic" panose="020B0600070205080204" pitchFamily="34" charset="-128"/>
      <p:regular r:id="rId156"/>
    </p:embeddedFont>
    <p:embeddedFont>
      <p:font typeface="Roboto Condensed" panose="02000000000000000000" pitchFamily="2" charset="0"/>
      <p:regular r:id="rId157"/>
      <p:bold r:id="rId158"/>
      <p:italic r:id="rId159"/>
      <p:boldItalic r:id="rId160"/>
    </p:embeddedFont>
    <p:embeddedFont>
      <p:font typeface="Roboto Condensed Light" panose="02000000000000000000" pitchFamily="2" charset="0"/>
      <p:regular r:id="rId161"/>
      <p:italic r:id="rId162"/>
    </p:embeddedFont>
    <p:embeddedFont>
      <p:font typeface="Webdings" panose="05030102010509060703" pitchFamily="18" charset="2"/>
      <p:regular r:id="rId163"/>
    </p:embeddedFont>
    <p:embeddedFont>
      <p:font typeface="Wingdings 2" panose="05020102010507070707" pitchFamily="18" charset="2"/>
      <p:regular r:id="rId164"/>
    </p:embeddedFont>
    <p:embeddedFont>
      <p:font typeface="Wingdings 3" panose="05040102010807070707" pitchFamily="18" charset="2"/>
      <p:regular r:id="rId16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2c+6maGQ4lMSRkJBngQCTg==" hashData="vJ6DztvRybo2RnDEVwJ4d+pKh/1q7zy2EGFa483d4QLx74RVcUm2M2/IQ3BYkjvrNcWc5ybmUnQXcm4q2R5JgA=="/>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6199"/>
    <a:srgbClr val="1D3064"/>
    <a:srgbClr val="B84742"/>
    <a:srgbClr val="2FA0AE"/>
    <a:srgbClr val="558ED5"/>
    <a:srgbClr val="5C0000"/>
    <a:srgbClr val="F54337"/>
    <a:srgbClr val="ED524F"/>
    <a:srgbClr val="3366FF"/>
    <a:srgbClr val="301B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33" autoAdjust="0"/>
    <p:restoredTop sz="94660"/>
  </p:normalViewPr>
  <p:slideViewPr>
    <p:cSldViewPr snapToGrid="0">
      <p:cViewPr varScale="1">
        <p:scale>
          <a:sx n="87" d="100"/>
          <a:sy n="87" d="100"/>
        </p:scale>
        <p:origin x="624" y="53"/>
      </p:cViewPr>
      <p:guideLst>
        <p:guide orient="horz" pos="2160"/>
        <p:guide pos="3840"/>
      </p:guideLst>
    </p:cSldViewPr>
  </p:slideViewPr>
  <p:notesTextViewPr>
    <p:cViewPr>
      <p:scale>
        <a:sx n="1" d="1"/>
        <a:sy n="1" d="1"/>
      </p:scale>
      <p:origin x="0" y="0"/>
    </p:cViewPr>
  </p:notesTextViewPr>
  <p:notesViewPr>
    <p:cSldViewPr snapToGrid="0">
      <p:cViewPr varScale="1">
        <p:scale>
          <a:sx n="54" d="100"/>
          <a:sy n="54" d="100"/>
        </p:scale>
        <p:origin x="1944" y="42"/>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font" Target="fonts/font5.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font" Target="fonts/font6.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font" Target="fonts/font7.fntdata"/><Relationship Id="rId16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font" Target="fonts/font2.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font" Target="fonts/font8.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font" Target="fonts/font3.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font" Target="fonts/font9.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font" Target="fonts/font10.fntdata"/><Relationship Id="rId16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handoutMaster" Target="handoutMasters/handoutMaster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font" Target="fonts/font11.fntdata"/><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font" Target="fonts/font1.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D5B210-100F-4472-B8DE-F8D1D0E0E1EA}" type="doc">
      <dgm:prSet loTypeId="urn:microsoft.com/office/officeart/2005/8/layout/cycle5" loCatId="cycle" qsTypeId="urn:microsoft.com/office/officeart/2005/8/quickstyle/simple1" qsCatId="simple" csTypeId="urn:microsoft.com/office/officeart/2005/8/colors/accent2_2" csCatId="accent2" phldr="1"/>
      <dgm:spPr/>
      <dgm:t>
        <a:bodyPr/>
        <a:lstStyle/>
        <a:p>
          <a:endParaRPr lang="en-US"/>
        </a:p>
      </dgm:t>
    </dgm:pt>
    <dgm:pt modelId="{1F5AC928-E19E-4B1E-A801-E867E4FD4121}">
      <dgm:prSet phldrT="[Text]" custT="1"/>
      <dgm:spPr>
        <a:solidFill>
          <a:schemeClr val="accent6"/>
        </a:solidFill>
      </dgm:spPr>
      <dgm:t>
        <a:bodyPr/>
        <a:lstStyle/>
        <a:p>
          <a:r>
            <a:rPr lang="en-US" sz="2000" b="1" dirty="0"/>
            <a:t>P0</a:t>
          </a:r>
        </a:p>
      </dgm:t>
    </dgm:pt>
    <dgm:pt modelId="{4868DF58-3A22-4F60-B21F-2EE238006926}" type="parTrans" cxnId="{79A57FC6-C354-4931-A432-0A351A872662}">
      <dgm:prSet/>
      <dgm:spPr/>
      <dgm:t>
        <a:bodyPr/>
        <a:lstStyle/>
        <a:p>
          <a:endParaRPr lang="en-US"/>
        </a:p>
      </dgm:t>
    </dgm:pt>
    <dgm:pt modelId="{2E2ADFBF-F1C6-43DD-A839-A095B33290F0}" type="sibTrans" cxnId="{79A57FC6-C354-4931-A432-0A351A872662}">
      <dgm:prSet/>
      <dgm:spPr/>
      <dgm:t>
        <a:bodyPr/>
        <a:lstStyle/>
        <a:p>
          <a:endParaRPr lang="en-US"/>
        </a:p>
      </dgm:t>
    </dgm:pt>
    <dgm:pt modelId="{683FBB12-F552-4671-913E-06E7E06DD4F5}">
      <dgm:prSet phldrT="[Text]" custT="1"/>
      <dgm:spPr>
        <a:solidFill>
          <a:schemeClr val="accent6"/>
        </a:solidFill>
      </dgm:spPr>
      <dgm:t>
        <a:bodyPr/>
        <a:lstStyle/>
        <a:p>
          <a:r>
            <a:rPr lang="en-US" sz="2000" b="1" dirty="0"/>
            <a:t>P1</a:t>
          </a:r>
        </a:p>
      </dgm:t>
    </dgm:pt>
    <dgm:pt modelId="{F2818A6C-73E4-4A30-BC28-A5702BBA4C83}" type="parTrans" cxnId="{4DF9BFF9-9B91-48B0-9C52-6569C16A8077}">
      <dgm:prSet/>
      <dgm:spPr/>
      <dgm:t>
        <a:bodyPr/>
        <a:lstStyle/>
        <a:p>
          <a:endParaRPr lang="en-US"/>
        </a:p>
      </dgm:t>
    </dgm:pt>
    <dgm:pt modelId="{9C14DE87-E110-4FEA-BD86-9BF3D4A24023}" type="sibTrans" cxnId="{4DF9BFF9-9B91-48B0-9C52-6569C16A8077}">
      <dgm:prSet/>
      <dgm:spPr/>
      <dgm:t>
        <a:bodyPr/>
        <a:lstStyle/>
        <a:p>
          <a:endParaRPr lang="en-US"/>
        </a:p>
      </dgm:t>
    </dgm:pt>
    <dgm:pt modelId="{368EE055-8776-4650-B854-D0CBA0686F92}">
      <dgm:prSet phldrT="[Text]" custT="1"/>
      <dgm:spPr>
        <a:solidFill>
          <a:schemeClr val="accent6"/>
        </a:solidFill>
      </dgm:spPr>
      <dgm:t>
        <a:bodyPr/>
        <a:lstStyle/>
        <a:p>
          <a:r>
            <a:rPr lang="en-US" sz="2000" b="1" dirty="0"/>
            <a:t>P2</a:t>
          </a:r>
        </a:p>
      </dgm:t>
    </dgm:pt>
    <dgm:pt modelId="{E5FFED63-E538-43A0-87F1-E7B3852B9ED3}" type="parTrans" cxnId="{3DFDF07A-B8F6-482C-B325-3CFD42E183EB}">
      <dgm:prSet/>
      <dgm:spPr/>
      <dgm:t>
        <a:bodyPr/>
        <a:lstStyle/>
        <a:p>
          <a:endParaRPr lang="en-US"/>
        </a:p>
      </dgm:t>
    </dgm:pt>
    <dgm:pt modelId="{EFCDBE4F-6A6F-4ED9-98D1-6852EE7B4D63}" type="sibTrans" cxnId="{3DFDF07A-B8F6-482C-B325-3CFD42E183EB}">
      <dgm:prSet/>
      <dgm:spPr/>
      <dgm:t>
        <a:bodyPr/>
        <a:lstStyle/>
        <a:p>
          <a:endParaRPr lang="en-US"/>
        </a:p>
      </dgm:t>
    </dgm:pt>
    <dgm:pt modelId="{FE790153-994F-45A7-8953-EE8B51C8412A}">
      <dgm:prSet phldrT="[Text]" custT="1"/>
      <dgm:spPr>
        <a:solidFill>
          <a:schemeClr val="accent6"/>
        </a:solidFill>
      </dgm:spPr>
      <dgm:t>
        <a:bodyPr/>
        <a:lstStyle/>
        <a:p>
          <a:r>
            <a:rPr lang="en-US" sz="2000" b="1" dirty="0"/>
            <a:t>P3</a:t>
          </a:r>
        </a:p>
      </dgm:t>
    </dgm:pt>
    <dgm:pt modelId="{15A6D3B2-81CF-4C80-99C4-FE3F5718456F}" type="parTrans" cxnId="{D90806B9-3920-44AF-BA9D-B2D60C49ED34}">
      <dgm:prSet/>
      <dgm:spPr/>
      <dgm:t>
        <a:bodyPr/>
        <a:lstStyle/>
        <a:p>
          <a:endParaRPr lang="en-US"/>
        </a:p>
      </dgm:t>
    </dgm:pt>
    <dgm:pt modelId="{6DA87BF8-26F4-4204-BDB5-AC7DB8335DCC}" type="sibTrans" cxnId="{D90806B9-3920-44AF-BA9D-B2D60C49ED34}">
      <dgm:prSet/>
      <dgm:spPr/>
      <dgm:t>
        <a:bodyPr/>
        <a:lstStyle/>
        <a:p>
          <a:endParaRPr lang="en-US"/>
        </a:p>
      </dgm:t>
    </dgm:pt>
    <dgm:pt modelId="{7C633495-21FE-443A-90FC-D6B53B84E1FA}">
      <dgm:prSet phldrT="[Text]" custT="1"/>
      <dgm:spPr>
        <a:solidFill>
          <a:schemeClr val="accent6"/>
        </a:solidFill>
      </dgm:spPr>
      <dgm:t>
        <a:bodyPr/>
        <a:lstStyle/>
        <a:p>
          <a:r>
            <a:rPr lang="en-US" sz="2000" b="1" dirty="0"/>
            <a:t>P4</a:t>
          </a:r>
        </a:p>
      </dgm:t>
    </dgm:pt>
    <dgm:pt modelId="{01B51DA4-C600-4F6E-B2BA-D696FAA84819}" type="parTrans" cxnId="{BAA30CC8-03A4-44F5-8224-1383CE45C9B1}">
      <dgm:prSet/>
      <dgm:spPr/>
      <dgm:t>
        <a:bodyPr/>
        <a:lstStyle/>
        <a:p>
          <a:endParaRPr lang="en-US"/>
        </a:p>
      </dgm:t>
    </dgm:pt>
    <dgm:pt modelId="{6ABF6DE2-1005-407F-B283-26172BFC6C45}" type="sibTrans" cxnId="{BAA30CC8-03A4-44F5-8224-1383CE45C9B1}">
      <dgm:prSet/>
      <dgm:spPr/>
      <dgm:t>
        <a:bodyPr/>
        <a:lstStyle/>
        <a:p>
          <a:endParaRPr lang="en-US"/>
        </a:p>
      </dgm:t>
    </dgm:pt>
    <dgm:pt modelId="{EAD9C2E8-0A11-46C6-9DAC-0BC571EF6D77}">
      <dgm:prSet phldrT="[Text]" custT="1"/>
      <dgm:spPr>
        <a:solidFill>
          <a:schemeClr val="accent6"/>
        </a:solidFill>
      </dgm:spPr>
      <dgm:t>
        <a:bodyPr/>
        <a:lstStyle/>
        <a:p>
          <a:r>
            <a:rPr lang="en-US" sz="2000" b="1" dirty="0"/>
            <a:t>P5</a:t>
          </a:r>
        </a:p>
      </dgm:t>
    </dgm:pt>
    <dgm:pt modelId="{1F4B7C1B-4A7F-4BC4-9FFA-A5A7A1BA6CF5}" type="parTrans" cxnId="{CC0A3623-D75E-4FB2-BC0F-F2B69F40C046}">
      <dgm:prSet/>
      <dgm:spPr/>
      <dgm:t>
        <a:bodyPr/>
        <a:lstStyle/>
        <a:p>
          <a:endParaRPr lang="en-US"/>
        </a:p>
      </dgm:t>
    </dgm:pt>
    <dgm:pt modelId="{3DBA2D07-BF79-44A0-9E93-5C2648431DCC}" type="sibTrans" cxnId="{CC0A3623-D75E-4FB2-BC0F-F2B69F40C046}">
      <dgm:prSet/>
      <dgm:spPr/>
      <dgm:t>
        <a:bodyPr/>
        <a:lstStyle/>
        <a:p>
          <a:endParaRPr lang="en-US"/>
        </a:p>
      </dgm:t>
    </dgm:pt>
    <dgm:pt modelId="{5DD00540-0C1C-47D9-B6D4-11E6F6DB163B}">
      <dgm:prSet phldrT="[Text]" custT="1"/>
      <dgm:spPr>
        <a:solidFill>
          <a:schemeClr val="accent6"/>
        </a:solidFill>
      </dgm:spPr>
      <dgm:t>
        <a:bodyPr/>
        <a:lstStyle/>
        <a:p>
          <a:r>
            <a:rPr lang="en-US" sz="2000" b="1" dirty="0"/>
            <a:t>P6</a:t>
          </a:r>
        </a:p>
      </dgm:t>
    </dgm:pt>
    <dgm:pt modelId="{3C7D42CC-7E75-4529-9534-70A8FDB544C9}" type="parTrans" cxnId="{B2B6BF14-1226-4508-96EC-7E997F4D42F8}">
      <dgm:prSet/>
      <dgm:spPr/>
      <dgm:t>
        <a:bodyPr/>
        <a:lstStyle/>
        <a:p>
          <a:endParaRPr lang="en-US"/>
        </a:p>
      </dgm:t>
    </dgm:pt>
    <dgm:pt modelId="{16E54351-3712-4808-894D-D6EEBF8B2AD0}" type="sibTrans" cxnId="{B2B6BF14-1226-4508-96EC-7E997F4D42F8}">
      <dgm:prSet/>
      <dgm:spPr/>
      <dgm:t>
        <a:bodyPr/>
        <a:lstStyle/>
        <a:p>
          <a:endParaRPr lang="en-US"/>
        </a:p>
      </dgm:t>
    </dgm:pt>
    <dgm:pt modelId="{A237F76E-AB24-4AF1-B09A-5624DB307A7B}">
      <dgm:prSet phldrT="[Text]" custT="1"/>
      <dgm:spPr>
        <a:solidFill>
          <a:schemeClr val="accent6"/>
        </a:solidFill>
      </dgm:spPr>
      <dgm:t>
        <a:bodyPr/>
        <a:lstStyle/>
        <a:p>
          <a:r>
            <a:rPr lang="en-US" sz="2000" b="1" dirty="0"/>
            <a:t>P7</a:t>
          </a:r>
        </a:p>
      </dgm:t>
    </dgm:pt>
    <dgm:pt modelId="{B6457961-DD7C-430E-9F13-1297BA0C3896}" type="parTrans" cxnId="{1E2F885E-B564-4DF0-9109-8C1F1BBC4EFA}">
      <dgm:prSet/>
      <dgm:spPr/>
      <dgm:t>
        <a:bodyPr/>
        <a:lstStyle/>
        <a:p>
          <a:endParaRPr lang="en-US"/>
        </a:p>
      </dgm:t>
    </dgm:pt>
    <dgm:pt modelId="{FFD0B80C-326F-4CA3-A32C-D06953AD2932}" type="sibTrans" cxnId="{1E2F885E-B564-4DF0-9109-8C1F1BBC4EFA}">
      <dgm:prSet/>
      <dgm:spPr/>
      <dgm:t>
        <a:bodyPr/>
        <a:lstStyle/>
        <a:p>
          <a:endParaRPr lang="en-US"/>
        </a:p>
      </dgm:t>
    </dgm:pt>
    <dgm:pt modelId="{02A9CA25-A190-480A-899F-1E2D15ABA6B2}" type="pres">
      <dgm:prSet presAssocID="{DED5B210-100F-4472-B8DE-F8D1D0E0E1EA}" presName="cycle" presStyleCnt="0">
        <dgm:presLayoutVars>
          <dgm:dir/>
          <dgm:resizeHandles val="exact"/>
        </dgm:presLayoutVars>
      </dgm:prSet>
      <dgm:spPr/>
    </dgm:pt>
    <dgm:pt modelId="{3FC5A6DC-1F50-4698-BADE-FFA8C9359DDA}" type="pres">
      <dgm:prSet presAssocID="{1F5AC928-E19E-4B1E-A801-E867E4FD4121}" presName="node" presStyleLbl="node1" presStyleIdx="0" presStyleCnt="8">
        <dgm:presLayoutVars>
          <dgm:bulletEnabled val="1"/>
        </dgm:presLayoutVars>
      </dgm:prSet>
      <dgm:spPr/>
    </dgm:pt>
    <dgm:pt modelId="{3C2713EF-49F5-41BC-9DD5-D8D025D5F663}" type="pres">
      <dgm:prSet presAssocID="{1F5AC928-E19E-4B1E-A801-E867E4FD4121}" presName="spNode" presStyleCnt="0"/>
      <dgm:spPr/>
    </dgm:pt>
    <dgm:pt modelId="{23F3BF2D-452F-4C54-9528-8B5A24AF3442}" type="pres">
      <dgm:prSet presAssocID="{2E2ADFBF-F1C6-43DD-A839-A095B33290F0}" presName="sibTrans" presStyleLbl="sibTrans1D1" presStyleIdx="0" presStyleCnt="8"/>
      <dgm:spPr/>
    </dgm:pt>
    <dgm:pt modelId="{6D7741B6-819A-46A3-82A5-DE75120F950E}" type="pres">
      <dgm:prSet presAssocID="{683FBB12-F552-4671-913E-06E7E06DD4F5}" presName="node" presStyleLbl="node1" presStyleIdx="1" presStyleCnt="8">
        <dgm:presLayoutVars>
          <dgm:bulletEnabled val="1"/>
        </dgm:presLayoutVars>
      </dgm:prSet>
      <dgm:spPr/>
    </dgm:pt>
    <dgm:pt modelId="{70851511-BCCC-436A-92F3-088348806C4B}" type="pres">
      <dgm:prSet presAssocID="{683FBB12-F552-4671-913E-06E7E06DD4F5}" presName="spNode" presStyleCnt="0"/>
      <dgm:spPr/>
    </dgm:pt>
    <dgm:pt modelId="{286A9028-C541-42AD-82BC-5213FBF83011}" type="pres">
      <dgm:prSet presAssocID="{9C14DE87-E110-4FEA-BD86-9BF3D4A24023}" presName="sibTrans" presStyleLbl="sibTrans1D1" presStyleIdx="1" presStyleCnt="8"/>
      <dgm:spPr/>
    </dgm:pt>
    <dgm:pt modelId="{2E78F5BF-F65F-406C-8D99-56A1FA6FBA6C}" type="pres">
      <dgm:prSet presAssocID="{368EE055-8776-4650-B854-D0CBA0686F92}" presName="node" presStyleLbl="node1" presStyleIdx="2" presStyleCnt="8">
        <dgm:presLayoutVars>
          <dgm:bulletEnabled val="1"/>
        </dgm:presLayoutVars>
      </dgm:prSet>
      <dgm:spPr/>
    </dgm:pt>
    <dgm:pt modelId="{0DDEB9CC-C221-474E-A832-35CC56F2D35C}" type="pres">
      <dgm:prSet presAssocID="{368EE055-8776-4650-B854-D0CBA0686F92}" presName="spNode" presStyleCnt="0"/>
      <dgm:spPr/>
    </dgm:pt>
    <dgm:pt modelId="{BBE61AAB-23E3-4125-B778-3526EDB2E4AB}" type="pres">
      <dgm:prSet presAssocID="{EFCDBE4F-6A6F-4ED9-98D1-6852EE7B4D63}" presName="sibTrans" presStyleLbl="sibTrans1D1" presStyleIdx="2" presStyleCnt="8"/>
      <dgm:spPr/>
    </dgm:pt>
    <dgm:pt modelId="{8B6BF982-1EDE-41B4-8CD2-072EBB3DFAEE}" type="pres">
      <dgm:prSet presAssocID="{FE790153-994F-45A7-8953-EE8B51C8412A}" presName="node" presStyleLbl="node1" presStyleIdx="3" presStyleCnt="8">
        <dgm:presLayoutVars>
          <dgm:bulletEnabled val="1"/>
        </dgm:presLayoutVars>
      </dgm:prSet>
      <dgm:spPr/>
    </dgm:pt>
    <dgm:pt modelId="{8B0D8F09-FDF1-4580-ADFB-C6CF24D54D81}" type="pres">
      <dgm:prSet presAssocID="{FE790153-994F-45A7-8953-EE8B51C8412A}" presName="spNode" presStyleCnt="0"/>
      <dgm:spPr/>
    </dgm:pt>
    <dgm:pt modelId="{25D67A16-6949-4DCF-9CC0-28122A678481}" type="pres">
      <dgm:prSet presAssocID="{6DA87BF8-26F4-4204-BDB5-AC7DB8335DCC}" presName="sibTrans" presStyleLbl="sibTrans1D1" presStyleIdx="3" presStyleCnt="8"/>
      <dgm:spPr/>
    </dgm:pt>
    <dgm:pt modelId="{801E6E36-5D71-471A-A46B-909F6BBF3A27}" type="pres">
      <dgm:prSet presAssocID="{7C633495-21FE-443A-90FC-D6B53B84E1FA}" presName="node" presStyleLbl="node1" presStyleIdx="4" presStyleCnt="8">
        <dgm:presLayoutVars>
          <dgm:bulletEnabled val="1"/>
        </dgm:presLayoutVars>
      </dgm:prSet>
      <dgm:spPr/>
    </dgm:pt>
    <dgm:pt modelId="{384B30A0-FDF1-47C5-BAD5-3812BB02E595}" type="pres">
      <dgm:prSet presAssocID="{7C633495-21FE-443A-90FC-D6B53B84E1FA}" presName="spNode" presStyleCnt="0"/>
      <dgm:spPr/>
    </dgm:pt>
    <dgm:pt modelId="{0F71E6BA-433D-4DEB-8F5B-01D526FC909C}" type="pres">
      <dgm:prSet presAssocID="{6ABF6DE2-1005-407F-B283-26172BFC6C45}" presName="sibTrans" presStyleLbl="sibTrans1D1" presStyleIdx="4" presStyleCnt="8"/>
      <dgm:spPr/>
    </dgm:pt>
    <dgm:pt modelId="{04746D29-A235-43A6-83E1-7CF43D6BEC6B}" type="pres">
      <dgm:prSet presAssocID="{EAD9C2E8-0A11-46C6-9DAC-0BC571EF6D77}" presName="node" presStyleLbl="node1" presStyleIdx="5" presStyleCnt="8">
        <dgm:presLayoutVars>
          <dgm:bulletEnabled val="1"/>
        </dgm:presLayoutVars>
      </dgm:prSet>
      <dgm:spPr/>
    </dgm:pt>
    <dgm:pt modelId="{C798BDDA-DCEF-4727-BB97-17718B4EBAEC}" type="pres">
      <dgm:prSet presAssocID="{EAD9C2E8-0A11-46C6-9DAC-0BC571EF6D77}" presName="spNode" presStyleCnt="0"/>
      <dgm:spPr/>
    </dgm:pt>
    <dgm:pt modelId="{9BFB1DE4-44FD-42B2-85BA-65779209A09F}" type="pres">
      <dgm:prSet presAssocID="{3DBA2D07-BF79-44A0-9E93-5C2648431DCC}" presName="sibTrans" presStyleLbl="sibTrans1D1" presStyleIdx="5" presStyleCnt="8"/>
      <dgm:spPr/>
    </dgm:pt>
    <dgm:pt modelId="{55BAEA0F-0351-4CAF-928F-F631F096C4CC}" type="pres">
      <dgm:prSet presAssocID="{5DD00540-0C1C-47D9-B6D4-11E6F6DB163B}" presName="node" presStyleLbl="node1" presStyleIdx="6" presStyleCnt="8">
        <dgm:presLayoutVars>
          <dgm:bulletEnabled val="1"/>
        </dgm:presLayoutVars>
      </dgm:prSet>
      <dgm:spPr/>
    </dgm:pt>
    <dgm:pt modelId="{5A420F7F-C7C9-44EE-A64C-12552E5DF7E0}" type="pres">
      <dgm:prSet presAssocID="{5DD00540-0C1C-47D9-B6D4-11E6F6DB163B}" presName="spNode" presStyleCnt="0"/>
      <dgm:spPr/>
    </dgm:pt>
    <dgm:pt modelId="{BE91FB9E-FCA6-4F77-A491-4182032935A9}" type="pres">
      <dgm:prSet presAssocID="{16E54351-3712-4808-894D-D6EEBF8B2AD0}" presName="sibTrans" presStyleLbl="sibTrans1D1" presStyleIdx="6" presStyleCnt="8"/>
      <dgm:spPr/>
    </dgm:pt>
    <dgm:pt modelId="{A8CE4F45-2365-4F43-8A9B-5A30D5F0B855}" type="pres">
      <dgm:prSet presAssocID="{A237F76E-AB24-4AF1-B09A-5624DB307A7B}" presName="node" presStyleLbl="node1" presStyleIdx="7" presStyleCnt="8" custScaleX="99966" custScaleY="98037">
        <dgm:presLayoutVars>
          <dgm:bulletEnabled val="1"/>
        </dgm:presLayoutVars>
      </dgm:prSet>
      <dgm:spPr/>
    </dgm:pt>
    <dgm:pt modelId="{BCAB9C1B-F2D2-47A4-8E25-9A0EBE838A61}" type="pres">
      <dgm:prSet presAssocID="{A237F76E-AB24-4AF1-B09A-5624DB307A7B}" presName="spNode" presStyleCnt="0"/>
      <dgm:spPr/>
    </dgm:pt>
    <dgm:pt modelId="{63009571-0CFC-433B-AF08-60A986964157}" type="pres">
      <dgm:prSet presAssocID="{FFD0B80C-326F-4CA3-A32C-D06953AD2932}" presName="sibTrans" presStyleLbl="sibTrans1D1" presStyleIdx="7" presStyleCnt="8"/>
      <dgm:spPr/>
    </dgm:pt>
  </dgm:ptLst>
  <dgm:cxnLst>
    <dgm:cxn modelId="{B2B6BF14-1226-4508-96EC-7E997F4D42F8}" srcId="{DED5B210-100F-4472-B8DE-F8D1D0E0E1EA}" destId="{5DD00540-0C1C-47D9-B6D4-11E6F6DB163B}" srcOrd="6" destOrd="0" parTransId="{3C7D42CC-7E75-4529-9534-70A8FDB544C9}" sibTransId="{16E54351-3712-4808-894D-D6EEBF8B2AD0}"/>
    <dgm:cxn modelId="{3B1AE921-63D7-417B-93C1-5059A31C944C}" type="presOf" srcId="{368EE055-8776-4650-B854-D0CBA0686F92}" destId="{2E78F5BF-F65F-406C-8D99-56A1FA6FBA6C}" srcOrd="0" destOrd="0" presId="urn:microsoft.com/office/officeart/2005/8/layout/cycle5"/>
    <dgm:cxn modelId="{CC0A3623-D75E-4FB2-BC0F-F2B69F40C046}" srcId="{DED5B210-100F-4472-B8DE-F8D1D0E0E1EA}" destId="{EAD9C2E8-0A11-46C6-9DAC-0BC571EF6D77}" srcOrd="5" destOrd="0" parTransId="{1F4B7C1B-4A7F-4BC4-9FFA-A5A7A1BA6CF5}" sibTransId="{3DBA2D07-BF79-44A0-9E93-5C2648431DCC}"/>
    <dgm:cxn modelId="{76B33439-6B97-4194-8E9D-2BEB437D3B56}" type="presOf" srcId="{EFCDBE4F-6A6F-4ED9-98D1-6852EE7B4D63}" destId="{BBE61AAB-23E3-4125-B778-3526EDB2E4AB}" srcOrd="0" destOrd="0" presId="urn:microsoft.com/office/officeart/2005/8/layout/cycle5"/>
    <dgm:cxn modelId="{31ED6439-D9BE-4780-A42F-29290747CC4C}" type="presOf" srcId="{1F5AC928-E19E-4B1E-A801-E867E4FD4121}" destId="{3FC5A6DC-1F50-4698-BADE-FFA8C9359DDA}" srcOrd="0" destOrd="0" presId="urn:microsoft.com/office/officeart/2005/8/layout/cycle5"/>
    <dgm:cxn modelId="{B932253B-81BE-45A6-BC28-61ACC1AB0EF5}" type="presOf" srcId="{FFD0B80C-326F-4CA3-A32C-D06953AD2932}" destId="{63009571-0CFC-433B-AF08-60A986964157}" srcOrd="0" destOrd="0" presId="urn:microsoft.com/office/officeart/2005/8/layout/cycle5"/>
    <dgm:cxn modelId="{1E2F885E-B564-4DF0-9109-8C1F1BBC4EFA}" srcId="{DED5B210-100F-4472-B8DE-F8D1D0E0E1EA}" destId="{A237F76E-AB24-4AF1-B09A-5624DB307A7B}" srcOrd="7" destOrd="0" parTransId="{B6457961-DD7C-430E-9F13-1297BA0C3896}" sibTransId="{FFD0B80C-326F-4CA3-A32C-D06953AD2932}"/>
    <dgm:cxn modelId="{DAB60149-61CE-49D5-93DF-DFF2BE5E3029}" type="presOf" srcId="{7C633495-21FE-443A-90FC-D6B53B84E1FA}" destId="{801E6E36-5D71-471A-A46B-909F6BBF3A27}" srcOrd="0" destOrd="0" presId="urn:microsoft.com/office/officeart/2005/8/layout/cycle5"/>
    <dgm:cxn modelId="{D12AAE72-851E-458C-8E24-D865B9CABF24}" type="presOf" srcId="{A237F76E-AB24-4AF1-B09A-5624DB307A7B}" destId="{A8CE4F45-2365-4F43-8A9B-5A30D5F0B855}" srcOrd="0" destOrd="0" presId="urn:microsoft.com/office/officeart/2005/8/layout/cycle5"/>
    <dgm:cxn modelId="{1CF09256-D3A6-4907-85E1-073D5E96DC06}" type="presOf" srcId="{3DBA2D07-BF79-44A0-9E93-5C2648431DCC}" destId="{9BFB1DE4-44FD-42B2-85BA-65779209A09F}" srcOrd="0" destOrd="0" presId="urn:microsoft.com/office/officeart/2005/8/layout/cycle5"/>
    <dgm:cxn modelId="{F6331977-82BB-4A57-B909-5CF628E76D11}" type="presOf" srcId="{FE790153-994F-45A7-8953-EE8B51C8412A}" destId="{8B6BF982-1EDE-41B4-8CD2-072EBB3DFAEE}" srcOrd="0" destOrd="0" presId="urn:microsoft.com/office/officeart/2005/8/layout/cycle5"/>
    <dgm:cxn modelId="{3DFDF07A-B8F6-482C-B325-3CFD42E183EB}" srcId="{DED5B210-100F-4472-B8DE-F8D1D0E0E1EA}" destId="{368EE055-8776-4650-B854-D0CBA0686F92}" srcOrd="2" destOrd="0" parTransId="{E5FFED63-E538-43A0-87F1-E7B3852B9ED3}" sibTransId="{EFCDBE4F-6A6F-4ED9-98D1-6852EE7B4D63}"/>
    <dgm:cxn modelId="{C04F4F8D-04EC-4DB8-849A-20F544113C79}" type="presOf" srcId="{683FBB12-F552-4671-913E-06E7E06DD4F5}" destId="{6D7741B6-819A-46A3-82A5-DE75120F950E}" srcOrd="0" destOrd="0" presId="urn:microsoft.com/office/officeart/2005/8/layout/cycle5"/>
    <dgm:cxn modelId="{66C655AC-600D-4E77-8230-1F5C8F76804E}" type="presOf" srcId="{5DD00540-0C1C-47D9-B6D4-11E6F6DB163B}" destId="{55BAEA0F-0351-4CAF-928F-F631F096C4CC}" srcOrd="0" destOrd="0" presId="urn:microsoft.com/office/officeart/2005/8/layout/cycle5"/>
    <dgm:cxn modelId="{2B4B8FAC-7003-4459-AA97-48B7D1614162}" type="presOf" srcId="{6ABF6DE2-1005-407F-B283-26172BFC6C45}" destId="{0F71E6BA-433D-4DEB-8F5B-01D526FC909C}" srcOrd="0" destOrd="0" presId="urn:microsoft.com/office/officeart/2005/8/layout/cycle5"/>
    <dgm:cxn modelId="{3B64E2B2-1F06-40F5-8635-2FA132E32DC6}" type="presOf" srcId="{EAD9C2E8-0A11-46C6-9DAC-0BC571EF6D77}" destId="{04746D29-A235-43A6-83E1-7CF43D6BEC6B}" srcOrd="0" destOrd="0" presId="urn:microsoft.com/office/officeart/2005/8/layout/cycle5"/>
    <dgm:cxn modelId="{3F6980B6-8C0C-4BC5-A783-2926542ADB04}" type="presOf" srcId="{6DA87BF8-26F4-4204-BDB5-AC7DB8335DCC}" destId="{25D67A16-6949-4DCF-9CC0-28122A678481}" srcOrd="0" destOrd="0" presId="urn:microsoft.com/office/officeart/2005/8/layout/cycle5"/>
    <dgm:cxn modelId="{D90806B9-3920-44AF-BA9D-B2D60C49ED34}" srcId="{DED5B210-100F-4472-B8DE-F8D1D0E0E1EA}" destId="{FE790153-994F-45A7-8953-EE8B51C8412A}" srcOrd="3" destOrd="0" parTransId="{15A6D3B2-81CF-4C80-99C4-FE3F5718456F}" sibTransId="{6DA87BF8-26F4-4204-BDB5-AC7DB8335DCC}"/>
    <dgm:cxn modelId="{EE1539BC-66E2-4C37-9383-50FCD5B3A2D6}" type="presOf" srcId="{DED5B210-100F-4472-B8DE-F8D1D0E0E1EA}" destId="{02A9CA25-A190-480A-899F-1E2D15ABA6B2}" srcOrd="0" destOrd="0" presId="urn:microsoft.com/office/officeart/2005/8/layout/cycle5"/>
    <dgm:cxn modelId="{79A57FC6-C354-4931-A432-0A351A872662}" srcId="{DED5B210-100F-4472-B8DE-F8D1D0E0E1EA}" destId="{1F5AC928-E19E-4B1E-A801-E867E4FD4121}" srcOrd="0" destOrd="0" parTransId="{4868DF58-3A22-4F60-B21F-2EE238006926}" sibTransId="{2E2ADFBF-F1C6-43DD-A839-A095B33290F0}"/>
    <dgm:cxn modelId="{BAA30CC8-03A4-44F5-8224-1383CE45C9B1}" srcId="{DED5B210-100F-4472-B8DE-F8D1D0E0E1EA}" destId="{7C633495-21FE-443A-90FC-D6B53B84E1FA}" srcOrd="4" destOrd="0" parTransId="{01B51DA4-C600-4F6E-B2BA-D696FAA84819}" sibTransId="{6ABF6DE2-1005-407F-B283-26172BFC6C45}"/>
    <dgm:cxn modelId="{5F2C63E7-979C-4109-966D-4F9529285DC9}" type="presOf" srcId="{2E2ADFBF-F1C6-43DD-A839-A095B33290F0}" destId="{23F3BF2D-452F-4C54-9528-8B5A24AF3442}" srcOrd="0" destOrd="0" presId="urn:microsoft.com/office/officeart/2005/8/layout/cycle5"/>
    <dgm:cxn modelId="{FD510EEC-5E08-45F3-9A23-C85951F83AC8}" type="presOf" srcId="{16E54351-3712-4808-894D-D6EEBF8B2AD0}" destId="{BE91FB9E-FCA6-4F77-A491-4182032935A9}" srcOrd="0" destOrd="0" presId="urn:microsoft.com/office/officeart/2005/8/layout/cycle5"/>
    <dgm:cxn modelId="{6277AAF4-0C45-4974-A1CD-9954A73C4B29}" type="presOf" srcId="{9C14DE87-E110-4FEA-BD86-9BF3D4A24023}" destId="{286A9028-C541-42AD-82BC-5213FBF83011}" srcOrd="0" destOrd="0" presId="urn:microsoft.com/office/officeart/2005/8/layout/cycle5"/>
    <dgm:cxn modelId="{4DF9BFF9-9B91-48B0-9C52-6569C16A8077}" srcId="{DED5B210-100F-4472-B8DE-F8D1D0E0E1EA}" destId="{683FBB12-F552-4671-913E-06E7E06DD4F5}" srcOrd="1" destOrd="0" parTransId="{F2818A6C-73E4-4A30-BC28-A5702BBA4C83}" sibTransId="{9C14DE87-E110-4FEA-BD86-9BF3D4A24023}"/>
    <dgm:cxn modelId="{CCF3EA12-82C1-4069-B6D1-034638D25DA4}" type="presParOf" srcId="{02A9CA25-A190-480A-899F-1E2D15ABA6B2}" destId="{3FC5A6DC-1F50-4698-BADE-FFA8C9359DDA}" srcOrd="0" destOrd="0" presId="urn:microsoft.com/office/officeart/2005/8/layout/cycle5"/>
    <dgm:cxn modelId="{824AD7AB-6858-49C9-8064-5D37ECF91E55}" type="presParOf" srcId="{02A9CA25-A190-480A-899F-1E2D15ABA6B2}" destId="{3C2713EF-49F5-41BC-9DD5-D8D025D5F663}" srcOrd="1" destOrd="0" presId="urn:microsoft.com/office/officeart/2005/8/layout/cycle5"/>
    <dgm:cxn modelId="{652FA600-45A9-46C2-9E47-B19FFC0466D7}" type="presParOf" srcId="{02A9CA25-A190-480A-899F-1E2D15ABA6B2}" destId="{23F3BF2D-452F-4C54-9528-8B5A24AF3442}" srcOrd="2" destOrd="0" presId="urn:microsoft.com/office/officeart/2005/8/layout/cycle5"/>
    <dgm:cxn modelId="{C77756B3-459C-45A2-ABBC-765032F98E52}" type="presParOf" srcId="{02A9CA25-A190-480A-899F-1E2D15ABA6B2}" destId="{6D7741B6-819A-46A3-82A5-DE75120F950E}" srcOrd="3" destOrd="0" presId="urn:microsoft.com/office/officeart/2005/8/layout/cycle5"/>
    <dgm:cxn modelId="{92CC95D2-5E97-421D-9FAA-2AEB6A1F59DF}" type="presParOf" srcId="{02A9CA25-A190-480A-899F-1E2D15ABA6B2}" destId="{70851511-BCCC-436A-92F3-088348806C4B}" srcOrd="4" destOrd="0" presId="urn:microsoft.com/office/officeart/2005/8/layout/cycle5"/>
    <dgm:cxn modelId="{61E29C6F-FD80-4F4F-A7F6-8EC118096C4E}" type="presParOf" srcId="{02A9CA25-A190-480A-899F-1E2D15ABA6B2}" destId="{286A9028-C541-42AD-82BC-5213FBF83011}" srcOrd="5" destOrd="0" presId="urn:microsoft.com/office/officeart/2005/8/layout/cycle5"/>
    <dgm:cxn modelId="{03A2C0D8-5138-4135-8CE2-0D25A5C0E08B}" type="presParOf" srcId="{02A9CA25-A190-480A-899F-1E2D15ABA6B2}" destId="{2E78F5BF-F65F-406C-8D99-56A1FA6FBA6C}" srcOrd="6" destOrd="0" presId="urn:microsoft.com/office/officeart/2005/8/layout/cycle5"/>
    <dgm:cxn modelId="{4C8B9ABF-8BD6-46D1-901E-01C0449A1D97}" type="presParOf" srcId="{02A9CA25-A190-480A-899F-1E2D15ABA6B2}" destId="{0DDEB9CC-C221-474E-A832-35CC56F2D35C}" srcOrd="7" destOrd="0" presId="urn:microsoft.com/office/officeart/2005/8/layout/cycle5"/>
    <dgm:cxn modelId="{6980B62B-882F-4397-BF71-CBD429D06E8A}" type="presParOf" srcId="{02A9CA25-A190-480A-899F-1E2D15ABA6B2}" destId="{BBE61AAB-23E3-4125-B778-3526EDB2E4AB}" srcOrd="8" destOrd="0" presId="urn:microsoft.com/office/officeart/2005/8/layout/cycle5"/>
    <dgm:cxn modelId="{4B09D4F2-2077-498B-A05D-373DF7679AFB}" type="presParOf" srcId="{02A9CA25-A190-480A-899F-1E2D15ABA6B2}" destId="{8B6BF982-1EDE-41B4-8CD2-072EBB3DFAEE}" srcOrd="9" destOrd="0" presId="urn:microsoft.com/office/officeart/2005/8/layout/cycle5"/>
    <dgm:cxn modelId="{642ACF56-526F-45CE-A8BF-D78B4118F204}" type="presParOf" srcId="{02A9CA25-A190-480A-899F-1E2D15ABA6B2}" destId="{8B0D8F09-FDF1-4580-ADFB-C6CF24D54D81}" srcOrd="10" destOrd="0" presId="urn:microsoft.com/office/officeart/2005/8/layout/cycle5"/>
    <dgm:cxn modelId="{A61757BE-5E1F-4337-8477-E33EADF78071}" type="presParOf" srcId="{02A9CA25-A190-480A-899F-1E2D15ABA6B2}" destId="{25D67A16-6949-4DCF-9CC0-28122A678481}" srcOrd="11" destOrd="0" presId="urn:microsoft.com/office/officeart/2005/8/layout/cycle5"/>
    <dgm:cxn modelId="{E136BB88-35D8-46B4-B45E-7EA613D62901}" type="presParOf" srcId="{02A9CA25-A190-480A-899F-1E2D15ABA6B2}" destId="{801E6E36-5D71-471A-A46B-909F6BBF3A27}" srcOrd="12" destOrd="0" presId="urn:microsoft.com/office/officeart/2005/8/layout/cycle5"/>
    <dgm:cxn modelId="{DD543EFC-33EE-4CB1-8DFC-3023C4439747}" type="presParOf" srcId="{02A9CA25-A190-480A-899F-1E2D15ABA6B2}" destId="{384B30A0-FDF1-47C5-BAD5-3812BB02E595}" srcOrd="13" destOrd="0" presId="urn:microsoft.com/office/officeart/2005/8/layout/cycle5"/>
    <dgm:cxn modelId="{8D8D8437-29C6-44B2-AF79-8D085899C61E}" type="presParOf" srcId="{02A9CA25-A190-480A-899F-1E2D15ABA6B2}" destId="{0F71E6BA-433D-4DEB-8F5B-01D526FC909C}" srcOrd="14" destOrd="0" presId="urn:microsoft.com/office/officeart/2005/8/layout/cycle5"/>
    <dgm:cxn modelId="{A15A5C77-3D9C-41C1-8853-687A3C89D622}" type="presParOf" srcId="{02A9CA25-A190-480A-899F-1E2D15ABA6B2}" destId="{04746D29-A235-43A6-83E1-7CF43D6BEC6B}" srcOrd="15" destOrd="0" presId="urn:microsoft.com/office/officeart/2005/8/layout/cycle5"/>
    <dgm:cxn modelId="{5EF5AA5A-64B2-4860-BF75-9F262B02A87A}" type="presParOf" srcId="{02A9CA25-A190-480A-899F-1E2D15ABA6B2}" destId="{C798BDDA-DCEF-4727-BB97-17718B4EBAEC}" srcOrd="16" destOrd="0" presId="urn:microsoft.com/office/officeart/2005/8/layout/cycle5"/>
    <dgm:cxn modelId="{EE4F3DAB-FF8F-4FDD-9DE1-A87DCD6ACE9A}" type="presParOf" srcId="{02A9CA25-A190-480A-899F-1E2D15ABA6B2}" destId="{9BFB1DE4-44FD-42B2-85BA-65779209A09F}" srcOrd="17" destOrd="0" presId="urn:microsoft.com/office/officeart/2005/8/layout/cycle5"/>
    <dgm:cxn modelId="{B3169A3B-3650-4BF0-AC0F-CB51056EA6F0}" type="presParOf" srcId="{02A9CA25-A190-480A-899F-1E2D15ABA6B2}" destId="{55BAEA0F-0351-4CAF-928F-F631F096C4CC}" srcOrd="18" destOrd="0" presId="urn:microsoft.com/office/officeart/2005/8/layout/cycle5"/>
    <dgm:cxn modelId="{43BD3816-BFE6-4646-A736-AF40AE0F772C}" type="presParOf" srcId="{02A9CA25-A190-480A-899F-1E2D15ABA6B2}" destId="{5A420F7F-C7C9-44EE-A64C-12552E5DF7E0}" srcOrd="19" destOrd="0" presId="urn:microsoft.com/office/officeart/2005/8/layout/cycle5"/>
    <dgm:cxn modelId="{F0871C51-A69E-40D6-BB9C-6D6E21B8EA38}" type="presParOf" srcId="{02A9CA25-A190-480A-899F-1E2D15ABA6B2}" destId="{BE91FB9E-FCA6-4F77-A491-4182032935A9}" srcOrd="20" destOrd="0" presId="urn:microsoft.com/office/officeart/2005/8/layout/cycle5"/>
    <dgm:cxn modelId="{7C5A0E11-0A24-4F5F-96AA-7DA780B6E5E8}" type="presParOf" srcId="{02A9CA25-A190-480A-899F-1E2D15ABA6B2}" destId="{A8CE4F45-2365-4F43-8A9B-5A30D5F0B855}" srcOrd="21" destOrd="0" presId="urn:microsoft.com/office/officeart/2005/8/layout/cycle5"/>
    <dgm:cxn modelId="{E86CC605-1E3F-46F6-824D-4DF3928F2F5D}" type="presParOf" srcId="{02A9CA25-A190-480A-899F-1E2D15ABA6B2}" destId="{BCAB9C1B-F2D2-47A4-8E25-9A0EBE838A61}" srcOrd="22" destOrd="0" presId="urn:microsoft.com/office/officeart/2005/8/layout/cycle5"/>
    <dgm:cxn modelId="{72BE4B2B-F0D3-4F6C-9298-0165234A5822}" type="presParOf" srcId="{02A9CA25-A190-480A-899F-1E2D15ABA6B2}" destId="{63009571-0CFC-433B-AF08-60A986964157}" srcOrd="23"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E67ADE04-E6B4-40C3-81F6-EC61FD805A5B}" type="doc">
      <dgm:prSet loTypeId="urn:microsoft.com/office/officeart/2005/8/layout/cycle2" loCatId="cycle" qsTypeId="urn:microsoft.com/office/officeart/2005/8/quickstyle/simple1" qsCatId="simple" csTypeId="urn:microsoft.com/office/officeart/2005/8/colors/accent2_2" csCatId="accent2" phldr="1"/>
      <dgm:spPr/>
      <dgm:t>
        <a:bodyPr/>
        <a:lstStyle/>
        <a:p>
          <a:endParaRPr lang="en-US"/>
        </a:p>
      </dgm:t>
    </dgm:pt>
    <dgm:pt modelId="{F0F5CFF3-2133-47EA-A10D-999CEBA5A9B4}">
      <dgm:prSet phldrT="[Text]"/>
      <dgm:spPr/>
      <dgm:t>
        <a:bodyPr/>
        <a:lstStyle/>
        <a:p>
          <a:r>
            <a:rPr lang="en-US" dirty="0"/>
            <a:t>1</a:t>
          </a:r>
        </a:p>
      </dgm:t>
    </dgm:pt>
    <dgm:pt modelId="{42D39530-B886-4EEB-9319-48DC7C06471A}" type="parTrans" cxnId="{748A1BA6-866C-4C26-B140-0B1ECEB38E01}">
      <dgm:prSet/>
      <dgm:spPr/>
      <dgm:t>
        <a:bodyPr/>
        <a:lstStyle/>
        <a:p>
          <a:endParaRPr lang="en-US"/>
        </a:p>
      </dgm:t>
    </dgm:pt>
    <dgm:pt modelId="{F8209BF3-F497-48F1-B731-E2BD9922A4CC}" type="sibTrans" cxnId="{748A1BA6-866C-4C26-B140-0B1ECEB38E01}">
      <dgm:prSet custT="1"/>
      <dgm:spPr/>
      <dgm:t>
        <a:bodyPr/>
        <a:lstStyle/>
        <a:p>
          <a:endParaRPr lang="en-US" sz="900"/>
        </a:p>
      </dgm:t>
    </dgm:pt>
    <dgm:pt modelId="{F60C55F5-D6CE-4976-826C-58469DD6F0B9}">
      <dgm:prSet phldrT="[Text]"/>
      <dgm:spPr/>
      <dgm:t>
        <a:bodyPr/>
        <a:lstStyle/>
        <a:p>
          <a:r>
            <a:rPr lang="en-US" dirty="0"/>
            <a:t>5</a:t>
          </a:r>
        </a:p>
      </dgm:t>
    </dgm:pt>
    <dgm:pt modelId="{CDFD1861-44DC-476A-84D5-D20C4A70370B}" type="parTrans" cxnId="{FB96FDC2-90B7-4A10-8EE5-1072E3415644}">
      <dgm:prSet/>
      <dgm:spPr/>
      <dgm:t>
        <a:bodyPr/>
        <a:lstStyle/>
        <a:p>
          <a:endParaRPr lang="en-US"/>
        </a:p>
      </dgm:t>
    </dgm:pt>
    <dgm:pt modelId="{12D59CCD-D9B5-46E0-B327-E2EA613572DD}" type="sibTrans" cxnId="{FB96FDC2-90B7-4A10-8EE5-1072E3415644}">
      <dgm:prSet custT="1"/>
      <dgm:spPr/>
      <dgm:t>
        <a:bodyPr/>
        <a:lstStyle/>
        <a:p>
          <a:endParaRPr lang="en-US" sz="900"/>
        </a:p>
      </dgm:t>
    </dgm:pt>
    <dgm:pt modelId="{60D44EFA-BDA0-4FA5-BABC-AA7FC7758FC5}">
      <dgm:prSet phldrT="[Text]"/>
      <dgm:spPr/>
      <dgm:t>
        <a:bodyPr/>
        <a:lstStyle/>
        <a:p>
          <a:r>
            <a:rPr lang="en-US" dirty="0"/>
            <a:t>6</a:t>
          </a:r>
        </a:p>
      </dgm:t>
    </dgm:pt>
    <dgm:pt modelId="{4A2DFA66-0C70-4EE2-8955-5B839C977C32}" type="parTrans" cxnId="{53D0E28A-3C61-4289-A938-8D9275303F16}">
      <dgm:prSet/>
      <dgm:spPr/>
      <dgm:t>
        <a:bodyPr/>
        <a:lstStyle/>
        <a:p>
          <a:endParaRPr lang="en-US"/>
        </a:p>
      </dgm:t>
    </dgm:pt>
    <dgm:pt modelId="{97203F47-3B5D-46FB-8603-8BCA5039636B}" type="sibTrans" cxnId="{53D0E28A-3C61-4289-A938-8D9275303F16}">
      <dgm:prSet custT="1"/>
      <dgm:spPr/>
      <dgm:t>
        <a:bodyPr/>
        <a:lstStyle/>
        <a:p>
          <a:endParaRPr lang="en-US" sz="900"/>
        </a:p>
      </dgm:t>
    </dgm:pt>
    <dgm:pt modelId="{889DF809-24C7-49D1-896F-DC32446B1B68}">
      <dgm:prSet phldrT="[Text]"/>
      <dgm:spPr/>
      <dgm:t>
        <a:bodyPr/>
        <a:lstStyle/>
        <a:p>
          <a:r>
            <a:rPr lang="en-US" dirty="0"/>
            <a:t>3</a:t>
          </a:r>
        </a:p>
      </dgm:t>
    </dgm:pt>
    <dgm:pt modelId="{9A024BA1-42ED-4CD5-A135-E5166E4E725B}" type="parTrans" cxnId="{A777D500-C8A5-48FE-B8CA-E36670D347BB}">
      <dgm:prSet/>
      <dgm:spPr/>
      <dgm:t>
        <a:bodyPr/>
        <a:lstStyle/>
        <a:p>
          <a:endParaRPr lang="en-US"/>
        </a:p>
      </dgm:t>
    </dgm:pt>
    <dgm:pt modelId="{F6A59164-D9E2-42AF-9456-5EDE76C6F2C6}" type="sibTrans" cxnId="{A777D500-C8A5-48FE-B8CA-E36670D347BB}">
      <dgm:prSet custT="1"/>
      <dgm:spPr/>
      <dgm:t>
        <a:bodyPr/>
        <a:lstStyle/>
        <a:p>
          <a:endParaRPr lang="en-US" sz="900"/>
        </a:p>
      </dgm:t>
    </dgm:pt>
    <dgm:pt modelId="{D9F467C4-A10D-4141-85BE-76C5BCB7C4BC}">
      <dgm:prSet phldrT="[Text]"/>
      <dgm:spPr/>
      <dgm:t>
        <a:bodyPr/>
        <a:lstStyle/>
        <a:p>
          <a:r>
            <a:rPr lang="en-US" dirty="0"/>
            <a:t>7</a:t>
          </a:r>
        </a:p>
      </dgm:t>
    </dgm:pt>
    <dgm:pt modelId="{F2311CA8-2A34-4488-9FC6-7E3949457C91}" type="parTrans" cxnId="{ABA3957A-B9A0-493E-B708-183966B169AC}">
      <dgm:prSet/>
      <dgm:spPr/>
      <dgm:t>
        <a:bodyPr/>
        <a:lstStyle/>
        <a:p>
          <a:endParaRPr lang="en-US"/>
        </a:p>
      </dgm:t>
    </dgm:pt>
    <dgm:pt modelId="{769F1A32-2CFC-456C-8AAF-FA7D01DCBEFD}" type="sibTrans" cxnId="{ABA3957A-B9A0-493E-B708-183966B169AC}">
      <dgm:prSet custT="1"/>
      <dgm:spPr/>
      <dgm:t>
        <a:bodyPr/>
        <a:lstStyle/>
        <a:p>
          <a:endParaRPr lang="en-US" sz="100"/>
        </a:p>
      </dgm:t>
    </dgm:pt>
    <dgm:pt modelId="{AD20B547-BE77-4193-8CF4-8200E591C63D}">
      <dgm:prSet phldrT="[Text]"/>
      <dgm:spPr/>
      <dgm:t>
        <a:bodyPr/>
        <a:lstStyle/>
        <a:p>
          <a:r>
            <a:rPr lang="en-US" dirty="0"/>
            <a:t>0</a:t>
          </a:r>
        </a:p>
      </dgm:t>
    </dgm:pt>
    <dgm:pt modelId="{267E9F70-167A-4201-AACF-09DF3483FB05}" type="parTrans" cxnId="{613C3D96-7AFB-4A21-9932-FC984F45A1E0}">
      <dgm:prSet/>
      <dgm:spPr/>
      <dgm:t>
        <a:bodyPr/>
        <a:lstStyle/>
        <a:p>
          <a:endParaRPr lang="en-US"/>
        </a:p>
      </dgm:t>
    </dgm:pt>
    <dgm:pt modelId="{DBE4EA6C-8B63-429C-B269-FA2D4F29124F}" type="sibTrans" cxnId="{613C3D96-7AFB-4A21-9932-FC984F45A1E0}">
      <dgm:prSet custT="1"/>
      <dgm:spPr/>
      <dgm:t>
        <a:bodyPr/>
        <a:lstStyle/>
        <a:p>
          <a:endParaRPr lang="en-US" sz="100"/>
        </a:p>
      </dgm:t>
    </dgm:pt>
    <dgm:pt modelId="{31D4B0DA-F573-46A1-8F96-1653226731A5}">
      <dgm:prSet phldrT="[Text]"/>
      <dgm:spPr/>
      <dgm:t>
        <a:bodyPr/>
        <a:lstStyle/>
        <a:p>
          <a:r>
            <a:rPr lang="en-US" dirty="0"/>
            <a:t>4</a:t>
          </a:r>
        </a:p>
      </dgm:t>
    </dgm:pt>
    <dgm:pt modelId="{D9D19804-5CFA-438A-8555-C62B34F39193}" type="parTrans" cxnId="{361E2370-30A8-46B2-9EFC-3CEFA5E511CB}">
      <dgm:prSet/>
      <dgm:spPr/>
      <dgm:t>
        <a:bodyPr/>
        <a:lstStyle/>
        <a:p>
          <a:endParaRPr lang="en-US"/>
        </a:p>
      </dgm:t>
    </dgm:pt>
    <dgm:pt modelId="{990F1C14-FC55-43D1-97AD-AF7C2DBC27D8}" type="sibTrans" cxnId="{361E2370-30A8-46B2-9EFC-3CEFA5E511CB}">
      <dgm:prSet custT="1"/>
      <dgm:spPr/>
      <dgm:t>
        <a:bodyPr/>
        <a:lstStyle/>
        <a:p>
          <a:endParaRPr lang="en-US" sz="100"/>
        </a:p>
      </dgm:t>
    </dgm:pt>
    <dgm:pt modelId="{8F3F163F-4E47-448C-9AE4-867B2E5CD816}">
      <dgm:prSet phldrT="[Text]"/>
      <dgm:spPr/>
      <dgm:t>
        <a:bodyPr/>
        <a:lstStyle/>
        <a:p>
          <a:r>
            <a:rPr lang="en-US" dirty="0"/>
            <a:t>2</a:t>
          </a:r>
        </a:p>
      </dgm:t>
    </dgm:pt>
    <dgm:pt modelId="{C70ED8C1-963C-4199-9F4F-B0B964FAED45}" type="parTrans" cxnId="{BA5F3AEC-17E8-40C5-B6B8-FA7DD2272115}">
      <dgm:prSet/>
      <dgm:spPr/>
      <dgm:t>
        <a:bodyPr/>
        <a:lstStyle/>
        <a:p>
          <a:endParaRPr lang="en-US"/>
        </a:p>
      </dgm:t>
    </dgm:pt>
    <dgm:pt modelId="{8EE3A628-B380-4794-9F59-CF86D59813E1}" type="sibTrans" cxnId="{BA5F3AEC-17E8-40C5-B6B8-FA7DD2272115}">
      <dgm:prSet custT="1"/>
      <dgm:spPr/>
      <dgm:t>
        <a:bodyPr/>
        <a:lstStyle/>
        <a:p>
          <a:endParaRPr lang="en-US" sz="100"/>
        </a:p>
      </dgm:t>
    </dgm:pt>
    <dgm:pt modelId="{B2110A75-86CB-48C0-9931-6E263D0B869E}" type="pres">
      <dgm:prSet presAssocID="{E67ADE04-E6B4-40C3-81F6-EC61FD805A5B}" presName="cycle" presStyleCnt="0">
        <dgm:presLayoutVars>
          <dgm:dir/>
          <dgm:resizeHandles val="exact"/>
        </dgm:presLayoutVars>
      </dgm:prSet>
      <dgm:spPr/>
    </dgm:pt>
    <dgm:pt modelId="{0167810C-B39E-49B6-AFE5-ABFB8D750795}" type="pres">
      <dgm:prSet presAssocID="{F0F5CFF3-2133-47EA-A10D-999CEBA5A9B4}" presName="node" presStyleLbl="node1" presStyleIdx="0" presStyleCnt="8">
        <dgm:presLayoutVars>
          <dgm:bulletEnabled val="1"/>
        </dgm:presLayoutVars>
      </dgm:prSet>
      <dgm:spPr/>
    </dgm:pt>
    <dgm:pt modelId="{169C2DD3-43B8-44BE-95CF-476513A73FDD}" type="pres">
      <dgm:prSet presAssocID="{F8209BF3-F497-48F1-B731-E2BD9922A4CC}" presName="sibTrans" presStyleLbl="sibTrans2D1" presStyleIdx="0" presStyleCnt="8" custScaleX="1247" custScaleY="1247"/>
      <dgm:spPr/>
    </dgm:pt>
    <dgm:pt modelId="{765E6C7F-0315-40C4-AFE9-B303A628789A}" type="pres">
      <dgm:prSet presAssocID="{F8209BF3-F497-48F1-B731-E2BD9922A4CC}" presName="connectorText" presStyleLbl="sibTrans2D1" presStyleIdx="0" presStyleCnt="8"/>
      <dgm:spPr/>
    </dgm:pt>
    <dgm:pt modelId="{23DAF576-3583-42B2-9AF1-E0481465D64D}" type="pres">
      <dgm:prSet presAssocID="{F60C55F5-D6CE-4976-826C-58469DD6F0B9}" presName="node" presStyleLbl="node1" presStyleIdx="1" presStyleCnt="8">
        <dgm:presLayoutVars>
          <dgm:bulletEnabled val="1"/>
        </dgm:presLayoutVars>
      </dgm:prSet>
      <dgm:spPr/>
    </dgm:pt>
    <dgm:pt modelId="{F8A8879A-1585-4743-9D2E-ED8D426EF465}" type="pres">
      <dgm:prSet presAssocID="{12D59CCD-D9B5-46E0-B327-E2EA613572DD}" presName="sibTrans" presStyleLbl="sibTrans2D1" presStyleIdx="1" presStyleCnt="8" custScaleX="1247" custScaleY="1247"/>
      <dgm:spPr/>
    </dgm:pt>
    <dgm:pt modelId="{E20E9F32-EDAC-475B-BF96-06A5A54158BC}" type="pres">
      <dgm:prSet presAssocID="{12D59CCD-D9B5-46E0-B327-E2EA613572DD}" presName="connectorText" presStyleLbl="sibTrans2D1" presStyleIdx="1" presStyleCnt="8"/>
      <dgm:spPr/>
    </dgm:pt>
    <dgm:pt modelId="{89663832-459D-4E7F-8E32-D4D0D2F89F17}" type="pres">
      <dgm:prSet presAssocID="{60D44EFA-BDA0-4FA5-BABC-AA7FC7758FC5}" presName="node" presStyleLbl="node1" presStyleIdx="2" presStyleCnt="8">
        <dgm:presLayoutVars>
          <dgm:bulletEnabled val="1"/>
        </dgm:presLayoutVars>
      </dgm:prSet>
      <dgm:spPr/>
    </dgm:pt>
    <dgm:pt modelId="{9D6A8F8D-1137-4344-AA99-D71C7CF1C809}" type="pres">
      <dgm:prSet presAssocID="{97203F47-3B5D-46FB-8603-8BCA5039636B}" presName="sibTrans" presStyleLbl="sibTrans2D1" presStyleIdx="2" presStyleCnt="8" custScaleX="1247" custScaleY="1247"/>
      <dgm:spPr/>
    </dgm:pt>
    <dgm:pt modelId="{15FDB152-B052-4B03-9297-313F9D514D60}" type="pres">
      <dgm:prSet presAssocID="{97203F47-3B5D-46FB-8603-8BCA5039636B}" presName="connectorText" presStyleLbl="sibTrans2D1" presStyleIdx="2" presStyleCnt="8"/>
      <dgm:spPr/>
    </dgm:pt>
    <dgm:pt modelId="{B64EAF11-39AD-478A-9445-97FF85BE27EF}" type="pres">
      <dgm:prSet presAssocID="{889DF809-24C7-49D1-896F-DC32446B1B68}" presName="node" presStyleLbl="node1" presStyleIdx="3" presStyleCnt="8">
        <dgm:presLayoutVars>
          <dgm:bulletEnabled val="1"/>
        </dgm:presLayoutVars>
      </dgm:prSet>
      <dgm:spPr/>
    </dgm:pt>
    <dgm:pt modelId="{39415C20-E6E3-4051-A3EF-2621EBF6F860}" type="pres">
      <dgm:prSet presAssocID="{F6A59164-D9E2-42AF-9456-5EDE76C6F2C6}" presName="sibTrans" presStyleLbl="sibTrans2D1" presStyleIdx="3" presStyleCnt="8" custScaleX="1247" custScaleY="1247"/>
      <dgm:spPr/>
    </dgm:pt>
    <dgm:pt modelId="{7B71613C-BE5F-4D69-B624-4DB4F9489E74}" type="pres">
      <dgm:prSet presAssocID="{F6A59164-D9E2-42AF-9456-5EDE76C6F2C6}" presName="connectorText" presStyleLbl="sibTrans2D1" presStyleIdx="3" presStyleCnt="8"/>
      <dgm:spPr/>
    </dgm:pt>
    <dgm:pt modelId="{FFED39B8-17BB-43B8-960B-0717F9CEE423}" type="pres">
      <dgm:prSet presAssocID="{D9F467C4-A10D-4141-85BE-76C5BCB7C4BC}" presName="node" presStyleLbl="node1" presStyleIdx="4" presStyleCnt="8">
        <dgm:presLayoutVars>
          <dgm:bulletEnabled val="1"/>
        </dgm:presLayoutVars>
      </dgm:prSet>
      <dgm:spPr/>
    </dgm:pt>
    <dgm:pt modelId="{4F6397FE-9711-46DA-A151-9214037637C3}" type="pres">
      <dgm:prSet presAssocID="{769F1A32-2CFC-456C-8AAF-FA7D01DCBEFD}" presName="sibTrans" presStyleLbl="sibTrans2D1" presStyleIdx="4" presStyleCnt="8" custScaleX="775" custScaleY="775"/>
      <dgm:spPr/>
    </dgm:pt>
    <dgm:pt modelId="{386DF915-FFD8-480F-AB82-209517EEDEB0}" type="pres">
      <dgm:prSet presAssocID="{769F1A32-2CFC-456C-8AAF-FA7D01DCBEFD}" presName="connectorText" presStyleLbl="sibTrans2D1" presStyleIdx="4" presStyleCnt="8"/>
      <dgm:spPr/>
    </dgm:pt>
    <dgm:pt modelId="{666D4A3B-5F69-434D-AB49-BFABEDDC6BE7}" type="pres">
      <dgm:prSet presAssocID="{AD20B547-BE77-4193-8CF4-8200E591C63D}" presName="node" presStyleLbl="node1" presStyleIdx="5" presStyleCnt="8">
        <dgm:presLayoutVars>
          <dgm:bulletEnabled val="1"/>
        </dgm:presLayoutVars>
      </dgm:prSet>
      <dgm:spPr/>
    </dgm:pt>
    <dgm:pt modelId="{D260A765-0EF9-4E33-96D8-48EDFA32FF5A}" type="pres">
      <dgm:prSet presAssocID="{DBE4EA6C-8B63-429C-B269-FA2D4F29124F}" presName="sibTrans" presStyleLbl="sibTrans2D1" presStyleIdx="5" presStyleCnt="8" custScaleX="299" custScaleY="299"/>
      <dgm:spPr/>
    </dgm:pt>
    <dgm:pt modelId="{023966D0-5731-44B6-9731-C879FFBB8053}" type="pres">
      <dgm:prSet presAssocID="{DBE4EA6C-8B63-429C-B269-FA2D4F29124F}" presName="connectorText" presStyleLbl="sibTrans2D1" presStyleIdx="5" presStyleCnt="8"/>
      <dgm:spPr/>
    </dgm:pt>
    <dgm:pt modelId="{4DE8EA62-96B7-4104-A7B6-A79B44633A78}" type="pres">
      <dgm:prSet presAssocID="{31D4B0DA-F573-46A1-8F96-1653226731A5}" presName="node" presStyleLbl="node1" presStyleIdx="6" presStyleCnt="8">
        <dgm:presLayoutVars>
          <dgm:bulletEnabled val="1"/>
        </dgm:presLayoutVars>
      </dgm:prSet>
      <dgm:spPr/>
    </dgm:pt>
    <dgm:pt modelId="{404A4605-2222-43A9-B06D-A3CD42BABB0B}" type="pres">
      <dgm:prSet presAssocID="{990F1C14-FC55-43D1-97AD-AF7C2DBC27D8}" presName="sibTrans" presStyleLbl="sibTrans2D1" presStyleIdx="6" presStyleCnt="8" custScaleX="299" custScaleY="299"/>
      <dgm:spPr/>
    </dgm:pt>
    <dgm:pt modelId="{CB43E37C-5E7E-4C18-B3B0-A4E93D67E22F}" type="pres">
      <dgm:prSet presAssocID="{990F1C14-FC55-43D1-97AD-AF7C2DBC27D8}" presName="connectorText" presStyleLbl="sibTrans2D1" presStyleIdx="6" presStyleCnt="8"/>
      <dgm:spPr/>
    </dgm:pt>
    <dgm:pt modelId="{733FD20A-E8F5-498D-B8C1-40BF2BBB946E}" type="pres">
      <dgm:prSet presAssocID="{8F3F163F-4E47-448C-9AE4-867B2E5CD816}" presName="node" presStyleLbl="node1" presStyleIdx="7" presStyleCnt="8">
        <dgm:presLayoutVars>
          <dgm:bulletEnabled val="1"/>
        </dgm:presLayoutVars>
      </dgm:prSet>
      <dgm:spPr/>
    </dgm:pt>
    <dgm:pt modelId="{8E60590D-9230-4410-8898-9E8E33BAF0FA}" type="pres">
      <dgm:prSet presAssocID="{8EE3A628-B380-4794-9F59-CF86D59813E1}" presName="sibTrans" presStyleLbl="sibTrans2D1" presStyleIdx="7" presStyleCnt="8" custScaleX="299" custScaleY="299"/>
      <dgm:spPr/>
    </dgm:pt>
    <dgm:pt modelId="{6CA9012B-2F3F-4A3D-96BD-7928CE2235A4}" type="pres">
      <dgm:prSet presAssocID="{8EE3A628-B380-4794-9F59-CF86D59813E1}" presName="connectorText" presStyleLbl="sibTrans2D1" presStyleIdx="7" presStyleCnt="8"/>
      <dgm:spPr/>
    </dgm:pt>
  </dgm:ptLst>
  <dgm:cxnLst>
    <dgm:cxn modelId="{A777D500-C8A5-48FE-B8CA-E36670D347BB}" srcId="{E67ADE04-E6B4-40C3-81F6-EC61FD805A5B}" destId="{889DF809-24C7-49D1-896F-DC32446B1B68}" srcOrd="3" destOrd="0" parTransId="{9A024BA1-42ED-4CD5-A135-E5166E4E725B}" sibTransId="{F6A59164-D9E2-42AF-9456-5EDE76C6F2C6}"/>
    <dgm:cxn modelId="{2B81FE07-D462-408A-98E1-8F720FBE4645}" type="presOf" srcId="{F8209BF3-F497-48F1-B731-E2BD9922A4CC}" destId="{169C2DD3-43B8-44BE-95CF-476513A73FDD}" srcOrd="0" destOrd="0" presId="urn:microsoft.com/office/officeart/2005/8/layout/cycle2"/>
    <dgm:cxn modelId="{194BBA1F-19CE-4556-91E1-9DB024FF02B0}" type="presOf" srcId="{990F1C14-FC55-43D1-97AD-AF7C2DBC27D8}" destId="{404A4605-2222-43A9-B06D-A3CD42BABB0B}" srcOrd="0" destOrd="0" presId="urn:microsoft.com/office/officeart/2005/8/layout/cycle2"/>
    <dgm:cxn modelId="{45FA8123-9E0A-44D9-BBA3-1CEA072D2DFC}" type="presOf" srcId="{F8209BF3-F497-48F1-B731-E2BD9922A4CC}" destId="{765E6C7F-0315-40C4-AFE9-B303A628789A}" srcOrd="1" destOrd="0" presId="urn:microsoft.com/office/officeart/2005/8/layout/cycle2"/>
    <dgm:cxn modelId="{5964803F-1995-4C32-990D-92F50B5BB6CA}" type="presOf" srcId="{97203F47-3B5D-46FB-8603-8BCA5039636B}" destId="{9D6A8F8D-1137-4344-AA99-D71C7CF1C809}" srcOrd="0" destOrd="0" presId="urn:microsoft.com/office/officeart/2005/8/layout/cycle2"/>
    <dgm:cxn modelId="{7C38FC44-C2CF-41C3-9CC5-624E98D539EE}" type="presOf" srcId="{DBE4EA6C-8B63-429C-B269-FA2D4F29124F}" destId="{D260A765-0EF9-4E33-96D8-48EDFA32FF5A}" srcOrd="0" destOrd="0" presId="urn:microsoft.com/office/officeart/2005/8/layout/cycle2"/>
    <dgm:cxn modelId="{B40D5A4D-0F9A-4240-9DCB-3839268AFAB7}" type="presOf" srcId="{769F1A32-2CFC-456C-8AAF-FA7D01DCBEFD}" destId="{386DF915-FFD8-480F-AB82-209517EEDEB0}" srcOrd="1" destOrd="0" presId="urn:microsoft.com/office/officeart/2005/8/layout/cycle2"/>
    <dgm:cxn modelId="{361E2370-30A8-46B2-9EFC-3CEFA5E511CB}" srcId="{E67ADE04-E6B4-40C3-81F6-EC61FD805A5B}" destId="{31D4B0DA-F573-46A1-8F96-1653226731A5}" srcOrd="6" destOrd="0" parTransId="{D9D19804-5CFA-438A-8555-C62B34F39193}" sibTransId="{990F1C14-FC55-43D1-97AD-AF7C2DBC27D8}"/>
    <dgm:cxn modelId="{8E63E470-3835-42B6-8F48-6BAD3DFF5F09}" type="presOf" srcId="{8EE3A628-B380-4794-9F59-CF86D59813E1}" destId="{8E60590D-9230-4410-8898-9E8E33BAF0FA}" srcOrd="0" destOrd="0" presId="urn:microsoft.com/office/officeart/2005/8/layout/cycle2"/>
    <dgm:cxn modelId="{BAD99F54-F058-4F4E-ADD3-64334BCF7ED0}" type="presOf" srcId="{E67ADE04-E6B4-40C3-81F6-EC61FD805A5B}" destId="{B2110A75-86CB-48C0-9931-6E263D0B869E}" srcOrd="0" destOrd="0" presId="urn:microsoft.com/office/officeart/2005/8/layout/cycle2"/>
    <dgm:cxn modelId="{16860C79-747F-4C21-A8EA-63BCD9BBD42E}" type="presOf" srcId="{F0F5CFF3-2133-47EA-A10D-999CEBA5A9B4}" destId="{0167810C-B39E-49B6-AFE5-ABFB8D750795}" srcOrd="0" destOrd="0" presId="urn:microsoft.com/office/officeart/2005/8/layout/cycle2"/>
    <dgm:cxn modelId="{ABA3957A-B9A0-493E-B708-183966B169AC}" srcId="{E67ADE04-E6B4-40C3-81F6-EC61FD805A5B}" destId="{D9F467C4-A10D-4141-85BE-76C5BCB7C4BC}" srcOrd="4" destOrd="0" parTransId="{F2311CA8-2A34-4488-9FC6-7E3949457C91}" sibTransId="{769F1A32-2CFC-456C-8AAF-FA7D01DCBEFD}"/>
    <dgm:cxn modelId="{31AAD67B-3F79-4579-AC03-7F7E7DFC5C32}" type="presOf" srcId="{769F1A32-2CFC-456C-8AAF-FA7D01DCBEFD}" destId="{4F6397FE-9711-46DA-A151-9214037637C3}" srcOrd="0" destOrd="0" presId="urn:microsoft.com/office/officeart/2005/8/layout/cycle2"/>
    <dgm:cxn modelId="{53D0E28A-3C61-4289-A938-8D9275303F16}" srcId="{E67ADE04-E6B4-40C3-81F6-EC61FD805A5B}" destId="{60D44EFA-BDA0-4FA5-BABC-AA7FC7758FC5}" srcOrd="2" destOrd="0" parTransId="{4A2DFA66-0C70-4EE2-8955-5B839C977C32}" sibTransId="{97203F47-3B5D-46FB-8603-8BCA5039636B}"/>
    <dgm:cxn modelId="{D5AC468B-45E1-4BC0-814B-6E99E5FAFD06}" type="presOf" srcId="{8F3F163F-4E47-448C-9AE4-867B2E5CD816}" destId="{733FD20A-E8F5-498D-B8C1-40BF2BBB946E}" srcOrd="0" destOrd="0" presId="urn:microsoft.com/office/officeart/2005/8/layout/cycle2"/>
    <dgm:cxn modelId="{37CAE18B-2900-4F6F-B5DE-C86EE4D71313}" type="presOf" srcId="{D9F467C4-A10D-4141-85BE-76C5BCB7C4BC}" destId="{FFED39B8-17BB-43B8-960B-0717F9CEE423}" srcOrd="0" destOrd="0" presId="urn:microsoft.com/office/officeart/2005/8/layout/cycle2"/>
    <dgm:cxn modelId="{613C3D96-7AFB-4A21-9932-FC984F45A1E0}" srcId="{E67ADE04-E6B4-40C3-81F6-EC61FD805A5B}" destId="{AD20B547-BE77-4193-8CF4-8200E591C63D}" srcOrd="5" destOrd="0" parTransId="{267E9F70-167A-4201-AACF-09DF3483FB05}" sibTransId="{DBE4EA6C-8B63-429C-B269-FA2D4F29124F}"/>
    <dgm:cxn modelId="{D44E9B96-4F32-4A62-97E0-6275EB3DE1F0}" type="presOf" srcId="{990F1C14-FC55-43D1-97AD-AF7C2DBC27D8}" destId="{CB43E37C-5E7E-4C18-B3B0-A4E93D67E22F}" srcOrd="1" destOrd="0" presId="urn:microsoft.com/office/officeart/2005/8/layout/cycle2"/>
    <dgm:cxn modelId="{F4E1D396-F0F6-4638-A003-7898278D3889}" type="presOf" srcId="{31D4B0DA-F573-46A1-8F96-1653226731A5}" destId="{4DE8EA62-96B7-4104-A7B6-A79B44633A78}" srcOrd="0" destOrd="0" presId="urn:microsoft.com/office/officeart/2005/8/layout/cycle2"/>
    <dgm:cxn modelId="{5168DB9F-65C8-401F-869F-5B5DB573E380}" type="presOf" srcId="{8EE3A628-B380-4794-9F59-CF86D59813E1}" destId="{6CA9012B-2F3F-4A3D-96BD-7928CE2235A4}" srcOrd="1" destOrd="0" presId="urn:microsoft.com/office/officeart/2005/8/layout/cycle2"/>
    <dgm:cxn modelId="{DAC885A5-B930-490B-B688-80FAD06C7693}" type="presOf" srcId="{60D44EFA-BDA0-4FA5-BABC-AA7FC7758FC5}" destId="{89663832-459D-4E7F-8E32-D4D0D2F89F17}" srcOrd="0" destOrd="0" presId="urn:microsoft.com/office/officeart/2005/8/layout/cycle2"/>
    <dgm:cxn modelId="{748A1BA6-866C-4C26-B140-0B1ECEB38E01}" srcId="{E67ADE04-E6B4-40C3-81F6-EC61FD805A5B}" destId="{F0F5CFF3-2133-47EA-A10D-999CEBA5A9B4}" srcOrd="0" destOrd="0" parTransId="{42D39530-B886-4EEB-9319-48DC7C06471A}" sibTransId="{F8209BF3-F497-48F1-B731-E2BD9922A4CC}"/>
    <dgm:cxn modelId="{E0E6B4B2-C542-4991-8CC3-6239B3DEFAC9}" type="presOf" srcId="{12D59CCD-D9B5-46E0-B327-E2EA613572DD}" destId="{F8A8879A-1585-4743-9D2E-ED8D426EF465}" srcOrd="0" destOrd="0" presId="urn:microsoft.com/office/officeart/2005/8/layout/cycle2"/>
    <dgm:cxn modelId="{614200BC-8735-4256-BB2F-C35A9ADCF791}" type="presOf" srcId="{F60C55F5-D6CE-4976-826C-58469DD6F0B9}" destId="{23DAF576-3583-42B2-9AF1-E0481465D64D}" srcOrd="0" destOrd="0" presId="urn:microsoft.com/office/officeart/2005/8/layout/cycle2"/>
    <dgm:cxn modelId="{812C6CBC-9E70-43CC-A31E-C4656AF729B1}" type="presOf" srcId="{DBE4EA6C-8B63-429C-B269-FA2D4F29124F}" destId="{023966D0-5731-44B6-9731-C879FFBB8053}" srcOrd="1" destOrd="0" presId="urn:microsoft.com/office/officeart/2005/8/layout/cycle2"/>
    <dgm:cxn modelId="{DE6A7AC0-1953-46C8-8A20-454574102642}" type="presOf" srcId="{F6A59164-D9E2-42AF-9456-5EDE76C6F2C6}" destId="{7B71613C-BE5F-4D69-B624-4DB4F9489E74}" srcOrd="1" destOrd="0" presId="urn:microsoft.com/office/officeart/2005/8/layout/cycle2"/>
    <dgm:cxn modelId="{FB96FDC2-90B7-4A10-8EE5-1072E3415644}" srcId="{E67ADE04-E6B4-40C3-81F6-EC61FD805A5B}" destId="{F60C55F5-D6CE-4976-826C-58469DD6F0B9}" srcOrd="1" destOrd="0" parTransId="{CDFD1861-44DC-476A-84D5-D20C4A70370B}" sibTransId="{12D59CCD-D9B5-46E0-B327-E2EA613572DD}"/>
    <dgm:cxn modelId="{EC1A42CD-6FD0-4C17-AE21-B582A16479A3}" type="presOf" srcId="{AD20B547-BE77-4193-8CF4-8200E591C63D}" destId="{666D4A3B-5F69-434D-AB49-BFABEDDC6BE7}" srcOrd="0" destOrd="0" presId="urn:microsoft.com/office/officeart/2005/8/layout/cycle2"/>
    <dgm:cxn modelId="{1E17D1D5-E905-4BAC-A17B-9078294E88CC}" type="presOf" srcId="{F6A59164-D9E2-42AF-9456-5EDE76C6F2C6}" destId="{39415C20-E6E3-4051-A3EF-2621EBF6F860}" srcOrd="0" destOrd="0" presId="urn:microsoft.com/office/officeart/2005/8/layout/cycle2"/>
    <dgm:cxn modelId="{8CBCF1E5-014C-4E53-A69A-C8B6ACA8BF57}" type="presOf" srcId="{97203F47-3B5D-46FB-8603-8BCA5039636B}" destId="{15FDB152-B052-4B03-9297-313F9D514D60}" srcOrd="1" destOrd="0" presId="urn:microsoft.com/office/officeart/2005/8/layout/cycle2"/>
    <dgm:cxn modelId="{E1EF31EC-C061-42E3-A8C6-9123C3E0C555}" type="presOf" srcId="{889DF809-24C7-49D1-896F-DC32446B1B68}" destId="{B64EAF11-39AD-478A-9445-97FF85BE27EF}" srcOrd="0" destOrd="0" presId="urn:microsoft.com/office/officeart/2005/8/layout/cycle2"/>
    <dgm:cxn modelId="{BA5F3AEC-17E8-40C5-B6B8-FA7DD2272115}" srcId="{E67ADE04-E6B4-40C3-81F6-EC61FD805A5B}" destId="{8F3F163F-4E47-448C-9AE4-867B2E5CD816}" srcOrd="7" destOrd="0" parTransId="{C70ED8C1-963C-4199-9F4F-B0B964FAED45}" sibTransId="{8EE3A628-B380-4794-9F59-CF86D59813E1}"/>
    <dgm:cxn modelId="{CBB6EDF0-B70E-4DCE-9EAF-86BEBE99639B}" type="presOf" srcId="{12D59CCD-D9B5-46E0-B327-E2EA613572DD}" destId="{E20E9F32-EDAC-475B-BF96-06A5A54158BC}" srcOrd="1" destOrd="0" presId="urn:microsoft.com/office/officeart/2005/8/layout/cycle2"/>
    <dgm:cxn modelId="{07CD1856-739C-4A38-A925-9A62DD151BF8}" type="presParOf" srcId="{B2110A75-86CB-48C0-9931-6E263D0B869E}" destId="{0167810C-B39E-49B6-AFE5-ABFB8D750795}" srcOrd="0" destOrd="0" presId="urn:microsoft.com/office/officeart/2005/8/layout/cycle2"/>
    <dgm:cxn modelId="{17FC09C5-D0AC-4EDB-805C-6B7C956F3754}" type="presParOf" srcId="{B2110A75-86CB-48C0-9931-6E263D0B869E}" destId="{169C2DD3-43B8-44BE-95CF-476513A73FDD}" srcOrd="1" destOrd="0" presId="urn:microsoft.com/office/officeart/2005/8/layout/cycle2"/>
    <dgm:cxn modelId="{920F68A3-F868-4BE9-B174-BCFECBBA3459}" type="presParOf" srcId="{169C2DD3-43B8-44BE-95CF-476513A73FDD}" destId="{765E6C7F-0315-40C4-AFE9-B303A628789A}" srcOrd="0" destOrd="0" presId="urn:microsoft.com/office/officeart/2005/8/layout/cycle2"/>
    <dgm:cxn modelId="{929FC626-2304-4F34-8592-D471CE4C3920}" type="presParOf" srcId="{B2110A75-86CB-48C0-9931-6E263D0B869E}" destId="{23DAF576-3583-42B2-9AF1-E0481465D64D}" srcOrd="2" destOrd="0" presId="urn:microsoft.com/office/officeart/2005/8/layout/cycle2"/>
    <dgm:cxn modelId="{E209994D-B99F-4FEC-B4DC-4D07E9FB83B2}" type="presParOf" srcId="{B2110A75-86CB-48C0-9931-6E263D0B869E}" destId="{F8A8879A-1585-4743-9D2E-ED8D426EF465}" srcOrd="3" destOrd="0" presId="urn:microsoft.com/office/officeart/2005/8/layout/cycle2"/>
    <dgm:cxn modelId="{327E2222-07A2-4674-BBB3-CB1C3C206D30}" type="presParOf" srcId="{F8A8879A-1585-4743-9D2E-ED8D426EF465}" destId="{E20E9F32-EDAC-475B-BF96-06A5A54158BC}" srcOrd="0" destOrd="0" presId="urn:microsoft.com/office/officeart/2005/8/layout/cycle2"/>
    <dgm:cxn modelId="{55EEA696-3E10-4DF9-9A02-6BDA46A190FD}" type="presParOf" srcId="{B2110A75-86CB-48C0-9931-6E263D0B869E}" destId="{89663832-459D-4E7F-8E32-D4D0D2F89F17}" srcOrd="4" destOrd="0" presId="urn:microsoft.com/office/officeart/2005/8/layout/cycle2"/>
    <dgm:cxn modelId="{9ABA41B1-0B95-4049-AD70-7A6DDCC748B2}" type="presParOf" srcId="{B2110A75-86CB-48C0-9931-6E263D0B869E}" destId="{9D6A8F8D-1137-4344-AA99-D71C7CF1C809}" srcOrd="5" destOrd="0" presId="urn:microsoft.com/office/officeart/2005/8/layout/cycle2"/>
    <dgm:cxn modelId="{4B8C78DC-CFD1-4EC2-B9BA-EB57E755268D}" type="presParOf" srcId="{9D6A8F8D-1137-4344-AA99-D71C7CF1C809}" destId="{15FDB152-B052-4B03-9297-313F9D514D60}" srcOrd="0" destOrd="0" presId="urn:microsoft.com/office/officeart/2005/8/layout/cycle2"/>
    <dgm:cxn modelId="{6CF11643-9438-496E-A011-7D132276B2FB}" type="presParOf" srcId="{B2110A75-86CB-48C0-9931-6E263D0B869E}" destId="{B64EAF11-39AD-478A-9445-97FF85BE27EF}" srcOrd="6" destOrd="0" presId="urn:microsoft.com/office/officeart/2005/8/layout/cycle2"/>
    <dgm:cxn modelId="{8B42AAE0-ECA6-43E1-923E-DFED6D8C946A}" type="presParOf" srcId="{B2110A75-86CB-48C0-9931-6E263D0B869E}" destId="{39415C20-E6E3-4051-A3EF-2621EBF6F860}" srcOrd="7" destOrd="0" presId="urn:microsoft.com/office/officeart/2005/8/layout/cycle2"/>
    <dgm:cxn modelId="{C852FE9F-1266-48B5-8085-2802271855E0}" type="presParOf" srcId="{39415C20-E6E3-4051-A3EF-2621EBF6F860}" destId="{7B71613C-BE5F-4D69-B624-4DB4F9489E74}" srcOrd="0" destOrd="0" presId="urn:microsoft.com/office/officeart/2005/8/layout/cycle2"/>
    <dgm:cxn modelId="{13FB1467-41EF-4B2F-ABFF-E6BFBE515F56}" type="presParOf" srcId="{B2110A75-86CB-48C0-9931-6E263D0B869E}" destId="{FFED39B8-17BB-43B8-960B-0717F9CEE423}" srcOrd="8" destOrd="0" presId="urn:microsoft.com/office/officeart/2005/8/layout/cycle2"/>
    <dgm:cxn modelId="{228969DF-E39E-40FB-A74C-7282E2A73434}" type="presParOf" srcId="{B2110A75-86CB-48C0-9931-6E263D0B869E}" destId="{4F6397FE-9711-46DA-A151-9214037637C3}" srcOrd="9" destOrd="0" presId="urn:microsoft.com/office/officeart/2005/8/layout/cycle2"/>
    <dgm:cxn modelId="{E73253AD-4CA2-4CAC-88F3-81684ABE8441}" type="presParOf" srcId="{4F6397FE-9711-46DA-A151-9214037637C3}" destId="{386DF915-FFD8-480F-AB82-209517EEDEB0}" srcOrd="0" destOrd="0" presId="urn:microsoft.com/office/officeart/2005/8/layout/cycle2"/>
    <dgm:cxn modelId="{45EB1395-0278-4058-BCAB-9570DC4D6E1C}" type="presParOf" srcId="{B2110A75-86CB-48C0-9931-6E263D0B869E}" destId="{666D4A3B-5F69-434D-AB49-BFABEDDC6BE7}" srcOrd="10" destOrd="0" presId="urn:microsoft.com/office/officeart/2005/8/layout/cycle2"/>
    <dgm:cxn modelId="{58CF8781-87F3-4A21-8276-41EBDE5AA64F}" type="presParOf" srcId="{B2110A75-86CB-48C0-9931-6E263D0B869E}" destId="{D260A765-0EF9-4E33-96D8-48EDFA32FF5A}" srcOrd="11" destOrd="0" presId="urn:microsoft.com/office/officeart/2005/8/layout/cycle2"/>
    <dgm:cxn modelId="{8B653130-D483-4D91-8D25-6A516A0BB5AD}" type="presParOf" srcId="{D260A765-0EF9-4E33-96D8-48EDFA32FF5A}" destId="{023966D0-5731-44B6-9731-C879FFBB8053}" srcOrd="0" destOrd="0" presId="urn:microsoft.com/office/officeart/2005/8/layout/cycle2"/>
    <dgm:cxn modelId="{B48619F9-4100-4C15-85A4-DF0654DB2945}" type="presParOf" srcId="{B2110A75-86CB-48C0-9931-6E263D0B869E}" destId="{4DE8EA62-96B7-4104-A7B6-A79B44633A78}" srcOrd="12" destOrd="0" presId="urn:microsoft.com/office/officeart/2005/8/layout/cycle2"/>
    <dgm:cxn modelId="{D63AF7C2-B27F-463B-A235-86940A95C648}" type="presParOf" srcId="{B2110A75-86CB-48C0-9931-6E263D0B869E}" destId="{404A4605-2222-43A9-B06D-A3CD42BABB0B}" srcOrd="13" destOrd="0" presId="urn:microsoft.com/office/officeart/2005/8/layout/cycle2"/>
    <dgm:cxn modelId="{25D1C194-24DE-43D9-9BAD-5831E0B6BA99}" type="presParOf" srcId="{404A4605-2222-43A9-B06D-A3CD42BABB0B}" destId="{CB43E37C-5E7E-4C18-B3B0-A4E93D67E22F}" srcOrd="0" destOrd="0" presId="urn:microsoft.com/office/officeart/2005/8/layout/cycle2"/>
    <dgm:cxn modelId="{7B5FDD8A-E44A-4F7D-A636-A878D172CC00}" type="presParOf" srcId="{B2110A75-86CB-48C0-9931-6E263D0B869E}" destId="{733FD20A-E8F5-498D-B8C1-40BF2BBB946E}" srcOrd="14" destOrd="0" presId="urn:microsoft.com/office/officeart/2005/8/layout/cycle2"/>
    <dgm:cxn modelId="{E4438832-614B-49A5-86E2-359C15C8C592}" type="presParOf" srcId="{B2110A75-86CB-48C0-9931-6E263D0B869E}" destId="{8E60590D-9230-4410-8898-9E8E33BAF0FA}" srcOrd="15" destOrd="0" presId="urn:microsoft.com/office/officeart/2005/8/layout/cycle2"/>
    <dgm:cxn modelId="{748AAF1C-C1D8-4C53-A47D-234584699E0B}" type="presParOf" srcId="{8E60590D-9230-4410-8898-9E8E33BAF0FA}" destId="{6CA9012B-2F3F-4A3D-96BD-7928CE2235A4}"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4260FFB-EB70-4F8C-B54A-6AAF0A02A743}" type="doc">
      <dgm:prSet loTypeId="urn:microsoft.com/office/officeart/2005/8/layout/cycle2" loCatId="cycle" qsTypeId="urn:microsoft.com/office/officeart/2005/8/quickstyle/simple1" qsCatId="simple" csTypeId="urn:microsoft.com/office/officeart/2005/8/colors/accent2_2" csCatId="accent2" phldr="1"/>
      <dgm:spPr/>
      <dgm:t>
        <a:bodyPr/>
        <a:lstStyle/>
        <a:p>
          <a:endParaRPr lang="en-US"/>
        </a:p>
      </dgm:t>
    </dgm:pt>
    <dgm:pt modelId="{51F784A7-52F5-4A98-919D-31DD7AC03080}">
      <dgm:prSet phldrT="[Text]" custT="1"/>
      <dgm:spPr/>
      <dgm:t>
        <a:bodyPr/>
        <a:lstStyle/>
        <a:p>
          <a:r>
            <a:rPr lang="en-US" sz="4000" b="1" dirty="0">
              <a:solidFill>
                <a:schemeClr val="tx1"/>
              </a:solidFill>
            </a:rPr>
            <a:t>1</a:t>
          </a:r>
        </a:p>
      </dgm:t>
    </dgm:pt>
    <dgm:pt modelId="{C7F940F8-0AC8-45D0-BCE8-1C4152EA5519}" type="parTrans" cxnId="{279A3890-E550-443E-816D-39FA76B3D9E6}">
      <dgm:prSet/>
      <dgm:spPr/>
      <dgm:t>
        <a:bodyPr/>
        <a:lstStyle/>
        <a:p>
          <a:endParaRPr lang="en-US"/>
        </a:p>
      </dgm:t>
    </dgm:pt>
    <dgm:pt modelId="{CC06F3E2-6DDC-47A8-8902-219E80FCB4E2}" type="sibTrans" cxnId="{279A3890-E550-443E-816D-39FA76B3D9E6}">
      <dgm:prSet/>
      <dgm:spPr>
        <a:solidFill>
          <a:schemeClr val="accent6">
            <a:lumMod val="40000"/>
            <a:lumOff val="60000"/>
          </a:schemeClr>
        </a:solidFill>
      </dgm:spPr>
      <dgm:t>
        <a:bodyPr/>
        <a:lstStyle/>
        <a:p>
          <a:endParaRPr lang="en-US"/>
        </a:p>
      </dgm:t>
    </dgm:pt>
    <dgm:pt modelId="{6BBBF36B-6C92-40EC-A152-067C327B6F5F}">
      <dgm:prSet phldrT="[Text]" custT="1"/>
      <dgm:spPr/>
      <dgm:t>
        <a:bodyPr/>
        <a:lstStyle/>
        <a:p>
          <a:r>
            <a:rPr lang="en-US" sz="4000" b="1" dirty="0">
              <a:solidFill>
                <a:schemeClr val="tx1"/>
              </a:solidFill>
            </a:rPr>
            <a:t>2</a:t>
          </a:r>
        </a:p>
      </dgm:t>
    </dgm:pt>
    <dgm:pt modelId="{EB6A7285-2804-4988-94C6-1CA7B48BB725}" type="parTrans" cxnId="{413CAAC9-0311-4869-BC61-000371C32057}">
      <dgm:prSet/>
      <dgm:spPr/>
      <dgm:t>
        <a:bodyPr/>
        <a:lstStyle/>
        <a:p>
          <a:endParaRPr lang="en-US"/>
        </a:p>
      </dgm:t>
    </dgm:pt>
    <dgm:pt modelId="{7FD0B070-C25C-457C-920E-24DF99D79D1A}" type="sibTrans" cxnId="{413CAAC9-0311-4869-BC61-000371C32057}">
      <dgm:prSet/>
      <dgm:spPr>
        <a:solidFill>
          <a:schemeClr val="accent6">
            <a:lumMod val="40000"/>
            <a:lumOff val="60000"/>
          </a:schemeClr>
        </a:solidFill>
      </dgm:spPr>
      <dgm:t>
        <a:bodyPr/>
        <a:lstStyle/>
        <a:p>
          <a:endParaRPr lang="en-US"/>
        </a:p>
      </dgm:t>
    </dgm:pt>
    <dgm:pt modelId="{73D98584-41E1-4842-A2C0-E765D5BDE764}">
      <dgm:prSet phldrT="[Text]" custT="1"/>
      <dgm:spPr/>
      <dgm:t>
        <a:bodyPr/>
        <a:lstStyle/>
        <a:p>
          <a:r>
            <a:rPr lang="en-US" sz="4000" b="1" dirty="0">
              <a:solidFill>
                <a:schemeClr val="tx1"/>
              </a:solidFill>
            </a:rPr>
            <a:t>3</a:t>
          </a:r>
        </a:p>
      </dgm:t>
    </dgm:pt>
    <dgm:pt modelId="{3C7355FE-0F18-45F3-8DA4-3F28FC4E8986}" type="parTrans" cxnId="{68C80973-5214-4DF8-A886-D4E19B5AF1CA}">
      <dgm:prSet/>
      <dgm:spPr/>
      <dgm:t>
        <a:bodyPr/>
        <a:lstStyle/>
        <a:p>
          <a:endParaRPr lang="en-US"/>
        </a:p>
      </dgm:t>
    </dgm:pt>
    <dgm:pt modelId="{89B30E5D-C0AE-4943-868F-F7E560072109}" type="sibTrans" cxnId="{68C80973-5214-4DF8-A886-D4E19B5AF1CA}">
      <dgm:prSet/>
      <dgm:spPr>
        <a:solidFill>
          <a:schemeClr val="accent6">
            <a:lumMod val="40000"/>
            <a:lumOff val="60000"/>
          </a:schemeClr>
        </a:solidFill>
      </dgm:spPr>
      <dgm:t>
        <a:bodyPr/>
        <a:lstStyle/>
        <a:p>
          <a:endParaRPr lang="en-US"/>
        </a:p>
      </dgm:t>
    </dgm:pt>
    <dgm:pt modelId="{9AC65053-1C7F-4E73-A2FF-361D2099CD1B}">
      <dgm:prSet phldrT="[Text]" custT="1"/>
      <dgm:spPr/>
      <dgm:t>
        <a:bodyPr/>
        <a:lstStyle/>
        <a:p>
          <a:r>
            <a:rPr lang="en-US" sz="4000" b="1" dirty="0">
              <a:solidFill>
                <a:schemeClr val="tx1"/>
              </a:solidFill>
            </a:rPr>
            <a:t>4</a:t>
          </a:r>
        </a:p>
      </dgm:t>
    </dgm:pt>
    <dgm:pt modelId="{41413135-D0DE-4060-9090-B2881FED73F2}" type="parTrans" cxnId="{208BF430-645C-4394-AE53-28497E72C727}">
      <dgm:prSet/>
      <dgm:spPr/>
      <dgm:t>
        <a:bodyPr/>
        <a:lstStyle/>
        <a:p>
          <a:endParaRPr lang="en-US"/>
        </a:p>
      </dgm:t>
    </dgm:pt>
    <dgm:pt modelId="{50D02B25-D07A-4586-BB56-209426F76348}" type="sibTrans" cxnId="{208BF430-645C-4394-AE53-28497E72C727}">
      <dgm:prSet/>
      <dgm:spPr>
        <a:solidFill>
          <a:schemeClr val="accent6">
            <a:lumMod val="40000"/>
            <a:lumOff val="60000"/>
          </a:schemeClr>
        </a:solidFill>
      </dgm:spPr>
      <dgm:t>
        <a:bodyPr/>
        <a:lstStyle/>
        <a:p>
          <a:endParaRPr lang="en-US"/>
        </a:p>
      </dgm:t>
    </dgm:pt>
    <dgm:pt modelId="{50B48F38-E64B-4CE8-9148-33AC566D69FD}">
      <dgm:prSet phldrT="[Text]" custT="1"/>
      <dgm:spPr/>
      <dgm:t>
        <a:bodyPr/>
        <a:lstStyle/>
        <a:p>
          <a:r>
            <a:rPr lang="en-US" sz="4000" b="1" dirty="0">
              <a:solidFill>
                <a:schemeClr val="tx1"/>
              </a:solidFill>
            </a:rPr>
            <a:t>5</a:t>
          </a:r>
        </a:p>
      </dgm:t>
    </dgm:pt>
    <dgm:pt modelId="{881ACCF6-4179-4836-9F5F-67A64A694169}" type="parTrans" cxnId="{F67D468A-3457-4A91-99C2-E3E4BC9A9271}">
      <dgm:prSet/>
      <dgm:spPr/>
      <dgm:t>
        <a:bodyPr/>
        <a:lstStyle/>
        <a:p>
          <a:endParaRPr lang="en-US"/>
        </a:p>
      </dgm:t>
    </dgm:pt>
    <dgm:pt modelId="{FD977D83-8ED3-4FC3-9A4F-605279D7E3EF}" type="sibTrans" cxnId="{F67D468A-3457-4A91-99C2-E3E4BC9A9271}">
      <dgm:prSet/>
      <dgm:spPr>
        <a:solidFill>
          <a:schemeClr val="accent6">
            <a:lumMod val="40000"/>
            <a:lumOff val="60000"/>
          </a:schemeClr>
        </a:solidFill>
      </dgm:spPr>
      <dgm:t>
        <a:bodyPr/>
        <a:lstStyle/>
        <a:p>
          <a:endParaRPr lang="en-US"/>
        </a:p>
      </dgm:t>
    </dgm:pt>
    <dgm:pt modelId="{D9C6BD13-53D5-4285-A5CB-BE04676959C1}">
      <dgm:prSet phldrT="[Text]" custT="1"/>
      <dgm:spPr/>
      <dgm:t>
        <a:bodyPr/>
        <a:lstStyle/>
        <a:p>
          <a:r>
            <a:rPr lang="en-US" sz="4000" b="1" dirty="0">
              <a:solidFill>
                <a:schemeClr val="tx1"/>
              </a:solidFill>
            </a:rPr>
            <a:t>6</a:t>
          </a:r>
        </a:p>
      </dgm:t>
    </dgm:pt>
    <dgm:pt modelId="{C77F3A3C-550D-45A0-8917-D29718DB5FB5}" type="parTrans" cxnId="{ADB2900D-07E4-424C-A3E1-089C880D754B}">
      <dgm:prSet/>
      <dgm:spPr/>
      <dgm:t>
        <a:bodyPr/>
        <a:lstStyle/>
        <a:p>
          <a:endParaRPr lang="en-US"/>
        </a:p>
      </dgm:t>
    </dgm:pt>
    <dgm:pt modelId="{13B4F9D7-C48E-4C7D-A8B6-0B7AA3ECC680}" type="sibTrans" cxnId="{ADB2900D-07E4-424C-A3E1-089C880D754B}">
      <dgm:prSet/>
      <dgm:spPr>
        <a:solidFill>
          <a:schemeClr val="accent6">
            <a:lumMod val="40000"/>
            <a:lumOff val="60000"/>
          </a:schemeClr>
        </a:solidFill>
      </dgm:spPr>
      <dgm:t>
        <a:bodyPr/>
        <a:lstStyle/>
        <a:p>
          <a:endParaRPr lang="en-US"/>
        </a:p>
      </dgm:t>
    </dgm:pt>
    <dgm:pt modelId="{99EC9F86-966F-4568-9534-911017870094}">
      <dgm:prSet phldrT="[Text]" custT="1"/>
      <dgm:spPr/>
      <dgm:t>
        <a:bodyPr/>
        <a:lstStyle/>
        <a:p>
          <a:r>
            <a:rPr lang="en-US" sz="4000" b="1" dirty="0">
              <a:solidFill>
                <a:schemeClr val="tx1"/>
              </a:solidFill>
            </a:rPr>
            <a:t>7</a:t>
          </a:r>
        </a:p>
      </dgm:t>
    </dgm:pt>
    <dgm:pt modelId="{BBA6E25A-7710-42F2-8779-77CCC8714A58}" type="parTrans" cxnId="{2390FE76-E7AF-480A-8A00-342DA8326CEB}">
      <dgm:prSet/>
      <dgm:spPr/>
      <dgm:t>
        <a:bodyPr/>
        <a:lstStyle/>
        <a:p>
          <a:endParaRPr lang="en-US"/>
        </a:p>
      </dgm:t>
    </dgm:pt>
    <dgm:pt modelId="{25DFF457-EEB9-4FAD-B793-5C52E40D9936}" type="sibTrans" cxnId="{2390FE76-E7AF-480A-8A00-342DA8326CEB}">
      <dgm:prSet/>
      <dgm:spPr>
        <a:solidFill>
          <a:schemeClr val="accent6">
            <a:lumMod val="40000"/>
            <a:lumOff val="60000"/>
          </a:schemeClr>
        </a:solidFill>
      </dgm:spPr>
      <dgm:t>
        <a:bodyPr/>
        <a:lstStyle/>
        <a:p>
          <a:endParaRPr lang="en-US"/>
        </a:p>
      </dgm:t>
    </dgm:pt>
    <dgm:pt modelId="{8C50BBAE-0800-439C-864F-50BFFD4ACADB}">
      <dgm:prSet phldrT="[Text]" custT="1"/>
      <dgm:spPr/>
      <dgm:t>
        <a:bodyPr/>
        <a:lstStyle/>
        <a:p>
          <a:r>
            <a:rPr lang="en-US" sz="4000" b="1" dirty="0">
              <a:solidFill>
                <a:schemeClr val="tx1"/>
              </a:solidFill>
            </a:rPr>
            <a:t>0</a:t>
          </a:r>
        </a:p>
      </dgm:t>
    </dgm:pt>
    <dgm:pt modelId="{6C12DA0E-A872-4C38-9DA0-C46D060D12DF}" type="parTrans" cxnId="{DA9EA787-3AE7-4E15-9699-DD15443B76FC}">
      <dgm:prSet/>
      <dgm:spPr/>
      <dgm:t>
        <a:bodyPr/>
        <a:lstStyle/>
        <a:p>
          <a:endParaRPr lang="en-US"/>
        </a:p>
      </dgm:t>
    </dgm:pt>
    <dgm:pt modelId="{69EC2DA7-E010-45B5-B61A-1807893FC22E}" type="sibTrans" cxnId="{DA9EA787-3AE7-4E15-9699-DD15443B76FC}">
      <dgm:prSet/>
      <dgm:spPr>
        <a:solidFill>
          <a:schemeClr val="accent6">
            <a:lumMod val="40000"/>
            <a:lumOff val="60000"/>
          </a:schemeClr>
        </a:solidFill>
      </dgm:spPr>
      <dgm:t>
        <a:bodyPr/>
        <a:lstStyle/>
        <a:p>
          <a:endParaRPr lang="en-US"/>
        </a:p>
      </dgm:t>
    </dgm:pt>
    <dgm:pt modelId="{64475F6A-1F04-428D-A62E-C9977CFE435F}" type="pres">
      <dgm:prSet presAssocID="{94260FFB-EB70-4F8C-B54A-6AAF0A02A743}" presName="cycle" presStyleCnt="0">
        <dgm:presLayoutVars>
          <dgm:dir/>
          <dgm:resizeHandles val="exact"/>
        </dgm:presLayoutVars>
      </dgm:prSet>
      <dgm:spPr/>
    </dgm:pt>
    <dgm:pt modelId="{602B3231-99A4-4221-8474-7DAC9B33ECFD}" type="pres">
      <dgm:prSet presAssocID="{51F784A7-52F5-4A98-919D-31DD7AC03080}" presName="node" presStyleLbl="node1" presStyleIdx="0" presStyleCnt="8">
        <dgm:presLayoutVars>
          <dgm:bulletEnabled val="1"/>
        </dgm:presLayoutVars>
      </dgm:prSet>
      <dgm:spPr/>
    </dgm:pt>
    <dgm:pt modelId="{BB5AB858-BF4D-460C-A651-829E0F143004}" type="pres">
      <dgm:prSet presAssocID="{CC06F3E2-6DDC-47A8-8902-219E80FCB4E2}" presName="sibTrans" presStyleLbl="sibTrans2D1" presStyleIdx="0" presStyleCnt="8" custScaleX="186080" custScaleY="127990" custLinFactNeighborX="24774" custLinFactNeighborY="0"/>
      <dgm:spPr/>
    </dgm:pt>
    <dgm:pt modelId="{5BDD9A32-365A-4D82-ACB7-84638431A9D8}" type="pres">
      <dgm:prSet presAssocID="{CC06F3E2-6DDC-47A8-8902-219E80FCB4E2}" presName="connectorText" presStyleLbl="sibTrans2D1" presStyleIdx="0" presStyleCnt="8"/>
      <dgm:spPr/>
    </dgm:pt>
    <dgm:pt modelId="{47778F55-5FA8-46F6-8FAC-7340309D9FC4}" type="pres">
      <dgm:prSet presAssocID="{6BBBF36B-6C92-40EC-A152-067C327B6F5F}" presName="node" presStyleLbl="node1" presStyleIdx="1" presStyleCnt="8">
        <dgm:presLayoutVars>
          <dgm:bulletEnabled val="1"/>
        </dgm:presLayoutVars>
      </dgm:prSet>
      <dgm:spPr/>
    </dgm:pt>
    <dgm:pt modelId="{B3D0EE29-DD02-491D-A689-A2534AFF3BEC}" type="pres">
      <dgm:prSet presAssocID="{7FD0B070-C25C-457C-920E-24DF99D79D1A}" presName="sibTrans" presStyleLbl="sibTrans2D1" presStyleIdx="1" presStyleCnt="8" custScaleX="219250" custScaleY="136019"/>
      <dgm:spPr/>
    </dgm:pt>
    <dgm:pt modelId="{A8666A15-EFD4-4FF4-8B62-B14A73EBDAED}" type="pres">
      <dgm:prSet presAssocID="{7FD0B070-C25C-457C-920E-24DF99D79D1A}" presName="connectorText" presStyleLbl="sibTrans2D1" presStyleIdx="1" presStyleCnt="8"/>
      <dgm:spPr/>
    </dgm:pt>
    <dgm:pt modelId="{826DA095-2B71-4FE6-9FAB-17B44A09ACBD}" type="pres">
      <dgm:prSet presAssocID="{73D98584-41E1-4842-A2C0-E765D5BDE764}" presName="node" presStyleLbl="node1" presStyleIdx="2" presStyleCnt="8">
        <dgm:presLayoutVars>
          <dgm:bulletEnabled val="1"/>
        </dgm:presLayoutVars>
      </dgm:prSet>
      <dgm:spPr/>
    </dgm:pt>
    <dgm:pt modelId="{CAC2A881-EDCD-43BF-A975-2BC590898B46}" type="pres">
      <dgm:prSet presAssocID="{89B30E5D-C0AE-4943-868F-F7E560072109}" presName="sibTrans" presStyleLbl="sibTrans2D1" presStyleIdx="2" presStyleCnt="8" custScaleX="217296" custScaleY="111575"/>
      <dgm:spPr/>
    </dgm:pt>
    <dgm:pt modelId="{C775059B-AEA8-4122-9831-6C1B5B5D3AF1}" type="pres">
      <dgm:prSet presAssocID="{89B30E5D-C0AE-4943-868F-F7E560072109}" presName="connectorText" presStyleLbl="sibTrans2D1" presStyleIdx="2" presStyleCnt="8"/>
      <dgm:spPr/>
    </dgm:pt>
    <dgm:pt modelId="{1BA491E3-B061-479D-8C62-903D6938CFA6}" type="pres">
      <dgm:prSet presAssocID="{9AC65053-1C7F-4E73-A2FF-361D2099CD1B}" presName="node" presStyleLbl="node1" presStyleIdx="3" presStyleCnt="8">
        <dgm:presLayoutVars>
          <dgm:bulletEnabled val="1"/>
        </dgm:presLayoutVars>
      </dgm:prSet>
      <dgm:spPr/>
    </dgm:pt>
    <dgm:pt modelId="{DEED91AB-3C6F-4495-B7CD-776D9210E5A9}" type="pres">
      <dgm:prSet presAssocID="{50D02B25-D07A-4586-BB56-209426F76348}" presName="sibTrans" presStyleLbl="sibTrans2D1" presStyleIdx="3" presStyleCnt="8" custScaleX="236069" custScaleY="162110" custLinFactNeighborX="-27958" custLinFactNeighborY="-2150"/>
      <dgm:spPr/>
    </dgm:pt>
    <dgm:pt modelId="{8A9AFFA2-FD19-46AF-BA95-FA021DF99CEC}" type="pres">
      <dgm:prSet presAssocID="{50D02B25-D07A-4586-BB56-209426F76348}" presName="connectorText" presStyleLbl="sibTrans2D1" presStyleIdx="3" presStyleCnt="8"/>
      <dgm:spPr/>
    </dgm:pt>
    <dgm:pt modelId="{B60FAA7E-73A1-4D37-9398-8514BA9C9DE3}" type="pres">
      <dgm:prSet presAssocID="{50B48F38-E64B-4CE8-9148-33AC566D69FD}" presName="node" presStyleLbl="node1" presStyleIdx="4" presStyleCnt="8">
        <dgm:presLayoutVars>
          <dgm:bulletEnabled val="1"/>
        </dgm:presLayoutVars>
      </dgm:prSet>
      <dgm:spPr/>
    </dgm:pt>
    <dgm:pt modelId="{DE622B03-26DB-4D27-832B-B1FD8737A08C}" type="pres">
      <dgm:prSet presAssocID="{FD977D83-8ED3-4FC3-9A4F-605279D7E3EF}" presName="sibTrans" presStyleLbl="sibTrans2D1" presStyleIdx="4" presStyleCnt="8" custScaleX="190002" custScaleY="164506"/>
      <dgm:spPr/>
    </dgm:pt>
    <dgm:pt modelId="{92E4C4E4-6CB6-41D1-89E1-942008F58C07}" type="pres">
      <dgm:prSet presAssocID="{FD977D83-8ED3-4FC3-9A4F-605279D7E3EF}" presName="connectorText" presStyleLbl="sibTrans2D1" presStyleIdx="4" presStyleCnt="8"/>
      <dgm:spPr/>
    </dgm:pt>
    <dgm:pt modelId="{7D10D53B-B473-48FD-9377-F58245365F8C}" type="pres">
      <dgm:prSet presAssocID="{D9C6BD13-53D5-4285-A5CB-BE04676959C1}" presName="node" presStyleLbl="node1" presStyleIdx="5" presStyleCnt="8">
        <dgm:presLayoutVars>
          <dgm:bulletEnabled val="1"/>
        </dgm:presLayoutVars>
      </dgm:prSet>
      <dgm:spPr/>
    </dgm:pt>
    <dgm:pt modelId="{F6A2138F-5062-45DC-9B18-166194705BD5}" type="pres">
      <dgm:prSet presAssocID="{13B4F9D7-C48E-4C7D-A8B6-0B7AA3ECC680}" presName="sibTrans" presStyleLbl="sibTrans2D1" presStyleIdx="5" presStyleCnt="8" custScaleX="181135" custScaleY="191501"/>
      <dgm:spPr/>
    </dgm:pt>
    <dgm:pt modelId="{0B49997D-A6D3-462A-B827-0F0E0487F679}" type="pres">
      <dgm:prSet presAssocID="{13B4F9D7-C48E-4C7D-A8B6-0B7AA3ECC680}" presName="connectorText" presStyleLbl="sibTrans2D1" presStyleIdx="5" presStyleCnt="8"/>
      <dgm:spPr/>
    </dgm:pt>
    <dgm:pt modelId="{8637FA6F-DBD9-4B79-9435-29F00CF75FAB}" type="pres">
      <dgm:prSet presAssocID="{99EC9F86-966F-4568-9534-911017870094}" presName="node" presStyleLbl="node1" presStyleIdx="6" presStyleCnt="8">
        <dgm:presLayoutVars>
          <dgm:bulletEnabled val="1"/>
        </dgm:presLayoutVars>
      </dgm:prSet>
      <dgm:spPr/>
    </dgm:pt>
    <dgm:pt modelId="{C14698ED-59EC-4B10-82E9-1CCAB1812213}" type="pres">
      <dgm:prSet presAssocID="{25DFF457-EEB9-4FAD-B793-5C52E40D9936}" presName="sibTrans" presStyleLbl="sibTrans2D1" presStyleIdx="6" presStyleCnt="8" custScaleX="228490" custScaleY="148386"/>
      <dgm:spPr/>
    </dgm:pt>
    <dgm:pt modelId="{7E4902DA-F9C4-43C5-B213-07DC0B5F8B56}" type="pres">
      <dgm:prSet presAssocID="{25DFF457-EEB9-4FAD-B793-5C52E40D9936}" presName="connectorText" presStyleLbl="sibTrans2D1" presStyleIdx="6" presStyleCnt="8"/>
      <dgm:spPr/>
    </dgm:pt>
    <dgm:pt modelId="{3BB13E3B-B980-402F-BAF2-677DE610D4E5}" type="pres">
      <dgm:prSet presAssocID="{8C50BBAE-0800-439C-864F-50BFFD4ACADB}" presName="node" presStyleLbl="node1" presStyleIdx="7" presStyleCnt="8">
        <dgm:presLayoutVars>
          <dgm:bulletEnabled val="1"/>
        </dgm:presLayoutVars>
      </dgm:prSet>
      <dgm:spPr/>
    </dgm:pt>
    <dgm:pt modelId="{19EFCE70-D4EB-47B8-B05E-DA7447C68746}" type="pres">
      <dgm:prSet presAssocID="{69EC2DA7-E010-45B5-B61A-1807893FC22E}" presName="sibTrans" presStyleLbl="sibTrans2D1" presStyleIdx="7" presStyleCnt="8" custScaleX="155181" custScaleY="214384"/>
      <dgm:spPr/>
    </dgm:pt>
    <dgm:pt modelId="{65A59C2D-8B6E-4A75-B26A-B858A03D481D}" type="pres">
      <dgm:prSet presAssocID="{69EC2DA7-E010-45B5-B61A-1807893FC22E}" presName="connectorText" presStyleLbl="sibTrans2D1" presStyleIdx="7" presStyleCnt="8"/>
      <dgm:spPr/>
    </dgm:pt>
  </dgm:ptLst>
  <dgm:cxnLst>
    <dgm:cxn modelId="{4A713F02-6F16-4567-ACB1-90134B58757E}" type="presOf" srcId="{25DFF457-EEB9-4FAD-B793-5C52E40D9936}" destId="{7E4902DA-F9C4-43C5-B213-07DC0B5F8B56}" srcOrd="1" destOrd="0" presId="urn:microsoft.com/office/officeart/2005/8/layout/cycle2"/>
    <dgm:cxn modelId="{0077850A-29C0-4CAD-8E39-968E19615F5F}" type="presOf" srcId="{CC06F3E2-6DDC-47A8-8902-219E80FCB4E2}" destId="{5BDD9A32-365A-4D82-ACB7-84638431A9D8}" srcOrd="1" destOrd="0" presId="urn:microsoft.com/office/officeart/2005/8/layout/cycle2"/>
    <dgm:cxn modelId="{ADB2900D-07E4-424C-A3E1-089C880D754B}" srcId="{94260FFB-EB70-4F8C-B54A-6AAF0A02A743}" destId="{D9C6BD13-53D5-4285-A5CB-BE04676959C1}" srcOrd="5" destOrd="0" parTransId="{C77F3A3C-550D-45A0-8917-D29718DB5FB5}" sibTransId="{13B4F9D7-C48E-4C7D-A8B6-0B7AA3ECC680}"/>
    <dgm:cxn modelId="{EACED115-AD9D-4309-AFCF-0F3688AB4345}" type="presOf" srcId="{69EC2DA7-E010-45B5-B61A-1807893FC22E}" destId="{65A59C2D-8B6E-4A75-B26A-B858A03D481D}" srcOrd="1" destOrd="0" presId="urn:microsoft.com/office/officeart/2005/8/layout/cycle2"/>
    <dgm:cxn modelId="{ED0C7523-13CC-407C-9AFB-C1A3CADDD3DF}" type="presOf" srcId="{89B30E5D-C0AE-4943-868F-F7E560072109}" destId="{C775059B-AEA8-4122-9831-6C1B5B5D3AF1}" srcOrd="1" destOrd="0" presId="urn:microsoft.com/office/officeart/2005/8/layout/cycle2"/>
    <dgm:cxn modelId="{EEFB5A26-1277-487F-9A75-ED3CDCD4FAA0}" type="presOf" srcId="{51F784A7-52F5-4A98-919D-31DD7AC03080}" destId="{602B3231-99A4-4221-8474-7DAC9B33ECFD}" srcOrd="0" destOrd="0" presId="urn:microsoft.com/office/officeart/2005/8/layout/cycle2"/>
    <dgm:cxn modelId="{1DEBD129-CF12-43F3-B939-E013148CCED2}" type="presOf" srcId="{50B48F38-E64B-4CE8-9148-33AC566D69FD}" destId="{B60FAA7E-73A1-4D37-9398-8514BA9C9DE3}" srcOrd="0" destOrd="0" presId="urn:microsoft.com/office/officeart/2005/8/layout/cycle2"/>
    <dgm:cxn modelId="{2F646D2B-0367-438B-9D0F-855F1EC091B6}" type="presOf" srcId="{89B30E5D-C0AE-4943-868F-F7E560072109}" destId="{CAC2A881-EDCD-43BF-A975-2BC590898B46}" srcOrd="0" destOrd="0" presId="urn:microsoft.com/office/officeart/2005/8/layout/cycle2"/>
    <dgm:cxn modelId="{CED2722B-87E4-438A-B649-C2CE61DE11C1}" type="presOf" srcId="{25DFF457-EEB9-4FAD-B793-5C52E40D9936}" destId="{C14698ED-59EC-4B10-82E9-1CCAB1812213}" srcOrd="0" destOrd="0" presId="urn:microsoft.com/office/officeart/2005/8/layout/cycle2"/>
    <dgm:cxn modelId="{57586A30-C364-4B9E-8610-CBFD5284165C}" type="presOf" srcId="{94260FFB-EB70-4F8C-B54A-6AAF0A02A743}" destId="{64475F6A-1F04-428D-A62E-C9977CFE435F}" srcOrd="0" destOrd="0" presId="urn:microsoft.com/office/officeart/2005/8/layout/cycle2"/>
    <dgm:cxn modelId="{208BF430-645C-4394-AE53-28497E72C727}" srcId="{94260FFB-EB70-4F8C-B54A-6AAF0A02A743}" destId="{9AC65053-1C7F-4E73-A2FF-361D2099CD1B}" srcOrd="3" destOrd="0" parTransId="{41413135-D0DE-4060-9090-B2881FED73F2}" sibTransId="{50D02B25-D07A-4586-BB56-209426F76348}"/>
    <dgm:cxn modelId="{ED3FFD3B-993D-4425-9ABE-B90DD606C207}" type="presOf" srcId="{69EC2DA7-E010-45B5-B61A-1807893FC22E}" destId="{19EFCE70-D4EB-47B8-B05E-DA7447C68746}" srcOrd="0" destOrd="0" presId="urn:microsoft.com/office/officeart/2005/8/layout/cycle2"/>
    <dgm:cxn modelId="{DEB98E63-9BF3-4EFF-A6E1-2A02E7DA05EF}" type="presOf" srcId="{7FD0B070-C25C-457C-920E-24DF99D79D1A}" destId="{A8666A15-EFD4-4FF4-8B62-B14A73EBDAED}" srcOrd="1" destOrd="0" presId="urn:microsoft.com/office/officeart/2005/8/layout/cycle2"/>
    <dgm:cxn modelId="{CF4B666C-8198-44C3-936D-7151A7CF6A87}" type="presOf" srcId="{7FD0B070-C25C-457C-920E-24DF99D79D1A}" destId="{B3D0EE29-DD02-491D-A689-A2534AFF3BEC}" srcOrd="0" destOrd="0" presId="urn:microsoft.com/office/officeart/2005/8/layout/cycle2"/>
    <dgm:cxn modelId="{FD0FB252-D639-4C94-807B-FCEDD519AD6D}" type="presOf" srcId="{50D02B25-D07A-4586-BB56-209426F76348}" destId="{DEED91AB-3C6F-4495-B7CD-776D9210E5A9}" srcOrd="0" destOrd="0" presId="urn:microsoft.com/office/officeart/2005/8/layout/cycle2"/>
    <dgm:cxn modelId="{68C80973-5214-4DF8-A886-D4E19B5AF1CA}" srcId="{94260FFB-EB70-4F8C-B54A-6AAF0A02A743}" destId="{73D98584-41E1-4842-A2C0-E765D5BDE764}" srcOrd="2" destOrd="0" parTransId="{3C7355FE-0F18-45F3-8DA4-3F28FC4E8986}" sibTransId="{89B30E5D-C0AE-4943-868F-F7E560072109}"/>
    <dgm:cxn modelId="{C7D13B73-24D7-4852-982B-D1D541F09EB3}" type="presOf" srcId="{13B4F9D7-C48E-4C7D-A8B6-0B7AA3ECC680}" destId="{F6A2138F-5062-45DC-9B18-166194705BD5}" srcOrd="0" destOrd="0" presId="urn:microsoft.com/office/officeart/2005/8/layout/cycle2"/>
    <dgm:cxn modelId="{2390FE76-E7AF-480A-8A00-342DA8326CEB}" srcId="{94260FFB-EB70-4F8C-B54A-6AAF0A02A743}" destId="{99EC9F86-966F-4568-9534-911017870094}" srcOrd="6" destOrd="0" parTransId="{BBA6E25A-7710-42F2-8779-77CCC8714A58}" sibTransId="{25DFF457-EEB9-4FAD-B793-5C52E40D9936}"/>
    <dgm:cxn modelId="{612E8D77-1D1D-4FC2-BFB9-4B563E68D666}" type="presOf" srcId="{99EC9F86-966F-4568-9534-911017870094}" destId="{8637FA6F-DBD9-4B79-9435-29F00CF75FAB}" srcOrd="0" destOrd="0" presId="urn:microsoft.com/office/officeart/2005/8/layout/cycle2"/>
    <dgm:cxn modelId="{487D7A87-D6F5-4F73-A6A6-AFB8BE419730}" type="presOf" srcId="{FD977D83-8ED3-4FC3-9A4F-605279D7E3EF}" destId="{92E4C4E4-6CB6-41D1-89E1-942008F58C07}" srcOrd="1" destOrd="0" presId="urn:microsoft.com/office/officeart/2005/8/layout/cycle2"/>
    <dgm:cxn modelId="{DA9EA787-3AE7-4E15-9699-DD15443B76FC}" srcId="{94260FFB-EB70-4F8C-B54A-6AAF0A02A743}" destId="{8C50BBAE-0800-439C-864F-50BFFD4ACADB}" srcOrd="7" destOrd="0" parTransId="{6C12DA0E-A872-4C38-9DA0-C46D060D12DF}" sibTransId="{69EC2DA7-E010-45B5-B61A-1807893FC22E}"/>
    <dgm:cxn modelId="{F67D468A-3457-4A91-99C2-E3E4BC9A9271}" srcId="{94260FFB-EB70-4F8C-B54A-6AAF0A02A743}" destId="{50B48F38-E64B-4CE8-9148-33AC566D69FD}" srcOrd="4" destOrd="0" parTransId="{881ACCF6-4179-4836-9F5F-67A64A694169}" sibTransId="{FD977D83-8ED3-4FC3-9A4F-605279D7E3EF}"/>
    <dgm:cxn modelId="{279A3890-E550-443E-816D-39FA76B3D9E6}" srcId="{94260FFB-EB70-4F8C-B54A-6AAF0A02A743}" destId="{51F784A7-52F5-4A98-919D-31DD7AC03080}" srcOrd="0" destOrd="0" parTransId="{C7F940F8-0AC8-45D0-BCE8-1C4152EA5519}" sibTransId="{CC06F3E2-6DDC-47A8-8902-219E80FCB4E2}"/>
    <dgm:cxn modelId="{6A03089B-9BEC-4CE7-8AC7-8FAB65707BCF}" type="presOf" srcId="{CC06F3E2-6DDC-47A8-8902-219E80FCB4E2}" destId="{BB5AB858-BF4D-460C-A651-829E0F143004}" srcOrd="0" destOrd="0" presId="urn:microsoft.com/office/officeart/2005/8/layout/cycle2"/>
    <dgm:cxn modelId="{947120A3-6B3B-4FF8-B5D8-0B4417C8F0A1}" type="presOf" srcId="{13B4F9D7-C48E-4C7D-A8B6-0B7AA3ECC680}" destId="{0B49997D-A6D3-462A-B827-0F0E0487F679}" srcOrd="1" destOrd="0" presId="urn:microsoft.com/office/officeart/2005/8/layout/cycle2"/>
    <dgm:cxn modelId="{9F9D05AD-841B-4433-89C7-ABF2E4698B13}" type="presOf" srcId="{73D98584-41E1-4842-A2C0-E765D5BDE764}" destId="{826DA095-2B71-4FE6-9FAB-17B44A09ACBD}" srcOrd="0" destOrd="0" presId="urn:microsoft.com/office/officeart/2005/8/layout/cycle2"/>
    <dgm:cxn modelId="{7B6AFFB2-04C8-4346-A2B9-BFE0D17B1189}" type="presOf" srcId="{9AC65053-1C7F-4E73-A2FF-361D2099CD1B}" destId="{1BA491E3-B061-479D-8C62-903D6938CFA6}" srcOrd="0" destOrd="0" presId="urn:microsoft.com/office/officeart/2005/8/layout/cycle2"/>
    <dgm:cxn modelId="{6BF19CB4-59D9-43FF-A96A-A5083FC874C0}" type="presOf" srcId="{FD977D83-8ED3-4FC3-9A4F-605279D7E3EF}" destId="{DE622B03-26DB-4D27-832B-B1FD8737A08C}" srcOrd="0" destOrd="0" presId="urn:microsoft.com/office/officeart/2005/8/layout/cycle2"/>
    <dgm:cxn modelId="{10F7CCB9-DBEA-4DCD-9BE8-772BC66D9EEF}" type="presOf" srcId="{8C50BBAE-0800-439C-864F-50BFFD4ACADB}" destId="{3BB13E3B-B980-402F-BAF2-677DE610D4E5}" srcOrd="0" destOrd="0" presId="urn:microsoft.com/office/officeart/2005/8/layout/cycle2"/>
    <dgm:cxn modelId="{413CAAC9-0311-4869-BC61-000371C32057}" srcId="{94260FFB-EB70-4F8C-B54A-6AAF0A02A743}" destId="{6BBBF36B-6C92-40EC-A152-067C327B6F5F}" srcOrd="1" destOrd="0" parTransId="{EB6A7285-2804-4988-94C6-1CA7B48BB725}" sibTransId="{7FD0B070-C25C-457C-920E-24DF99D79D1A}"/>
    <dgm:cxn modelId="{43E324D4-E58E-4FDE-AAFB-A0DBB573EA22}" type="presOf" srcId="{D9C6BD13-53D5-4285-A5CB-BE04676959C1}" destId="{7D10D53B-B473-48FD-9377-F58245365F8C}" srcOrd="0" destOrd="0" presId="urn:microsoft.com/office/officeart/2005/8/layout/cycle2"/>
    <dgm:cxn modelId="{A016BCF4-86D1-49C4-A706-75117F6BE81A}" type="presOf" srcId="{6BBBF36B-6C92-40EC-A152-067C327B6F5F}" destId="{47778F55-5FA8-46F6-8FAC-7340309D9FC4}" srcOrd="0" destOrd="0" presId="urn:microsoft.com/office/officeart/2005/8/layout/cycle2"/>
    <dgm:cxn modelId="{7FC194FF-1B74-410B-AADB-E452E907F79E}" type="presOf" srcId="{50D02B25-D07A-4586-BB56-209426F76348}" destId="{8A9AFFA2-FD19-46AF-BA95-FA021DF99CEC}" srcOrd="1" destOrd="0" presId="urn:microsoft.com/office/officeart/2005/8/layout/cycle2"/>
    <dgm:cxn modelId="{9159AAFE-EA3F-4BAA-81B6-9DCD02FFA1AC}" type="presParOf" srcId="{64475F6A-1F04-428D-A62E-C9977CFE435F}" destId="{602B3231-99A4-4221-8474-7DAC9B33ECFD}" srcOrd="0" destOrd="0" presId="urn:microsoft.com/office/officeart/2005/8/layout/cycle2"/>
    <dgm:cxn modelId="{73206AAD-0EAD-4820-8500-D3F57127845C}" type="presParOf" srcId="{64475F6A-1F04-428D-A62E-C9977CFE435F}" destId="{BB5AB858-BF4D-460C-A651-829E0F143004}" srcOrd="1" destOrd="0" presId="urn:microsoft.com/office/officeart/2005/8/layout/cycle2"/>
    <dgm:cxn modelId="{24008BF1-9FBA-43D6-85AC-5473D7DD810C}" type="presParOf" srcId="{BB5AB858-BF4D-460C-A651-829E0F143004}" destId="{5BDD9A32-365A-4D82-ACB7-84638431A9D8}" srcOrd="0" destOrd="0" presId="urn:microsoft.com/office/officeart/2005/8/layout/cycle2"/>
    <dgm:cxn modelId="{42390CB1-1D56-4F30-B4CE-C23B4A42B691}" type="presParOf" srcId="{64475F6A-1F04-428D-A62E-C9977CFE435F}" destId="{47778F55-5FA8-46F6-8FAC-7340309D9FC4}" srcOrd="2" destOrd="0" presId="urn:microsoft.com/office/officeart/2005/8/layout/cycle2"/>
    <dgm:cxn modelId="{A230E8F2-672D-488D-8938-2D5055DEEA24}" type="presParOf" srcId="{64475F6A-1F04-428D-A62E-C9977CFE435F}" destId="{B3D0EE29-DD02-491D-A689-A2534AFF3BEC}" srcOrd="3" destOrd="0" presId="urn:microsoft.com/office/officeart/2005/8/layout/cycle2"/>
    <dgm:cxn modelId="{49AE2C2A-6C34-44DF-9713-33EFE6A1C158}" type="presParOf" srcId="{B3D0EE29-DD02-491D-A689-A2534AFF3BEC}" destId="{A8666A15-EFD4-4FF4-8B62-B14A73EBDAED}" srcOrd="0" destOrd="0" presId="urn:microsoft.com/office/officeart/2005/8/layout/cycle2"/>
    <dgm:cxn modelId="{31217DF7-C0AF-45B6-9F5B-45E2ED65924E}" type="presParOf" srcId="{64475F6A-1F04-428D-A62E-C9977CFE435F}" destId="{826DA095-2B71-4FE6-9FAB-17B44A09ACBD}" srcOrd="4" destOrd="0" presId="urn:microsoft.com/office/officeart/2005/8/layout/cycle2"/>
    <dgm:cxn modelId="{7FCCC63D-FC80-481E-8BE2-78EE7A1422AF}" type="presParOf" srcId="{64475F6A-1F04-428D-A62E-C9977CFE435F}" destId="{CAC2A881-EDCD-43BF-A975-2BC590898B46}" srcOrd="5" destOrd="0" presId="urn:microsoft.com/office/officeart/2005/8/layout/cycle2"/>
    <dgm:cxn modelId="{FD905DF2-D070-489C-8AE0-1CD926F7047D}" type="presParOf" srcId="{CAC2A881-EDCD-43BF-A975-2BC590898B46}" destId="{C775059B-AEA8-4122-9831-6C1B5B5D3AF1}" srcOrd="0" destOrd="0" presId="urn:microsoft.com/office/officeart/2005/8/layout/cycle2"/>
    <dgm:cxn modelId="{2AD60A8C-B274-40C6-B15F-FC688715E429}" type="presParOf" srcId="{64475F6A-1F04-428D-A62E-C9977CFE435F}" destId="{1BA491E3-B061-479D-8C62-903D6938CFA6}" srcOrd="6" destOrd="0" presId="urn:microsoft.com/office/officeart/2005/8/layout/cycle2"/>
    <dgm:cxn modelId="{5826A769-AB5E-497D-84B3-CFD344FF954E}" type="presParOf" srcId="{64475F6A-1F04-428D-A62E-C9977CFE435F}" destId="{DEED91AB-3C6F-4495-B7CD-776D9210E5A9}" srcOrd="7" destOrd="0" presId="urn:microsoft.com/office/officeart/2005/8/layout/cycle2"/>
    <dgm:cxn modelId="{4ADF06AE-3E26-4798-852C-4AEA502262D0}" type="presParOf" srcId="{DEED91AB-3C6F-4495-B7CD-776D9210E5A9}" destId="{8A9AFFA2-FD19-46AF-BA95-FA021DF99CEC}" srcOrd="0" destOrd="0" presId="urn:microsoft.com/office/officeart/2005/8/layout/cycle2"/>
    <dgm:cxn modelId="{51318589-B49A-499A-BC7D-7F61245ADDB1}" type="presParOf" srcId="{64475F6A-1F04-428D-A62E-C9977CFE435F}" destId="{B60FAA7E-73A1-4D37-9398-8514BA9C9DE3}" srcOrd="8" destOrd="0" presId="urn:microsoft.com/office/officeart/2005/8/layout/cycle2"/>
    <dgm:cxn modelId="{536C5FBE-D4C0-44D0-813D-914A5E261407}" type="presParOf" srcId="{64475F6A-1F04-428D-A62E-C9977CFE435F}" destId="{DE622B03-26DB-4D27-832B-B1FD8737A08C}" srcOrd="9" destOrd="0" presId="urn:microsoft.com/office/officeart/2005/8/layout/cycle2"/>
    <dgm:cxn modelId="{D3C6DC9D-34FD-4D4D-A159-B1957403163A}" type="presParOf" srcId="{DE622B03-26DB-4D27-832B-B1FD8737A08C}" destId="{92E4C4E4-6CB6-41D1-89E1-942008F58C07}" srcOrd="0" destOrd="0" presId="urn:microsoft.com/office/officeart/2005/8/layout/cycle2"/>
    <dgm:cxn modelId="{4451FA79-E4C6-4A92-9400-856358555886}" type="presParOf" srcId="{64475F6A-1F04-428D-A62E-C9977CFE435F}" destId="{7D10D53B-B473-48FD-9377-F58245365F8C}" srcOrd="10" destOrd="0" presId="urn:microsoft.com/office/officeart/2005/8/layout/cycle2"/>
    <dgm:cxn modelId="{F114AEE2-A782-4D75-BDBB-5F7CDEBDB385}" type="presParOf" srcId="{64475F6A-1F04-428D-A62E-C9977CFE435F}" destId="{F6A2138F-5062-45DC-9B18-166194705BD5}" srcOrd="11" destOrd="0" presId="urn:microsoft.com/office/officeart/2005/8/layout/cycle2"/>
    <dgm:cxn modelId="{3DA7460F-CF34-4D9D-92D2-77155AEEE100}" type="presParOf" srcId="{F6A2138F-5062-45DC-9B18-166194705BD5}" destId="{0B49997D-A6D3-462A-B827-0F0E0487F679}" srcOrd="0" destOrd="0" presId="urn:microsoft.com/office/officeart/2005/8/layout/cycle2"/>
    <dgm:cxn modelId="{362676FB-CCD8-42C3-AB19-75B03B0461CC}" type="presParOf" srcId="{64475F6A-1F04-428D-A62E-C9977CFE435F}" destId="{8637FA6F-DBD9-4B79-9435-29F00CF75FAB}" srcOrd="12" destOrd="0" presId="urn:microsoft.com/office/officeart/2005/8/layout/cycle2"/>
    <dgm:cxn modelId="{74A213CF-5718-4BD7-9B56-CE56C917FAAF}" type="presParOf" srcId="{64475F6A-1F04-428D-A62E-C9977CFE435F}" destId="{C14698ED-59EC-4B10-82E9-1CCAB1812213}" srcOrd="13" destOrd="0" presId="urn:microsoft.com/office/officeart/2005/8/layout/cycle2"/>
    <dgm:cxn modelId="{825FD66F-E3BA-4F49-A8E8-EB4CEA616A44}" type="presParOf" srcId="{C14698ED-59EC-4B10-82E9-1CCAB1812213}" destId="{7E4902DA-F9C4-43C5-B213-07DC0B5F8B56}" srcOrd="0" destOrd="0" presId="urn:microsoft.com/office/officeart/2005/8/layout/cycle2"/>
    <dgm:cxn modelId="{3F62D8FC-5E1E-4BB4-B05D-3AB2ECB706CD}" type="presParOf" srcId="{64475F6A-1F04-428D-A62E-C9977CFE435F}" destId="{3BB13E3B-B980-402F-BAF2-677DE610D4E5}" srcOrd="14" destOrd="0" presId="urn:microsoft.com/office/officeart/2005/8/layout/cycle2"/>
    <dgm:cxn modelId="{1ED472D3-1F69-421F-946C-C36C7F75167B}" type="presParOf" srcId="{64475F6A-1F04-428D-A62E-C9977CFE435F}" destId="{19EFCE70-D4EB-47B8-B05E-DA7447C68746}" srcOrd="15" destOrd="0" presId="urn:microsoft.com/office/officeart/2005/8/layout/cycle2"/>
    <dgm:cxn modelId="{70A2CB8E-8FD6-4A9F-A518-D4320C4F44FB}" type="presParOf" srcId="{19EFCE70-D4EB-47B8-B05E-DA7447C68746}" destId="{65A59C2D-8B6E-4A75-B26A-B858A03D481D}"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C5A6DC-1F50-4698-BADE-FFA8C9359DDA}">
      <dsp:nvSpPr>
        <dsp:cNvPr id="0" name=""/>
        <dsp:cNvSpPr/>
      </dsp:nvSpPr>
      <dsp:spPr>
        <a:xfrm>
          <a:off x="1822772" y="1598"/>
          <a:ext cx="560695" cy="364451"/>
        </a:xfrm>
        <a:prstGeom prst="round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P0</a:t>
          </a:r>
        </a:p>
      </dsp:txBody>
      <dsp:txXfrm>
        <a:off x="1840563" y="19389"/>
        <a:ext cx="525113" cy="328869"/>
      </dsp:txXfrm>
    </dsp:sp>
    <dsp:sp modelId="{23F3BF2D-452F-4C54-9528-8B5A24AF3442}">
      <dsp:nvSpPr>
        <dsp:cNvPr id="0" name=""/>
        <dsp:cNvSpPr/>
      </dsp:nvSpPr>
      <dsp:spPr>
        <a:xfrm>
          <a:off x="836858" y="183824"/>
          <a:ext cx="2532522" cy="2532522"/>
        </a:xfrm>
        <a:custGeom>
          <a:avLst/>
          <a:gdLst/>
          <a:ahLst/>
          <a:cxnLst/>
          <a:rect l="0" t="0" r="0" b="0"/>
          <a:pathLst>
            <a:path>
              <a:moveTo>
                <a:pt x="1626987" y="52467"/>
              </a:moveTo>
              <a:arcTo wR="1266261" hR="1266261" stAng="17193083" swAng="681966"/>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6D7741B6-819A-46A3-82A5-DE75120F950E}">
      <dsp:nvSpPr>
        <dsp:cNvPr id="0" name=""/>
        <dsp:cNvSpPr/>
      </dsp:nvSpPr>
      <dsp:spPr>
        <a:xfrm>
          <a:off x="2718154" y="372478"/>
          <a:ext cx="560695" cy="364451"/>
        </a:xfrm>
        <a:prstGeom prst="round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P1</a:t>
          </a:r>
        </a:p>
      </dsp:txBody>
      <dsp:txXfrm>
        <a:off x="2735945" y="390269"/>
        <a:ext cx="525113" cy="328869"/>
      </dsp:txXfrm>
    </dsp:sp>
    <dsp:sp modelId="{286A9028-C541-42AD-82BC-5213FBF83011}">
      <dsp:nvSpPr>
        <dsp:cNvPr id="0" name=""/>
        <dsp:cNvSpPr/>
      </dsp:nvSpPr>
      <dsp:spPr>
        <a:xfrm>
          <a:off x="836858" y="183824"/>
          <a:ext cx="2532522" cy="2532522"/>
        </a:xfrm>
        <a:custGeom>
          <a:avLst/>
          <a:gdLst/>
          <a:ahLst/>
          <a:cxnLst/>
          <a:rect l="0" t="0" r="0" b="0"/>
          <a:pathLst>
            <a:path>
              <a:moveTo>
                <a:pt x="2372457" y="650025"/>
              </a:moveTo>
              <a:arcTo wR="1266261" hR="1266261" stAng="19852731" swAng="941457"/>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2E78F5BF-F65F-406C-8D99-56A1FA6FBA6C}">
      <dsp:nvSpPr>
        <dsp:cNvPr id="0" name=""/>
        <dsp:cNvSpPr/>
      </dsp:nvSpPr>
      <dsp:spPr>
        <a:xfrm>
          <a:off x="3089033" y="1267860"/>
          <a:ext cx="560695" cy="364451"/>
        </a:xfrm>
        <a:prstGeom prst="round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P2</a:t>
          </a:r>
        </a:p>
      </dsp:txBody>
      <dsp:txXfrm>
        <a:off x="3106824" y="1285651"/>
        <a:ext cx="525113" cy="328869"/>
      </dsp:txXfrm>
    </dsp:sp>
    <dsp:sp modelId="{BBE61AAB-23E3-4125-B778-3526EDB2E4AB}">
      <dsp:nvSpPr>
        <dsp:cNvPr id="0" name=""/>
        <dsp:cNvSpPr/>
      </dsp:nvSpPr>
      <dsp:spPr>
        <a:xfrm>
          <a:off x="836858" y="183824"/>
          <a:ext cx="2532522" cy="2532522"/>
        </a:xfrm>
        <a:custGeom>
          <a:avLst/>
          <a:gdLst/>
          <a:ahLst/>
          <a:cxnLst/>
          <a:rect l="0" t="0" r="0" b="0"/>
          <a:pathLst>
            <a:path>
              <a:moveTo>
                <a:pt x="2497894" y="1560363"/>
              </a:moveTo>
              <a:arcTo wR="1266261" hR="1266261" stAng="805812" swAng="941457"/>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8B6BF982-1EDE-41B4-8CD2-072EBB3DFAEE}">
      <dsp:nvSpPr>
        <dsp:cNvPr id="0" name=""/>
        <dsp:cNvSpPr/>
      </dsp:nvSpPr>
      <dsp:spPr>
        <a:xfrm>
          <a:off x="2718154" y="2163242"/>
          <a:ext cx="560695" cy="364451"/>
        </a:xfrm>
        <a:prstGeom prst="round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P3</a:t>
          </a:r>
        </a:p>
      </dsp:txBody>
      <dsp:txXfrm>
        <a:off x="2735945" y="2181033"/>
        <a:ext cx="525113" cy="328869"/>
      </dsp:txXfrm>
    </dsp:sp>
    <dsp:sp modelId="{25D67A16-6949-4DCF-9CC0-28122A678481}">
      <dsp:nvSpPr>
        <dsp:cNvPr id="0" name=""/>
        <dsp:cNvSpPr/>
      </dsp:nvSpPr>
      <dsp:spPr>
        <a:xfrm>
          <a:off x="836858" y="183824"/>
          <a:ext cx="2532522" cy="2532522"/>
        </a:xfrm>
        <a:custGeom>
          <a:avLst/>
          <a:gdLst/>
          <a:ahLst/>
          <a:cxnLst/>
          <a:rect l="0" t="0" r="0" b="0"/>
          <a:pathLst>
            <a:path>
              <a:moveTo>
                <a:pt x="1859124" y="2385158"/>
              </a:moveTo>
              <a:arcTo wR="1266261" hR="1266261" stAng="3724951" swAng="681966"/>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801E6E36-5D71-471A-A46B-909F6BBF3A27}">
      <dsp:nvSpPr>
        <dsp:cNvPr id="0" name=""/>
        <dsp:cNvSpPr/>
      </dsp:nvSpPr>
      <dsp:spPr>
        <a:xfrm>
          <a:off x="1822772" y="2534121"/>
          <a:ext cx="560695" cy="364451"/>
        </a:xfrm>
        <a:prstGeom prst="round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P4</a:t>
          </a:r>
        </a:p>
      </dsp:txBody>
      <dsp:txXfrm>
        <a:off x="1840563" y="2551912"/>
        <a:ext cx="525113" cy="328869"/>
      </dsp:txXfrm>
    </dsp:sp>
    <dsp:sp modelId="{0F71E6BA-433D-4DEB-8F5B-01D526FC909C}">
      <dsp:nvSpPr>
        <dsp:cNvPr id="0" name=""/>
        <dsp:cNvSpPr/>
      </dsp:nvSpPr>
      <dsp:spPr>
        <a:xfrm>
          <a:off x="836858" y="183824"/>
          <a:ext cx="2532522" cy="2532522"/>
        </a:xfrm>
        <a:custGeom>
          <a:avLst/>
          <a:gdLst/>
          <a:ahLst/>
          <a:cxnLst/>
          <a:rect l="0" t="0" r="0" b="0"/>
          <a:pathLst>
            <a:path>
              <a:moveTo>
                <a:pt x="905534" y="2480054"/>
              </a:moveTo>
              <a:arcTo wR="1266261" hR="1266261" stAng="6393083" swAng="681966"/>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04746D29-A235-43A6-83E1-7CF43D6BEC6B}">
      <dsp:nvSpPr>
        <dsp:cNvPr id="0" name=""/>
        <dsp:cNvSpPr/>
      </dsp:nvSpPr>
      <dsp:spPr>
        <a:xfrm>
          <a:off x="927390" y="2163242"/>
          <a:ext cx="560695" cy="364451"/>
        </a:xfrm>
        <a:prstGeom prst="round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P5</a:t>
          </a:r>
        </a:p>
      </dsp:txBody>
      <dsp:txXfrm>
        <a:off x="945181" y="2181033"/>
        <a:ext cx="525113" cy="328869"/>
      </dsp:txXfrm>
    </dsp:sp>
    <dsp:sp modelId="{9BFB1DE4-44FD-42B2-85BA-65779209A09F}">
      <dsp:nvSpPr>
        <dsp:cNvPr id="0" name=""/>
        <dsp:cNvSpPr/>
      </dsp:nvSpPr>
      <dsp:spPr>
        <a:xfrm>
          <a:off x="836858" y="183824"/>
          <a:ext cx="2532522" cy="2532522"/>
        </a:xfrm>
        <a:custGeom>
          <a:avLst/>
          <a:gdLst/>
          <a:ahLst/>
          <a:cxnLst/>
          <a:rect l="0" t="0" r="0" b="0"/>
          <a:pathLst>
            <a:path>
              <a:moveTo>
                <a:pt x="160064" y="1882497"/>
              </a:moveTo>
              <a:arcTo wR="1266261" hR="1266261" stAng="9052731" swAng="941457"/>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55BAEA0F-0351-4CAF-928F-F631F096C4CC}">
      <dsp:nvSpPr>
        <dsp:cNvPr id="0" name=""/>
        <dsp:cNvSpPr/>
      </dsp:nvSpPr>
      <dsp:spPr>
        <a:xfrm>
          <a:off x="556511" y="1267860"/>
          <a:ext cx="560695" cy="364451"/>
        </a:xfrm>
        <a:prstGeom prst="round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P6</a:t>
          </a:r>
        </a:p>
      </dsp:txBody>
      <dsp:txXfrm>
        <a:off x="574302" y="1285651"/>
        <a:ext cx="525113" cy="328869"/>
      </dsp:txXfrm>
    </dsp:sp>
    <dsp:sp modelId="{BE91FB9E-FCA6-4F77-A491-4182032935A9}">
      <dsp:nvSpPr>
        <dsp:cNvPr id="0" name=""/>
        <dsp:cNvSpPr/>
      </dsp:nvSpPr>
      <dsp:spPr>
        <a:xfrm>
          <a:off x="836858" y="183824"/>
          <a:ext cx="2532522" cy="2532522"/>
        </a:xfrm>
        <a:custGeom>
          <a:avLst/>
          <a:gdLst/>
          <a:ahLst/>
          <a:cxnLst/>
          <a:rect l="0" t="0" r="0" b="0"/>
          <a:pathLst>
            <a:path>
              <a:moveTo>
                <a:pt x="34824" y="971337"/>
              </a:moveTo>
              <a:arcTo wR="1266261" hR="1266261" stAng="11608105" swAng="948638"/>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A8CE4F45-2365-4F43-8A9B-5A30D5F0B855}">
      <dsp:nvSpPr>
        <dsp:cNvPr id="0" name=""/>
        <dsp:cNvSpPr/>
      </dsp:nvSpPr>
      <dsp:spPr>
        <a:xfrm>
          <a:off x="927485" y="376055"/>
          <a:ext cx="560504" cy="357297"/>
        </a:xfrm>
        <a:prstGeom prst="round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P7</a:t>
          </a:r>
        </a:p>
      </dsp:txBody>
      <dsp:txXfrm>
        <a:off x="944927" y="393497"/>
        <a:ext cx="525620" cy="322413"/>
      </dsp:txXfrm>
    </dsp:sp>
    <dsp:sp modelId="{63009571-0CFC-433B-AF08-60A986964157}">
      <dsp:nvSpPr>
        <dsp:cNvPr id="0" name=""/>
        <dsp:cNvSpPr/>
      </dsp:nvSpPr>
      <dsp:spPr>
        <a:xfrm>
          <a:off x="836858" y="183824"/>
          <a:ext cx="2532522" cy="2532522"/>
        </a:xfrm>
        <a:custGeom>
          <a:avLst/>
          <a:gdLst/>
          <a:ahLst/>
          <a:cxnLst/>
          <a:rect l="0" t="0" r="0" b="0"/>
          <a:pathLst>
            <a:path>
              <a:moveTo>
                <a:pt x="668593" y="149923"/>
              </a:moveTo>
              <a:arcTo wR="1266261" hR="1266261" stAng="14510170" swAng="693115"/>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67810C-B39E-49B6-AFE5-ABFB8D750795}">
      <dsp:nvSpPr>
        <dsp:cNvPr id="0" name=""/>
        <dsp:cNvSpPr/>
      </dsp:nvSpPr>
      <dsp:spPr>
        <a:xfrm>
          <a:off x="1836641" y="1003"/>
          <a:ext cx="741554" cy="741554"/>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1</a:t>
          </a:r>
        </a:p>
      </dsp:txBody>
      <dsp:txXfrm>
        <a:off x="1945239" y="109601"/>
        <a:ext cx="524358" cy="524358"/>
      </dsp:txXfrm>
    </dsp:sp>
    <dsp:sp modelId="{169C2DD3-43B8-44BE-95CF-476513A73FDD}">
      <dsp:nvSpPr>
        <dsp:cNvPr id="0" name=""/>
        <dsp:cNvSpPr/>
      </dsp:nvSpPr>
      <dsp:spPr>
        <a:xfrm rot="1350000">
          <a:off x="2714953" y="580956"/>
          <a:ext cx="2451" cy="3120"/>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2714981" y="581439"/>
        <a:ext cx="1716" cy="1872"/>
      </dsp:txXfrm>
    </dsp:sp>
    <dsp:sp modelId="{23DAF576-3583-42B2-9AF1-E0481465D64D}">
      <dsp:nvSpPr>
        <dsp:cNvPr id="0" name=""/>
        <dsp:cNvSpPr/>
      </dsp:nvSpPr>
      <dsp:spPr>
        <a:xfrm>
          <a:off x="2864442" y="426733"/>
          <a:ext cx="741554" cy="741554"/>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5</a:t>
          </a:r>
        </a:p>
      </dsp:txBody>
      <dsp:txXfrm>
        <a:off x="2973040" y="535331"/>
        <a:ext cx="524358" cy="524358"/>
      </dsp:txXfrm>
    </dsp:sp>
    <dsp:sp modelId="{F8A8879A-1585-4743-9D2E-ED8D426EF465}">
      <dsp:nvSpPr>
        <dsp:cNvPr id="0" name=""/>
        <dsp:cNvSpPr/>
      </dsp:nvSpPr>
      <dsp:spPr>
        <a:xfrm rot="4050000">
          <a:off x="3444730" y="1304710"/>
          <a:ext cx="2451" cy="3120"/>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3444957" y="1304994"/>
        <a:ext cx="1716" cy="1872"/>
      </dsp:txXfrm>
    </dsp:sp>
    <dsp:sp modelId="{89663832-459D-4E7F-8E32-D4D0D2F89F17}">
      <dsp:nvSpPr>
        <dsp:cNvPr id="0" name=""/>
        <dsp:cNvSpPr/>
      </dsp:nvSpPr>
      <dsp:spPr>
        <a:xfrm>
          <a:off x="3290172" y="1454534"/>
          <a:ext cx="741554" cy="741554"/>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6</a:t>
          </a:r>
        </a:p>
      </dsp:txBody>
      <dsp:txXfrm>
        <a:off x="3398770" y="1563132"/>
        <a:ext cx="524358" cy="524358"/>
      </dsp:txXfrm>
    </dsp:sp>
    <dsp:sp modelId="{9D6A8F8D-1137-4344-AA99-D71C7CF1C809}">
      <dsp:nvSpPr>
        <dsp:cNvPr id="0" name=""/>
        <dsp:cNvSpPr/>
      </dsp:nvSpPr>
      <dsp:spPr>
        <a:xfrm rot="6750000">
          <a:off x="3448988" y="2332511"/>
          <a:ext cx="2451" cy="3120"/>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10800000">
        <a:off x="3449496" y="2332795"/>
        <a:ext cx="1716" cy="1872"/>
      </dsp:txXfrm>
    </dsp:sp>
    <dsp:sp modelId="{B64EAF11-39AD-478A-9445-97FF85BE27EF}">
      <dsp:nvSpPr>
        <dsp:cNvPr id="0" name=""/>
        <dsp:cNvSpPr/>
      </dsp:nvSpPr>
      <dsp:spPr>
        <a:xfrm>
          <a:off x="2864442" y="2482335"/>
          <a:ext cx="741554" cy="741554"/>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3</a:t>
          </a:r>
        </a:p>
      </dsp:txBody>
      <dsp:txXfrm>
        <a:off x="2973040" y="2590933"/>
        <a:ext cx="524358" cy="524358"/>
      </dsp:txXfrm>
    </dsp:sp>
    <dsp:sp modelId="{39415C20-E6E3-4051-A3EF-2621EBF6F860}">
      <dsp:nvSpPr>
        <dsp:cNvPr id="0" name=""/>
        <dsp:cNvSpPr/>
      </dsp:nvSpPr>
      <dsp:spPr>
        <a:xfrm rot="9450000">
          <a:off x="2725234" y="3062288"/>
          <a:ext cx="2451" cy="3120"/>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10800000">
        <a:off x="2725941" y="3062771"/>
        <a:ext cx="1716" cy="1872"/>
      </dsp:txXfrm>
    </dsp:sp>
    <dsp:sp modelId="{FFED39B8-17BB-43B8-960B-0717F9CEE423}">
      <dsp:nvSpPr>
        <dsp:cNvPr id="0" name=""/>
        <dsp:cNvSpPr/>
      </dsp:nvSpPr>
      <dsp:spPr>
        <a:xfrm>
          <a:off x="1836641" y="2908065"/>
          <a:ext cx="741554" cy="741554"/>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7</a:t>
          </a:r>
        </a:p>
      </dsp:txBody>
      <dsp:txXfrm>
        <a:off x="1945239" y="3016663"/>
        <a:ext cx="524358" cy="524358"/>
      </dsp:txXfrm>
    </dsp:sp>
    <dsp:sp modelId="{4F6397FE-9711-46DA-A151-9214037637C3}">
      <dsp:nvSpPr>
        <dsp:cNvPr id="0" name=""/>
        <dsp:cNvSpPr/>
      </dsp:nvSpPr>
      <dsp:spPr>
        <a:xfrm rot="12150000">
          <a:off x="1697896" y="3067137"/>
          <a:ext cx="1523" cy="193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
            <a:lnSpc>
              <a:spcPct val="90000"/>
            </a:lnSpc>
            <a:spcBef>
              <a:spcPct val="0"/>
            </a:spcBef>
            <a:spcAft>
              <a:spcPct val="35000"/>
            </a:spcAft>
            <a:buNone/>
          </a:pPr>
          <a:endParaRPr lang="en-US" sz="100" kern="1200"/>
        </a:p>
      </dsp:txBody>
      <dsp:txXfrm rot="10800000">
        <a:off x="1698336" y="3067612"/>
        <a:ext cx="1066" cy="1163"/>
      </dsp:txXfrm>
    </dsp:sp>
    <dsp:sp modelId="{666D4A3B-5F69-434D-AB49-BFABEDDC6BE7}">
      <dsp:nvSpPr>
        <dsp:cNvPr id="0" name=""/>
        <dsp:cNvSpPr/>
      </dsp:nvSpPr>
      <dsp:spPr>
        <a:xfrm>
          <a:off x="808840" y="2482335"/>
          <a:ext cx="741554" cy="741554"/>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0</a:t>
          </a:r>
        </a:p>
      </dsp:txBody>
      <dsp:txXfrm>
        <a:off x="917438" y="2590933"/>
        <a:ext cx="524358" cy="524358"/>
      </dsp:txXfrm>
    </dsp:sp>
    <dsp:sp modelId="{D260A765-0EF9-4E33-96D8-48EDFA32FF5A}">
      <dsp:nvSpPr>
        <dsp:cNvPr id="0" name=""/>
        <dsp:cNvSpPr/>
      </dsp:nvSpPr>
      <dsp:spPr>
        <a:xfrm rot="14850000">
          <a:off x="968588" y="2343978"/>
          <a:ext cx="587" cy="748"/>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
            <a:lnSpc>
              <a:spcPct val="90000"/>
            </a:lnSpc>
            <a:spcBef>
              <a:spcPct val="0"/>
            </a:spcBef>
            <a:spcAft>
              <a:spcPct val="35000"/>
            </a:spcAft>
            <a:buNone/>
          </a:pPr>
          <a:endParaRPr lang="en-US" sz="100" kern="1200"/>
        </a:p>
      </dsp:txBody>
      <dsp:txXfrm rot="10800000">
        <a:off x="968710" y="2344209"/>
        <a:ext cx="411" cy="448"/>
      </dsp:txXfrm>
    </dsp:sp>
    <dsp:sp modelId="{4DE8EA62-96B7-4104-A7B6-A79B44633A78}">
      <dsp:nvSpPr>
        <dsp:cNvPr id="0" name=""/>
        <dsp:cNvSpPr/>
      </dsp:nvSpPr>
      <dsp:spPr>
        <a:xfrm>
          <a:off x="383110" y="1454534"/>
          <a:ext cx="741554" cy="741554"/>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4</a:t>
          </a:r>
        </a:p>
      </dsp:txBody>
      <dsp:txXfrm>
        <a:off x="491708" y="1563132"/>
        <a:ext cx="524358" cy="524358"/>
      </dsp:txXfrm>
    </dsp:sp>
    <dsp:sp modelId="{404A4605-2222-43A9-B06D-A3CD42BABB0B}">
      <dsp:nvSpPr>
        <dsp:cNvPr id="0" name=""/>
        <dsp:cNvSpPr/>
      </dsp:nvSpPr>
      <dsp:spPr>
        <a:xfrm rot="17550000">
          <a:off x="964329" y="1316177"/>
          <a:ext cx="587" cy="748"/>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
            <a:lnSpc>
              <a:spcPct val="90000"/>
            </a:lnSpc>
            <a:spcBef>
              <a:spcPct val="0"/>
            </a:spcBef>
            <a:spcAft>
              <a:spcPct val="35000"/>
            </a:spcAft>
            <a:buNone/>
          </a:pPr>
          <a:endParaRPr lang="en-US" sz="100" kern="1200"/>
        </a:p>
      </dsp:txBody>
      <dsp:txXfrm>
        <a:off x="964383" y="1316408"/>
        <a:ext cx="411" cy="448"/>
      </dsp:txXfrm>
    </dsp:sp>
    <dsp:sp modelId="{733FD20A-E8F5-498D-B8C1-40BF2BBB946E}">
      <dsp:nvSpPr>
        <dsp:cNvPr id="0" name=""/>
        <dsp:cNvSpPr/>
      </dsp:nvSpPr>
      <dsp:spPr>
        <a:xfrm>
          <a:off x="808840" y="426733"/>
          <a:ext cx="741554" cy="741554"/>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2</a:t>
          </a:r>
        </a:p>
      </dsp:txBody>
      <dsp:txXfrm>
        <a:off x="917438" y="535331"/>
        <a:ext cx="524358" cy="524358"/>
      </dsp:txXfrm>
    </dsp:sp>
    <dsp:sp modelId="{8E60590D-9230-4410-8898-9E8E33BAF0FA}">
      <dsp:nvSpPr>
        <dsp:cNvPr id="0" name=""/>
        <dsp:cNvSpPr/>
      </dsp:nvSpPr>
      <dsp:spPr>
        <a:xfrm rot="20250000">
          <a:off x="1688083" y="586401"/>
          <a:ext cx="587" cy="748"/>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
            <a:lnSpc>
              <a:spcPct val="90000"/>
            </a:lnSpc>
            <a:spcBef>
              <a:spcPct val="0"/>
            </a:spcBef>
            <a:spcAft>
              <a:spcPct val="35000"/>
            </a:spcAft>
            <a:buNone/>
          </a:pPr>
          <a:endParaRPr lang="en-US" sz="100" kern="1200"/>
        </a:p>
      </dsp:txBody>
      <dsp:txXfrm>
        <a:off x="1688090" y="586585"/>
        <a:ext cx="411" cy="4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2B3231-99A4-4221-8474-7DAC9B33ECFD}">
      <dsp:nvSpPr>
        <dsp:cNvPr id="0" name=""/>
        <dsp:cNvSpPr/>
      </dsp:nvSpPr>
      <dsp:spPr>
        <a:xfrm>
          <a:off x="1661154" y="416"/>
          <a:ext cx="806385" cy="806385"/>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tx1"/>
              </a:solidFill>
            </a:rPr>
            <a:t>1</a:t>
          </a:r>
        </a:p>
      </dsp:txBody>
      <dsp:txXfrm>
        <a:off x="1779246" y="118508"/>
        <a:ext cx="570201" cy="570201"/>
      </dsp:txXfrm>
    </dsp:sp>
    <dsp:sp modelId="{BB5AB858-BF4D-460C-A651-829E0F143004}">
      <dsp:nvSpPr>
        <dsp:cNvPr id="0" name=""/>
        <dsp:cNvSpPr/>
      </dsp:nvSpPr>
      <dsp:spPr>
        <a:xfrm rot="1350000">
          <a:off x="2471767" y="458860"/>
          <a:ext cx="399174" cy="348331"/>
        </a:xfrm>
        <a:prstGeom prst="rightArrow">
          <a:avLst>
            <a:gd name="adj1" fmla="val 60000"/>
            <a:gd name="adj2" fmla="val 50000"/>
          </a:avLst>
        </a:prstGeom>
        <a:solidFill>
          <a:schemeClr val="accent6">
            <a:lumMod val="40000"/>
            <a:lumOff val="6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2475744" y="508531"/>
        <a:ext cx="294675" cy="208999"/>
      </dsp:txXfrm>
    </dsp:sp>
    <dsp:sp modelId="{47778F55-5FA8-46F6-8FAC-7340309D9FC4}">
      <dsp:nvSpPr>
        <dsp:cNvPr id="0" name=""/>
        <dsp:cNvSpPr/>
      </dsp:nvSpPr>
      <dsp:spPr>
        <a:xfrm>
          <a:off x="2780097" y="463897"/>
          <a:ext cx="806385" cy="806385"/>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tx1"/>
              </a:solidFill>
            </a:rPr>
            <a:t>2</a:t>
          </a:r>
        </a:p>
      </dsp:txBody>
      <dsp:txXfrm>
        <a:off x="2898189" y="581989"/>
        <a:ext cx="570201" cy="570201"/>
      </dsp:txXfrm>
    </dsp:sp>
    <dsp:sp modelId="{B3D0EE29-DD02-491D-A689-A2534AFF3BEC}">
      <dsp:nvSpPr>
        <dsp:cNvPr id="0" name=""/>
        <dsp:cNvSpPr/>
      </dsp:nvSpPr>
      <dsp:spPr>
        <a:xfrm rot="4050000">
          <a:off x="3177542" y="1235861"/>
          <a:ext cx="470329" cy="370182"/>
        </a:xfrm>
        <a:prstGeom prst="rightArrow">
          <a:avLst>
            <a:gd name="adj1" fmla="val 60000"/>
            <a:gd name="adj2" fmla="val 50000"/>
          </a:avLst>
        </a:prstGeom>
        <a:solidFill>
          <a:schemeClr val="accent6">
            <a:lumMod val="40000"/>
            <a:lumOff val="6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3211820" y="1258596"/>
        <a:ext cx="359274" cy="222110"/>
      </dsp:txXfrm>
    </dsp:sp>
    <dsp:sp modelId="{826DA095-2B71-4FE6-9FAB-17B44A09ACBD}">
      <dsp:nvSpPr>
        <dsp:cNvPr id="0" name=""/>
        <dsp:cNvSpPr/>
      </dsp:nvSpPr>
      <dsp:spPr>
        <a:xfrm>
          <a:off x="3243579" y="1582841"/>
          <a:ext cx="806385" cy="806385"/>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tx1"/>
              </a:solidFill>
            </a:rPr>
            <a:t>3</a:t>
          </a:r>
        </a:p>
      </dsp:txBody>
      <dsp:txXfrm>
        <a:off x="3361671" y="1700933"/>
        <a:ext cx="570201" cy="570201"/>
      </dsp:txXfrm>
    </dsp:sp>
    <dsp:sp modelId="{CAC2A881-EDCD-43BF-A975-2BC590898B46}">
      <dsp:nvSpPr>
        <dsp:cNvPr id="0" name=""/>
        <dsp:cNvSpPr/>
      </dsp:nvSpPr>
      <dsp:spPr>
        <a:xfrm rot="6750000">
          <a:off x="3184285" y="2388068"/>
          <a:ext cx="466137" cy="303657"/>
        </a:xfrm>
        <a:prstGeom prst="rightArrow">
          <a:avLst>
            <a:gd name="adj1" fmla="val 60000"/>
            <a:gd name="adj2" fmla="val 50000"/>
          </a:avLst>
        </a:prstGeom>
        <a:solidFill>
          <a:schemeClr val="accent6">
            <a:lumMod val="40000"/>
            <a:lumOff val="6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10800000">
        <a:off x="3247264" y="2406718"/>
        <a:ext cx="375040" cy="182195"/>
      </dsp:txXfrm>
    </dsp:sp>
    <dsp:sp modelId="{1BA491E3-B061-479D-8C62-903D6938CFA6}">
      <dsp:nvSpPr>
        <dsp:cNvPr id="0" name=""/>
        <dsp:cNvSpPr/>
      </dsp:nvSpPr>
      <dsp:spPr>
        <a:xfrm>
          <a:off x="2780097" y="2701784"/>
          <a:ext cx="806385" cy="806385"/>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tx1"/>
              </a:solidFill>
            </a:rPr>
            <a:t>4</a:t>
          </a:r>
        </a:p>
      </dsp:txBody>
      <dsp:txXfrm>
        <a:off x="2898189" y="2819876"/>
        <a:ext cx="570201" cy="570201"/>
      </dsp:txXfrm>
    </dsp:sp>
    <dsp:sp modelId="{DEED91AB-3C6F-4495-B7CD-776D9210E5A9}">
      <dsp:nvSpPr>
        <dsp:cNvPr id="0" name=""/>
        <dsp:cNvSpPr/>
      </dsp:nvSpPr>
      <dsp:spPr>
        <a:xfrm rot="9450000">
          <a:off x="2316248" y="3107948"/>
          <a:ext cx="506409" cy="441190"/>
        </a:xfrm>
        <a:prstGeom prst="rightArrow">
          <a:avLst>
            <a:gd name="adj1" fmla="val 60000"/>
            <a:gd name="adj2" fmla="val 50000"/>
          </a:avLst>
        </a:prstGeom>
        <a:solidFill>
          <a:schemeClr val="accent6">
            <a:lumMod val="40000"/>
            <a:lumOff val="6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2443567" y="3170861"/>
        <a:ext cx="374052" cy="264714"/>
      </dsp:txXfrm>
    </dsp:sp>
    <dsp:sp modelId="{B60FAA7E-73A1-4D37-9398-8514BA9C9DE3}">
      <dsp:nvSpPr>
        <dsp:cNvPr id="0" name=""/>
        <dsp:cNvSpPr/>
      </dsp:nvSpPr>
      <dsp:spPr>
        <a:xfrm>
          <a:off x="1661154" y="3165266"/>
          <a:ext cx="806385" cy="806385"/>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tx1"/>
              </a:solidFill>
            </a:rPr>
            <a:t>5</a:t>
          </a:r>
        </a:p>
      </dsp:txBody>
      <dsp:txXfrm>
        <a:off x="1779246" y="3283358"/>
        <a:ext cx="570201" cy="570201"/>
      </dsp:txXfrm>
    </dsp:sp>
    <dsp:sp modelId="{DE622B03-26DB-4D27-832B-B1FD8737A08C}">
      <dsp:nvSpPr>
        <dsp:cNvPr id="0" name=""/>
        <dsp:cNvSpPr/>
      </dsp:nvSpPr>
      <dsp:spPr>
        <a:xfrm rot="12150000">
          <a:off x="1306690" y="3115185"/>
          <a:ext cx="407587" cy="447711"/>
        </a:xfrm>
        <a:prstGeom prst="rightArrow">
          <a:avLst>
            <a:gd name="adj1" fmla="val 60000"/>
            <a:gd name="adj2" fmla="val 50000"/>
          </a:avLst>
        </a:prstGeom>
        <a:solidFill>
          <a:schemeClr val="accent6">
            <a:lumMod val="40000"/>
            <a:lumOff val="6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1424312" y="3228123"/>
        <a:ext cx="285311" cy="268627"/>
      </dsp:txXfrm>
    </dsp:sp>
    <dsp:sp modelId="{7D10D53B-B473-48FD-9377-F58245365F8C}">
      <dsp:nvSpPr>
        <dsp:cNvPr id="0" name=""/>
        <dsp:cNvSpPr/>
      </dsp:nvSpPr>
      <dsp:spPr>
        <a:xfrm>
          <a:off x="542210" y="2701784"/>
          <a:ext cx="806385" cy="806385"/>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tx1"/>
              </a:solidFill>
            </a:rPr>
            <a:t>6</a:t>
          </a:r>
        </a:p>
      </dsp:txBody>
      <dsp:txXfrm>
        <a:off x="660302" y="2819876"/>
        <a:ext cx="570201" cy="570201"/>
      </dsp:txXfrm>
    </dsp:sp>
    <dsp:sp modelId="{F6A2138F-5062-45DC-9B18-166194705BD5}">
      <dsp:nvSpPr>
        <dsp:cNvPr id="0" name=""/>
        <dsp:cNvSpPr/>
      </dsp:nvSpPr>
      <dsp:spPr>
        <a:xfrm rot="14850000">
          <a:off x="521703" y="2290524"/>
          <a:ext cx="388566" cy="521179"/>
        </a:xfrm>
        <a:prstGeom prst="rightArrow">
          <a:avLst>
            <a:gd name="adj1" fmla="val 60000"/>
            <a:gd name="adj2" fmla="val 50000"/>
          </a:avLst>
        </a:prstGeom>
        <a:solidFill>
          <a:schemeClr val="accent6">
            <a:lumMod val="40000"/>
            <a:lumOff val="6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10800000">
        <a:off x="602293" y="2448608"/>
        <a:ext cx="271996" cy="312707"/>
      </dsp:txXfrm>
    </dsp:sp>
    <dsp:sp modelId="{8637FA6F-DBD9-4B79-9435-29F00CF75FAB}">
      <dsp:nvSpPr>
        <dsp:cNvPr id="0" name=""/>
        <dsp:cNvSpPr/>
      </dsp:nvSpPr>
      <dsp:spPr>
        <a:xfrm>
          <a:off x="78729" y="1582841"/>
          <a:ext cx="806385" cy="806385"/>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tx1"/>
              </a:solidFill>
            </a:rPr>
            <a:t>7</a:t>
          </a:r>
        </a:p>
      </dsp:txBody>
      <dsp:txXfrm>
        <a:off x="196821" y="1700933"/>
        <a:ext cx="570201" cy="570201"/>
      </dsp:txXfrm>
    </dsp:sp>
    <dsp:sp modelId="{C14698ED-59EC-4B10-82E9-1CCAB1812213}">
      <dsp:nvSpPr>
        <dsp:cNvPr id="0" name=""/>
        <dsp:cNvSpPr/>
      </dsp:nvSpPr>
      <dsp:spPr>
        <a:xfrm rot="17550000">
          <a:off x="466263" y="1230251"/>
          <a:ext cx="490151" cy="403840"/>
        </a:xfrm>
        <a:prstGeom prst="rightArrow">
          <a:avLst>
            <a:gd name="adj1" fmla="val 60000"/>
            <a:gd name="adj2" fmla="val 50000"/>
          </a:avLst>
        </a:prstGeom>
        <a:solidFill>
          <a:schemeClr val="accent6">
            <a:lumMod val="40000"/>
            <a:lumOff val="6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503658" y="1366984"/>
        <a:ext cx="368999" cy="242304"/>
      </dsp:txXfrm>
    </dsp:sp>
    <dsp:sp modelId="{3BB13E3B-B980-402F-BAF2-677DE610D4E5}">
      <dsp:nvSpPr>
        <dsp:cNvPr id="0" name=""/>
        <dsp:cNvSpPr/>
      </dsp:nvSpPr>
      <dsp:spPr>
        <a:xfrm>
          <a:off x="542210" y="463897"/>
          <a:ext cx="806385" cy="806385"/>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tx1"/>
              </a:solidFill>
            </a:rPr>
            <a:t>0</a:t>
          </a:r>
        </a:p>
      </dsp:txBody>
      <dsp:txXfrm>
        <a:off x="660302" y="581989"/>
        <a:ext cx="570201" cy="570201"/>
      </dsp:txXfrm>
    </dsp:sp>
    <dsp:sp modelId="{19EFCE70-D4EB-47B8-B05E-DA7447C68746}">
      <dsp:nvSpPr>
        <dsp:cNvPr id="0" name=""/>
        <dsp:cNvSpPr/>
      </dsp:nvSpPr>
      <dsp:spPr>
        <a:xfrm rot="20250000">
          <a:off x="1332820" y="345944"/>
          <a:ext cx="332890" cy="583457"/>
        </a:xfrm>
        <a:prstGeom prst="rightArrow">
          <a:avLst>
            <a:gd name="adj1" fmla="val 60000"/>
            <a:gd name="adj2" fmla="val 50000"/>
          </a:avLst>
        </a:prstGeom>
        <a:solidFill>
          <a:schemeClr val="accent6">
            <a:lumMod val="40000"/>
            <a:lumOff val="6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1336621" y="481744"/>
        <a:ext cx="233023" cy="350075"/>
      </dsp:txXfrm>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587FD0-6366-498E-B5AA-8D5EAADA1318}" type="datetimeFigureOut">
              <a:rPr lang="en-IN" smtClean="0"/>
              <a:t>24-07-2026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D5F676-4FC3-4D3C-BE37-3352AFB195B1}" type="slidenum">
              <a:rPr lang="en-IN" smtClean="0"/>
              <a:t>‹#›</a:t>
            </a:fld>
            <a:endParaRPr lang="en-IN"/>
          </a:p>
        </p:txBody>
      </p:sp>
    </p:spTree>
    <p:extLst>
      <p:ext uri="{BB962C8B-B14F-4D97-AF65-F5344CB8AC3E}">
        <p14:creationId xmlns:p14="http://schemas.microsoft.com/office/powerpoint/2010/main" val="1072425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7/24/2026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C79BDEF-6165-4E72-B1A6-6E8034CEC248}" type="slidenum">
              <a:rPr lang="en-US" smtClean="0"/>
              <a:t>14</a:t>
            </a:fld>
            <a:endParaRPr lang="en-US"/>
          </a:p>
        </p:txBody>
      </p:sp>
    </p:spTree>
    <p:extLst>
      <p:ext uri="{BB962C8B-B14F-4D97-AF65-F5344CB8AC3E}">
        <p14:creationId xmlns:p14="http://schemas.microsoft.com/office/powerpoint/2010/main" val="496501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C79BDEF-6165-4E72-B1A6-6E8034CEC248}" type="slidenum">
              <a:rPr lang="en-US" smtClean="0"/>
              <a:t>34</a:t>
            </a:fld>
            <a:endParaRPr lang="en-US"/>
          </a:p>
        </p:txBody>
      </p:sp>
    </p:spTree>
    <p:extLst>
      <p:ext uri="{BB962C8B-B14F-4D97-AF65-F5344CB8AC3E}">
        <p14:creationId xmlns:p14="http://schemas.microsoft.com/office/powerpoint/2010/main" val="28420334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93</a:t>
            </a:fld>
            <a:endParaRPr lang="en-US"/>
          </a:p>
        </p:txBody>
      </p:sp>
    </p:spTree>
    <p:extLst>
      <p:ext uri="{BB962C8B-B14F-4D97-AF65-F5344CB8AC3E}">
        <p14:creationId xmlns:p14="http://schemas.microsoft.com/office/powerpoint/2010/main" val="9993528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94</a:t>
            </a:fld>
            <a:endParaRPr lang="en-US"/>
          </a:p>
        </p:txBody>
      </p:sp>
    </p:spTree>
    <p:extLst>
      <p:ext uri="{BB962C8B-B14F-4D97-AF65-F5344CB8AC3E}">
        <p14:creationId xmlns:p14="http://schemas.microsoft.com/office/powerpoint/2010/main" val="3176102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95</a:t>
            </a:fld>
            <a:endParaRPr lang="en-US"/>
          </a:p>
        </p:txBody>
      </p:sp>
    </p:spTree>
    <p:extLst>
      <p:ext uri="{BB962C8B-B14F-4D97-AF65-F5344CB8AC3E}">
        <p14:creationId xmlns:p14="http://schemas.microsoft.com/office/powerpoint/2010/main" val="1348143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96</a:t>
            </a:fld>
            <a:endParaRPr lang="en-US"/>
          </a:p>
        </p:txBody>
      </p:sp>
    </p:spTree>
    <p:extLst>
      <p:ext uri="{BB962C8B-B14F-4D97-AF65-F5344CB8AC3E}">
        <p14:creationId xmlns:p14="http://schemas.microsoft.com/office/powerpoint/2010/main" val="620302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97</a:t>
            </a:fld>
            <a:endParaRPr lang="en-US"/>
          </a:p>
        </p:txBody>
      </p:sp>
    </p:spTree>
    <p:extLst>
      <p:ext uri="{BB962C8B-B14F-4D97-AF65-F5344CB8AC3E}">
        <p14:creationId xmlns:p14="http://schemas.microsoft.com/office/powerpoint/2010/main" val="3535137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98</a:t>
            </a:fld>
            <a:endParaRPr lang="en-US"/>
          </a:p>
        </p:txBody>
      </p:sp>
    </p:spTree>
    <p:extLst>
      <p:ext uri="{BB962C8B-B14F-4D97-AF65-F5344CB8AC3E}">
        <p14:creationId xmlns:p14="http://schemas.microsoft.com/office/powerpoint/2010/main" val="36874075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99</a:t>
            </a:fld>
            <a:endParaRPr lang="en-US"/>
          </a:p>
        </p:txBody>
      </p:sp>
    </p:spTree>
    <p:extLst>
      <p:ext uri="{BB962C8B-B14F-4D97-AF65-F5344CB8AC3E}">
        <p14:creationId xmlns:p14="http://schemas.microsoft.com/office/powerpoint/2010/main" val="17080362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100</a:t>
            </a:fld>
            <a:endParaRPr lang="en-US"/>
          </a:p>
        </p:txBody>
      </p:sp>
    </p:spTree>
    <p:extLst>
      <p:ext uri="{BB962C8B-B14F-4D97-AF65-F5344CB8AC3E}">
        <p14:creationId xmlns:p14="http://schemas.microsoft.com/office/powerpoint/2010/main" val="38266095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101</a:t>
            </a:fld>
            <a:endParaRPr lang="en-US"/>
          </a:p>
        </p:txBody>
      </p:sp>
    </p:spTree>
    <p:extLst>
      <p:ext uri="{BB962C8B-B14F-4D97-AF65-F5344CB8AC3E}">
        <p14:creationId xmlns:p14="http://schemas.microsoft.com/office/powerpoint/2010/main" val="11610843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102</a:t>
            </a:fld>
            <a:endParaRPr lang="en-US"/>
          </a:p>
        </p:txBody>
      </p:sp>
    </p:spTree>
    <p:extLst>
      <p:ext uri="{BB962C8B-B14F-4D97-AF65-F5344CB8AC3E}">
        <p14:creationId xmlns:p14="http://schemas.microsoft.com/office/powerpoint/2010/main" val="37945683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103</a:t>
            </a:fld>
            <a:endParaRPr lang="en-US"/>
          </a:p>
        </p:txBody>
      </p:sp>
    </p:spTree>
    <p:extLst>
      <p:ext uri="{BB962C8B-B14F-4D97-AF65-F5344CB8AC3E}">
        <p14:creationId xmlns:p14="http://schemas.microsoft.com/office/powerpoint/2010/main" val="38539359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104</a:t>
            </a:fld>
            <a:endParaRPr lang="en-US"/>
          </a:p>
        </p:txBody>
      </p:sp>
    </p:spTree>
    <p:extLst>
      <p:ext uri="{BB962C8B-B14F-4D97-AF65-F5344CB8AC3E}">
        <p14:creationId xmlns:p14="http://schemas.microsoft.com/office/powerpoint/2010/main" val="3983524010"/>
      </p:ext>
    </p:extLst>
  </p:cSld>
  <p:clrMapOvr>
    <a:masterClrMapping/>
  </p:clrMapOvr>
</p:notes>
</file>

<file path=ppt/slideLayouts/_rels/slideLayout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microsoft.com/office/2007/relationships/hdphoto" Target="../media/hdphoto2.wdp"/></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1.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1.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1.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1.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1.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1.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1.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1.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1.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8.jpeg"/><Relationship Id="rId5" Type="http://schemas.openxmlformats.org/officeDocument/2006/relationships/image" Target="../media/image3.png"/><Relationship Id="rId10" Type="http://schemas.openxmlformats.org/officeDocument/2006/relationships/image" Target="../media/image13.jpeg"/><Relationship Id="rId4" Type="http://schemas.openxmlformats.org/officeDocument/2006/relationships/image" Target="../media/image11.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1.png"/><Relationship Id="rId9" Type="http://schemas.microsoft.com/office/2007/relationships/hdphoto" Target="../media/hdphoto1.wdp"/></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730762" y="307556"/>
            <a:ext cx="270404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hank You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730762" y="316023"/>
            <a:ext cx="270404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
        <p:nvSpPr>
          <p:cNvPr id="30" name="Hexagon 29"/>
          <p:cNvSpPr/>
          <p:nvPr userDrawn="1"/>
        </p:nvSpPr>
        <p:spPr>
          <a:xfrm rot="5400000">
            <a:off x="4309292" y="1717040"/>
            <a:ext cx="3461658" cy="2984188"/>
          </a:xfrm>
          <a:prstGeom prst="hexagon">
            <a:avLst/>
          </a:prstGeom>
          <a:solidFill>
            <a:schemeClr val="bg1">
              <a:lumMod val="95000"/>
            </a:schemeClr>
          </a:solidFill>
          <a:ln w="57150">
            <a:solidFill>
              <a:srgbClr val="1D3064"/>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 name="TextBox 30"/>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34" name="Rectangle 33"/>
          <p:cNvSpPr/>
          <p:nvPr userDrawn="1"/>
        </p:nvSpPr>
        <p:spPr>
          <a:xfrm>
            <a:off x="7678346" y="2221532"/>
            <a:ext cx="4513654" cy="1951692"/>
          </a:xfrm>
          <a:prstGeom prst="rect">
            <a:avLst/>
          </a:prstGeom>
          <a:solidFill>
            <a:srgbClr val="1D3064"/>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Rectangle 34"/>
          <p:cNvSpPr/>
          <p:nvPr userDrawn="1"/>
        </p:nvSpPr>
        <p:spPr>
          <a:xfrm>
            <a:off x="0" y="2221532"/>
            <a:ext cx="4402106" cy="1951692"/>
          </a:xfrm>
          <a:prstGeom prst="rect">
            <a:avLst/>
          </a:prstGeom>
          <a:solidFill>
            <a:srgbClr val="1D3064"/>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5701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87718" y="861192"/>
            <a:ext cx="1932495" cy="587453"/>
          </a:xfrm>
          <a:prstGeom prst="rect">
            <a:avLst/>
          </a:prstGeom>
        </p:spPr>
      </p:pic>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2301CS718 (DOS) Unit 3-Synchronization and Naming</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948267"/>
            <a:ext cx="11798353" cy="5505742"/>
          </a:xfrm>
        </p:spPr>
        <p:txBody>
          <a:bodyPr>
            <a:noAutofit/>
          </a:bodyPr>
          <a:lstStyle>
            <a:lvl1pPr marL="265113" indent="-265113" algn="just">
              <a:lnSpc>
                <a:spcPct val="114000"/>
              </a:lnSpc>
              <a:buClr>
                <a:srgbClr val="1D6199"/>
              </a:buClr>
              <a:buFont typeface="Wingdings 3" panose="05040102010807070707" pitchFamily="18" charset="2"/>
              <a:buChar char=""/>
              <a:defRPr sz="2400">
                <a:solidFill>
                  <a:schemeClr val="tx1"/>
                </a:solidFill>
              </a:defRPr>
            </a:lvl1pPr>
            <a:lvl2pPr marL="809625" indent="-352425" algn="just">
              <a:lnSpc>
                <a:spcPct val="114000"/>
              </a:lnSpc>
              <a:buClr>
                <a:srgbClr val="1D6199"/>
              </a:buClr>
              <a:buFont typeface="Wingdings 3" panose="05040102010807070707" pitchFamily="18" charset="2"/>
              <a:buChar char=""/>
              <a:defRPr sz="2000">
                <a:solidFill>
                  <a:schemeClr val="tx1"/>
                </a:solidFill>
              </a:defRPr>
            </a:lvl2pPr>
            <a:lvl3pPr marL="1143000" indent="-228600" algn="just">
              <a:lnSpc>
                <a:spcPct val="114000"/>
              </a:lnSpc>
              <a:buClr>
                <a:srgbClr val="1D6199"/>
              </a:buClr>
              <a:buFont typeface="Wingdings" panose="05000000000000000000" pitchFamily="2" charset="2"/>
              <a:buChar char="§"/>
              <a:defRPr sz="1800">
                <a:solidFill>
                  <a:schemeClr val="tx1"/>
                </a:solidFill>
              </a:defRPr>
            </a:lvl3pPr>
            <a:lvl4pPr algn="just">
              <a:lnSpc>
                <a:spcPct val="114000"/>
              </a:lnSpc>
              <a:buClr>
                <a:srgbClr val="1D6199"/>
              </a:buClr>
              <a:defRPr sz="1600">
                <a:solidFill>
                  <a:schemeClr val="tx1"/>
                </a:solidFill>
              </a:defRPr>
            </a:lvl4pPr>
            <a:lvl5pPr algn="just">
              <a:lnSpc>
                <a:spcPct val="114000"/>
              </a:lnSpc>
              <a:buClr>
                <a:srgbClr val="1D6199"/>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13118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Nidhi K Chitroda</a:t>
            </a:r>
          </a:p>
        </p:txBody>
      </p:sp>
    </p:spTree>
    <p:extLst>
      <p:ext uri="{BB962C8B-B14F-4D97-AF65-F5344CB8AC3E}">
        <p14:creationId xmlns:p14="http://schemas.microsoft.com/office/powerpoint/2010/main" val="3466633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87718" y="5890392"/>
            <a:ext cx="1932495" cy="587453"/>
          </a:xfrm>
          <a:prstGeom prst="rect">
            <a:avLst/>
          </a:prstGeom>
        </p:spPr>
      </p:pic>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891487" cy="5520423"/>
          </a:xfrm>
        </p:spPr>
        <p:txBody>
          <a:bodyPr>
            <a:noAutofit/>
          </a:bodyPr>
          <a:lstStyle>
            <a:lvl1pPr marL="265113" indent="-265113" algn="just">
              <a:lnSpc>
                <a:spcPct val="114000"/>
              </a:lnSpc>
              <a:spcBef>
                <a:spcPts val="1000"/>
              </a:spcBef>
              <a:buClr>
                <a:srgbClr val="1D6199"/>
              </a:buClr>
              <a:buFont typeface="Wingdings 3" panose="05040102010807070707" pitchFamily="18" charset="2"/>
              <a:buChar char=""/>
              <a:defRPr sz="2400">
                <a:solidFill>
                  <a:schemeClr val="tx1"/>
                </a:solidFill>
              </a:defRPr>
            </a:lvl1pPr>
            <a:lvl2pPr marL="809625" indent="-352425" algn="just">
              <a:lnSpc>
                <a:spcPct val="114000"/>
              </a:lnSpc>
              <a:spcBef>
                <a:spcPts val="1000"/>
              </a:spcBef>
              <a:buClr>
                <a:srgbClr val="1D6199"/>
              </a:buClr>
              <a:buFont typeface="Wingdings 3" panose="05040102010807070707" pitchFamily="18" charset="2"/>
              <a:buChar char=""/>
              <a:defRPr sz="2000">
                <a:solidFill>
                  <a:schemeClr val="tx1"/>
                </a:solidFill>
              </a:defRPr>
            </a:lvl2pPr>
            <a:lvl3pPr marL="1143000" indent="-228600" algn="just">
              <a:lnSpc>
                <a:spcPct val="114000"/>
              </a:lnSpc>
              <a:spcBef>
                <a:spcPts val="1000"/>
              </a:spcBef>
              <a:buClr>
                <a:srgbClr val="1D6199"/>
              </a:buClr>
              <a:buFont typeface="Wingdings" panose="05000000000000000000" pitchFamily="2" charset="2"/>
              <a:buChar char="§"/>
              <a:defRPr sz="1800">
                <a:solidFill>
                  <a:schemeClr val="tx1"/>
                </a:solidFill>
              </a:defRPr>
            </a:lvl3pPr>
            <a:lvl4pPr algn="just">
              <a:lnSpc>
                <a:spcPct val="114000"/>
              </a:lnSpc>
              <a:spcBef>
                <a:spcPts val="1000"/>
              </a:spcBef>
              <a:buClr>
                <a:srgbClr val="1D6199"/>
              </a:buClr>
              <a:defRPr sz="1600">
                <a:solidFill>
                  <a:schemeClr val="tx1"/>
                </a:solidFill>
              </a:defRPr>
            </a:lvl4pPr>
            <a:lvl5pPr algn="just">
              <a:lnSpc>
                <a:spcPct val="114000"/>
              </a:lnSpc>
              <a:spcBef>
                <a:spcPts val="1000"/>
              </a:spcBef>
              <a:buClr>
                <a:srgbClr val="1D6199"/>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Nidhi K Chitroda</a:t>
            </a:r>
          </a:p>
        </p:txBody>
      </p:sp>
      <p:sp>
        <p:nvSpPr>
          <p:cNvPr id="1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571998"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2301CS718 (DOS) Unit 3-Synchronization and Naming</a:t>
            </a:r>
          </a:p>
        </p:txBody>
      </p:sp>
    </p:spTree>
    <p:extLst>
      <p:ext uri="{BB962C8B-B14F-4D97-AF65-F5344CB8AC3E}">
        <p14:creationId xmlns:p14="http://schemas.microsoft.com/office/powerpoint/2010/main" val="4202761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8918" y="5890392"/>
            <a:ext cx="1932495" cy="587453"/>
          </a:xfrm>
          <a:prstGeom prst="rect">
            <a:avLst/>
          </a:prstGeom>
        </p:spPr>
      </p:pic>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245533" y="863445"/>
            <a:ext cx="11815288" cy="5511956"/>
          </a:xfrm>
        </p:spPr>
        <p:txBody>
          <a:bodyPr>
            <a:noAutofit/>
          </a:bodyPr>
          <a:lstStyle>
            <a:lvl1pPr marL="265113" indent="-265113" algn="just">
              <a:buClr>
                <a:srgbClr val="1D6199"/>
              </a:buClr>
              <a:buFont typeface="Wingdings 3" panose="05040102010807070707" pitchFamily="18" charset="2"/>
              <a:buChar char=""/>
              <a:defRPr sz="2400">
                <a:solidFill>
                  <a:schemeClr val="tx1"/>
                </a:solidFill>
              </a:defRPr>
            </a:lvl1pPr>
            <a:lvl2pPr marL="809625" indent="-352425" algn="just">
              <a:buClr>
                <a:srgbClr val="1D6199"/>
              </a:buClr>
              <a:buFont typeface="Wingdings 3" panose="05040102010807070707" pitchFamily="18" charset="2"/>
              <a:buChar char=""/>
              <a:defRPr sz="2000">
                <a:solidFill>
                  <a:schemeClr val="tx1"/>
                </a:solidFill>
              </a:defRPr>
            </a:lvl2pPr>
            <a:lvl3pPr marL="1143000" indent="-228600" algn="just">
              <a:buClr>
                <a:srgbClr val="1D6199"/>
              </a:buClr>
              <a:buFont typeface="Wingdings" panose="05000000000000000000" pitchFamily="2" charset="2"/>
              <a:buChar char="§"/>
              <a:defRPr sz="1800">
                <a:solidFill>
                  <a:schemeClr val="tx1"/>
                </a:solidFill>
              </a:defRPr>
            </a:lvl3pPr>
            <a:lvl4pPr algn="just">
              <a:buClr>
                <a:srgbClr val="1D6199"/>
              </a:buClr>
              <a:defRPr sz="1600">
                <a:solidFill>
                  <a:schemeClr val="tx1"/>
                </a:solidFill>
              </a:defRPr>
            </a:lvl4pPr>
            <a:lvl5pPr algn="just">
              <a:buClr>
                <a:srgbClr val="1D6199"/>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Nidhi K Chitroda</a:t>
            </a:r>
          </a:p>
        </p:txBody>
      </p:sp>
      <p:sp>
        <p:nvSpPr>
          <p:cNvPr id="1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388708"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2301CS718 (DOS) Unit 3-Synchronization and Naming</a:t>
            </a:r>
          </a:p>
        </p:txBody>
      </p:sp>
    </p:spTree>
    <p:extLst>
      <p:ext uri="{BB962C8B-B14F-4D97-AF65-F5344CB8AC3E}">
        <p14:creationId xmlns:p14="http://schemas.microsoft.com/office/powerpoint/2010/main" val="346862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13" name="Picture 12">
            <a:extLst>
              <a:ext uri="{FF2B5EF4-FFF2-40B4-BE49-F238E27FC236}">
                <a16:creationId xmlns:a16="http://schemas.microsoft.com/office/drawing/2014/main" id="{8DD61FEC-075B-4EDD-97CA-36E6F72630F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748045" y="6087939"/>
            <a:ext cx="1932495" cy="587453"/>
          </a:xfrm>
          <a:prstGeom prst="rect">
            <a:avLst/>
          </a:prstGeom>
        </p:spPr>
      </p:pic>
    </p:spTree>
    <p:extLst>
      <p:ext uri="{BB962C8B-B14F-4D97-AF65-F5344CB8AC3E}">
        <p14:creationId xmlns:p14="http://schemas.microsoft.com/office/powerpoint/2010/main" val="2001692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C9B183D5-5DE8-48E7-85E7-60CE9D0FD2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87718" y="99192"/>
            <a:ext cx="1932495" cy="587453"/>
          </a:xfrm>
          <a:prstGeom prst="rect">
            <a:avLst/>
          </a:prstGeom>
        </p:spPr>
      </p:pic>
      <p:sp>
        <p:nvSpPr>
          <p:cNvPr id="14"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Nidhi K Chitroda</a:t>
            </a:r>
          </a:p>
        </p:txBody>
      </p:sp>
      <p:sp>
        <p:nvSpPr>
          <p:cNvPr id="8" name="Footer Placeholder 2">
            <a:extLst>
              <a:ext uri="{FF2B5EF4-FFF2-40B4-BE49-F238E27FC236}">
                <a16:creationId xmlns:a16="http://schemas.microsoft.com/office/drawing/2014/main" id="{BF2BE79E-EA17-4AB9-8CB5-714A52A6B2F5}"/>
              </a:ext>
            </a:extLst>
          </p:cNvPr>
          <p:cNvSpPr txBox="1">
            <a:spLocks/>
          </p:cNvSpPr>
          <p:nvPr userDrawn="1"/>
        </p:nvSpPr>
        <p:spPr>
          <a:xfrm>
            <a:off x="4038599" y="6604000"/>
            <a:ext cx="4363995"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2301CS718 (DOS) Unit 3-Synchronization and Naming</a:t>
            </a:r>
          </a:p>
        </p:txBody>
      </p:sp>
    </p:spTree>
    <p:extLst>
      <p:ext uri="{BB962C8B-B14F-4D97-AF65-F5344CB8AC3E}">
        <p14:creationId xmlns:p14="http://schemas.microsoft.com/office/powerpoint/2010/main" val="2971972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A378A2C8-EF9C-479C-ACF0-D9819B46DF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87718" y="5890392"/>
            <a:ext cx="1932495" cy="587453"/>
          </a:xfrm>
          <a:prstGeom prst="rect">
            <a:avLst/>
          </a:prstGeom>
        </p:spPr>
      </p:pic>
      <p:sp>
        <p:nvSpPr>
          <p:cNvPr id="14"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Nidhi K Chitroda</a:t>
            </a:r>
          </a:p>
        </p:txBody>
      </p:sp>
      <p:sp>
        <p:nvSpPr>
          <p:cNvPr id="8"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298092"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2301CS718 (DOS) Unit 3-Synchronization and Naming</a:t>
            </a:r>
          </a:p>
        </p:txBody>
      </p:sp>
    </p:spTree>
    <p:extLst>
      <p:ext uri="{BB962C8B-B14F-4D97-AF65-F5344CB8AC3E}">
        <p14:creationId xmlns:p14="http://schemas.microsoft.com/office/powerpoint/2010/main" val="3206247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30CB04CE-0025-4B1F-B962-A759D179D8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8918" y="5890392"/>
            <a:ext cx="1932495" cy="587453"/>
          </a:xfrm>
          <a:prstGeom prst="rect">
            <a:avLst/>
          </a:prstGeom>
        </p:spPr>
      </p:pic>
      <p:sp>
        <p:nvSpPr>
          <p:cNvPr id="14"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Nidhi K Chitroda</a:t>
            </a:r>
          </a:p>
        </p:txBody>
      </p:sp>
      <p:sp>
        <p:nvSpPr>
          <p:cNvPr id="8"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215714"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2301CS718 (DOS) Unit 3-Synchronization and Naming</a:t>
            </a:r>
          </a:p>
        </p:txBody>
      </p:sp>
    </p:spTree>
    <p:extLst>
      <p:ext uri="{BB962C8B-B14F-4D97-AF65-F5344CB8AC3E}">
        <p14:creationId xmlns:p14="http://schemas.microsoft.com/office/powerpoint/2010/main" val="4243314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4000" y="106364"/>
            <a:ext cx="11684000" cy="808037"/>
          </a:xfrm>
        </p:spPr>
        <p:txBody>
          <a:bodyPr>
            <a:normAutofit/>
          </a:bodyPr>
          <a:lstStyle>
            <a:lvl1pPr algn="l">
              <a:defRPr lang="en-US" sz="4400" b="0" kern="1200" dirty="0">
                <a:solidFill>
                  <a:schemeClr val="tx1"/>
                </a:solidFill>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254000" y="990600"/>
            <a:ext cx="11684000" cy="5334000"/>
          </a:xfrm>
        </p:spPr>
        <p:txBody>
          <a:bodyPr>
            <a:normAutofit/>
          </a:bodyPr>
          <a:lstStyle>
            <a:lvl1pPr marL="342900" indent="-342900" algn="just" defTabSz="914400" rtl="0" eaLnBrk="1" latinLnBrk="0" hangingPunct="1">
              <a:lnSpc>
                <a:spcPct val="90000"/>
              </a:lnSpc>
              <a:spcBef>
                <a:spcPts val="600"/>
              </a:spcBef>
              <a:buClrTx/>
              <a:buFont typeface="Wingdings" panose="05000000000000000000" pitchFamily="2" charset="2"/>
              <a:buChar char="§"/>
              <a:defRPr lang="en-US" sz="2400" kern="1200" dirty="0" smtClean="0">
                <a:solidFill>
                  <a:schemeClr val="tx1"/>
                </a:solidFill>
                <a:latin typeface="+mj-lt"/>
                <a:ea typeface="Times New Roman" panose="02020603050405020304" pitchFamily="18" charset="0"/>
                <a:cs typeface="Times New Roman" panose="02020603050405020304" pitchFamily="18" charset="0"/>
              </a:defRPr>
            </a:lvl1pPr>
            <a:lvl2pPr marL="704850" indent="-342900" algn="just" defTabSz="914400" rtl="0" eaLnBrk="1" latinLnBrk="0" hangingPunct="1">
              <a:lnSpc>
                <a:spcPct val="90000"/>
              </a:lnSpc>
              <a:spcBef>
                <a:spcPts val="600"/>
              </a:spcBef>
              <a:buClrTx/>
              <a:buFont typeface="Arial" panose="020B0604020202020204" pitchFamily="34" charset="0"/>
              <a:buChar char="•"/>
              <a:defRPr lang="en-US" sz="2300" kern="1200" dirty="0" smtClean="0">
                <a:solidFill>
                  <a:schemeClr val="tx1"/>
                </a:solidFill>
                <a:latin typeface="+mj-lt"/>
                <a:ea typeface="Times New Roman" panose="02020603050405020304" pitchFamily="18" charset="0"/>
                <a:cs typeface="Times New Roman" panose="02020603050405020304" pitchFamily="18" charset="0"/>
              </a:defRPr>
            </a:lvl2pPr>
            <a:lvl3pPr marL="968375" indent="-342900" algn="just" defTabSz="914400" rtl="0" eaLnBrk="1" latinLnBrk="0" hangingPunct="1">
              <a:lnSpc>
                <a:spcPct val="90000"/>
              </a:lnSpc>
              <a:spcBef>
                <a:spcPts val="600"/>
              </a:spcBef>
              <a:buClrTx/>
              <a:defRPr lang="en-US" sz="2200" kern="1200" dirty="0" smtClean="0">
                <a:solidFill>
                  <a:schemeClr val="tx1"/>
                </a:solidFill>
                <a:latin typeface="+mj-lt"/>
                <a:ea typeface="Times New Roman" panose="02020603050405020304" pitchFamily="18" charset="0"/>
                <a:cs typeface="Times New Roman" panose="02020603050405020304" pitchFamily="18" charset="0"/>
              </a:defRPr>
            </a:lvl3pPr>
            <a:lvl4pPr marL="1239837" indent="-342900" algn="just" defTabSz="914400" rtl="0" eaLnBrk="1" latinLnBrk="0" hangingPunct="1">
              <a:lnSpc>
                <a:spcPct val="90000"/>
              </a:lnSpc>
              <a:spcBef>
                <a:spcPts val="600"/>
              </a:spcBef>
              <a:buClrTx/>
              <a:defRPr lang="en-US" sz="2000" kern="1200" dirty="0" smtClean="0">
                <a:solidFill>
                  <a:schemeClr val="tx1"/>
                </a:solidFill>
                <a:latin typeface="+mj-lt"/>
                <a:ea typeface="Times New Roman" panose="02020603050405020304" pitchFamily="18" charset="0"/>
                <a:cs typeface="Times New Roman" panose="02020603050405020304" pitchFamily="18" charset="0"/>
              </a:defRPr>
            </a:lvl4pPr>
            <a:lvl5pPr marL="1454150" indent="-285750" algn="just" defTabSz="914400" rtl="0" eaLnBrk="1" latinLnBrk="0" hangingPunct="1">
              <a:lnSpc>
                <a:spcPct val="90000"/>
              </a:lnSpc>
              <a:spcBef>
                <a:spcPts val="600"/>
              </a:spcBef>
              <a:buClrTx/>
              <a:defRPr lang="en-US" sz="1600" kern="1200" dirty="0">
                <a:solidFill>
                  <a:schemeClr val="tx1"/>
                </a:solidFill>
                <a:latin typeface="+mj-lt"/>
                <a:ea typeface="Times New Roman" panose="02020603050405020304" pitchFamily="18" charset="0"/>
                <a:cs typeface="Times New Roman" panose="02020603050405020304" pitchFamily="18" charset="0"/>
              </a:defRPr>
            </a:lvl5pPr>
          </a:lstStyle>
          <a:p>
            <a:pPr marL="342900" lvl="0" indent="-342900" algn="l" defTabSz="914400" rtl="0" eaLnBrk="1" latinLnBrk="0" hangingPunct="1">
              <a:lnSpc>
                <a:spcPct val="90000"/>
              </a:lnSpc>
              <a:spcBef>
                <a:spcPts val="600"/>
              </a:spcBef>
              <a:buClrTx/>
              <a:buFont typeface="Wingdings" panose="05000000000000000000" pitchFamily="2" charset="2"/>
              <a:buChar char="§"/>
            </a:pPr>
            <a:r>
              <a:rPr lang="en-US" dirty="0"/>
              <a:t>Click to edit Master text styles</a:t>
            </a:r>
          </a:p>
          <a:p>
            <a:pPr marL="625475" lvl="1" indent="-263525" algn="just" defTabSz="914400" rtl="0" eaLnBrk="1" latinLnBrk="0" hangingPunct="1">
              <a:lnSpc>
                <a:spcPct val="90000"/>
              </a:lnSpc>
              <a:spcBef>
                <a:spcPts val="600"/>
              </a:spcBef>
              <a:buClrTx/>
              <a:buFont typeface="Arial" panose="020B0604020202020204" pitchFamily="34" charset="0"/>
              <a:buChar char="•"/>
            </a:pPr>
            <a:r>
              <a:rPr lang="en-US" dirty="0"/>
              <a:t>Second level</a:t>
            </a:r>
          </a:p>
          <a:p>
            <a:pPr marL="896938" lvl="2" indent="-271463" algn="just" defTabSz="914400" rtl="0" eaLnBrk="1" latinLnBrk="0" hangingPunct="1">
              <a:lnSpc>
                <a:spcPct val="90000"/>
              </a:lnSpc>
              <a:spcBef>
                <a:spcPts val="600"/>
              </a:spcBef>
              <a:buClrTx/>
              <a:buFont typeface="Arial" pitchFamily="34" charset="0"/>
              <a:buChar char="•"/>
            </a:pPr>
            <a:r>
              <a:rPr lang="en-US" dirty="0"/>
              <a:t>Third level</a:t>
            </a:r>
          </a:p>
          <a:p>
            <a:pPr marL="1168400" lvl="3" indent="-271463" algn="just" defTabSz="914400" rtl="0" eaLnBrk="1" latinLnBrk="0" hangingPunct="1">
              <a:lnSpc>
                <a:spcPct val="90000"/>
              </a:lnSpc>
              <a:spcBef>
                <a:spcPts val="600"/>
              </a:spcBef>
              <a:buClrTx/>
              <a:buFont typeface="Arial" pitchFamily="34" charset="0"/>
              <a:buChar char="–"/>
            </a:pPr>
            <a:r>
              <a:rPr lang="en-US" dirty="0"/>
              <a:t>Fourth level</a:t>
            </a:r>
          </a:p>
          <a:p>
            <a:pPr marL="1439863" lvl="4" indent="-271463" algn="just" defTabSz="914400" rtl="0" eaLnBrk="1" latinLnBrk="0" hangingPunct="1">
              <a:lnSpc>
                <a:spcPct val="90000"/>
              </a:lnSpc>
              <a:spcBef>
                <a:spcPts val="600"/>
              </a:spcBef>
              <a:buClrTx/>
              <a:buFont typeface="Arial" pitchFamily="34" charset="0"/>
              <a:buChar char="»"/>
            </a:pPr>
            <a:r>
              <a:rPr lang="en-US" dirty="0"/>
              <a:t>Fifth level</a:t>
            </a:r>
          </a:p>
        </p:txBody>
      </p:sp>
      <p:sp>
        <p:nvSpPr>
          <p:cNvPr id="5" name="Rektangel 11"/>
          <p:cNvSpPr/>
          <p:nvPr userDrawn="1"/>
        </p:nvSpPr>
        <p:spPr>
          <a:xfrm>
            <a:off x="0" y="6477000"/>
            <a:ext cx="53848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defRPr/>
            </a:pPr>
            <a:r>
              <a:rPr lang="da-DK" sz="1800" noProof="1">
                <a:solidFill>
                  <a:srgbClr val="FFFFFF"/>
                </a:solidFill>
                <a:latin typeface="+mj-lt"/>
                <a:ea typeface="Open Sans" panose="020B0606030504020204" pitchFamily="34" charset="0"/>
                <a:cs typeface="Open Sans" panose="020B0606030504020204" pitchFamily="34" charset="0"/>
              </a:rPr>
              <a:t>Unit</a:t>
            </a:r>
            <a:r>
              <a:rPr lang="da-DK" sz="1800" baseline="0" noProof="1">
                <a:solidFill>
                  <a:srgbClr val="FFFFFF"/>
                </a:solidFill>
                <a:latin typeface="+mj-lt"/>
                <a:ea typeface="Open Sans" panose="020B0606030504020204" pitchFamily="34" charset="0"/>
                <a:cs typeface="Open Sans" panose="020B0606030504020204" pitchFamily="34" charset="0"/>
              </a:rPr>
              <a:t> – 2: </a:t>
            </a:r>
            <a:r>
              <a:rPr lang="en-US" sz="1800" dirty="0"/>
              <a:t>Linear Data Structure</a:t>
            </a:r>
            <a:endParaRPr lang="da-DK" sz="18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254000" y="914400"/>
            <a:ext cx="11684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Rektangel 11"/>
          <p:cNvSpPr/>
          <p:nvPr userDrawn="1"/>
        </p:nvSpPr>
        <p:spPr>
          <a:xfrm>
            <a:off x="6197600" y="6480727"/>
            <a:ext cx="59944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defRPr/>
            </a:pPr>
            <a:r>
              <a:rPr lang="en-US" sz="1800" noProof="1">
                <a:solidFill>
                  <a:srgbClr val="FFFFFF"/>
                </a:solidFill>
                <a:latin typeface="+mj-lt"/>
                <a:ea typeface="Open Sans" panose="020B0606030504020204" pitchFamily="34" charset="0"/>
                <a:cs typeface="Open Sans" panose="020B0606030504020204" pitchFamily="34" charset="0"/>
              </a:rPr>
              <a:t>Darshan</a:t>
            </a:r>
            <a:r>
              <a:rPr lang="en-US" sz="1800" baseline="0" noProof="1">
                <a:solidFill>
                  <a:srgbClr val="FFFFFF"/>
                </a:solidFill>
                <a:latin typeface="+mj-lt"/>
                <a:ea typeface="Open Sans" panose="020B0606030504020204" pitchFamily="34" charset="0"/>
                <a:cs typeface="Open Sans" panose="020B0606030504020204" pitchFamily="34" charset="0"/>
              </a:rPr>
              <a:t> Institute of Engineering &amp; Technology</a:t>
            </a:r>
            <a:endParaRPr lang="da-DK" sz="1800" noProof="1">
              <a:solidFill>
                <a:srgbClr val="FFFFFF"/>
              </a:solidFill>
              <a:latin typeface="+mj-lt"/>
              <a:ea typeface="Open Sans" panose="020B0606030504020204" pitchFamily="34" charset="0"/>
              <a:cs typeface="Open Sans" panose="020B0606030504020204" pitchFamily="34" charset="0"/>
            </a:endParaRPr>
          </a:p>
        </p:txBody>
      </p:sp>
      <p:sp>
        <p:nvSpPr>
          <p:cNvPr id="10" name="Rektangel 11"/>
          <p:cNvSpPr/>
          <p:nvPr userDrawn="1"/>
        </p:nvSpPr>
        <p:spPr>
          <a:xfrm>
            <a:off x="5384800" y="6477000"/>
            <a:ext cx="8128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fld id="{4CCBBDC9-ADEB-48F3-A42C-1AD0249F062A}" type="slidenum">
              <a:rPr lang="da-DK" sz="1800" noProof="1" smtClean="0">
                <a:solidFill>
                  <a:srgbClr val="FFFFFF"/>
                </a:solidFill>
                <a:latin typeface="+mj-lt"/>
                <a:ea typeface="Open Sans" panose="020B0606030504020204" pitchFamily="34" charset="0"/>
                <a:cs typeface="Open Sans" panose="020B0606030504020204" pitchFamily="34" charset="0"/>
              </a:rPr>
              <a:pPr indent="-342900" algn="ctr">
                <a:defRPr/>
              </a:pPr>
              <a:t>‹#›</a:t>
            </a:fld>
            <a:endParaRPr lang="da-DK" sz="1800" noProof="1">
              <a:solidFill>
                <a:srgbClr val="FFFFFF"/>
              </a:solidFill>
              <a:latin typeface="+mj-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0305711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extLst>
      <p:ext uri="{BB962C8B-B14F-4D97-AF65-F5344CB8AC3E}">
        <p14:creationId xmlns:p14="http://schemas.microsoft.com/office/powerpoint/2010/main" val="3625638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7/24/2026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93" r:id="rId2"/>
    <p:sldLayoutId id="2147483670" r:id="rId3"/>
    <p:sldLayoutId id="2147483687" r:id="rId4"/>
    <p:sldLayoutId id="2147483688" r:id="rId5"/>
    <p:sldLayoutId id="2147483671" r:id="rId6"/>
    <p:sldLayoutId id="2147483672" r:id="rId7"/>
    <p:sldLayoutId id="2147483689" r:id="rId8"/>
    <p:sldLayoutId id="2147483690" r:id="rId9"/>
    <p:sldLayoutId id="2147483673" r:id="rId10"/>
    <p:sldLayoutId id="2147483691" r:id="rId11"/>
    <p:sldLayoutId id="2147483674" r:id="rId12"/>
    <p:sldLayoutId id="2147483676" r:id="rId13"/>
    <p:sldLayoutId id="2147483677" r:id="rId14"/>
    <p:sldLayoutId id="2147483678" r:id="rId15"/>
    <p:sldLayoutId id="2147483679" r:id="rId16"/>
    <p:sldLayoutId id="2147483681" r:id="rId17"/>
    <p:sldLayoutId id="2147483683" r:id="rId18"/>
    <p:sldLayoutId id="2147483682" r:id="rId19"/>
    <p:sldLayoutId id="2147483684" r:id="rId20"/>
    <p:sldLayoutId id="2147483685" r:id="rId21"/>
    <p:sldLayoutId id="2147483686" r:id="rId22"/>
    <p:sldLayoutId id="2147483694" r:id="rId23"/>
    <p:sldLayoutId id="2147483695" r:id="rId2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png"/><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9.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NULL"/></Relationships>
</file>

<file path=ppt/slides/_rels/slide13.xml.rels><?xml version="1.0" encoding="UTF-8" standalone="yes"?>
<Relationships xmlns="http://schemas.openxmlformats.org/package/2006/relationships"><Relationship Id="rId8" Type="http://schemas.openxmlformats.org/officeDocument/2006/relationships/image" Target="../media/image22.wmf"/><Relationship Id="rId7" Type="http://schemas.openxmlformats.org/officeDocument/2006/relationships/oleObject" Target="../embeddings/oleObject1.bin"/><Relationship Id="rId2"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NULL"/><Relationship Id="rId4" Type="http://schemas.openxmlformats.org/officeDocument/2006/relationships/image" Target="NUL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1.png"/><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4.xml"/><Relationship Id="rId5" Type="http://schemas.openxmlformats.org/officeDocument/2006/relationships/image" Target="../media/image32.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NUL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4.xml"/><Relationship Id="rId6" Type="http://schemas.openxmlformats.org/officeDocument/2006/relationships/image" Target="NULL"/><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NUL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38.jpg"/><Relationship Id="rId7" Type="http://schemas.openxmlformats.org/officeDocument/2006/relationships/image" Target="../media/image42.gif"/><Relationship Id="rId2" Type="http://schemas.openxmlformats.org/officeDocument/2006/relationships/image" Target="../media/image37.jpeg"/><Relationship Id="rId1" Type="http://schemas.openxmlformats.org/officeDocument/2006/relationships/slideLayout" Target="../slideLayouts/slideLayout3.xml"/><Relationship Id="rId6" Type="http://schemas.openxmlformats.org/officeDocument/2006/relationships/image" Target="../media/image41.jpeg"/><Relationship Id="rId5" Type="http://schemas.openxmlformats.org/officeDocument/2006/relationships/image" Target="../media/image40.jpg"/><Relationship Id="rId4" Type="http://schemas.openxmlformats.org/officeDocument/2006/relationships/image" Target="../media/image39.jpeg"/></Relationships>
</file>

<file path=ppt/slides/_rels/slide52.xml.rels><?xml version="1.0" encoding="UTF-8" standalone="yes"?>
<Relationships xmlns="http://schemas.openxmlformats.org/package/2006/relationships"><Relationship Id="rId3" Type="http://schemas.openxmlformats.org/officeDocument/2006/relationships/image" Target="../media/image44.gif"/><Relationship Id="rId2" Type="http://schemas.openxmlformats.org/officeDocument/2006/relationships/image" Target="../media/image43.png"/><Relationship Id="rId1" Type="http://schemas.openxmlformats.org/officeDocument/2006/relationships/slideLayout" Target="../slideLayouts/slideLayout3.xml"/><Relationship Id="rId4" Type="http://schemas.openxmlformats.org/officeDocument/2006/relationships/image" Target="../media/image45.jpeg"/></Relationships>
</file>

<file path=ppt/slides/_rels/slide5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4.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4.xml"/><Relationship Id="rId5" Type="http://schemas.openxmlformats.org/officeDocument/2006/relationships/image" Target="NULL"/><Relationship Id="rId4" Type="http://schemas.openxmlformats.org/officeDocument/2006/relationships/image" Target="NUL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52.wmf"/><Relationship Id="rId2" Type="http://schemas.openxmlformats.org/officeDocument/2006/relationships/image" Target="../media/image48.png"/><Relationship Id="rId1" Type="http://schemas.openxmlformats.org/officeDocument/2006/relationships/slideLayout" Target="../slideLayouts/slideLayout4.xml"/><Relationship Id="rId6" Type="http://schemas.openxmlformats.org/officeDocument/2006/relationships/image" Target="../media/image51.png"/><Relationship Id="rId5" Type="http://schemas.openxmlformats.org/officeDocument/2006/relationships/image" Target="../media/image50.wmf"/><Relationship Id="rId4" Type="http://schemas.openxmlformats.org/officeDocument/2006/relationships/image" Target="../media/image49.png"/></Relationships>
</file>

<file path=ppt/slides/_rels/slide7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54.wmf"/><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54.wmf"/><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a:xfrm>
            <a:off x="559490" y="1122364"/>
            <a:ext cx="7060510" cy="2563094"/>
          </a:xfrm>
        </p:spPr>
        <p:txBody>
          <a:bodyPr/>
          <a:lstStyle/>
          <a:p>
            <a:r>
              <a:rPr lang="en-US" sz="6000" dirty="0"/>
              <a:t>Unit-3 </a:t>
            </a:r>
            <a:br>
              <a:rPr lang="en-US" sz="6000" dirty="0"/>
            </a:br>
            <a:r>
              <a:rPr lang="en-US" sz="6000" dirty="0"/>
              <a:t>Synchronization and Naming</a:t>
            </a:r>
          </a:p>
        </p:txBody>
      </p:sp>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r>
              <a:rPr lang="en-US" dirty="0"/>
              <a:t>Nidhi.chitroda@darshan.ac.in</a:t>
            </a:r>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r>
              <a:rPr lang="en-US" dirty="0"/>
              <a:t>9727747317</a:t>
            </a:r>
          </a:p>
        </p:txBody>
      </p:sp>
      <p:sp>
        <p:nvSpPr>
          <p:cNvPr id="5" name="Text Placeholder 4">
            <a:extLst>
              <a:ext uri="{FF2B5EF4-FFF2-40B4-BE49-F238E27FC236}">
                <a16:creationId xmlns:a16="http://schemas.microsoft.com/office/drawing/2014/main" id="{B786D614-6447-4787-8025-9C902A1B7344}"/>
              </a:ext>
            </a:extLst>
          </p:cNvPr>
          <p:cNvSpPr>
            <a:spLocks noGrp="1"/>
          </p:cNvSpPr>
          <p:nvPr>
            <p:ph type="body" sz="quarter" idx="13"/>
          </p:nvPr>
        </p:nvSpPr>
        <p:spPr/>
        <p:txBody>
          <a:bodyPr/>
          <a:lstStyle/>
          <a:p>
            <a:r>
              <a:rPr lang="en-US" dirty="0"/>
              <a:t>Computer Engineering Department</a:t>
            </a:r>
          </a:p>
        </p:txBody>
      </p:sp>
      <p:sp>
        <p:nvSpPr>
          <p:cNvPr id="6" name="Text Placeholder 5">
            <a:extLst>
              <a:ext uri="{FF2B5EF4-FFF2-40B4-BE49-F238E27FC236}">
                <a16:creationId xmlns:a16="http://schemas.microsoft.com/office/drawing/2014/main" id="{1F7AB9BC-FE08-46B2-A19C-803CB5DF0CD1}"/>
              </a:ext>
            </a:extLst>
          </p:cNvPr>
          <p:cNvSpPr>
            <a:spLocks noGrp="1"/>
          </p:cNvSpPr>
          <p:nvPr>
            <p:ph type="body" sz="quarter" idx="14"/>
          </p:nvPr>
        </p:nvSpPr>
        <p:spPr/>
        <p:txBody>
          <a:bodyPr/>
          <a:lstStyle/>
          <a:p>
            <a:r>
              <a:rPr lang="en-US" dirty="0"/>
              <a:t>Prof. Nidhi K Chitroda</a:t>
            </a:r>
          </a:p>
        </p:txBody>
      </p:sp>
      <p:sp>
        <p:nvSpPr>
          <p:cNvPr id="1027"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p:txBody>
          <a:bodyPr/>
          <a:lstStyle/>
          <a:p>
            <a:r>
              <a:rPr lang="en-US" b="1" dirty="0"/>
              <a:t>Distributed Operating System (DOS</a:t>
            </a:r>
            <a:r>
              <a:rPr lang="en-US" dirty="0">
                <a:latin typeface="Roboto Condensed Light" panose="02000000000000000000" pitchFamily="2" charset="0"/>
                <a:ea typeface="Roboto Condensed Light" panose="02000000000000000000" pitchFamily="2" charset="0"/>
              </a:rPr>
              <a:t>)</a:t>
            </a:r>
          </a:p>
          <a:p>
            <a:r>
              <a:rPr lang="en-US" dirty="0">
                <a:latin typeface="Roboto Condensed Light" panose="02000000000000000000" pitchFamily="2" charset="0"/>
                <a:ea typeface="Roboto Condensed Light" panose="02000000000000000000" pitchFamily="2" charset="0"/>
              </a:rPr>
              <a:t>DU #</a:t>
            </a:r>
            <a:r>
              <a:rPr lang="en-IN" dirty="0">
                <a:latin typeface="Calibri" panose="020F0502020204030204" pitchFamily="34" charset="0"/>
                <a:ea typeface="Calibri" panose="020F0502020204030204" pitchFamily="34" charset="0"/>
                <a:cs typeface="Shruti" panose="02000500000000000000" pitchFamily="2"/>
              </a:rPr>
              <a:t>2301CS718</a:t>
            </a:r>
            <a:endParaRPr lang="en-US" dirty="0">
              <a:latin typeface="Roboto Condensed Light" panose="02000000000000000000" pitchFamily="2" charset="0"/>
              <a:ea typeface="Roboto Condensed Light" panose="02000000000000000000" pitchFamily="2" charset="0"/>
            </a:endParaRP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E9A72E2A-46CF-38EF-59ED-94C3A73C3C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619" y="5131222"/>
            <a:ext cx="1420089" cy="1420089"/>
          </a:xfrm>
          <a:prstGeom prst="rect">
            <a:avLst/>
          </a:prstGeom>
        </p:spPr>
      </p:pic>
      <p:pic>
        <p:nvPicPr>
          <p:cNvPr id="1026" name="Picture 2" descr="Examples of distributed operating system">
            <a:extLst>
              <a:ext uri="{FF2B5EF4-FFF2-40B4-BE49-F238E27FC236}">
                <a16:creationId xmlns:a16="http://schemas.microsoft.com/office/drawing/2014/main" id="{677BBE16-DFF1-62E3-45D4-663CABAE87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07236" y="1845829"/>
            <a:ext cx="2997084" cy="2587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100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F9D64455-1130-E48A-EF19-AD1057E717B2}"/>
              </a:ext>
            </a:extLst>
          </p:cNvPr>
          <p:cNvSpPr txBox="1">
            <a:spLocks/>
          </p:cNvSpPr>
          <p:nvPr/>
        </p:nvSpPr>
        <p:spPr>
          <a:xfrm>
            <a:off x="1580148" y="611118"/>
            <a:ext cx="3866148" cy="75272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b="1" dirty="0">
                <a:gradFill flip="none" rotWithShape="1">
                  <a:gsLst>
                    <a:gs pos="0">
                      <a:srgbClr val="1D3064"/>
                    </a:gs>
                    <a:gs pos="100000">
                      <a:schemeClr val="tx2"/>
                    </a:gs>
                  </a:gsLst>
                  <a:lin ang="0" scaled="1"/>
                  <a:tileRect/>
                </a:gradFill>
                <a:latin typeface="+mn-lt"/>
                <a:ea typeface="+mn-ea"/>
                <a:cs typeface="+mn-cs"/>
              </a:rPr>
              <a:t>Outline</a:t>
            </a:r>
          </a:p>
        </p:txBody>
      </p:sp>
      <p:sp>
        <p:nvSpPr>
          <p:cNvPr id="9" name="TextBox 8">
            <a:extLst>
              <a:ext uri="{FF2B5EF4-FFF2-40B4-BE49-F238E27FC236}">
                <a16:creationId xmlns:a16="http://schemas.microsoft.com/office/drawing/2014/main" id="{FC739217-ACBC-B3D4-6E9A-343854C103C0}"/>
              </a:ext>
            </a:extLst>
          </p:cNvPr>
          <p:cNvSpPr txBox="1"/>
          <p:nvPr/>
        </p:nvSpPr>
        <p:spPr>
          <a:xfrm>
            <a:off x="1580148" y="1390324"/>
            <a:ext cx="9683781" cy="3691973"/>
          </a:xfrm>
          <a:prstGeom prst="rect">
            <a:avLst/>
          </a:prstGeom>
          <a:noFill/>
        </p:spPr>
        <p:txBody>
          <a:bodyPr wrap="square">
            <a:spAutoFit/>
          </a:bodyPr>
          <a:lstStyle/>
          <a:p>
            <a:pPr marL="265113" indent="-265113" algn="just">
              <a:lnSpc>
                <a:spcPct val="90000"/>
              </a:lnSpc>
              <a:spcBef>
                <a:spcPts val="1000"/>
              </a:spcBef>
              <a:buClr>
                <a:srgbClr val="1D6199"/>
              </a:buClr>
              <a:buFont typeface="Wingdings 3" panose="05040102010807070707" pitchFamily="18" charset="2"/>
              <a:buChar char=""/>
              <a:defRPr/>
            </a:pPr>
            <a:r>
              <a:rPr lang="en-US" sz="2400" dirty="0"/>
              <a:t>Synchronization</a:t>
            </a:r>
          </a:p>
          <a:p>
            <a:pPr marL="809625" lvl="1" indent="-352425" algn="just">
              <a:lnSpc>
                <a:spcPct val="114000"/>
              </a:lnSpc>
              <a:spcBef>
                <a:spcPts val="1000"/>
              </a:spcBef>
              <a:buClr>
                <a:srgbClr val="1D6199"/>
              </a:buClr>
              <a:buFont typeface="Wingdings 3" panose="05040102010807070707" pitchFamily="18" charset="2"/>
              <a:buChar char=""/>
            </a:pPr>
            <a:r>
              <a:rPr lang="en-IN" sz="2400" dirty="0"/>
              <a:t>Clock synchronization</a:t>
            </a:r>
          </a:p>
          <a:p>
            <a:pPr marL="809625" lvl="1" indent="-352425" algn="just">
              <a:lnSpc>
                <a:spcPct val="114000"/>
              </a:lnSpc>
              <a:spcBef>
                <a:spcPts val="1000"/>
              </a:spcBef>
              <a:buClr>
                <a:srgbClr val="1D6199"/>
              </a:buClr>
              <a:buFont typeface="Wingdings 3" panose="05040102010807070707" pitchFamily="18" charset="2"/>
              <a:buChar char=""/>
            </a:pPr>
            <a:r>
              <a:rPr lang="en-IN" sz="2400" dirty="0"/>
              <a:t>Logical Clocks</a:t>
            </a:r>
          </a:p>
          <a:p>
            <a:pPr marL="809625" lvl="1" indent="-352425" algn="just">
              <a:lnSpc>
                <a:spcPct val="114000"/>
              </a:lnSpc>
              <a:spcBef>
                <a:spcPts val="1000"/>
              </a:spcBef>
              <a:buClr>
                <a:srgbClr val="1D6199"/>
              </a:buClr>
              <a:buFont typeface="Wingdings 3" panose="05040102010807070707" pitchFamily="18" charset="2"/>
              <a:buChar char=""/>
            </a:pPr>
            <a:r>
              <a:rPr lang="en-IN" sz="2400" dirty="0"/>
              <a:t>Global State</a:t>
            </a:r>
          </a:p>
          <a:p>
            <a:pPr marL="809625" lvl="1" indent="-352425" algn="just">
              <a:lnSpc>
                <a:spcPct val="114000"/>
              </a:lnSpc>
              <a:spcBef>
                <a:spcPts val="1000"/>
              </a:spcBef>
              <a:buClr>
                <a:srgbClr val="1D6199"/>
              </a:buClr>
              <a:buFont typeface="Wingdings 3" panose="05040102010807070707" pitchFamily="18" charset="2"/>
              <a:buChar char=""/>
            </a:pPr>
            <a:r>
              <a:rPr lang="en-IN" sz="2400" dirty="0"/>
              <a:t>Mutual Exclusion</a:t>
            </a:r>
          </a:p>
          <a:p>
            <a:pPr marL="809625" lvl="1" indent="-352425" algn="just">
              <a:lnSpc>
                <a:spcPct val="114000"/>
              </a:lnSpc>
              <a:spcBef>
                <a:spcPts val="1000"/>
              </a:spcBef>
              <a:buClr>
                <a:srgbClr val="1D6199"/>
              </a:buClr>
              <a:buFont typeface="Wingdings 3" panose="05040102010807070707" pitchFamily="18" charset="2"/>
              <a:buChar char=""/>
            </a:pPr>
            <a:r>
              <a:rPr lang="en-IN" sz="2400" dirty="0"/>
              <a:t>Election Algorithms</a:t>
            </a:r>
          </a:p>
          <a:p>
            <a:pPr marL="809625" lvl="1" indent="-352425" algn="just">
              <a:lnSpc>
                <a:spcPct val="114000"/>
              </a:lnSpc>
              <a:spcBef>
                <a:spcPts val="1000"/>
              </a:spcBef>
              <a:buClr>
                <a:srgbClr val="1D6199"/>
              </a:buClr>
              <a:buFont typeface="Wingdings 3" panose="05040102010807070707" pitchFamily="18" charset="2"/>
              <a:buChar char=""/>
            </a:pPr>
            <a:r>
              <a:rPr lang="en-IN" sz="2400" dirty="0"/>
              <a:t>Deadlocks in DOS</a:t>
            </a:r>
          </a:p>
        </p:txBody>
      </p:sp>
      <p:cxnSp>
        <p:nvCxnSpPr>
          <p:cNvPr id="3" name="Straight Connector 2">
            <a:extLst>
              <a:ext uri="{FF2B5EF4-FFF2-40B4-BE49-F238E27FC236}">
                <a16:creationId xmlns:a16="http://schemas.microsoft.com/office/drawing/2014/main" id="{70672FFB-2681-D443-7C8B-0F297A901B61}"/>
              </a:ext>
            </a:extLst>
          </p:cNvPr>
          <p:cNvCxnSpPr>
            <a:cxnSpLocks/>
            <a:endCxn id="5"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815D153C-CC45-A31A-92D8-0E38BC7EBD65}"/>
              </a:ext>
            </a:extLst>
          </p:cNvPr>
          <p:cNvCxnSpPr>
            <a:cxnSpLocks/>
          </p:cNvCxnSpPr>
          <p:nvPr/>
        </p:nvCxnSpPr>
        <p:spPr>
          <a:xfrm>
            <a:off x="1191446" y="5063613"/>
            <a:ext cx="0" cy="152969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DD5EC5BE-050F-DCA0-AEC5-06231E427C01}"/>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cxnSp>
        <p:nvCxnSpPr>
          <p:cNvPr id="6" name="Straight Connector 5">
            <a:extLst>
              <a:ext uri="{FF2B5EF4-FFF2-40B4-BE49-F238E27FC236}">
                <a16:creationId xmlns:a16="http://schemas.microsoft.com/office/drawing/2014/main" id="{3ECED87D-692B-8E3C-2724-23A7A765CA00}"/>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5558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par>
                          <p:cTn id="14" fill="hold">
                            <p:stCondLst>
                              <p:cond delay="1000"/>
                            </p:stCondLst>
                            <p:childTnLst>
                              <p:par>
                                <p:cTn id="15" presetID="1" presetClass="entr" presetSubtype="0"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up)">
                                      <p:cBhvr>
                                        <p:cTn id="20" dur="500"/>
                                        <p:tgtEl>
                                          <p:spTgt spid="6"/>
                                        </p:tgtEl>
                                      </p:cBhvr>
                                    </p:animEffect>
                                  </p:childTnLst>
                                </p:cTn>
                              </p:par>
                            </p:childTnLst>
                          </p:cTn>
                        </p:par>
                        <p:par>
                          <p:cTn id="21" fill="hold">
                            <p:stCondLst>
                              <p:cond delay="1500"/>
                            </p:stCondLst>
                            <p:childTnLst>
                              <p:par>
                                <p:cTn id="22" presetID="22" presetClass="entr" presetSubtype="1"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up)">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F9D64455-1130-E48A-EF19-AD1057E717B2}"/>
              </a:ext>
            </a:extLst>
          </p:cNvPr>
          <p:cNvSpPr txBox="1">
            <a:spLocks/>
          </p:cNvSpPr>
          <p:nvPr/>
        </p:nvSpPr>
        <p:spPr>
          <a:xfrm>
            <a:off x="1580148" y="611118"/>
            <a:ext cx="3866148" cy="75272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b="1" dirty="0">
                <a:gradFill flip="none" rotWithShape="1">
                  <a:gsLst>
                    <a:gs pos="0">
                      <a:srgbClr val="1D3064"/>
                    </a:gs>
                    <a:gs pos="100000">
                      <a:schemeClr val="tx2"/>
                    </a:gs>
                  </a:gsLst>
                  <a:lin ang="0" scaled="1"/>
                  <a:tileRect/>
                </a:gradFill>
                <a:latin typeface="+mn-lt"/>
                <a:ea typeface="+mn-ea"/>
                <a:cs typeface="+mn-cs"/>
              </a:rPr>
              <a:t>Outline</a:t>
            </a:r>
          </a:p>
        </p:txBody>
      </p:sp>
      <p:sp>
        <p:nvSpPr>
          <p:cNvPr id="9" name="TextBox 8">
            <a:extLst>
              <a:ext uri="{FF2B5EF4-FFF2-40B4-BE49-F238E27FC236}">
                <a16:creationId xmlns:a16="http://schemas.microsoft.com/office/drawing/2014/main" id="{FC739217-ACBC-B3D4-6E9A-343854C103C0}"/>
              </a:ext>
            </a:extLst>
          </p:cNvPr>
          <p:cNvSpPr txBox="1"/>
          <p:nvPr/>
        </p:nvSpPr>
        <p:spPr>
          <a:xfrm>
            <a:off x="1580148" y="1390324"/>
            <a:ext cx="9683781" cy="3142720"/>
          </a:xfrm>
          <a:prstGeom prst="rect">
            <a:avLst/>
          </a:prstGeom>
          <a:noFill/>
        </p:spPr>
        <p:txBody>
          <a:bodyPr wrap="square">
            <a:spAutoFit/>
          </a:bodyPr>
          <a:lstStyle/>
          <a:p>
            <a:pPr marL="265113" indent="-265113" algn="just">
              <a:lnSpc>
                <a:spcPct val="90000"/>
              </a:lnSpc>
              <a:spcBef>
                <a:spcPts val="1000"/>
              </a:spcBef>
              <a:buClr>
                <a:srgbClr val="1D6199"/>
              </a:buClr>
              <a:buFont typeface="Wingdings 3" panose="05040102010807070707" pitchFamily="18" charset="2"/>
              <a:buChar char=""/>
              <a:defRPr/>
            </a:pPr>
            <a:r>
              <a:rPr lang="en-US" sz="2400" dirty="0"/>
              <a:t>Naming</a:t>
            </a:r>
          </a:p>
          <a:p>
            <a:pPr marL="809625" lvl="1" indent="-352425" algn="just">
              <a:lnSpc>
                <a:spcPct val="114000"/>
              </a:lnSpc>
              <a:spcBef>
                <a:spcPts val="1000"/>
              </a:spcBef>
              <a:buClr>
                <a:srgbClr val="1D6199"/>
              </a:buClr>
              <a:buFont typeface="Wingdings 3" panose="05040102010807070707" pitchFamily="18" charset="2"/>
              <a:buChar char=""/>
            </a:pPr>
            <a:r>
              <a:rPr lang="en-IN" sz="2400" dirty="0"/>
              <a:t>Features of Good naming </a:t>
            </a:r>
          </a:p>
          <a:p>
            <a:pPr marL="809625" lvl="1" indent="-352425" algn="just">
              <a:lnSpc>
                <a:spcPct val="114000"/>
              </a:lnSpc>
              <a:spcBef>
                <a:spcPts val="1000"/>
              </a:spcBef>
              <a:buClr>
                <a:srgbClr val="1D6199"/>
              </a:buClr>
              <a:buFont typeface="Wingdings 3" panose="05040102010807070707" pitchFamily="18" charset="2"/>
              <a:buChar char=""/>
            </a:pPr>
            <a:r>
              <a:rPr lang="en-IN" sz="2400" dirty="0"/>
              <a:t>Fundamental technologies</a:t>
            </a:r>
            <a:r>
              <a:rPr lang="en-US" sz="2400" dirty="0"/>
              <a:t> and concepts</a:t>
            </a:r>
          </a:p>
          <a:p>
            <a:pPr marL="809625" lvl="1" indent="-352425" algn="just">
              <a:lnSpc>
                <a:spcPct val="114000"/>
              </a:lnSpc>
              <a:spcBef>
                <a:spcPts val="1000"/>
              </a:spcBef>
              <a:buClr>
                <a:srgbClr val="1D6199"/>
              </a:buClr>
              <a:buFont typeface="Wingdings 3" panose="05040102010807070707" pitchFamily="18" charset="2"/>
              <a:buChar char=""/>
            </a:pPr>
            <a:r>
              <a:rPr lang="en-US" sz="2400" dirty="0"/>
              <a:t>System oriented names</a:t>
            </a:r>
          </a:p>
          <a:p>
            <a:pPr marL="809625" lvl="1" indent="-352425" algn="just">
              <a:lnSpc>
                <a:spcPct val="114000"/>
              </a:lnSpc>
              <a:spcBef>
                <a:spcPts val="1000"/>
              </a:spcBef>
              <a:buClr>
                <a:srgbClr val="1D6199"/>
              </a:buClr>
              <a:buFont typeface="Wingdings 3" panose="05040102010807070707" pitchFamily="18" charset="2"/>
              <a:buChar char=""/>
            </a:pPr>
            <a:r>
              <a:rPr lang="en-US" sz="2400" dirty="0"/>
              <a:t>Object locating mechanism</a:t>
            </a:r>
          </a:p>
          <a:p>
            <a:pPr marL="809625" lvl="1" indent="-352425" algn="just">
              <a:lnSpc>
                <a:spcPct val="114000"/>
              </a:lnSpc>
              <a:spcBef>
                <a:spcPts val="1000"/>
              </a:spcBef>
              <a:buClr>
                <a:srgbClr val="1D6199"/>
              </a:buClr>
              <a:buFont typeface="Wingdings 3" panose="05040102010807070707" pitchFamily="18" charset="2"/>
              <a:buChar char=""/>
            </a:pPr>
            <a:r>
              <a:rPr lang="en-US" sz="2400" dirty="0"/>
              <a:t>Human oriented names</a:t>
            </a:r>
            <a:endParaRPr lang="en-IN" sz="2400" dirty="0"/>
          </a:p>
        </p:txBody>
      </p:sp>
      <p:cxnSp>
        <p:nvCxnSpPr>
          <p:cNvPr id="3" name="Straight Connector 2">
            <a:extLst>
              <a:ext uri="{FF2B5EF4-FFF2-40B4-BE49-F238E27FC236}">
                <a16:creationId xmlns:a16="http://schemas.microsoft.com/office/drawing/2014/main" id="{70672FFB-2681-D443-7C8B-0F297A901B61}"/>
              </a:ext>
            </a:extLst>
          </p:cNvPr>
          <p:cNvCxnSpPr>
            <a:cxnSpLocks/>
            <a:endCxn id="5"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815D153C-CC45-A31A-92D8-0E38BC7EBD65}"/>
              </a:ext>
            </a:extLst>
          </p:cNvPr>
          <p:cNvCxnSpPr>
            <a:cxnSpLocks/>
          </p:cNvCxnSpPr>
          <p:nvPr/>
        </p:nvCxnSpPr>
        <p:spPr>
          <a:xfrm>
            <a:off x="1191446" y="5063613"/>
            <a:ext cx="0" cy="152969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DD5EC5BE-050F-DCA0-AEC5-06231E427C01}"/>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cxnSp>
        <p:nvCxnSpPr>
          <p:cNvPr id="6" name="Straight Connector 5">
            <a:extLst>
              <a:ext uri="{FF2B5EF4-FFF2-40B4-BE49-F238E27FC236}">
                <a16:creationId xmlns:a16="http://schemas.microsoft.com/office/drawing/2014/main" id="{3ECED87D-692B-8E3C-2724-23A7A765CA00}"/>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5152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par>
                          <p:cTn id="14" fill="hold">
                            <p:stCondLst>
                              <p:cond delay="1000"/>
                            </p:stCondLst>
                            <p:childTnLst>
                              <p:par>
                                <p:cTn id="15" presetID="1" presetClass="entr" presetSubtype="0"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up)">
                                      <p:cBhvr>
                                        <p:cTn id="20" dur="500"/>
                                        <p:tgtEl>
                                          <p:spTgt spid="6"/>
                                        </p:tgtEl>
                                      </p:cBhvr>
                                    </p:animEffect>
                                  </p:childTnLst>
                                </p:cTn>
                              </p:par>
                            </p:childTnLst>
                          </p:cTn>
                        </p:par>
                        <p:par>
                          <p:cTn id="21" fill="hold">
                            <p:stCondLst>
                              <p:cond delay="1500"/>
                            </p:stCondLst>
                            <p:childTnLst>
                              <p:par>
                                <p:cTn id="22" presetID="22" presetClass="entr" presetSubtype="1"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up)">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3DC79-8B12-49B2-D869-87FFD698F001}"/>
              </a:ext>
            </a:extLst>
          </p:cNvPr>
          <p:cNvSpPr>
            <a:spLocks noGrp="1"/>
          </p:cNvSpPr>
          <p:nvPr>
            <p:ph type="title"/>
          </p:nvPr>
        </p:nvSpPr>
        <p:spPr/>
        <p:txBody>
          <a:bodyPr>
            <a:normAutofit/>
          </a:bodyPr>
          <a:lstStyle/>
          <a:p>
            <a:pPr>
              <a:spcBef>
                <a:spcPts val="1000"/>
              </a:spcBef>
              <a:buClr>
                <a:srgbClr val="1D6199"/>
              </a:buClr>
              <a:defRPr/>
            </a:pPr>
            <a:r>
              <a:rPr lang="en-IN" dirty="0"/>
              <a:t>S</a:t>
            </a:r>
            <a:r>
              <a:rPr lang="en-IN" sz="6000" dirty="0"/>
              <a:t>ynchronization</a:t>
            </a:r>
            <a:endParaRPr lang="en-US" sz="6000" dirty="0"/>
          </a:p>
        </p:txBody>
      </p:sp>
      <p:sp>
        <p:nvSpPr>
          <p:cNvPr id="3" name="Text Placeholder 2">
            <a:extLst>
              <a:ext uri="{FF2B5EF4-FFF2-40B4-BE49-F238E27FC236}">
                <a16:creationId xmlns:a16="http://schemas.microsoft.com/office/drawing/2014/main" id="{7336A222-FE8E-8548-6B81-0F4C891F3E0A}"/>
              </a:ext>
            </a:extLst>
          </p:cNvPr>
          <p:cNvSpPr>
            <a:spLocks noGrp="1"/>
          </p:cNvSpPr>
          <p:nvPr>
            <p:ph type="body" idx="1"/>
          </p:nvPr>
        </p:nvSpPr>
        <p:spPr/>
        <p:txBody>
          <a:bodyPr/>
          <a:lstStyle/>
          <a:p>
            <a:r>
              <a:rPr lang="en-US" dirty="0"/>
              <a:t>Section - 1</a:t>
            </a:r>
            <a:endParaRPr lang="en-IN" dirty="0"/>
          </a:p>
        </p:txBody>
      </p:sp>
    </p:spTree>
    <p:extLst>
      <p:ext uri="{BB962C8B-B14F-4D97-AF65-F5344CB8AC3E}">
        <p14:creationId xmlns:p14="http://schemas.microsoft.com/office/powerpoint/2010/main" val="4203149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Synchronization</a:t>
            </a:r>
          </a:p>
        </p:txBody>
      </p:sp>
      <p:pic>
        <p:nvPicPr>
          <p:cNvPr id="3074" name="Picture 2" descr="https://miro.medium.com/max/700/0*s1z1pbGAuWptVh8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25" y="823913"/>
            <a:ext cx="9088438" cy="51025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7605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Need for Synchronization – An Example</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a:lnSpc>
                <a:spcPct val="100000"/>
              </a:lnSpc>
            </a:pPr>
            <a:r>
              <a:rPr lang="en-US" dirty="0"/>
              <a:t>Vehicle tracking in a City Surveillance System using a Distributed Sensor Network of Cameras</a:t>
            </a:r>
          </a:p>
          <a:p>
            <a:pPr lvl="2"/>
            <a:r>
              <a:rPr lang="en-US" sz="2400" dirty="0">
                <a:solidFill>
                  <a:srgbClr val="1D6199"/>
                </a:solidFill>
              </a:rPr>
              <a:t>Objective</a:t>
            </a:r>
            <a:r>
              <a:rPr lang="en-US" sz="2400" dirty="0"/>
              <a:t>: To keep track of suspicious vehicles</a:t>
            </a:r>
          </a:p>
          <a:p>
            <a:pPr lvl="2"/>
            <a:r>
              <a:rPr lang="en-US" sz="2400" dirty="0"/>
              <a:t>Camera Sensor Nodes are deployed over the city</a:t>
            </a:r>
          </a:p>
          <a:p>
            <a:pPr lvl="2"/>
            <a:r>
              <a:rPr lang="en-US" sz="2400" dirty="0"/>
              <a:t>Each Camera Sensor that detects a vehicle reports the time to a central server</a:t>
            </a:r>
          </a:p>
          <a:p>
            <a:pPr lvl="2"/>
            <a:r>
              <a:rPr lang="en-US" sz="2400" dirty="0"/>
              <a:t>Server tracks the movement of the suspicious vehicle</a:t>
            </a:r>
          </a:p>
        </p:txBody>
      </p:sp>
      <p:pic>
        <p:nvPicPr>
          <p:cNvPr id="30" name="Picture 8">
            <a:extLst>
              <a:ext uri="{FF2B5EF4-FFF2-40B4-BE49-F238E27FC236}">
                <a16:creationId xmlns:a16="http://schemas.microsoft.com/office/drawing/2014/main" id="{C3B285FA-A157-4667-B3CB-70F51CB7DA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1700" y="3321870"/>
            <a:ext cx="6019800" cy="313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13" descr="C:\Users\vkolar\AppData\Local\Microsoft\Windows\Temporary Internet Files\Content.IE5\VTHTR7LA\MC900322649[1].wmf">
            <a:extLst>
              <a:ext uri="{FF2B5EF4-FFF2-40B4-BE49-F238E27FC236}">
                <a16:creationId xmlns:a16="http://schemas.microsoft.com/office/drawing/2014/main" id="{0B6ACDFF-141A-47BC-89DA-F5E9A24192D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00700" y="3817170"/>
            <a:ext cx="41910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Picture 13" descr="C:\Users\vkolar\AppData\Local\Microsoft\Windows\Temporary Internet Files\Content.IE5\VTHTR7LA\MC900322649[1].wmf">
            <a:extLst>
              <a:ext uri="{FF2B5EF4-FFF2-40B4-BE49-F238E27FC236}">
                <a16:creationId xmlns:a16="http://schemas.microsoft.com/office/drawing/2014/main" id="{348E1560-3487-4C84-BABA-D3F328BD847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9800" y="3475858"/>
            <a:ext cx="417512"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13" descr="C:\Users\vkolar\AppData\Local\Microsoft\Windows\Temporary Internet Files\Content.IE5\VTHTR7LA\MC900322649[1].wmf">
            <a:extLst>
              <a:ext uri="{FF2B5EF4-FFF2-40B4-BE49-F238E27FC236}">
                <a16:creationId xmlns:a16="http://schemas.microsoft.com/office/drawing/2014/main" id="{53D562FA-CCFB-40EB-B17A-9623AC8EE8E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34275" y="4193408"/>
            <a:ext cx="417512"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13" descr="C:\Users\vkolar\AppData\Local\Microsoft\Windows\Temporary Internet Files\Content.IE5\VTHTR7LA\MC900322649[1].wmf">
            <a:extLst>
              <a:ext uri="{FF2B5EF4-FFF2-40B4-BE49-F238E27FC236}">
                <a16:creationId xmlns:a16="http://schemas.microsoft.com/office/drawing/2014/main" id="{7C6352DE-E778-4506-8E0F-3F8C1C48D58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05887" y="4888733"/>
            <a:ext cx="41910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13" descr="C:\Users\vkolar\AppData\Local\Microsoft\Windows\Temporary Internet Files\Content.IE5\VTHTR7LA\MC900322649[1].wmf">
            <a:extLst>
              <a:ext uri="{FF2B5EF4-FFF2-40B4-BE49-F238E27FC236}">
                <a16:creationId xmlns:a16="http://schemas.microsoft.com/office/drawing/2014/main" id="{54A393B5-2DB2-45F4-810F-7E9E0C57E9D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96063" y="4414070"/>
            <a:ext cx="417513"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13" descr="C:\Users\vkolar\AppData\Local\Microsoft\Windows\Temporary Internet Files\Content.IE5\VTHTR7LA\MC900322649[1].wmf">
            <a:extLst>
              <a:ext uri="{FF2B5EF4-FFF2-40B4-BE49-F238E27FC236}">
                <a16:creationId xmlns:a16="http://schemas.microsoft.com/office/drawing/2014/main" id="{9D9FA9BA-E71D-4639-9F56-174E71F987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69112" y="4964933"/>
            <a:ext cx="41910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13" descr="C:\Users\vkolar\AppData\Local\Microsoft\Windows\Temporary Internet Files\Content.IE5\VTHTR7LA\MC900322649[1].wmf">
            <a:extLst>
              <a:ext uri="{FF2B5EF4-FFF2-40B4-BE49-F238E27FC236}">
                <a16:creationId xmlns:a16="http://schemas.microsoft.com/office/drawing/2014/main" id="{66DB0B7A-3B08-4F36-8836-B9E8E638EB8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00700" y="4964933"/>
            <a:ext cx="41910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9" descr="C:\Program Files\Microsoft Office\MEDIA\CAGCAT10\j0212957.wmf">
            <a:extLst>
              <a:ext uri="{FF2B5EF4-FFF2-40B4-BE49-F238E27FC236}">
                <a16:creationId xmlns:a16="http://schemas.microsoft.com/office/drawing/2014/main" id="{FA9E7A96-25D6-40DE-8CD8-375FC382A22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96288" y="5091933"/>
            <a:ext cx="84931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Rounded Rectangular Callout 38">
            <a:extLst>
              <a:ext uri="{FF2B5EF4-FFF2-40B4-BE49-F238E27FC236}">
                <a16:creationId xmlns:a16="http://schemas.microsoft.com/office/drawing/2014/main" id="{7F7784A3-56FC-474B-8D9B-7035F92D896F}"/>
              </a:ext>
            </a:extLst>
          </p:cNvPr>
          <p:cNvSpPr/>
          <p:nvPr/>
        </p:nvSpPr>
        <p:spPr>
          <a:xfrm>
            <a:off x="8583613" y="4125146"/>
            <a:ext cx="993775" cy="288925"/>
          </a:xfrm>
          <a:prstGeom prst="wedgeRoundRectCallout">
            <a:avLst>
              <a:gd name="adj1" fmla="val 16334"/>
              <a:gd name="adj2" fmla="val 198399"/>
              <a:gd name="adj3" fmla="val 16667"/>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100" b="1" dirty="0"/>
              <a:t>1:00 PM: </a:t>
            </a:r>
          </a:p>
          <a:p>
            <a:pPr algn="ctr" eaLnBrk="1" hangingPunct="1">
              <a:defRPr/>
            </a:pPr>
            <a:r>
              <a:rPr lang="en-US" sz="1100" b="1" dirty="0"/>
              <a:t>Car spotted</a:t>
            </a:r>
          </a:p>
        </p:txBody>
      </p:sp>
      <p:sp>
        <p:nvSpPr>
          <p:cNvPr id="40" name="Rounded Rectangular Callout 39">
            <a:extLst>
              <a:ext uri="{FF2B5EF4-FFF2-40B4-BE49-F238E27FC236}">
                <a16:creationId xmlns:a16="http://schemas.microsoft.com/office/drawing/2014/main" id="{6310B3AC-4D87-4546-9234-C863EEE83CB9}"/>
              </a:ext>
            </a:extLst>
          </p:cNvPr>
          <p:cNvSpPr/>
          <p:nvPr/>
        </p:nvSpPr>
        <p:spPr>
          <a:xfrm>
            <a:off x="7178676" y="3458396"/>
            <a:ext cx="993775" cy="290513"/>
          </a:xfrm>
          <a:prstGeom prst="wedgeRoundRectCallout">
            <a:avLst>
              <a:gd name="adj1" fmla="val 16334"/>
              <a:gd name="adj2" fmla="val 198399"/>
              <a:gd name="adj3" fmla="val 16667"/>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100" b="1" dirty="0"/>
              <a:t>1:05 PM: </a:t>
            </a:r>
          </a:p>
          <a:p>
            <a:pPr algn="ctr" eaLnBrk="1" hangingPunct="1">
              <a:defRPr/>
            </a:pPr>
            <a:r>
              <a:rPr lang="en-US" sz="1100" b="1" dirty="0"/>
              <a:t>Car spotted</a:t>
            </a:r>
          </a:p>
        </p:txBody>
      </p:sp>
      <p:sp>
        <p:nvSpPr>
          <p:cNvPr id="41" name="Rounded Rectangular Callout 40">
            <a:extLst>
              <a:ext uri="{FF2B5EF4-FFF2-40B4-BE49-F238E27FC236}">
                <a16:creationId xmlns:a16="http://schemas.microsoft.com/office/drawing/2014/main" id="{B8E7D379-9356-40F5-A551-61F267B05914}"/>
              </a:ext>
            </a:extLst>
          </p:cNvPr>
          <p:cNvSpPr/>
          <p:nvPr/>
        </p:nvSpPr>
        <p:spPr>
          <a:xfrm>
            <a:off x="6372226" y="3110733"/>
            <a:ext cx="993775" cy="290512"/>
          </a:xfrm>
          <a:prstGeom prst="wedgeRoundRectCallout">
            <a:avLst>
              <a:gd name="adj1" fmla="val -41975"/>
              <a:gd name="adj2" fmla="val 126697"/>
              <a:gd name="adj3" fmla="val 16667"/>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100" b="1" dirty="0"/>
              <a:t>1:08 PM: </a:t>
            </a:r>
          </a:p>
          <a:p>
            <a:pPr algn="ctr" eaLnBrk="1" hangingPunct="1">
              <a:defRPr/>
            </a:pPr>
            <a:r>
              <a:rPr lang="en-US" sz="1100" b="1" dirty="0"/>
              <a:t>Car spotted</a:t>
            </a:r>
          </a:p>
        </p:txBody>
      </p:sp>
      <p:sp>
        <p:nvSpPr>
          <p:cNvPr id="42" name="Rounded Rectangular Callout 41">
            <a:extLst>
              <a:ext uri="{FF2B5EF4-FFF2-40B4-BE49-F238E27FC236}">
                <a16:creationId xmlns:a16="http://schemas.microsoft.com/office/drawing/2014/main" id="{E8FB5940-67EB-4252-AE43-1AFA215A511F}"/>
              </a:ext>
            </a:extLst>
          </p:cNvPr>
          <p:cNvSpPr/>
          <p:nvPr/>
        </p:nvSpPr>
        <p:spPr>
          <a:xfrm>
            <a:off x="6184901" y="3979096"/>
            <a:ext cx="993775" cy="290513"/>
          </a:xfrm>
          <a:prstGeom prst="wedgeRoundRectCallout">
            <a:avLst>
              <a:gd name="adj1" fmla="val -73890"/>
              <a:gd name="adj2" fmla="val -45153"/>
              <a:gd name="adj3" fmla="val 16667"/>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100" b="1" dirty="0"/>
              <a:t>1:15 PM: </a:t>
            </a:r>
          </a:p>
          <a:p>
            <a:pPr algn="ctr" eaLnBrk="1" hangingPunct="1">
              <a:defRPr/>
            </a:pPr>
            <a:r>
              <a:rPr lang="en-US" sz="1100" b="1" dirty="0"/>
              <a:t>Car spotted</a:t>
            </a:r>
          </a:p>
        </p:txBody>
      </p:sp>
      <p:sp>
        <p:nvSpPr>
          <p:cNvPr id="43" name="Rounded Rectangular Callout 42">
            <a:extLst>
              <a:ext uri="{FF2B5EF4-FFF2-40B4-BE49-F238E27FC236}">
                <a16:creationId xmlns:a16="http://schemas.microsoft.com/office/drawing/2014/main" id="{9D758AA2-29C7-40AB-83C8-7514C93EF437}"/>
              </a:ext>
            </a:extLst>
          </p:cNvPr>
          <p:cNvSpPr/>
          <p:nvPr/>
        </p:nvSpPr>
        <p:spPr>
          <a:xfrm>
            <a:off x="6184901" y="5071296"/>
            <a:ext cx="993775" cy="288925"/>
          </a:xfrm>
          <a:prstGeom prst="wedgeRoundRectCallout">
            <a:avLst>
              <a:gd name="adj1" fmla="val -73890"/>
              <a:gd name="adj2" fmla="val -45153"/>
              <a:gd name="adj3" fmla="val 16667"/>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100" b="1" dirty="0"/>
              <a:t>1:17 PM: </a:t>
            </a:r>
          </a:p>
          <a:p>
            <a:pPr algn="ctr" eaLnBrk="1" hangingPunct="1">
              <a:defRPr/>
            </a:pPr>
            <a:r>
              <a:rPr lang="en-US" sz="1100" b="1" dirty="0"/>
              <a:t>Car spotted</a:t>
            </a:r>
          </a:p>
        </p:txBody>
      </p:sp>
      <p:cxnSp>
        <p:nvCxnSpPr>
          <p:cNvPr id="44" name="Straight Arrow Connector 43">
            <a:extLst>
              <a:ext uri="{FF2B5EF4-FFF2-40B4-BE49-F238E27FC236}">
                <a16:creationId xmlns:a16="http://schemas.microsoft.com/office/drawing/2014/main" id="{170E1F53-BEC4-4027-A70E-E05FFE553B57}"/>
              </a:ext>
            </a:extLst>
          </p:cNvPr>
          <p:cNvCxnSpPr/>
          <p:nvPr/>
        </p:nvCxnSpPr>
        <p:spPr>
          <a:xfrm flipH="1">
            <a:off x="3956051" y="5025258"/>
            <a:ext cx="5049837" cy="798512"/>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0D9C518E-17F0-446E-B7BB-8E54CAA8E4A0}"/>
              </a:ext>
            </a:extLst>
          </p:cNvPr>
          <p:cNvCxnSpPr/>
          <p:nvPr/>
        </p:nvCxnSpPr>
        <p:spPr>
          <a:xfrm flipH="1">
            <a:off x="3956050" y="3817170"/>
            <a:ext cx="3719512" cy="20066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14027BF2-C000-4E4D-9A80-A54A7C9506B5}"/>
              </a:ext>
            </a:extLst>
          </p:cNvPr>
          <p:cNvCxnSpPr/>
          <p:nvPr/>
        </p:nvCxnSpPr>
        <p:spPr>
          <a:xfrm flipH="1">
            <a:off x="3956050" y="3256784"/>
            <a:ext cx="2386012" cy="25669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0E1CF2B-7788-450A-99D7-3C381397A1DB}"/>
              </a:ext>
            </a:extLst>
          </p:cNvPr>
          <p:cNvCxnSpPr/>
          <p:nvPr/>
        </p:nvCxnSpPr>
        <p:spPr>
          <a:xfrm flipH="1">
            <a:off x="3956050" y="4090220"/>
            <a:ext cx="1854200" cy="173355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77EBB7AC-AA30-4EF5-A51A-7F1710D89CDE}"/>
              </a:ext>
            </a:extLst>
          </p:cNvPr>
          <p:cNvCxnSpPr/>
          <p:nvPr/>
        </p:nvCxnSpPr>
        <p:spPr>
          <a:xfrm flipH="1">
            <a:off x="3956050" y="5237984"/>
            <a:ext cx="1771650" cy="58578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9" name="Rounded Rectangular Callout 48">
            <a:extLst>
              <a:ext uri="{FF2B5EF4-FFF2-40B4-BE49-F238E27FC236}">
                <a16:creationId xmlns:a16="http://schemas.microsoft.com/office/drawing/2014/main" id="{BDD107A8-34B0-4D35-A306-5FEC09866166}"/>
              </a:ext>
            </a:extLst>
          </p:cNvPr>
          <p:cNvSpPr/>
          <p:nvPr/>
        </p:nvSpPr>
        <p:spPr>
          <a:xfrm>
            <a:off x="8583613" y="4109271"/>
            <a:ext cx="993775" cy="290513"/>
          </a:xfrm>
          <a:prstGeom prst="wedgeRoundRectCallout">
            <a:avLst>
              <a:gd name="adj1" fmla="val 16334"/>
              <a:gd name="adj2" fmla="val 198399"/>
              <a:gd name="adj3" fmla="val 16667"/>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100" b="1" dirty="0"/>
              <a:t>3:00 PM: </a:t>
            </a:r>
          </a:p>
          <a:p>
            <a:pPr algn="ctr" eaLnBrk="1" hangingPunct="1">
              <a:defRPr/>
            </a:pPr>
            <a:r>
              <a:rPr lang="en-US" sz="1100" b="1" dirty="0"/>
              <a:t>Car spotted</a:t>
            </a:r>
          </a:p>
        </p:txBody>
      </p:sp>
      <p:sp>
        <p:nvSpPr>
          <p:cNvPr id="50" name="Rounded Rectangular Callout 49">
            <a:extLst>
              <a:ext uri="{FF2B5EF4-FFF2-40B4-BE49-F238E27FC236}">
                <a16:creationId xmlns:a16="http://schemas.microsoft.com/office/drawing/2014/main" id="{C0801279-91D0-4AD5-A774-32E6603A9D51}"/>
              </a:ext>
            </a:extLst>
          </p:cNvPr>
          <p:cNvSpPr/>
          <p:nvPr/>
        </p:nvSpPr>
        <p:spPr>
          <a:xfrm>
            <a:off x="7175501" y="3472683"/>
            <a:ext cx="993775" cy="290512"/>
          </a:xfrm>
          <a:prstGeom prst="wedgeRoundRectCallout">
            <a:avLst>
              <a:gd name="adj1" fmla="val 16334"/>
              <a:gd name="adj2" fmla="val 198399"/>
              <a:gd name="adj3" fmla="val 16667"/>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100" b="1" dirty="0"/>
              <a:t>1:16 PM: </a:t>
            </a:r>
          </a:p>
          <a:p>
            <a:pPr algn="ctr" eaLnBrk="1" hangingPunct="1">
              <a:defRPr/>
            </a:pPr>
            <a:r>
              <a:rPr lang="en-US" sz="1100" b="1" dirty="0"/>
              <a:t>Car spotted</a:t>
            </a:r>
          </a:p>
        </p:txBody>
      </p:sp>
      <p:sp>
        <p:nvSpPr>
          <p:cNvPr id="51" name="Rounded Rectangular Callout 50">
            <a:extLst>
              <a:ext uri="{FF2B5EF4-FFF2-40B4-BE49-F238E27FC236}">
                <a16:creationId xmlns:a16="http://schemas.microsoft.com/office/drawing/2014/main" id="{B951C2D8-6073-42AC-ACCB-D1B4C4D2CA7F}"/>
              </a:ext>
            </a:extLst>
          </p:cNvPr>
          <p:cNvSpPr/>
          <p:nvPr/>
        </p:nvSpPr>
        <p:spPr>
          <a:xfrm>
            <a:off x="6372226" y="3109145"/>
            <a:ext cx="993775" cy="292100"/>
          </a:xfrm>
          <a:prstGeom prst="wedgeRoundRectCallout">
            <a:avLst>
              <a:gd name="adj1" fmla="val -41975"/>
              <a:gd name="adj2" fmla="val 148512"/>
              <a:gd name="adj3" fmla="val 16667"/>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100" b="1" dirty="0"/>
              <a:t>1:12 PM: </a:t>
            </a:r>
          </a:p>
          <a:p>
            <a:pPr algn="ctr" eaLnBrk="1" hangingPunct="1">
              <a:defRPr/>
            </a:pPr>
            <a:r>
              <a:rPr lang="en-US" sz="1100" b="1" dirty="0"/>
              <a:t>Car spotted</a:t>
            </a:r>
          </a:p>
        </p:txBody>
      </p:sp>
      <p:sp>
        <p:nvSpPr>
          <p:cNvPr id="52" name="Rounded Rectangular Callout 51">
            <a:extLst>
              <a:ext uri="{FF2B5EF4-FFF2-40B4-BE49-F238E27FC236}">
                <a16:creationId xmlns:a16="http://schemas.microsoft.com/office/drawing/2014/main" id="{33FA9E5F-6FDD-4A64-9814-6DB700589B4D}"/>
              </a:ext>
            </a:extLst>
          </p:cNvPr>
          <p:cNvSpPr/>
          <p:nvPr/>
        </p:nvSpPr>
        <p:spPr>
          <a:xfrm>
            <a:off x="6202362" y="3979096"/>
            <a:ext cx="992188" cy="288925"/>
          </a:xfrm>
          <a:prstGeom prst="wedgeRoundRectCallout">
            <a:avLst>
              <a:gd name="adj1" fmla="val -73890"/>
              <a:gd name="adj2" fmla="val -45153"/>
              <a:gd name="adj3" fmla="val 16667"/>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100" b="1" dirty="0"/>
              <a:t>1:25 PM: </a:t>
            </a:r>
          </a:p>
          <a:p>
            <a:pPr algn="ctr" eaLnBrk="1" hangingPunct="1">
              <a:defRPr/>
            </a:pPr>
            <a:r>
              <a:rPr lang="en-US" sz="1100" b="1" dirty="0"/>
              <a:t>Car spotted</a:t>
            </a:r>
          </a:p>
        </p:txBody>
      </p:sp>
      <p:sp>
        <p:nvSpPr>
          <p:cNvPr id="53" name="Rounded Rectangular Callout 52">
            <a:extLst>
              <a:ext uri="{FF2B5EF4-FFF2-40B4-BE49-F238E27FC236}">
                <a16:creationId xmlns:a16="http://schemas.microsoft.com/office/drawing/2014/main" id="{ACFF5705-21F8-4550-AE92-0E17070E1537}"/>
              </a:ext>
            </a:extLst>
          </p:cNvPr>
          <p:cNvSpPr/>
          <p:nvPr/>
        </p:nvSpPr>
        <p:spPr>
          <a:xfrm>
            <a:off x="6173787" y="5076058"/>
            <a:ext cx="992188" cy="290512"/>
          </a:xfrm>
          <a:prstGeom prst="wedgeRoundRectCallout">
            <a:avLst>
              <a:gd name="adj1" fmla="val -73890"/>
              <a:gd name="adj2" fmla="val -45153"/>
              <a:gd name="adj3" fmla="val 16667"/>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100" b="1" dirty="0"/>
              <a:t>1:18 PM: </a:t>
            </a:r>
          </a:p>
          <a:p>
            <a:pPr algn="ctr" eaLnBrk="1" hangingPunct="1">
              <a:defRPr/>
            </a:pPr>
            <a:r>
              <a:rPr lang="en-US" sz="1100" b="1" dirty="0"/>
              <a:t>Car spotted</a:t>
            </a:r>
          </a:p>
        </p:txBody>
      </p:sp>
      <p:sp>
        <p:nvSpPr>
          <p:cNvPr id="54" name="Rectangle 53">
            <a:extLst>
              <a:ext uri="{FF2B5EF4-FFF2-40B4-BE49-F238E27FC236}">
                <a16:creationId xmlns:a16="http://schemas.microsoft.com/office/drawing/2014/main" id="{EC7CB287-7348-4DF9-9CC9-F97F01C44DAA}"/>
              </a:ext>
            </a:extLst>
          </p:cNvPr>
          <p:cNvSpPr/>
          <p:nvPr/>
        </p:nvSpPr>
        <p:spPr>
          <a:xfrm>
            <a:off x="217487" y="3735746"/>
            <a:ext cx="3124201" cy="1563688"/>
          </a:xfrm>
          <a:prstGeom prst="rect">
            <a:avLst/>
          </a:prstGeom>
          <a:solidFill>
            <a:srgbClr val="1D3064"/>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rPr>
              <a:t>If the sensor nodes do not have a consistent version of the time, the vehicle cannot be reliably tracked</a:t>
            </a:r>
          </a:p>
        </p:txBody>
      </p:sp>
      <p:pic>
        <p:nvPicPr>
          <p:cNvPr id="55" name="Picture 30" descr="C:\Users\vkolar\AppData\Local\Microsoft\Windows\Temporary Internet Files\Content.IE5\E2H73JIM\MC900431576[1].png">
            <a:extLst>
              <a:ext uri="{FF2B5EF4-FFF2-40B4-BE49-F238E27FC236}">
                <a16:creationId xmlns:a16="http://schemas.microsoft.com/office/drawing/2014/main" id="{FE5AE9DF-5138-4CD1-B05E-ED31D725D1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4187" y="5441184"/>
            <a:ext cx="1004888"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30131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42" presetClass="path" presetSubtype="0" accel="50000" decel="50000" fill="hold" nodeType="clickEffect">
                                  <p:stCondLst>
                                    <p:cond delay="0"/>
                                  </p:stCondLst>
                                  <p:childTnLst>
                                    <p:animMotion origin="layout" path="M 0.07526 -1.48148E-6 L -0.28789 -0.25069 " pathEditMode="relative" rAng="0" ptsTypes="AA">
                                      <p:cBhvr>
                                        <p:cTn id="50" dur="3000" fill="hold"/>
                                        <p:tgtEl>
                                          <p:spTgt spid="38"/>
                                        </p:tgtEl>
                                        <p:attrNameLst>
                                          <p:attrName>ppt_x</p:attrName>
                                          <p:attrName>ppt_y</p:attrName>
                                        </p:attrNameLst>
                                      </p:cBhvr>
                                      <p:rCtr x="-18164" y="-12546"/>
                                    </p:animMotion>
                                  </p:childTnLst>
                                </p:cTn>
                              </p:par>
                            </p:childTnLst>
                          </p:cTn>
                        </p:par>
                        <p:par>
                          <p:cTn id="51" fill="hold">
                            <p:stCondLst>
                              <p:cond delay="3000"/>
                            </p:stCondLst>
                            <p:childTnLst>
                              <p:par>
                                <p:cTn id="52" presetID="42" presetClass="path" presetSubtype="0" accel="50000" decel="50000" fill="hold" nodeType="afterEffect">
                                  <p:stCondLst>
                                    <p:cond delay="0"/>
                                  </p:stCondLst>
                                  <p:childTnLst>
                                    <p:animMotion origin="layout" path="M -0.28789 -0.25069 L -0.27123 0.04908 " pathEditMode="relative" rAng="0" ptsTypes="AA">
                                      <p:cBhvr>
                                        <p:cTn id="53" dur="3000" fill="hold"/>
                                        <p:tgtEl>
                                          <p:spTgt spid="38"/>
                                        </p:tgtEl>
                                        <p:attrNameLst>
                                          <p:attrName>ppt_x</p:attrName>
                                          <p:attrName>ppt_y</p:attrName>
                                        </p:attrNameLst>
                                      </p:cBhvr>
                                      <p:rCtr x="833" y="14977"/>
                                    </p:animMotion>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39"/>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40"/>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41"/>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42"/>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43"/>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46"/>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47"/>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45"/>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44"/>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48"/>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49"/>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50"/>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51"/>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52"/>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53"/>
                                        </p:tgtEl>
                                        <p:attrNameLst>
                                          <p:attrName>style.visibility</p:attrName>
                                        </p:attrNameLst>
                                      </p:cBhvr>
                                      <p:to>
                                        <p:strVal val="visible"/>
                                      </p:to>
                                    </p:set>
                                  </p:childTnLst>
                                </p:cTn>
                              </p:par>
                              <p:par>
                                <p:cTn id="88" presetID="1" presetClass="exit" presetSubtype="0" fill="hold" nodeType="withEffect">
                                  <p:stCondLst>
                                    <p:cond delay="0"/>
                                  </p:stCondLst>
                                  <p:childTnLst>
                                    <p:set>
                                      <p:cBhvr>
                                        <p:cTn id="89" dur="1" fill="hold">
                                          <p:stCondLst>
                                            <p:cond delay="0"/>
                                          </p:stCondLst>
                                        </p:cTn>
                                        <p:tgtEl>
                                          <p:spTgt spid="46"/>
                                        </p:tgtEl>
                                        <p:attrNameLst>
                                          <p:attrName>style.visibility</p:attrName>
                                        </p:attrNameLst>
                                      </p:cBhvr>
                                      <p:to>
                                        <p:strVal val="hidden"/>
                                      </p:to>
                                    </p:set>
                                  </p:childTnLst>
                                </p:cTn>
                              </p:par>
                              <p:par>
                                <p:cTn id="90" presetID="1" presetClass="exit" presetSubtype="0" fill="hold" nodeType="withEffect">
                                  <p:stCondLst>
                                    <p:cond delay="0"/>
                                  </p:stCondLst>
                                  <p:childTnLst>
                                    <p:set>
                                      <p:cBhvr>
                                        <p:cTn id="91" dur="1" fill="hold">
                                          <p:stCondLst>
                                            <p:cond delay="0"/>
                                          </p:stCondLst>
                                        </p:cTn>
                                        <p:tgtEl>
                                          <p:spTgt spid="47"/>
                                        </p:tgtEl>
                                        <p:attrNameLst>
                                          <p:attrName>style.visibility</p:attrName>
                                        </p:attrNameLst>
                                      </p:cBhvr>
                                      <p:to>
                                        <p:strVal val="hidden"/>
                                      </p:to>
                                    </p:set>
                                  </p:childTnLst>
                                </p:cTn>
                              </p:par>
                              <p:par>
                                <p:cTn id="92" presetID="1" presetClass="exit" presetSubtype="0" fill="hold" nodeType="withEffect">
                                  <p:stCondLst>
                                    <p:cond delay="0"/>
                                  </p:stCondLst>
                                  <p:childTnLst>
                                    <p:set>
                                      <p:cBhvr>
                                        <p:cTn id="93" dur="1" fill="hold">
                                          <p:stCondLst>
                                            <p:cond delay="0"/>
                                          </p:stCondLst>
                                        </p:cTn>
                                        <p:tgtEl>
                                          <p:spTgt spid="45"/>
                                        </p:tgtEl>
                                        <p:attrNameLst>
                                          <p:attrName>style.visibility</p:attrName>
                                        </p:attrNameLst>
                                      </p:cBhvr>
                                      <p:to>
                                        <p:strVal val="hidden"/>
                                      </p:to>
                                    </p:set>
                                  </p:childTnLst>
                                </p:cTn>
                              </p:par>
                              <p:par>
                                <p:cTn id="94" presetID="1" presetClass="exit" presetSubtype="0" fill="hold" nodeType="withEffect">
                                  <p:stCondLst>
                                    <p:cond delay="0"/>
                                  </p:stCondLst>
                                  <p:childTnLst>
                                    <p:set>
                                      <p:cBhvr>
                                        <p:cTn id="95" dur="1" fill="hold">
                                          <p:stCondLst>
                                            <p:cond delay="0"/>
                                          </p:stCondLst>
                                        </p:cTn>
                                        <p:tgtEl>
                                          <p:spTgt spid="44"/>
                                        </p:tgtEl>
                                        <p:attrNameLst>
                                          <p:attrName>style.visibility</p:attrName>
                                        </p:attrNameLst>
                                      </p:cBhvr>
                                      <p:to>
                                        <p:strVal val="hidden"/>
                                      </p:to>
                                    </p:set>
                                  </p:childTnLst>
                                </p:cTn>
                              </p:par>
                              <p:par>
                                <p:cTn id="96" presetID="1" presetClass="exit" presetSubtype="0" fill="hold" nodeType="withEffect">
                                  <p:stCondLst>
                                    <p:cond delay="0"/>
                                  </p:stCondLst>
                                  <p:childTnLst>
                                    <p:set>
                                      <p:cBhvr>
                                        <p:cTn id="97" dur="1" fill="hold">
                                          <p:stCondLst>
                                            <p:cond delay="0"/>
                                          </p:stCondLst>
                                        </p:cTn>
                                        <p:tgtEl>
                                          <p:spTgt spid="48"/>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1" grpId="0" animBg="1"/>
      <p:bldP spid="42" grpId="0" animBg="1"/>
      <p:bldP spid="43" grpId="0" animBg="1"/>
      <p:bldP spid="49" grpId="0" animBg="1"/>
      <p:bldP spid="50" grpId="0" animBg="1"/>
      <p:bldP spid="51" grpId="0" animBg="1"/>
      <p:bldP spid="52" grpId="0" animBg="1"/>
      <p:bldP spid="53" grpId="0" animBg="1"/>
      <p:bldP spid="5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Need for Synchronization – An Example</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marL="0" indent="0">
              <a:lnSpc>
                <a:spcPct val="100000"/>
              </a:lnSpc>
              <a:buNone/>
            </a:pPr>
            <a:r>
              <a:rPr lang="en-US" b="1" dirty="0">
                <a:solidFill>
                  <a:srgbClr val="1D6199"/>
                </a:solidFill>
              </a:rPr>
              <a:t>Writing a file in a Distributed File System</a:t>
            </a:r>
          </a:p>
        </p:txBody>
      </p:sp>
      <p:grpSp>
        <p:nvGrpSpPr>
          <p:cNvPr id="56" name="Group 3">
            <a:extLst>
              <a:ext uri="{FF2B5EF4-FFF2-40B4-BE49-F238E27FC236}">
                <a16:creationId xmlns:a16="http://schemas.microsoft.com/office/drawing/2014/main" id="{767BD24A-6418-451F-BD4F-C6C944089AC2}"/>
              </a:ext>
            </a:extLst>
          </p:cNvPr>
          <p:cNvGrpSpPr>
            <a:grpSpLocks/>
          </p:cNvGrpSpPr>
          <p:nvPr/>
        </p:nvGrpSpPr>
        <p:grpSpPr bwMode="auto">
          <a:xfrm>
            <a:off x="5029200" y="2351088"/>
            <a:ext cx="1419226" cy="1663700"/>
            <a:chOff x="5105400" y="3962400"/>
            <a:chExt cx="3276600" cy="1663574"/>
          </a:xfrm>
        </p:grpSpPr>
        <p:sp>
          <p:nvSpPr>
            <p:cNvPr id="57" name="Rectangle 56">
              <a:extLst>
                <a:ext uri="{FF2B5EF4-FFF2-40B4-BE49-F238E27FC236}">
                  <a16:creationId xmlns:a16="http://schemas.microsoft.com/office/drawing/2014/main" id="{C07C22BC-5717-4A1D-8192-AEB14BE7EF36}"/>
                </a:ext>
              </a:extLst>
            </p:cNvPr>
            <p:cNvSpPr/>
            <p:nvPr/>
          </p:nvSpPr>
          <p:spPr>
            <a:xfrm>
              <a:off x="5105400" y="3962400"/>
              <a:ext cx="3276600" cy="166357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sz="2000" b="1"/>
            </a:p>
          </p:txBody>
        </p:sp>
        <p:sp>
          <p:nvSpPr>
            <p:cNvPr id="58" name="Rectangle 57">
              <a:extLst>
                <a:ext uri="{FF2B5EF4-FFF2-40B4-BE49-F238E27FC236}">
                  <a16:creationId xmlns:a16="http://schemas.microsoft.com/office/drawing/2014/main" id="{8C6CD3E6-9002-4721-A8CC-73AA2B5E353A}"/>
                </a:ext>
              </a:extLst>
            </p:cNvPr>
            <p:cNvSpPr/>
            <p:nvPr/>
          </p:nvSpPr>
          <p:spPr bwMode="auto">
            <a:xfrm>
              <a:off x="5105400" y="3962400"/>
              <a:ext cx="3276600" cy="266680"/>
            </a:xfrm>
            <a:prstGeom prst="rect">
              <a:avLst/>
            </a:prstGeom>
            <a:solidFill>
              <a:srgbClr val="1D3064"/>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b="1" dirty="0">
                  <a:solidFill>
                    <a:schemeClr val="bg1"/>
                  </a:solidFill>
                </a:rPr>
                <a:t>Server</a:t>
              </a:r>
            </a:p>
          </p:txBody>
        </p:sp>
      </p:grpSp>
      <p:sp>
        <p:nvSpPr>
          <p:cNvPr id="59" name="Rectangle 58">
            <a:extLst>
              <a:ext uri="{FF2B5EF4-FFF2-40B4-BE49-F238E27FC236}">
                <a16:creationId xmlns:a16="http://schemas.microsoft.com/office/drawing/2014/main" id="{A560DD52-99FF-46A2-AA06-CD45642DB816}"/>
              </a:ext>
            </a:extLst>
          </p:cNvPr>
          <p:cNvSpPr/>
          <p:nvPr/>
        </p:nvSpPr>
        <p:spPr bwMode="auto">
          <a:xfrm>
            <a:off x="5105399" y="2719197"/>
            <a:ext cx="1274179" cy="1219200"/>
          </a:xfrm>
          <a:prstGeom prst="rect">
            <a:avLst/>
          </a:prstGeom>
          <a:solidFill>
            <a:schemeClr val="accent6"/>
          </a:solidFill>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dirty="0">
                <a:solidFill>
                  <a:schemeClr val="bg1"/>
                </a:solidFill>
              </a:rPr>
              <a:t>Distributed</a:t>
            </a:r>
          </a:p>
          <a:p>
            <a:pPr algn="ctr" eaLnBrk="1" hangingPunct="1">
              <a:defRPr/>
            </a:pPr>
            <a:r>
              <a:rPr lang="en-US" dirty="0">
                <a:solidFill>
                  <a:schemeClr val="bg1"/>
                </a:solidFill>
              </a:rPr>
              <a:t>File</a:t>
            </a:r>
          </a:p>
          <a:p>
            <a:pPr algn="ctr" eaLnBrk="1" hangingPunct="1">
              <a:defRPr/>
            </a:pPr>
            <a:r>
              <a:rPr lang="en-US" dirty="0">
                <a:solidFill>
                  <a:schemeClr val="bg1"/>
                </a:solidFill>
              </a:rPr>
              <a:t>abc.txt</a:t>
            </a:r>
          </a:p>
        </p:txBody>
      </p:sp>
      <p:grpSp>
        <p:nvGrpSpPr>
          <p:cNvPr id="60" name="Group 10">
            <a:extLst>
              <a:ext uri="{FF2B5EF4-FFF2-40B4-BE49-F238E27FC236}">
                <a16:creationId xmlns:a16="http://schemas.microsoft.com/office/drawing/2014/main" id="{D8A5C809-D2A8-40F5-949D-4DFCF83AF36A}"/>
              </a:ext>
            </a:extLst>
          </p:cNvPr>
          <p:cNvGrpSpPr>
            <a:grpSpLocks/>
          </p:cNvGrpSpPr>
          <p:nvPr/>
        </p:nvGrpSpPr>
        <p:grpSpPr bwMode="auto">
          <a:xfrm>
            <a:off x="1905000" y="2351088"/>
            <a:ext cx="1219200" cy="596900"/>
            <a:chOff x="5105400" y="3962400"/>
            <a:chExt cx="3276600" cy="596774"/>
          </a:xfrm>
        </p:grpSpPr>
        <p:sp>
          <p:nvSpPr>
            <p:cNvPr id="61" name="Rectangle 60">
              <a:extLst>
                <a:ext uri="{FF2B5EF4-FFF2-40B4-BE49-F238E27FC236}">
                  <a16:creationId xmlns:a16="http://schemas.microsoft.com/office/drawing/2014/main" id="{A1655362-3B89-4D94-8F2C-2ABE77CA3093}"/>
                </a:ext>
              </a:extLst>
            </p:cNvPr>
            <p:cNvSpPr/>
            <p:nvPr/>
          </p:nvSpPr>
          <p:spPr>
            <a:xfrm>
              <a:off x="5105400" y="3962400"/>
              <a:ext cx="3276600" cy="59677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sz="2000" b="1"/>
            </a:p>
          </p:txBody>
        </p:sp>
        <p:sp>
          <p:nvSpPr>
            <p:cNvPr id="62" name="Rectangle 61">
              <a:extLst>
                <a:ext uri="{FF2B5EF4-FFF2-40B4-BE49-F238E27FC236}">
                  <a16:creationId xmlns:a16="http://schemas.microsoft.com/office/drawing/2014/main" id="{A461541D-B906-408D-B90A-CAB6A4B926C1}"/>
                </a:ext>
              </a:extLst>
            </p:cNvPr>
            <p:cNvSpPr/>
            <p:nvPr/>
          </p:nvSpPr>
          <p:spPr bwMode="auto">
            <a:xfrm>
              <a:off x="5105400" y="3962400"/>
              <a:ext cx="3276600" cy="266644"/>
            </a:xfrm>
            <a:prstGeom prst="rect">
              <a:avLst/>
            </a:prstGeom>
            <a:solidFill>
              <a:srgbClr val="1D3064"/>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b="1" dirty="0">
                  <a:solidFill>
                    <a:schemeClr val="bg1"/>
                  </a:solidFill>
                </a:rPr>
                <a:t>Client A</a:t>
              </a:r>
            </a:p>
          </p:txBody>
        </p:sp>
      </p:grpSp>
      <p:cxnSp>
        <p:nvCxnSpPr>
          <p:cNvPr id="63" name="Straight Arrow Connector 62">
            <a:extLst>
              <a:ext uri="{FF2B5EF4-FFF2-40B4-BE49-F238E27FC236}">
                <a16:creationId xmlns:a16="http://schemas.microsoft.com/office/drawing/2014/main" id="{1EFDA222-836A-413F-9B3B-6691C301CEA4}"/>
              </a:ext>
            </a:extLst>
          </p:cNvPr>
          <p:cNvCxnSpPr>
            <a:stCxn id="61" idx="3"/>
          </p:cNvCxnSpPr>
          <p:nvPr/>
        </p:nvCxnSpPr>
        <p:spPr>
          <a:xfrm>
            <a:off x="3124200" y="2649538"/>
            <a:ext cx="2133600" cy="76835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1004FD05-B1D6-4BA0-84D1-DAEAC86C1BBA}"/>
              </a:ext>
            </a:extLst>
          </p:cNvPr>
          <p:cNvSpPr/>
          <p:nvPr/>
        </p:nvSpPr>
        <p:spPr>
          <a:xfrm>
            <a:off x="3602038" y="1923320"/>
            <a:ext cx="1350962" cy="8373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dirty="0">
                <a:solidFill>
                  <a:schemeClr val="tx1"/>
                </a:solidFill>
              </a:rPr>
              <a:t>Write </a:t>
            </a:r>
            <a:r>
              <a:rPr lang="en-US" sz="1600" i="1" dirty="0">
                <a:solidFill>
                  <a:schemeClr val="tx1"/>
                </a:solidFill>
              </a:rPr>
              <a:t>data1</a:t>
            </a:r>
            <a:r>
              <a:rPr lang="en-US" sz="1600" dirty="0">
                <a:solidFill>
                  <a:schemeClr val="tx1"/>
                </a:solidFill>
              </a:rPr>
              <a:t> to file abc.txt at offset 0</a:t>
            </a:r>
          </a:p>
        </p:txBody>
      </p:sp>
      <p:grpSp>
        <p:nvGrpSpPr>
          <p:cNvPr id="65" name="Group 17">
            <a:extLst>
              <a:ext uri="{FF2B5EF4-FFF2-40B4-BE49-F238E27FC236}">
                <a16:creationId xmlns:a16="http://schemas.microsoft.com/office/drawing/2014/main" id="{88139246-6835-4C92-B906-6624400E88CA}"/>
              </a:ext>
            </a:extLst>
          </p:cNvPr>
          <p:cNvGrpSpPr>
            <a:grpSpLocks/>
          </p:cNvGrpSpPr>
          <p:nvPr/>
        </p:nvGrpSpPr>
        <p:grpSpPr bwMode="auto">
          <a:xfrm>
            <a:off x="1912938" y="3417888"/>
            <a:ext cx="1219200" cy="596900"/>
            <a:chOff x="5105400" y="3962400"/>
            <a:chExt cx="3276600" cy="596774"/>
          </a:xfrm>
        </p:grpSpPr>
        <p:sp>
          <p:nvSpPr>
            <p:cNvPr id="66" name="Rectangle 65">
              <a:extLst>
                <a:ext uri="{FF2B5EF4-FFF2-40B4-BE49-F238E27FC236}">
                  <a16:creationId xmlns:a16="http://schemas.microsoft.com/office/drawing/2014/main" id="{5F55C088-ACA8-4CDB-BC6D-E4F36D6A1A0A}"/>
                </a:ext>
              </a:extLst>
            </p:cNvPr>
            <p:cNvSpPr/>
            <p:nvPr/>
          </p:nvSpPr>
          <p:spPr>
            <a:xfrm>
              <a:off x="5105400" y="3962400"/>
              <a:ext cx="3276600" cy="59677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sz="2000" b="1"/>
            </a:p>
          </p:txBody>
        </p:sp>
        <p:sp>
          <p:nvSpPr>
            <p:cNvPr id="67" name="Rectangle 66">
              <a:extLst>
                <a:ext uri="{FF2B5EF4-FFF2-40B4-BE49-F238E27FC236}">
                  <a16:creationId xmlns:a16="http://schemas.microsoft.com/office/drawing/2014/main" id="{76B1D7B0-E749-4597-AB30-26CD7D958CE5}"/>
                </a:ext>
              </a:extLst>
            </p:cNvPr>
            <p:cNvSpPr/>
            <p:nvPr/>
          </p:nvSpPr>
          <p:spPr bwMode="auto">
            <a:xfrm>
              <a:off x="5105400" y="3962400"/>
              <a:ext cx="3276600" cy="266644"/>
            </a:xfrm>
            <a:prstGeom prst="rect">
              <a:avLst/>
            </a:prstGeom>
            <a:solidFill>
              <a:srgbClr val="1D3064"/>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b="1" dirty="0">
                  <a:solidFill>
                    <a:schemeClr val="bg1"/>
                  </a:solidFill>
                </a:rPr>
                <a:t>Client B</a:t>
              </a:r>
            </a:p>
          </p:txBody>
        </p:sp>
      </p:grpSp>
      <p:cxnSp>
        <p:nvCxnSpPr>
          <p:cNvPr id="68" name="Straight Arrow Connector 67">
            <a:extLst>
              <a:ext uri="{FF2B5EF4-FFF2-40B4-BE49-F238E27FC236}">
                <a16:creationId xmlns:a16="http://schemas.microsoft.com/office/drawing/2014/main" id="{D7AE05DD-80C4-4834-A85B-4002A55D4BE4}"/>
              </a:ext>
            </a:extLst>
          </p:cNvPr>
          <p:cNvCxnSpPr>
            <a:stCxn id="66" idx="3"/>
          </p:cNvCxnSpPr>
          <p:nvPr/>
        </p:nvCxnSpPr>
        <p:spPr>
          <a:xfrm flipV="1">
            <a:off x="3132138" y="3595688"/>
            <a:ext cx="2125662" cy="12065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9" name="Rectangle 68">
            <a:extLst>
              <a:ext uri="{FF2B5EF4-FFF2-40B4-BE49-F238E27FC236}">
                <a16:creationId xmlns:a16="http://schemas.microsoft.com/office/drawing/2014/main" id="{FDA4E610-C4C1-4FC7-9496-6F6B1273301F}"/>
              </a:ext>
            </a:extLst>
          </p:cNvPr>
          <p:cNvSpPr/>
          <p:nvPr/>
        </p:nvSpPr>
        <p:spPr>
          <a:xfrm>
            <a:off x="3429000" y="3811587"/>
            <a:ext cx="1447800" cy="7351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dirty="0">
                <a:solidFill>
                  <a:schemeClr val="tx1"/>
                </a:solidFill>
              </a:rPr>
              <a:t>Write </a:t>
            </a:r>
            <a:r>
              <a:rPr lang="en-US" sz="1600" i="1" dirty="0">
                <a:solidFill>
                  <a:schemeClr val="tx1"/>
                </a:solidFill>
              </a:rPr>
              <a:t>data2</a:t>
            </a:r>
            <a:r>
              <a:rPr lang="en-US" sz="1600" dirty="0">
                <a:solidFill>
                  <a:schemeClr val="tx1"/>
                </a:solidFill>
              </a:rPr>
              <a:t> to file abc.txt at offset 1</a:t>
            </a:r>
          </a:p>
        </p:txBody>
      </p:sp>
      <p:cxnSp>
        <p:nvCxnSpPr>
          <p:cNvPr id="70" name="Straight Arrow Connector 69">
            <a:extLst>
              <a:ext uri="{FF2B5EF4-FFF2-40B4-BE49-F238E27FC236}">
                <a16:creationId xmlns:a16="http://schemas.microsoft.com/office/drawing/2014/main" id="{27DB78A9-63D5-4644-B77B-C2363BDCABBA}"/>
              </a:ext>
            </a:extLst>
          </p:cNvPr>
          <p:cNvCxnSpPr/>
          <p:nvPr/>
        </p:nvCxnSpPr>
        <p:spPr>
          <a:xfrm flipH="1">
            <a:off x="6019800" y="2649538"/>
            <a:ext cx="2590800" cy="76835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0003CF58-191E-495B-896A-B82166272788}"/>
              </a:ext>
            </a:extLst>
          </p:cNvPr>
          <p:cNvSpPr/>
          <p:nvPr/>
        </p:nvSpPr>
        <p:spPr>
          <a:xfrm>
            <a:off x="6805613" y="3249612"/>
            <a:ext cx="1447800" cy="7651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dirty="0">
                <a:solidFill>
                  <a:schemeClr val="tx1"/>
                </a:solidFill>
              </a:rPr>
              <a:t>Write </a:t>
            </a:r>
            <a:r>
              <a:rPr lang="en-US" sz="1600" i="1" dirty="0">
                <a:solidFill>
                  <a:schemeClr val="tx1"/>
                </a:solidFill>
              </a:rPr>
              <a:t>data3</a:t>
            </a:r>
            <a:r>
              <a:rPr lang="en-US" sz="1600" dirty="0">
                <a:solidFill>
                  <a:schemeClr val="tx1"/>
                </a:solidFill>
              </a:rPr>
              <a:t> to file abc.txt at offset 1</a:t>
            </a:r>
          </a:p>
        </p:txBody>
      </p:sp>
      <p:grpSp>
        <p:nvGrpSpPr>
          <p:cNvPr id="72" name="Group 31">
            <a:extLst>
              <a:ext uri="{FF2B5EF4-FFF2-40B4-BE49-F238E27FC236}">
                <a16:creationId xmlns:a16="http://schemas.microsoft.com/office/drawing/2014/main" id="{9958A623-720D-4C10-955B-D4A7E44F75CC}"/>
              </a:ext>
            </a:extLst>
          </p:cNvPr>
          <p:cNvGrpSpPr>
            <a:grpSpLocks/>
          </p:cNvGrpSpPr>
          <p:nvPr/>
        </p:nvGrpSpPr>
        <p:grpSpPr bwMode="auto">
          <a:xfrm>
            <a:off x="8610600" y="2319338"/>
            <a:ext cx="1219200" cy="596900"/>
            <a:chOff x="5105400" y="3962400"/>
            <a:chExt cx="3276600" cy="596774"/>
          </a:xfrm>
        </p:grpSpPr>
        <p:sp>
          <p:nvSpPr>
            <p:cNvPr id="73" name="Rectangle 72">
              <a:extLst>
                <a:ext uri="{FF2B5EF4-FFF2-40B4-BE49-F238E27FC236}">
                  <a16:creationId xmlns:a16="http://schemas.microsoft.com/office/drawing/2014/main" id="{A11A613A-7D29-405B-AECD-0A3FC1878B0F}"/>
                </a:ext>
              </a:extLst>
            </p:cNvPr>
            <p:cNvSpPr/>
            <p:nvPr/>
          </p:nvSpPr>
          <p:spPr>
            <a:xfrm>
              <a:off x="5105400" y="3962400"/>
              <a:ext cx="3276600" cy="59677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sz="2000" b="1"/>
            </a:p>
          </p:txBody>
        </p:sp>
        <p:sp>
          <p:nvSpPr>
            <p:cNvPr id="74" name="Rectangle 73">
              <a:extLst>
                <a:ext uri="{FF2B5EF4-FFF2-40B4-BE49-F238E27FC236}">
                  <a16:creationId xmlns:a16="http://schemas.microsoft.com/office/drawing/2014/main" id="{F252AAAE-CB79-47A6-805C-70768BDA7FAB}"/>
                </a:ext>
              </a:extLst>
            </p:cNvPr>
            <p:cNvSpPr/>
            <p:nvPr/>
          </p:nvSpPr>
          <p:spPr bwMode="auto">
            <a:xfrm>
              <a:off x="5105400" y="3962400"/>
              <a:ext cx="3276600" cy="363461"/>
            </a:xfrm>
            <a:prstGeom prst="rect">
              <a:avLst/>
            </a:prstGeom>
            <a:solidFill>
              <a:srgbClr val="1D3064"/>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b="1" dirty="0">
                  <a:solidFill>
                    <a:schemeClr val="bg1"/>
                  </a:solidFill>
                </a:rPr>
                <a:t>Client C</a:t>
              </a:r>
            </a:p>
          </p:txBody>
        </p:sp>
      </p:grpSp>
      <p:sp>
        <p:nvSpPr>
          <p:cNvPr id="75" name="Rectangle 74">
            <a:extLst>
              <a:ext uri="{FF2B5EF4-FFF2-40B4-BE49-F238E27FC236}">
                <a16:creationId xmlns:a16="http://schemas.microsoft.com/office/drawing/2014/main" id="{16A3FA2B-F9F7-4C72-B1B6-BD247A61ADAF}"/>
              </a:ext>
            </a:extLst>
          </p:cNvPr>
          <p:cNvSpPr/>
          <p:nvPr/>
        </p:nvSpPr>
        <p:spPr>
          <a:xfrm>
            <a:off x="1647825" y="4938328"/>
            <a:ext cx="8181975" cy="890588"/>
          </a:xfrm>
          <a:prstGeom prst="rect">
            <a:avLst/>
          </a:prstGeom>
          <a:solidFill>
            <a:schemeClr val="accent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marL="342900" lvl="1" indent="-342900" algn="ctr" eaLnBrk="1" hangingPunct="1">
              <a:defRPr/>
            </a:pPr>
            <a:r>
              <a:rPr lang="en-US" sz="2400" dirty="0">
                <a:solidFill>
                  <a:schemeClr val="bg1"/>
                </a:solidFill>
              </a:rPr>
              <a:t>If the distributed clients do not synchronize their write operations to the distributed file, then the data in the file can be corrupted</a:t>
            </a:r>
          </a:p>
        </p:txBody>
      </p:sp>
    </p:spTree>
    <p:extLst>
      <p:ext uri="{BB962C8B-B14F-4D97-AF65-F5344CB8AC3E}">
        <p14:creationId xmlns:p14="http://schemas.microsoft.com/office/powerpoint/2010/main" val="4198685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4" grpId="0"/>
      <p:bldP spid="69" grpId="0"/>
      <p:bldP spid="71" grpId="0"/>
      <p:bldP spid="7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3DC79-8B12-49B2-D869-87FFD698F001}"/>
              </a:ext>
            </a:extLst>
          </p:cNvPr>
          <p:cNvSpPr>
            <a:spLocks noGrp="1"/>
          </p:cNvSpPr>
          <p:nvPr>
            <p:ph type="title"/>
          </p:nvPr>
        </p:nvSpPr>
        <p:spPr/>
        <p:txBody>
          <a:bodyPr>
            <a:normAutofit/>
          </a:bodyPr>
          <a:lstStyle/>
          <a:p>
            <a:pPr>
              <a:spcBef>
                <a:spcPts val="1000"/>
              </a:spcBef>
              <a:buClr>
                <a:srgbClr val="1D6199"/>
              </a:buClr>
              <a:defRPr/>
            </a:pPr>
            <a:r>
              <a:rPr lang="en-IN" sz="6000" dirty="0"/>
              <a:t>Clock Synchronization</a:t>
            </a:r>
            <a:endParaRPr lang="en-US" sz="6000" dirty="0"/>
          </a:p>
        </p:txBody>
      </p:sp>
      <p:sp>
        <p:nvSpPr>
          <p:cNvPr id="3" name="Text Placeholder 2">
            <a:extLst>
              <a:ext uri="{FF2B5EF4-FFF2-40B4-BE49-F238E27FC236}">
                <a16:creationId xmlns:a16="http://schemas.microsoft.com/office/drawing/2014/main" id="{7336A222-FE8E-8548-6B81-0F4C891F3E0A}"/>
              </a:ext>
            </a:extLst>
          </p:cNvPr>
          <p:cNvSpPr>
            <a:spLocks noGrp="1"/>
          </p:cNvSpPr>
          <p:nvPr>
            <p:ph type="body" idx="1"/>
          </p:nvPr>
        </p:nvSpPr>
        <p:spPr/>
        <p:txBody>
          <a:bodyPr/>
          <a:lstStyle/>
          <a:p>
            <a:r>
              <a:rPr lang="en-US" dirty="0"/>
              <a:t>Section - 2</a:t>
            </a:r>
            <a:endParaRPr lang="en-IN" dirty="0"/>
          </a:p>
        </p:txBody>
      </p:sp>
    </p:spTree>
    <p:extLst>
      <p:ext uri="{BB962C8B-B14F-4D97-AF65-F5344CB8AC3E}">
        <p14:creationId xmlns:p14="http://schemas.microsoft.com/office/powerpoint/2010/main" val="2920099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Clock Synchronization</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a:lnSpc>
                <a:spcPct val="100000"/>
              </a:lnSpc>
            </a:pPr>
            <a:r>
              <a:rPr lang="en-US" dirty="0"/>
              <a:t>Clock synchronization is a mechanism to </a:t>
            </a:r>
            <a:r>
              <a:rPr lang="en-US" dirty="0">
                <a:solidFill>
                  <a:srgbClr val="1D6199"/>
                </a:solidFill>
              </a:rPr>
              <a:t>synchronize the time of all the computers </a:t>
            </a:r>
            <a:r>
              <a:rPr lang="en-US" dirty="0"/>
              <a:t>in a DS</a:t>
            </a:r>
          </a:p>
          <a:p>
            <a:pPr>
              <a:lnSpc>
                <a:spcPct val="113000"/>
              </a:lnSpc>
            </a:pPr>
            <a:r>
              <a:rPr lang="en-US" dirty="0"/>
              <a:t>It is often important to know </a:t>
            </a:r>
            <a:r>
              <a:rPr lang="en-US" dirty="0">
                <a:solidFill>
                  <a:srgbClr val="1D6199"/>
                </a:solidFill>
              </a:rPr>
              <a:t>when events occurred </a:t>
            </a:r>
            <a:r>
              <a:rPr lang="en-US" dirty="0"/>
              <a:t>and in </a:t>
            </a:r>
            <a:r>
              <a:rPr lang="en-US" dirty="0">
                <a:solidFill>
                  <a:srgbClr val="1D6199"/>
                </a:solidFill>
              </a:rPr>
              <a:t>what order they occurred.</a:t>
            </a:r>
          </a:p>
          <a:p>
            <a:pPr lvl="1">
              <a:lnSpc>
                <a:spcPct val="113000"/>
              </a:lnSpc>
            </a:pPr>
            <a:r>
              <a:rPr lang="en-US" dirty="0"/>
              <a:t>Need to know when a transaction occurs.</a:t>
            </a:r>
          </a:p>
          <a:p>
            <a:pPr lvl="1">
              <a:lnSpc>
                <a:spcPct val="113000"/>
              </a:lnSpc>
            </a:pPr>
            <a:r>
              <a:rPr lang="en-US" dirty="0"/>
              <a:t>Online reservation system.</a:t>
            </a:r>
          </a:p>
          <a:p>
            <a:pPr lvl="1">
              <a:lnSpc>
                <a:spcPct val="113000"/>
              </a:lnSpc>
            </a:pPr>
            <a:r>
              <a:rPr lang="en-US" dirty="0"/>
              <a:t>E-mail sorting can be difficult if time stamps are incorrect.</a:t>
            </a:r>
          </a:p>
          <a:p>
            <a:pPr>
              <a:lnSpc>
                <a:spcPct val="113000"/>
              </a:lnSpc>
            </a:pPr>
            <a:r>
              <a:rPr lang="en-US" dirty="0"/>
              <a:t>In a </a:t>
            </a:r>
            <a:r>
              <a:rPr lang="en-US" dirty="0">
                <a:solidFill>
                  <a:srgbClr val="1D6199"/>
                </a:solidFill>
              </a:rPr>
              <a:t>non-distributed system </a:t>
            </a:r>
            <a:r>
              <a:rPr lang="en-US" dirty="0"/>
              <a:t>dealing with time is trivial as there is a </a:t>
            </a:r>
            <a:r>
              <a:rPr lang="en-US" dirty="0">
                <a:solidFill>
                  <a:srgbClr val="1D6199"/>
                </a:solidFill>
              </a:rPr>
              <a:t>single shared clock, </a:t>
            </a:r>
            <a:r>
              <a:rPr lang="en-US" dirty="0"/>
              <a:t>where all processes see the same time.</a:t>
            </a:r>
          </a:p>
          <a:p>
            <a:pPr>
              <a:lnSpc>
                <a:spcPct val="113000"/>
              </a:lnSpc>
            </a:pPr>
            <a:r>
              <a:rPr lang="en-US" dirty="0"/>
              <a:t>In a </a:t>
            </a:r>
            <a:r>
              <a:rPr lang="en-US" dirty="0">
                <a:solidFill>
                  <a:srgbClr val="1D6199"/>
                </a:solidFill>
              </a:rPr>
              <a:t>distributed system,</a:t>
            </a:r>
            <a:r>
              <a:rPr lang="en-US" dirty="0">
                <a:solidFill>
                  <a:srgbClr val="FF0000"/>
                </a:solidFill>
              </a:rPr>
              <a:t> </a:t>
            </a:r>
            <a:r>
              <a:rPr lang="en-US" dirty="0"/>
              <a:t>on the other hand, each computer has its </a:t>
            </a:r>
            <a:r>
              <a:rPr lang="en-US" dirty="0">
                <a:solidFill>
                  <a:srgbClr val="1D6199"/>
                </a:solidFill>
              </a:rPr>
              <a:t>own clock</a:t>
            </a:r>
            <a:r>
              <a:rPr lang="en-US" dirty="0"/>
              <a:t>.</a:t>
            </a:r>
            <a:r>
              <a:rPr lang="en-US" dirty="0">
                <a:solidFill>
                  <a:schemeClr val="accent6"/>
                </a:solidFill>
              </a:rPr>
              <a:t> </a:t>
            </a:r>
          </a:p>
          <a:p>
            <a:pPr>
              <a:lnSpc>
                <a:spcPct val="113000"/>
              </a:lnSpc>
            </a:pPr>
            <a:r>
              <a:rPr lang="en-US" dirty="0"/>
              <a:t>Because no clock is perfect each of these clocks has its own skew which causes clocks on different computers to drift and eventually become out of sync.</a:t>
            </a:r>
          </a:p>
          <a:p>
            <a:pPr lvl="1">
              <a:lnSpc>
                <a:spcPct val="113000"/>
              </a:lnSpc>
              <a:buFont typeface="Wingdings" panose="05000000000000000000" pitchFamily="2" charset="2"/>
              <a:buChar char="§"/>
            </a:pPr>
            <a:r>
              <a:rPr lang="en-US" dirty="0"/>
              <a:t>In </a:t>
            </a:r>
            <a:r>
              <a:rPr lang="en-US" dirty="0">
                <a:solidFill>
                  <a:srgbClr val="1D6199"/>
                </a:solidFill>
              </a:rPr>
              <a:t>centralized system</a:t>
            </a:r>
            <a:r>
              <a:rPr lang="en-US" dirty="0"/>
              <a:t>, time is </a:t>
            </a:r>
            <a:r>
              <a:rPr lang="en-US" b="1" dirty="0"/>
              <a:t>unambiguous</a:t>
            </a:r>
          </a:p>
          <a:p>
            <a:pPr lvl="1">
              <a:lnSpc>
                <a:spcPct val="113000"/>
              </a:lnSpc>
              <a:buFont typeface="Wingdings" panose="05000000000000000000" pitchFamily="2" charset="2"/>
              <a:buChar char="§"/>
            </a:pPr>
            <a:r>
              <a:rPr lang="en-US" dirty="0"/>
              <a:t>In </a:t>
            </a:r>
            <a:r>
              <a:rPr lang="en-US" dirty="0">
                <a:solidFill>
                  <a:srgbClr val="1D6199"/>
                </a:solidFill>
              </a:rPr>
              <a:t>distributed system</a:t>
            </a:r>
            <a:r>
              <a:rPr lang="en-US" dirty="0"/>
              <a:t>, time is </a:t>
            </a:r>
            <a:r>
              <a:rPr lang="en-US" b="1" dirty="0"/>
              <a:t>not trivial</a:t>
            </a:r>
          </a:p>
        </p:txBody>
      </p:sp>
    </p:spTree>
    <p:extLst>
      <p:ext uri="{BB962C8B-B14F-4D97-AF65-F5344CB8AC3E}">
        <p14:creationId xmlns:p14="http://schemas.microsoft.com/office/powerpoint/2010/main" val="1707311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Coordinated Universal Time (UTC)</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a:lnSpc>
                <a:spcPct val="100000"/>
              </a:lnSpc>
            </a:pPr>
            <a:r>
              <a:rPr lang="en-US" dirty="0"/>
              <a:t>All the computers are generally synchronized to a standard time called </a:t>
            </a:r>
            <a:r>
              <a:rPr lang="en-US" dirty="0">
                <a:solidFill>
                  <a:srgbClr val="1D6199"/>
                </a:solidFill>
              </a:rPr>
              <a:t>Coordinated Universal Time</a:t>
            </a:r>
            <a:r>
              <a:rPr lang="en-US" dirty="0"/>
              <a:t> (UTC)</a:t>
            </a:r>
          </a:p>
          <a:p>
            <a:pPr lvl="2"/>
            <a:r>
              <a:rPr lang="en-US" sz="2400" dirty="0"/>
              <a:t>UTC is the primary time </a:t>
            </a:r>
            <a:r>
              <a:rPr lang="en-US" sz="2400" dirty="0">
                <a:solidFill>
                  <a:srgbClr val="1D6199"/>
                </a:solidFill>
              </a:rPr>
              <a:t>standard by which the world </a:t>
            </a:r>
            <a:r>
              <a:rPr lang="en-US" sz="2400" dirty="0"/>
              <a:t>regulates clocks and time</a:t>
            </a:r>
          </a:p>
          <a:p>
            <a:pPr>
              <a:lnSpc>
                <a:spcPct val="100000"/>
              </a:lnSpc>
            </a:pPr>
            <a:r>
              <a:rPr lang="en-US" dirty="0"/>
              <a:t>UTC is broadcasted via the satellites</a:t>
            </a:r>
          </a:p>
          <a:p>
            <a:pPr lvl="2"/>
            <a:r>
              <a:rPr lang="en-US" sz="2400" dirty="0"/>
              <a:t>UTC broadcasting service provides an accuracy of 0.5 </a:t>
            </a:r>
            <a:r>
              <a:rPr lang="en-US" sz="2400" dirty="0" err="1"/>
              <a:t>msec</a:t>
            </a:r>
            <a:endParaRPr lang="en-US" sz="2400" dirty="0"/>
          </a:p>
          <a:p>
            <a:pPr>
              <a:lnSpc>
                <a:spcPct val="100000"/>
              </a:lnSpc>
            </a:pPr>
            <a:r>
              <a:rPr lang="en-US" dirty="0"/>
              <a:t>Computer servers and online services with UTC receivers can be </a:t>
            </a:r>
            <a:r>
              <a:rPr lang="en-US" dirty="0">
                <a:solidFill>
                  <a:srgbClr val="1D6199"/>
                </a:solidFill>
              </a:rPr>
              <a:t>synchronized by satellite broadcasts</a:t>
            </a:r>
          </a:p>
          <a:p>
            <a:pPr lvl="2"/>
            <a:r>
              <a:rPr lang="en-US" sz="2400" dirty="0"/>
              <a:t>Many popular synchronization protocols in distributed systems use UTC as a reference time to synchronize clocks of computers</a:t>
            </a:r>
          </a:p>
        </p:txBody>
      </p:sp>
    </p:spTree>
    <p:extLst>
      <p:ext uri="{BB962C8B-B14F-4D97-AF65-F5344CB8AC3E}">
        <p14:creationId xmlns:p14="http://schemas.microsoft.com/office/powerpoint/2010/main" val="509292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Tracking Time on a Computer</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a:lnSpc>
                <a:spcPct val="100000"/>
              </a:lnSpc>
            </a:pPr>
            <a:r>
              <a:rPr lang="en-US" dirty="0"/>
              <a:t>How does a computer keep track of its time?</a:t>
            </a:r>
          </a:p>
          <a:p>
            <a:pPr marL="714375" lvl="2" indent="-357188"/>
            <a:r>
              <a:rPr lang="en-US" sz="2400" dirty="0"/>
              <a:t>Each computer has a hardware timer </a:t>
            </a:r>
          </a:p>
          <a:p>
            <a:pPr marL="985838" lvl="2" indent="-271463">
              <a:lnSpc>
                <a:spcPct val="100000"/>
              </a:lnSpc>
              <a:spcBef>
                <a:spcPts val="1000"/>
              </a:spcBef>
              <a:buFont typeface="Arial" panose="020B0604020202020204" pitchFamily="34" charset="0"/>
              <a:buChar char="•"/>
            </a:pPr>
            <a:r>
              <a:rPr lang="en-US" sz="2400" dirty="0"/>
              <a:t>The timer causes an interrupt ‘H’ times a second</a:t>
            </a:r>
          </a:p>
          <a:p>
            <a:pPr marL="714375" lvl="2" indent="-357188"/>
            <a:r>
              <a:rPr lang="en-US" sz="2400" dirty="0"/>
              <a:t>The </a:t>
            </a:r>
            <a:r>
              <a:rPr lang="en-US" sz="2400" dirty="0">
                <a:solidFill>
                  <a:srgbClr val="1D6199"/>
                </a:solidFill>
              </a:rPr>
              <a:t>interrupt handler adds 1 </a:t>
            </a:r>
            <a:r>
              <a:rPr lang="en-US" sz="2400" dirty="0"/>
              <a:t>to its Software Clock (C)</a:t>
            </a:r>
          </a:p>
          <a:p>
            <a:pPr marL="265113" lvl="2" indent="-265113">
              <a:lnSpc>
                <a:spcPct val="100000"/>
              </a:lnSpc>
              <a:spcBef>
                <a:spcPts val="1000"/>
              </a:spcBef>
              <a:buFont typeface="Webdings" panose="05030102010509060703" pitchFamily="18" charset="2"/>
              <a:buChar char=""/>
            </a:pPr>
            <a:r>
              <a:rPr lang="en-US" sz="2400" dirty="0"/>
              <a:t>Issues with clocks on a computer</a:t>
            </a:r>
          </a:p>
          <a:p>
            <a:pPr marL="714375" lvl="2" indent="-357188"/>
            <a:r>
              <a:rPr lang="en-US" sz="2400" dirty="0"/>
              <a:t>In practice, the hardware timer is imprecise</a:t>
            </a:r>
          </a:p>
          <a:p>
            <a:pPr marL="985838" indent="-271463">
              <a:lnSpc>
                <a:spcPct val="100000"/>
              </a:lnSpc>
              <a:buFont typeface="Arial" panose="020B0604020202020204" pitchFamily="34" charset="0"/>
              <a:buChar char="•"/>
            </a:pPr>
            <a:r>
              <a:rPr lang="en-US" dirty="0"/>
              <a:t>It does not interrupt ‘H’ times a second due to material imperfections of the hardware and temperature variations</a:t>
            </a:r>
          </a:p>
          <a:p>
            <a:pPr marL="985838" indent="-271463">
              <a:lnSpc>
                <a:spcPct val="100000"/>
              </a:lnSpc>
              <a:buFont typeface="Arial" panose="020B0604020202020204" pitchFamily="34" charset="0"/>
              <a:buChar char="•"/>
            </a:pPr>
            <a:r>
              <a:rPr lang="en-US" dirty="0"/>
              <a:t>The computer counts the time slower or faster than actual time</a:t>
            </a:r>
          </a:p>
          <a:p>
            <a:pPr marL="714375" lvl="2" indent="-357188"/>
            <a:r>
              <a:rPr lang="en-US" sz="2400" dirty="0"/>
              <a:t>Loosely speaking, </a:t>
            </a:r>
            <a:r>
              <a:rPr lang="en-US" sz="2400" dirty="0">
                <a:solidFill>
                  <a:srgbClr val="1D6199"/>
                </a:solidFill>
              </a:rPr>
              <a:t>Clock Skew </a:t>
            </a:r>
            <a:r>
              <a:rPr lang="en-US" sz="2400" dirty="0"/>
              <a:t>is the skew between:</a:t>
            </a:r>
          </a:p>
          <a:p>
            <a:pPr marL="985838" indent="-271463">
              <a:lnSpc>
                <a:spcPct val="100000"/>
              </a:lnSpc>
              <a:buFont typeface="Arial" panose="020B0604020202020204" pitchFamily="34" charset="0"/>
              <a:buChar char="•"/>
            </a:pPr>
            <a:r>
              <a:rPr lang="en-US" dirty="0"/>
              <a:t>The computer clock and the actual time (e.g., UTC)</a:t>
            </a:r>
          </a:p>
        </p:txBody>
      </p:sp>
    </p:spTree>
    <p:extLst>
      <p:ext uri="{BB962C8B-B14F-4D97-AF65-F5344CB8AC3E}">
        <p14:creationId xmlns:p14="http://schemas.microsoft.com/office/powerpoint/2010/main" val="1652941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Clock Skew</a:t>
            </a:r>
          </a:p>
        </p:txBody>
      </p:sp>
      <p:sp>
        <p:nvSpPr>
          <p:cNvPr id="5" name="Content Placeholder 2">
            <a:extLst>
              <a:ext uri="{FF2B5EF4-FFF2-40B4-BE49-F238E27FC236}">
                <a16:creationId xmlns:a16="http://schemas.microsoft.com/office/drawing/2014/main" id="{F7B6CBB3-BAA9-42B0-939E-0D9D629E6062}"/>
              </a:ext>
            </a:extLst>
          </p:cNvPr>
          <p:cNvSpPr txBox="1">
            <a:spLocks/>
          </p:cNvSpPr>
          <p:nvPr/>
        </p:nvSpPr>
        <p:spPr>
          <a:xfrm>
            <a:off x="131179" y="863444"/>
            <a:ext cx="11956046"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1D6199"/>
              </a:buClr>
              <a:defRPr/>
            </a:pPr>
            <a:r>
              <a:rPr lang="en-US" dirty="0">
                <a:solidFill>
                  <a:srgbClr val="1D6199"/>
                </a:solidFill>
              </a:rPr>
              <a:t>Clock Skew</a:t>
            </a:r>
            <a:r>
              <a:rPr lang="en-US" dirty="0"/>
              <a:t>: Difference between two clocks at one point in time.</a:t>
            </a:r>
          </a:p>
          <a:p>
            <a:pPr>
              <a:buClr>
                <a:srgbClr val="1D6199"/>
              </a:buClr>
              <a:defRPr/>
            </a:pPr>
            <a:r>
              <a:rPr lang="en-US" dirty="0"/>
              <a:t>When the UTC time is t, let the clock on the computer have a time C(t)</a:t>
            </a:r>
          </a:p>
          <a:p>
            <a:pPr>
              <a:buClr>
                <a:srgbClr val="1D6199"/>
              </a:buClr>
              <a:defRPr/>
            </a:pPr>
            <a:r>
              <a:rPr lang="en-US" dirty="0"/>
              <a:t>Three types of clocks are possible</a:t>
            </a:r>
          </a:p>
          <a:p>
            <a:pPr lvl="1">
              <a:spcBef>
                <a:spcPts val="1000"/>
              </a:spcBef>
              <a:buClr>
                <a:srgbClr val="1D6199"/>
              </a:buClr>
              <a:defRPr/>
            </a:pPr>
            <a:r>
              <a:rPr lang="en-US" sz="2400" dirty="0">
                <a:solidFill>
                  <a:srgbClr val="1D6199"/>
                </a:solidFill>
              </a:rPr>
              <a:t>Perfect clock</a:t>
            </a:r>
            <a:r>
              <a:rPr lang="en-US" sz="2400" dirty="0"/>
              <a:t>:</a:t>
            </a:r>
          </a:p>
          <a:p>
            <a:pPr lvl="2">
              <a:spcBef>
                <a:spcPts val="1000"/>
              </a:spcBef>
              <a:buClr>
                <a:srgbClr val="1D6199"/>
              </a:buClr>
              <a:defRPr/>
            </a:pPr>
            <a:r>
              <a:rPr lang="en-US" sz="2000" dirty="0"/>
              <a:t>The timer ticks ‘H’ interrupts a second</a:t>
            </a:r>
          </a:p>
          <a:p>
            <a:pPr lvl="2">
              <a:spcBef>
                <a:spcPts val="1000"/>
              </a:spcBef>
              <a:buClr>
                <a:srgbClr val="1D6199"/>
              </a:buClr>
              <a:buFontTx/>
              <a:buNone/>
              <a:defRPr/>
            </a:pPr>
            <a:r>
              <a:rPr lang="en-US" sz="2000" dirty="0"/>
              <a:t>	</a:t>
            </a:r>
            <a:r>
              <a:rPr lang="en-US" sz="2000" dirty="0" err="1"/>
              <a:t>dC</a:t>
            </a:r>
            <a:r>
              <a:rPr lang="en-US" sz="2000" dirty="0"/>
              <a:t>/</a:t>
            </a:r>
            <a:r>
              <a:rPr lang="en-US" sz="2000" dirty="0" err="1"/>
              <a:t>dt</a:t>
            </a:r>
            <a:r>
              <a:rPr lang="en-US" sz="2000" dirty="0"/>
              <a:t> = 1</a:t>
            </a:r>
          </a:p>
          <a:p>
            <a:pPr lvl="1">
              <a:spcBef>
                <a:spcPts val="1000"/>
              </a:spcBef>
              <a:buClr>
                <a:srgbClr val="1D6199"/>
              </a:buClr>
              <a:defRPr/>
            </a:pPr>
            <a:r>
              <a:rPr lang="en-US" sz="2400" dirty="0">
                <a:solidFill>
                  <a:srgbClr val="1D6199"/>
                </a:solidFill>
              </a:rPr>
              <a:t>Fast clock:</a:t>
            </a:r>
          </a:p>
          <a:p>
            <a:pPr lvl="2">
              <a:spcBef>
                <a:spcPts val="1000"/>
              </a:spcBef>
              <a:buClr>
                <a:srgbClr val="1D6199"/>
              </a:buClr>
              <a:defRPr/>
            </a:pPr>
            <a:r>
              <a:rPr lang="en-US" sz="2000" dirty="0"/>
              <a:t>The timer ticks more than ‘H’ interrupts a second</a:t>
            </a:r>
          </a:p>
          <a:p>
            <a:pPr lvl="2">
              <a:spcBef>
                <a:spcPts val="1000"/>
              </a:spcBef>
              <a:buClr>
                <a:srgbClr val="1D6199"/>
              </a:buClr>
              <a:buFontTx/>
              <a:buNone/>
              <a:defRPr/>
            </a:pPr>
            <a:r>
              <a:rPr lang="en-US" sz="2000" dirty="0"/>
              <a:t>	</a:t>
            </a:r>
            <a:r>
              <a:rPr lang="en-US" sz="2000" dirty="0" err="1"/>
              <a:t>dC</a:t>
            </a:r>
            <a:r>
              <a:rPr lang="en-US" sz="2000" dirty="0"/>
              <a:t>/</a:t>
            </a:r>
            <a:r>
              <a:rPr lang="en-US" sz="2000" dirty="0" err="1"/>
              <a:t>dt</a:t>
            </a:r>
            <a:r>
              <a:rPr lang="en-US" sz="2000" dirty="0"/>
              <a:t> &gt; 1</a:t>
            </a:r>
          </a:p>
          <a:p>
            <a:pPr lvl="1">
              <a:spcBef>
                <a:spcPts val="1000"/>
              </a:spcBef>
              <a:buClr>
                <a:srgbClr val="1D6199"/>
              </a:buClr>
              <a:defRPr/>
            </a:pPr>
            <a:r>
              <a:rPr lang="en-US" sz="2400" dirty="0">
                <a:solidFill>
                  <a:srgbClr val="1D6199"/>
                </a:solidFill>
              </a:rPr>
              <a:t>Slow clock:</a:t>
            </a:r>
          </a:p>
          <a:p>
            <a:pPr lvl="2">
              <a:spcBef>
                <a:spcPts val="1000"/>
              </a:spcBef>
              <a:buClr>
                <a:srgbClr val="1D6199"/>
              </a:buClr>
              <a:defRPr/>
            </a:pPr>
            <a:r>
              <a:rPr lang="en-US" sz="2000" dirty="0"/>
              <a:t>The timer ticks less than ‘H’ interrupts a second</a:t>
            </a:r>
          </a:p>
          <a:p>
            <a:pPr lvl="2">
              <a:spcBef>
                <a:spcPts val="1000"/>
              </a:spcBef>
              <a:buClr>
                <a:srgbClr val="1D6199"/>
              </a:buClr>
              <a:buFontTx/>
              <a:buNone/>
              <a:defRPr/>
            </a:pPr>
            <a:r>
              <a:rPr lang="en-US" sz="2000" dirty="0"/>
              <a:t>	</a:t>
            </a:r>
            <a:r>
              <a:rPr lang="en-US" sz="2000" dirty="0" err="1"/>
              <a:t>dC</a:t>
            </a:r>
            <a:r>
              <a:rPr lang="en-US" sz="2000" dirty="0"/>
              <a:t>/</a:t>
            </a:r>
            <a:r>
              <a:rPr lang="en-US" sz="2000" dirty="0" err="1"/>
              <a:t>dt</a:t>
            </a:r>
            <a:r>
              <a:rPr lang="en-US" sz="2000" dirty="0"/>
              <a:t> &lt; </a:t>
            </a:r>
            <a:r>
              <a:rPr lang="en-US" b="1" dirty="0">
                <a:solidFill>
                  <a:srgbClr val="1D3064"/>
                </a:solidFill>
                <a:latin typeface="Courier New" pitchFamily="49" charset="0"/>
                <a:cs typeface="Courier New" pitchFamily="49" charset="0"/>
              </a:rPr>
              <a:t>1</a:t>
            </a:r>
            <a:endParaRPr lang="en-US" b="1" dirty="0">
              <a:solidFill>
                <a:srgbClr val="1D3064"/>
              </a:solidFill>
            </a:endParaRPr>
          </a:p>
        </p:txBody>
      </p:sp>
      <p:cxnSp>
        <p:nvCxnSpPr>
          <p:cNvPr id="8" name="Straight Arrow Connector 7">
            <a:extLst>
              <a:ext uri="{FF2B5EF4-FFF2-40B4-BE49-F238E27FC236}">
                <a16:creationId xmlns:a16="http://schemas.microsoft.com/office/drawing/2014/main" id="{454269CD-1992-48A0-81E6-F149B1003BD4}"/>
              </a:ext>
            </a:extLst>
          </p:cNvPr>
          <p:cNvCxnSpPr/>
          <p:nvPr/>
        </p:nvCxnSpPr>
        <p:spPr>
          <a:xfrm>
            <a:off x="8086725" y="2557462"/>
            <a:ext cx="1143000" cy="0"/>
          </a:xfrm>
          <a:prstGeom prst="straightConnector1">
            <a:avLst/>
          </a:prstGeom>
          <a:ln w="12700">
            <a:solidFill>
              <a:schemeClr val="tx1"/>
            </a:solidFill>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79D14986-FE06-4150-9473-CCE7DAE2D305}"/>
              </a:ext>
            </a:extLst>
          </p:cNvPr>
          <p:cNvCxnSpPr/>
          <p:nvPr/>
        </p:nvCxnSpPr>
        <p:spPr>
          <a:xfrm flipV="1">
            <a:off x="9229725" y="2557462"/>
            <a:ext cx="0" cy="1905000"/>
          </a:xfrm>
          <a:prstGeom prst="straightConnector1">
            <a:avLst/>
          </a:prstGeom>
          <a:ln w="12700">
            <a:solidFill>
              <a:schemeClr val="tx1"/>
            </a:solidFill>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2354102A-1FD2-46F2-BC27-6353C6EA5598}"/>
              </a:ext>
            </a:extLst>
          </p:cNvPr>
          <p:cNvCxnSpPr/>
          <p:nvPr/>
        </p:nvCxnSpPr>
        <p:spPr>
          <a:xfrm flipV="1">
            <a:off x="8086725" y="2557462"/>
            <a:ext cx="1828800" cy="1905000"/>
          </a:xfrm>
          <a:prstGeom prst="straightConnector1">
            <a:avLst/>
          </a:prstGeom>
          <a:ln w="19050">
            <a:solidFill>
              <a:srgbClr val="1D3064"/>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839608B8-99BC-4FFE-8C86-2D1DE5D8C082}"/>
              </a:ext>
            </a:extLst>
          </p:cNvPr>
          <p:cNvCxnSpPr/>
          <p:nvPr/>
        </p:nvCxnSpPr>
        <p:spPr>
          <a:xfrm flipV="1">
            <a:off x="8086725" y="2557462"/>
            <a:ext cx="1143000" cy="1905000"/>
          </a:xfrm>
          <a:prstGeom prst="straightConnector1">
            <a:avLst/>
          </a:prstGeom>
          <a:ln w="19050">
            <a:solidFill>
              <a:schemeClr val="tx1"/>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629C208E-1C9D-40D0-84D3-9A4068E39C2B}"/>
              </a:ext>
            </a:extLst>
          </p:cNvPr>
          <p:cNvCxnSpPr/>
          <p:nvPr/>
        </p:nvCxnSpPr>
        <p:spPr>
          <a:xfrm flipV="1">
            <a:off x="8086725" y="3243262"/>
            <a:ext cx="1828800" cy="1219200"/>
          </a:xfrm>
          <a:prstGeom prst="straightConnector1">
            <a:avLst/>
          </a:prstGeom>
          <a:ln w="19050">
            <a:solidFill>
              <a:srgbClr val="1D6199"/>
            </a:solidFill>
            <a:prstDash val="dashDot"/>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5BAE3904-37CD-49F0-AFBF-3F61483EADAE}"/>
              </a:ext>
            </a:extLst>
          </p:cNvPr>
          <p:cNvCxnSpPr/>
          <p:nvPr/>
        </p:nvCxnSpPr>
        <p:spPr>
          <a:xfrm>
            <a:off x="8086725" y="3700462"/>
            <a:ext cx="1143000" cy="0"/>
          </a:xfrm>
          <a:prstGeom prst="straightConnector1">
            <a:avLst/>
          </a:prstGeom>
          <a:ln w="12700">
            <a:solidFill>
              <a:schemeClr val="accent6"/>
            </a:solidFill>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2E5C5358-D827-433F-8607-3245101E62CC}"/>
              </a:ext>
            </a:extLst>
          </p:cNvPr>
          <p:cNvCxnSpPr/>
          <p:nvPr/>
        </p:nvCxnSpPr>
        <p:spPr>
          <a:xfrm>
            <a:off x="8086725" y="3243262"/>
            <a:ext cx="1143000" cy="0"/>
          </a:xfrm>
          <a:prstGeom prst="straightConnector1">
            <a:avLst/>
          </a:prstGeom>
          <a:ln w="12700">
            <a:solidFill>
              <a:srgbClr val="1D3064"/>
            </a:solidFill>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A26BB817-5C5A-4107-8490-D873113E7891}"/>
              </a:ext>
            </a:extLst>
          </p:cNvPr>
          <p:cNvSpPr txBox="1">
            <a:spLocks noChangeArrowheads="1"/>
          </p:cNvSpPr>
          <p:nvPr/>
        </p:nvSpPr>
        <p:spPr bwMode="auto">
          <a:xfrm>
            <a:off x="9077325" y="4491038"/>
            <a:ext cx="381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200">
                <a:solidFill>
                  <a:schemeClr val="tx1"/>
                </a:solidFill>
                <a:latin typeface="+mn-lt"/>
              </a:rPr>
              <a:t>10</a:t>
            </a:r>
          </a:p>
        </p:txBody>
      </p:sp>
      <p:grpSp>
        <p:nvGrpSpPr>
          <p:cNvPr id="76" name="Group 75"/>
          <p:cNvGrpSpPr/>
          <p:nvPr/>
        </p:nvGrpSpPr>
        <p:grpSpPr>
          <a:xfrm>
            <a:off x="7412802" y="2176462"/>
            <a:ext cx="2807523" cy="2990910"/>
            <a:chOff x="7412802" y="2176462"/>
            <a:chExt cx="2807523" cy="2990910"/>
          </a:xfrm>
        </p:grpSpPr>
        <p:cxnSp>
          <p:nvCxnSpPr>
            <p:cNvPr id="6" name="Straight Arrow Connector 5">
              <a:extLst>
                <a:ext uri="{FF2B5EF4-FFF2-40B4-BE49-F238E27FC236}">
                  <a16:creationId xmlns:a16="http://schemas.microsoft.com/office/drawing/2014/main" id="{1746F86D-EB4A-4F2B-8625-A66E348D2FFC}"/>
                </a:ext>
              </a:extLst>
            </p:cNvPr>
            <p:cNvCxnSpPr/>
            <p:nvPr/>
          </p:nvCxnSpPr>
          <p:spPr>
            <a:xfrm>
              <a:off x="8086725" y="4462462"/>
              <a:ext cx="2133600" cy="0"/>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073ABED6-7FBA-4CD5-AA84-E86D32825809}"/>
                </a:ext>
              </a:extLst>
            </p:cNvPr>
            <p:cNvCxnSpPr/>
            <p:nvPr/>
          </p:nvCxnSpPr>
          <p:spPr>
            <a:xfrm flipV="1">
              <a:off x="8086725" y="2176462"/>
              <a:ext cx="0" cy="2286000"/>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sp>
          <p:nvSpPr>
            <p:cNvPr id="15" name="TextBox 34">
              <a:extLst>
                <a:ext uri="{FF2B5EF4-FFF2-40B4-BE49-F238E27FC236}">
                  <a16:creationId xmlns:a16="http://schemas.microsoft.com/office/drawing/2014/main" id="{104C864D-769C-4635-A83A-1F0D51FC1160}"/>
                </a:ext>
              </a:extLst>
            </p:cNvPr>
            <p:cNvSpPr txBox="1">
              <a:spLocks noChangeArrowheads="1"/>
            </p:cNvSpPr>
            <p:nvPr/>
          </p:nvSpPr>
          <p:spPr bwMode="auto">
            <a:xfrm>
              <a:off x="8620125" y="4767262"/>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tx1"/>
                  </a:solidFill>
                  <a:latin typeface="+mn-lt"/>
                </a:rPr>
                <a:t>UTC, </a:t>
              </a:r>
              <a:r>
                <a:rPr lang="en-US" altLang="en-US" sz="2000" dirty="0">
                  <a:solidFill>
                    <a:schemeClr val="tx1"/>
                  </a:solidFill>
                  <a:latin typeface="+mn-lt"/>
                  <a:cs typeface="Courier New" panose="02070309020205020404" pitchFamily="49" charset="0"/>
                </a:rPr>
                <a:t>t</a:t>
              </a:r>
              <a:endParaRPr lang="en-US" altLang="en-US" sz="2000" dirty="0">
                <a:solidFill>
                  <a:schemeClr val="tx1"/>
                </a:solidFill>
                <a:latin typeface="+mn-lt"/>
              </a:endParaRPr>
            </a:p>
          </p:txBody>
        </p:sp>
        <p:sp>
          <p:nvSpPr>
            <p:cNvPr id="16" name="TextBox 35">
              <a:extLst>
                <a:ext uri="{FF2B5EF4-FFF2-40B4-BE49-F238E27FC236}">
                  <a16:creationId xmlns:a16="http://schemas.microsoft.com/office/drawing/2014/main" id="{855EAE94-9453-4C74-9DD6-5BBDA976DB44}"/>
                </a:ext>
              </a:extLst>
            </p:cNvPr>
            <p:cNvSpPr txBox="1">
              <a:spLocks noChangeArrowheads="1"/>
            </p:cNvSpPr>
            <p:nvPr/>
          </p:nvSpPr>
          <p:spPr bwMode="auto">
            <a:xfrm rot="16200000">
              <a:off x="6660357" y="3157508"/>
              <a:ext cx="1905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tx1"/>
                  </a:solidFill>
                  <a:latin typeface="+mn-lt"/>
                </a:rPr>
                <a:t>Clock time,</a:t>
              </a:r>
              <a:r>
                <a:rPr lang="en-US" altLang="en-US" sz="2000" dirty="0">
                  <a:solidFill>
                    <a:schemeClr val="tx1"/>
                  </a:solidFill>
                  <a:latin typeface="+mn-lt"/>
                  <a:cs typeface="Courier New" panose="02070309020205020404" pitchFamily="49" charset="0"/>
                </a:rPr>
                <a:t> </a:t>
              </a:r>
              <a:r>
                <a:rPr lang="en-US" altLang="en-US" sz="2000" dirty="0" err="1">
                  <a:solidFill>
                    <a:schemeClr val="tx1"/>
                  </a:solidFill>
                  <a:latin typeface="+mn-lt"/>
                  <a:cs typeface="Courier New" panose="02070309020205020404" pitchFamily="49" charset="0"/>
                </a:rPr>
                <a:t>C</a:t>
              </a:r>
              <a:r>
                <a:rPr lang="en-US" altLang="en-US" sz="2000" baseline="-25000" dirty="0" err="1">
                  <a:solidFill>
                    <a:schemeClr val="tx1"/>
                  </a:solidFill>
                  <a:latin typeface="+mn-lt"/>
                  <a:cs typeface="Courier New" panose="02070309020205020404" pitchFamily="49" charset="0"/>
                </a:rPr>
                <a:t>p</a:t>
              </a:r>
              <a:r>
                <a:rPr lang="en-US" altLang="en-US" sz="2000" dirty="0">
                  <a:solidFill>
                    <a:schemeClr val="tx1"/>
                  </a:solidFill>
                  <a:latin typeface="+mn-lt"/>
                  <a:cs typeface="Courier New" panose="02070309020205020404" pitchFamily="49" charset="0"/>
                </a:rPr>
                <a:t>(t)</a:t>
              </a:r>
              <a:endParaRPr lang="en-US" altLang="en-US" sz="2000" dirty="0">
                <a:solidFill>
                  <a:schemeClr val="tx1"/>
                </a:solidFill>
                <a:latin typeface="+mn-lt"/>
              </a:endParaRPr>
            </a:p>
          </p:txBody>
        </p:sp>
        <p:sp>
          <p:nvSpPr>
            <p:cNvPr id="17" name="TextBox 36">
              <a:extLst>
                <a:ext uri="{FF2B5EF4-FFF2-40B4-BE49-F238E27FC236}">
                  <a16:creationId xmlns:a16="http://schemas.microsoft.com/office/drawing/2014/main" id="{8D256305-6621-43D4-9AFC-36ABAE91E4C6}"/>
                </a:ext>
              </a:extLst>
            </p:cNvPr>
            <p:cNvSpPr txBox="1">
              <a:spLocks noChangeArrowheads="1"/>
            </p:cNvSpPr>
            <p:nvPr/>
          </p:nvSpPr>
          <p:spPr bwMode="auto">
            <a:xfrm>
              <a:off x="7705725" y="3119438"/>
              <a:ext cx="381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algn="r" eaLnBrk="1" hangingPunct="1">
                <a:spcBef>
                  <a:spcPct val="0"/>
                </a:spcBef>
                <a:buFontTx/>
                <a:buNone/>
              </a:pPr>
              <a:r>
                <a:rPr lang="en-US" altLang="en-US" sz="1200">
                  <a:solidFill>
                    <a:schemeClr val="tx1"/>
                  </a:solidFill>
                  <a:latin typeface="+mn-lt"/>
                </a:rPr>
                <a:t>10</a:t>
              </a:r>
            </a:p>
          </p:txBody>
        </p:sp>
        <p:sp>
          <p:nvSpPr>
            <p:cNvPr id="19" name="TextBox 38">
              <a:extLst>
                <a:ext uri="{FF2B5EF4-FFF2-40B4-BE49-F238E27FC236}">
                  <a16:creationId xmlns:a16="http://schemas.microsoft.com/office/drawing/2014/main" id="{59AA935F-F513-4897-B086-79409FA59E18}"/>
                </a:ext>
              </a:extLst>
            </p:cNvPr>
            <p:cNvSpPr txBox="1">
              <a:spLocks noChangeArrowheads="1"/>
            </p:cNvSpPr>
            <p:nvPr/>
          </p:nvSpPr>
          <p:spPr bwMode="auto">
            <a:xfrm>
              <a:off x="7934325" y="4538663"/>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200">
                  <a:solidFill>
                    <a:schemeClr val="tx1"/>
                  </a:solidFill>
                  <a:latin typeface="+mn-lt"/>
                </a:rPr>
                <a:t>0</a:t>
              </a:r>
            </a:p>
          </p:txBody>
        </p:sp>
      </p:grpSp>
      <p:cxnSp>
        <p:nvCxnSpPr>
          <p:cNvPr id="20" name="Straight Arrow Connector 19">
            <a:extLst>
              <a:ext uri="{FF2B5EF4-FFF2-40B4-BE49-F238E27FC236}">
                <a16:creationId xmlns:a16="http://schemas.microsoft.com/office/drawing/2014/main" id="{C7192112-6BF0-47EF-A054-C90A5DBDF5F5}"/>
              </a:ext>
            </a:extLst>
          </p:cNvPr>
          <p:cNvCxnSpPr/>
          <p:nvPr/>
        </p:nvCxnSpPr>
        <p:spPr>
          <a:xfrm flipV="1">
            <a:off x="9229725" y="3700462"/>
            <a:ext cx="0" cy="762000"/>
          </a:xfrm>
          <a:prstGeom prst="straightConnector1">
            <a:avLst/>
          </a:prstGeom>
          <a:ln w="12700">
            <a:solidFill>
              <a:srgbClr val="FF0000"/>
            </a:solidFill>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12A4470A-5188-4B72-9074-4C201E6618C6}"/>
              </a:ext>
            </a:extLst>
          </p:cNvPr>
          <p:cNvCxnSpPr/>
          <p:nvPr/>
        </p:nvCxnSpPr>
        <p:spPr>
          <a:xfrm flipV="1">
            <a:off x="9229725" y="3243262"/>
            <a:ext cx="0" cy="1219200"/>
          </a:xfrm>
          <a:prstGeom prst="straightConnector1">
            <a:avLst/>
          </a:prstGeom>
          <a:ln w="12700">
            <a:solidFill>
              <a:srgbClr val="1D3064"/>
            </a:solidFill>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0B167897-6293-4B1A-A4D8-273C3DA08AEB}"/>
              </a:ext>
            </a:extLst>
          </p:cNvPr>
          <p:cNvSpPr txBox="1">
            <a:spLocks noChangeArrowheads="1"/>
          </p:cNvSpPr>
          <p:nvPr/>
        </p:nvSpPr>
        <p:spPr bwMode="auto">
          <a:xfrm rot="18881476">
            <a:off x="8571600" y="2718055"/>
            <a:ext cx="16652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rgbClr val="1D3064"/>
                </a:solidFill>
                <a:latin typeface="+mn-lt"/>
              </a:rPr>
              <a:t>Perfect clock</a:t>
            </a:r>
          </a:p>
        </p:txBody>
      </p:sp>
      <p:sp>
        <p:nvSpPr>
          <p:cNvPr id="23" name="TextBox 22">
            <a:extLst>
              <a:ext uri="{FF2B5EF4-FFF2-40B4-BE49-F238E27FC236}">
                <a16:creationId xmlns:a16="http://schemas.microsoft.com/office/drawing/2014/main" id="{381E5CE0-A984-4DF1-9EB9-FF152564BF30}"/>
              </a:ext>
            </a:extLst>
          </p:cNvPr>
          <p:cNvSpPr txBox="1"/>
          <p:nvPr/>
        </p:nvSpPr>
        <p:spPr>
          <a:xfrm rot="18262911">
            <a:off x="8007351" y="2955896"/>
            <a:ext cx="1295400" cy="400110"/>
          </a:xfrm>
          <a:prstGeom prst="rect">
            <a:avLst/>
          </a:prstGeom>
          <a:noFill/>
        </p:spPr>
        <p:txBody>
          <a:bodyPr>
            <a:spAutoFit/>
          </a:bodyPr>
          <a:lstStyle/>
          <a:p>
            <a:pPr eaLnBrk="1" hangingPunct="1">
              <a:defRPr/>
            </a:pPr>
            <a:r>
              <a:rPr lang="en-US" sz="2000" dirty="0">
                <a:cs typeface="Arial" charset="0"/>
              </a:rPr>
              <a:t>Fast Clock</a:t>
            </a:r>
          </a:p>
        </p:txBody>
      </p:sp>
      <p:sp>
        <p:nvSpPr>
          <p:cNvPr id="24" name="TextBox 23">
            <a:extLst>
              <a:ext uri="{FF2B5EF4-FFF2-40B4-BE49-F238E27FC236}">
                <a16:creationId xmlns:a16="http://schemas.microsoft.com/office/drawing/2014/main" id="{D765BF35-7E4B-4744-A7A0-40E2499E4A60}"/>
              </a:ext>
            </a:extLst>
          </p:cNvPr>
          <p:cNvSpPr txBox="1">
            <a:spLocks noChangeArrowheads="1"/>
          </p:cNvSpPr>
          <p:nvPr/>
        </p:nvSpPr>
        <p:spPr bwMode="auto">
          <a:xfrm rot="19631558">
            <a:off x="8793163" y="3218626"/>
            <a:ext cx="1295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rgbClr val="1D6199"/>
                </a:solidFill>
                <a:latin typeface="+mn-lt"/>
              </a:rPr>
              <a:t>Slow Clock</a:t>
            </a:r>
          </a:p>
        </p:txBody>
      </p:sp>
      <p:sp>
        <p:nvSpPr>
          <p:cNvPr id="25" name="TextBox 24">
            <a:extLst>
              <a:ext uri="{FF2B5EF4-FFF2-40B4-BE49-F238E27FC236}">
                <a16:creationId xmlns:a16="http://schemas.microsoft.com/office/drawing/2014/main" id="{9E4F2FC4-90BD-4FB8-91A5-628EF64D3C10}"/>
              </a:ext>
            </a:extLst>
          </p:cNvPr>
          <p:cNvSpPr txBox="1">
            <a:spLocks noChangeArrowheads="1"/>
          </p:cNvSpPr>
          <p:nvPr/>
        </p:nvSpPr>
        <p:spPr bwMode="auto">
          <a:xfrm>
            <a:off x="7705725" y="2405063"/>
            <a:ext cx="381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algn="r" eaLnBrk="1" hangingPunct="1">
              <a:spcBef>
                <a:spcPct val="0"/>
              </a:spcBef>
              <a:buFontTx/>
              <a:buNone/>
            </a:pPr>
            <a:r>
              <a:rPr lang="en-US" altLang="en-US" sz="1200" dirty="0">
                <a:solidFill>
                  <a:schemeClr val="tx1"/>
                </a:solidFill>
                <a:latin typeface="+mn-lt"/>
              </a:rPr>
              <a:t>15</a:t>
            </a:r>
          </a:p>
        </p:txBody>
      </p:sp>
      <p:sp>
        <p:nvSpPr>
          <p:cNvPr id="26" name="TextBox 25">
            <a:extLst>
              <a:ext uri="{FF2B5EF4-FFF2-40B4-BE49-F238E27FC236}">
                <a16:creationId xmlns:a16="http://schemas.microsoft.com/office/drawing/2014/main" id="{D955D81B-DF23-4F15-895C-ABF545C89DAF}"/>
              </a:ext>
            </a:extLst>
          </p:cNvPr>
          <p:cNvSpPr txBox="1">
            <a:spLocks noChangeArrowheads="1"/>
          </p:cNvSpPr>
          <p:nvPr/>
        </p:nvSpPr>
        <p:spPr bwMode="auto">
          <a:xfrm>
            <a:off x="7705725" y="3576638"/>
            <a:ext cx="381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algn="r" eaLnBrk="1" hangingPunct="1">
              <a:spcBef>
                <a:spcPct val="0"/>
              </a:spcBef>
              <a:buFontTx/>
              <a:buNone/>
            </a:pPr>
            <a:r>
              <a:rPr lang="en-US" altLang="en-US" sz="1200">
                <a:solidFill>
                  <a:schemeClr val="tx1"/>
                </a:solidFill>
                <a:latin typeface="+mn-lt"/>
              </a:rPr>
              <a:t>7</a:t>
            </a:r>
          </a:p>
        </p:txBody>
      </p:sp>
      <mc:AlternateContent xmlns:mc="http://schemas.openxmlformats.org/markup-compatibility/2006" xmlns:a14="http://schemas.microsoft.com/office/drawing/2010/main">
        <mc:Choice Requires="a14">
          <p:sp>
            <p:nvSpPr>
              <p:cNvPr id="86" name="TextBox 85"/>
              <p:cNvSpPr txBox="1"/>
              <p:nvPr/>
            </p:nvSpPr>
            <p:spPr>
              <a:xfrm>
                <a:off x="9890938" y="1968473"/>
                <a:ext cx="871842" cy="5845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b="1" i="1" smtClean="0">
                              <a:solidFill>
                                <a:srgbClr val="1D6199"/>
                              </a:solidFill>
                              <a:latin typeface="Cambria Math" panose="02040503050406030204" pitchFamily="18" charset="0"/>
                            </a:rPr>
                          </m:ctrlPr>
                        </m:fPr>
                        <m:num>
                          <m:r>
                            <a:rPr lang="en-US" sz="2000" b="1" i="1" smtClean="0">
                              <a:solidFill>
                                <a:srgbClr val="1D6199"/>
                              </a:solidFill>
                              <a:latin typeface="Cambria Math" panose="02040503050406030204" pitchFamily="18" charset="0"/>
                            </a:rPr>
                            <m:t>𝒅𝑪</m:t>
                          </m:r>
                        </m:num>
                        <m:den>
                          <m:r>
                            <a:rPr lang="en-US" sz="2000" b="1" i="1" smtClean="0">
                              <a:solidFill>
                                <a:srgbClr val="1D6199"/>
                              </a:solidFill>
                              <a:latin typeface="Cambria Math" panose="02040503050406030204" pitchFamily="18" charset="0"/>
                            </a:rPr>
                            <m:t>𝒅𝒕</m:t>
                          </m:r>
                        </m:den>
                      </m:f>
                      <m:r>
                        <a:rPr lang="en-US" sz="2000" b="1" i="1" smtClean="0">
                          <a:solidFill>
                            <a:srgbClr val="1D6199"/>
                          </a:solidFill>
                          <a:latin typeface="Cambria Math" panose="02040503050406030204" pitchFamily="18" charset="0"/>
                        </a:rPr>
                        <m:t>=</m:t>
                      </m:r>
                      <m:r>
                        <a:rPr lang="en-US" sz="2000" b="1" i="1" smtClean="0">
                          <a:solidFill>
                            <a:srgbClr val="1D6199"/>
                          </a:solidFill>
                          <a:latin typeface="Cambria Math" panose="02040503050406030204" pitchFamily="18" charset="0"/>
                        </a:rPr>
                        <m:t>𝟏</m:t>
                      </m:r>
                    </m:oMath>
                  </m:oMathPara>
                </a14:m>
                <a:endParaRPr lang="en-US" sz="2000" b="1" i="1" dirty="0">
                  <a:solidFill>
                    <a:srgbClr val="1D6199"/>
                  </a:solidFill>
                </a:endParaRPr>
              </a:p>
            </p:txBody>
          </p:sp>
        </mc:Choice>
        <mc:Fallback xmlns="">
          <p:sp>
            <p:nvSpPr>
              <p:cNvPr id="86" name="TextBox 85"/>
              <p:cNvSpPr txBox="1">
                <a:spLocks noRot="1" noChangeAspect="1" noMove="1" noResize="1" noEditPoints="1" noAdjustHandles="1" noChangeArrowheads="1" noChangeShapeType="1" noTextEdit="1"/>
              </p:cNvSpPr>
              <p:nvPr/>
            </p:nvSpPr>
            <p:spPr>
              <a:xfrm>
                <a:off x="9890938" y="1968473"/>
                <a:ext cx="871842" cy="584584"/>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737343F2-66A0-4B97-9D39-A052F7BC26EE}"/>
                  </a:ext>
                </a:extLst>
              </p:cNvPr>
              <p:cNvSpPr txBox="1"/>
              <p:nvPr/>
            </p:nvSpPr>
            <p:spPr>
              <a:xfrm>
                <a:off x="8319680" y="1942937"/>
                <a:ext cx="986246" cy="58458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𝒅𝑪</m:t>
                          </m:r>
                        </m:num>
                        <m:den>
                          <m:r>
                            <a:rPr lang="en-US" sz="2000" b="1" i="1" smtClean="0">
                              <a:latin typeface="Cambria Math" panose="02040503050406030204" pitchFamily="18" charset="0"/>
                            </a:rPr>
                            <m:t>𝒅𝒕</m:t>
                          </m:r>
                        </m:den>
                      </m:f>
                      <m:r>
                        <a:rPr lang="en-US" sz="2000" b="1" i="1" smtClean="0">
                          <a:latin typeface="Cambria Math" panose="02040503050406030204" pitchFamily="18" charset="0"/>
                        </a:rPr>
                        <m:t>&gt;</m:t>
                      </m:r>
                      <m:r>
                        <a:rPr lang="en-US" sz="2000" b="1" i="1" smtClean="0">
                          <a:latin typeface="Cambria Math" panose="02040503050406030204" pitchFamily="18" charset="0"/>
                        </a:rPr>
                        <m:t>𝟏</m:t>
                      </m:r>
                    </m:oMath>
                  </m:oMathPara>
                </a14:m>
                <a:endParaRPr lang="en-US" sz="2000" b="1" i="1" dirty="0"/>
              </a:p>
            </p:txBody>
          </p:sp>
        </mc:Choice>
        <mc:Fallback xmlns="">
          <p:sp>
            <p:nvSpPr>
              <p:cNvPr id="87" name="TextBox 86">
                <a:extLst>
                  <a:ext uri="{FF2B5EF4-FFF2-40B4-BE49-F238E27FC236}">
                    <a16:creationId xmlns:a16="http://schemas.microsoft.com/office/drawing/2014/main" xmlns:a14="http://schemas.microsoft.com/office/drawing/2010/main" xmlns="" id="{737343F2-66A0-4B97-9D39-A052F7BC26EE}"/>
                  </a:ext>
                </a:extLst>
              </p:cNvPr>
              <p:cNvSpPr txBox="1">
                <a:spLocks noRot="1" noChangeAspect="1" noMove="1" noResize="1" noEditPoints="1" noAdjustHandles="1" noChangeArrowheads="1" noChangeShapeType="1" noTextEdit="1"/>
              </p:cNvSpPr>
              <p:nvPr/>
            </p:nvSpPr>
            <p:spPr>
              <a:xfrm>
                <a:off x="8319680" y="1942937"/>
                <a:ext cx="986246" cy="584584"/>
              </a:xfrm>
              <a:prstGeom prst="rect">
                <a:avLst/>
              </a:prstGeom>
              <a:blipFill rotWithShape="0">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99E9B12D-F0AD-42A2-8F13-62D6C3FD51D2}"/>
                  </a:ext>
                </a:extLst>
              </p:cNvPr>
              <p:cNvSpPr txBox="1"/>
              <p:nvPr/>
            </p:nvSpPr>
            <p:spPr>
              <a:xfrm>
                <a:off x="9564704" y="3516715"/>
                <a:ext cx="871841" cy="5845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b="1" i="1" smtClean="0">
                              <a:solidFill>
                                <a:srgbClr val="1D6199"/>
                              </a:solidFill>
                              <a:latin typeface="Cambria Math" panose="02040503050406030204" pitchFamily="18" charset="0"/>
                            </a:rPr>
                          </m:ctrlPr>
                        </m:fPr>
                        <m:num>
                          <m:r>
                            <a:rPr lang="en-US" sz="2000" b="1" i="1" smtClean="0">
                              <a:solidFill>
                                <a:srgbClr val="1D6199"/>
                              </a:solidFill>
                              <a:latin typeface="Cambria Math" panose="02040503050406030204" pitchFamily="18" charset="0"/>
                            </a:rPr>
                            <m:t>𝒅𝑪</m:t>
                          </m:r>
                        </m:num>
                        <m:den>
                          <m:r>
                            <a:rPr lang="en-US" sz="2000" b="1" i="1" smtClean="0">
                              <a:solidFill>
                                <a:srgbClr val="1D6199"/>
                              </a:solidFill>
                              <a:latin typeface="Cambria Math" panose="02040503050406030204" pitchFamily="18" charset="0"/>
                            </a:rPr>
                            <m:t>𝒅𝒕</m:t>
                          </m:r>
                        </m:den>
                      </m:f>
                      <m:r>
                        <a:rPr lang="en-US" sz="2000" b="1" i="1" smtClean="0">
                          <a:solidFill>
                            <a:srgbClr val="1D6199"/>
                          </a:solidFill>
                          <a:latin typeface="Cambria Math" panose="02040503050406030204" pitchFamily="18" charset="0"/>
                        </a:rPr>
                        <m:t>&lt;</m:t>
                      </m:r>
                      <m:r>
                        <a:rPr lang="en-US" sz="2000" b="1" i="1" smtClean="0">
                          <a:solidFill>
                            <a:srgbClr val="1D6199"/>
                          </a:solidFill>
                          <a:latin typeface="Cambria Math" panose="02040503050406030204" pitchFamily="18" charset="0"/>
                        </a:rPr>
                        <m:t>𝟏</m:t>
                      </m:r>
                    </m:oMath>
                  </m:oMathPara>
                </a14:m>
                <a:endParaRPr lang="en-US" sz="2000" b="1" i="1" dirty="0">
                  <a:solidFill>
                    <a:srgbClr val="1D6199"/>
                  </a:solidFill>
                </a:endParaRPr>
              </a:p>
            </p:txBody>
          </p:sp>
        </mc:Choice>
        <mc:Fallback xmlns="">
          <p:sp>
            <p:nvSpPr>
              <p:cNvPr id="88" name="TextBox 87">
                <a:extLst>
                  <a:ext uri="{FF2B5EF4-FFF2-40B4-BE49-F238E27FC236}">
                    <a16:creationId xmlns:a16="http://schemas.microsoft.com/office/drawing/2014/main" id="{99E9B12D-F0AD-42A2-8F13-62D6C3FD51D2}"/>
                  </a:ext>
                </a:extLst>
              </p:cNvPr>
              <p:cNvSpPr txBox="1">
                <a:spLocks noRot="1" noChangeAspect="1" noMove="1" noResize="1" noEditPoints="1" noAdjustHandles="1" noChangeArrowheads="1" noChangeShapeType="1" noTextEdit="1"/>
              </p:cNvSpPr>
              <p:nvPr/>
            </p:nvSpPr>
            <p:spPr>
              <a:xfrm>
                <a:off x="9564704" y="3516715"/>
                <a:ext cx="871841" cy="584584"/>
              </a:xfrm>
              <a:prstGeom prst="rect">
                <a:avLst/>
              </a:prstGeom>
              <a:blipFill>
                <a:blip r:embed="rId5"/>
                <a:stretch>
                  <a:fillRect/>
                </a:stretch>
              </a:blipFill>
            </p:spPr>
            <p:txBody>
              <a:bodyPr/>
              <a:lstStyle/>
              <a:p>
                <a:r>
                  <a:rPr lang="en-IN">
                    <a:noFill/>
                  </a:rPr>
                  <a:t> </a:t>
                </a:r>
              </a:p>
            </p:txBody>
          </p:sp>
        </mc:Fallback>
      </mc:AlternateContent>
      <p:sp>
        <p:nvSpPr>
          <p:cNvPr id="89" name="Rectangle 88"/>
          <p:cNvSpPr/>
          <p:nvPr/>
        </p:nvSpPr>
        <p:spPr>
          <a:xfrm>
            <a:off x="8561960" y="5148261"/>
            <a:ext cx="3630039" cy="400110"/>
          </a:xfrm>
          <a:prstGeom prst="rect">
            <a:avLst/>
          </a:prstGeom>
        </p:spPr>
        <p:txBody>
          <a:bodyPr wrap="square">
            <a:spAutoFit/>
          </a:bodyPr>
          <a:lstStyle/>
          <a:p>
            <a:r>
              <a:rPr lang="en-US" sz="2000" b="1" dirty="0">
                <a:solidFill>
                  <a:srgbClr val="1D3064"/>
                </a:solidFill>
                <a:latin typeface="+mj-lt"/>
              </a:rPr>
              <a:t>UTC= Coordinated Universal Time</a:t>
            </a:r>
          </a:p>
        </p:txBody>
      </p:sp>
    </p:spTree>
    <p:extLst>
      <p:ext uri="{BB962C8B-B14F-4D97-AF65-F5344CB8AC3E}">
        <p14:creationId xmlns:p14="http://schemas.microsoft.com/office/powerpoint/2010/main" val="13461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14"/>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21"/>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5">
                                            <p:txEl>
                                              <p:pRg st="5" end="5"/>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
                                            <p:txEl>
                                              <p:pRg st="6" end="6"/>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nodeType="clickEffect">
                                  <p:stCondLst>
                                    <p:cond delay="0"/>
                                  </p:stCondLst>
                                  <p:childTnLst>
                                    <p:set>
                                      <p:cBhvr>
                                        <p:cTn id="66" dur="1" fill="hold">
                                          <p:stCondLst>
                                            <p:cond delay="0"/>
                                          </p:stCondLst>
                                        </p:cTn>
                                        <p:tgtEl>
                                          <p:spTgt spid="8"/>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9"/>
                                        </p:tgtEl>
                                        <p:attrNameLst>
                                          <p:attrName>style.visibility</p:attrName>
                                        </p:attrNameLst>
                                      </p:cBhvr>
                                      <p:to>
                                        <p:strVal val="hidden"/>
                                      </p:to>
                                    </p:set>
                                  </p:childTnLst>
                                </p:cTn>
                              </p:par>
                              <p:par>
                                <p:cTn id="69" presetID="1" presetClass="entr" presetSubtype="0" fill="hold" nodeType="withEffect">
                                  <p:stCondLst>
                                    <p:cond delay="0"/>
                                  </p:stCondLst>
                                  <p:childTnLst>
                                    <p:set>
                                      <p:cBhvr>
                                        <p:cTn id="70" dur="1" fill="hold">
                                          <p:stCondLst>
                                            <p:cond delay="0"/>
                                          </p:stCondLst>
                                        </p:cTn>
                                        <p:tgtEl>
                                          <p:spTgt spid="5">
                                            <p:txEl>
                                              <p:pRg st="8" end="8"/>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20"/>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3"/>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4"/>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5">
                                            <p:txEl>
                                              <p:pRg st="9" end="9"/>
                                            </p:txEl>
                                          </p:spTgt>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nodeType="clickEffect">
                                  <p:stCondLst>
                                    <p:cond delay="0"/>
                                  </p:stCondLst>
                                  <p:childTnLst>
                                    <p:set>
                                      <p:cBhvr>
                                        <p:cTn id="92" dur="1" fill="hold">
                                          <p:stCondLst>
                                            <p:cond delay="0"/>
                                          </p:stCondLst>
                                        </p:cTn>
                                        <p:tgtEl>
                                          <p:spTgt spid="13"/>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20"/>
                                        </p:tgtEl>
                                        <p:attrNameLst>
                                          <p:attrName>style.visibility</p:attrName>
                                        </p:attrNameLst>
                                      </p:cBhvr>
                                      <p:to>
                                        <p:strVal val="hidden"/>
                                      </p:to>
                                    </p:set>
                                  </p:childTnLst>
                                </p:cTn>
                              </p:par>
                              <p:par>
                                <p:cTn id="95" presetID="1" presetClass="entr" presetSubtype="0" fill="hold" nodeType="withEffect">
                                  <p:stCondLst>
                                    <p:cond delay="0"/>
                                  </p:stCondLst>
                                  <p:childTnLst>
                                    <p:set>
                                      <p:cBhvr>
                                        <p:cTn id="96" dur="1" fill="hold">
                                          <p:stCondLst>
                                            <p:cond delay="0"/>
                                          </p:stCondLst>
                                        </p:cTn>
                                        <p:tgtEl>
                                          <p:spTgt spid="5">
                                            <p:txEl>
                                              <p:pRg st="11" end="11"/>
                                            </p:txEl>
                                          </p:spTgt>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2" grpId="0"/>
      <p:bldP spid="23" grpId="0"/>
      <p:bldP spid="24" grpId="0"/>
      <p:bldP spid="25" grpId="0"/>
      <p:bldP spid="26" grpId="0"/>
      <p:bldP spid="86" grpId="0"/>
      <p:bldP spid="87" grpId="0"/>
      <p:bldP spid="88" grpId="0"/>
      <p:bldP spid="8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Clock Skew</a:t>
            </a:r>
          </a:p>
        </p:txBody>
      </p:sp>
      <p:sp>
        <p:nvSpPr>
          <p:cNvPr id="5" name="Content Placeholder 2">
            <a:extLst>
              <a:ext uri="{FF2B5EF4-FFF2-40B4-BE49-F238E27FC236}">
                <a16:creationId xmlns:a16="http://schemas.microsoft.com/office/drawing/2014/main" id="{F7B6CBB3-BAA9-42B0-939E-0D9D629E6062}"/>
              </a:ext>
            </a:extLst>
          </p:cNvPr>
          <p:cNvSpPr txBox="1">
            <a:spLocks/>
          </p:cNvSpPr>
          <p:nvPr/>
        </p:nvSpPr>
        <p:spPr>
          <a:xfrm>
            <a:off x="131179" y="863444"/>
            <a:ext cx="11956046"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1D6199"/>
              </a:buClr>
              <a:defRPr/>
            </a:pPr>
            <a:r>
              <a:rPr lang="en-US" dirty="0"/>
              <a:t>Frequency of the clock is defined as the ratio of the number of seconds counted by the software clock for every UTC second</a:t>
            </a:r>
          </a:p>
          <a:p>
            <a:pPr>
              <a:buClr>
                <a:srgbClr val="1D6199"/>
              </a:buClr>
              <a:defRPr/>
            </a:pPr>
            <a:r>
              <a:rPr lang="en-US" dirty="0">
                <a:solidFill>
                  <a:srgbClr val="1D6199"/>
                </a:solidFill>
              </a:rPr>
              <a:t>     Frequency = </a:t>
            </a:r>
            <a:r>
              <a:rPr lang="en-US" dirty="0" err="1">
                <a:solidFill>
                  <a:srgbClr val="1D6199"/>
                </a:solidFill>
              </a:rPr>
              <a:t>dC</a:t>
            </a:r>
            <a:r>
              <a:rPr lang="en-US" dirty="0">
                <a:solidFill>
                  <a:srgbClr val="1D6199"/>
                </a:solidFill>
              </a:rPr>
              <a:t>/</a:t>
            </a:r>
            <a:r>
              <a:rPr lang="en-US" dirty="0" err="1">
                <a:solidFill>
                  <a:srgbClr val="1D6199"/>
                </a:solidFill>
              </a:rPr>
              <a:t>dt</a:t>
            </a:r>
            <a:endParaRPr lang="en-US" dirty="0">
              <a:solidFill>
                <a:srgbClr val="1D6199"/>
              </a:solidFill>
            </a:endParaRPr>
          </a:p>
          <a:p>
            <a:pPr>
              <a:buClr>
                <a:srgbClr val="1D6199"/>
              </a:buClr>
              <a:defRPr/>
            </a:pPr>
            <a:r>
              <a:rPr lang="en-US" dirty="0"/>
              <a:t>Skew of the clock is defined as the extent to which the frequency differs from that of a perfect clock</a:t>
            </a:r>
          </a:p>
          <a:p>
            <a:pPr>
              <a:buClr>
                <a:srgbClr val="1D6199"/>
              </a:buClr>
              <a:defRPr/>
            </a:pPr>
            <a:r>
              <a:rPr lang="en-US" dirty="0"/>
              <a:t>     </a:t>
            </a:r>
            <a:r>
              <a:rPr lang="en-US" dirty="0">
                <a:solidFill>
                  <a:srgbClr val="1D6199"/>
                </a:solidFill>
              </a:rPr>
              <a:t>Skew = </a:t>
            </a:r>
            <a:r>
              <a:rPr lang="en-US" dirty="0" err="1">
                <a:solidFill>
                  <a:srgbClr val="1D6199"/>
                </a:solidFill>
              </a:rPr>
              <a:t>dC</a:t>
            </a:r>
            <a:r>
              <a:rPr lang="en-US" dirty="0">
                <a:solidFill>
                  <a:srgbClr val="1D6199"/>
                </a:solidFill>
              </a:rPr>
              <a:t>/</a:t>
            </a:r>
            <a:r>
              <a:rPr lang="en-US" dirty="0" err="1">
                <a:solidFill>
                  <a:srgbClr val="1D6199"/>
                </a:solidFill>
              </a:rPr>
              <a:t>dt</a:t>
            </a:r>
            <a:r>
              <a:rPr lang="en-US" dirty="0">
                <a:solidFill>
                  <a:srgbClr val="1D6199"/>
                </a:solidFill>
              </a:rPr>
              <a:t> – 1</a:t>
            </a:r>
          </a:p>
          <a:p>
            <a:pPr>
              <a:buClr>
                <a:srgbClr val="1D6199"/>
              </a:buClr>
              <a:defRPr/>
            </a:pPr>
            <a:r>
              <a:rPr lang="en-US" dirty="0"/>
              <a:t>Hence, </a:t>
            </a:r>
          </a:p>
          <a:p>
            <a:pPr marL="0" indent="0">
              <a:buNone/>
              <a:defRPr/>
            </a:pPr>
            <a:endParaRPr lang="en-US" i="1" dirty="0">
              <a:solidFill>
                <a:srgbClr val="1D3064"/>
              </a:solidFill>
            </a:endParaRPr>
          </a:p>
        </p:txBody>
      </p:sp>
      <p:grpSp>
        <p:nvGrpSpPr>
          <p:cNvPr id="3" name="Group 2"/>
          <p:cNvGrpSpPr/>
          <p:nvPr/>
        </p:nvGrpSpPr>
        <p:grpSpPr>
          <a:xfrm>
            <a:off x="6891225" y="2800732"/>
            <a:ext cx="3349978" cy="3224435"/>
            <a:chOff x="7308028" y="3000818"/>
            <a:chExt cx="3349978" cy="3224435"/>
          </a:xfrm>
        </p:grpSpPr>
        <p:cxnSp>
          <p:nvCxnSpPr>
            <p:cNvPr id="10" name="Straight Arrow Connector 9">
              <a:extLst>
                <a:ext uri="{FF2B5EF4-FFF2-40B4-BE49-F238E27FC236}">
                  <a16:creationId xmlns:a16="http://schemas.microsoft.com/office/drawing/2014/main" id="{2354102A-1FD2-46F2-BC27-6353C6EA5598}"/>
                </a:ext>
              </a:extLst>
            </p:cNvPr>
            <p:cNvCxnSpPr/>
            <p:nvPr/>
          </p:nvCxnSpPr>
          <p:spPr>
            <a:xfrm flipV="1">
              <a:off x="7981951" y="3615343"/>
              <a:ext cx="1828800" cy="1905000"/>
            </a:xfrm>
            <a:prstGeom prst="straightConnector1">
              <a:avLst/>
            </a:prstGeom>
            <a:ln w="19050">
              <a:solidFill>
                <a:srgbClr val="1D3064"/>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839608B8-99BC-4FFE-8C86-2D1DE5D8C082}"/>
                </a:ext>
              </a:extLst>
            </p:cNvPr>
            <p:cNvCxnSpPr/>
            <p:nvPr/>
          </p:nvCxnSpPr>
          <p:spPr>
            <a:xfrm flipV="1">
              <a:off x="7981951" y="3615343"/>
              <a:ext cx="1143000" cy="1905000"/>
            </a:xfrm>
            <a:prstGeom prst="straightConnector1">
              <a:avLst/>
            </a:prstGeom>
            <a:ln w="19050">
              <a:solidFill>
                <a:schemeClr val="tx1"/>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629C208E-1C9D-40D0-84D3-9A4068E39C2B}"/>
                </a:ext>
              </a:extLst>
            </p:cNvPr>
            <p:cNvCxnSpPr/>
            <p:nvPr/>
          </p:nvCxnSpPr>
          <p:spPr>
            <a:xfrm flipV="1">
              <a:off x="7981951" y="4301143"/>
              <a:ext cx="1828800" cy="1219200"/>
            </a:xfrm>
            <a:prstGeom prst="straightConnector1">
              <a:avLst/>
            </a:prstGeom>
            <a:ln w="19050">
              <a:solidFill>
                <a:srgbClr val="1D6199"/>
              </a:solidFill>
              <a:prstDash val="dashDot"/>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A26BB817-5C5A-4107-8490-D873113E7891}"/>
                </a:ext>
              </a:extLst>
            </p:cNvPr>
            <p:cNvSpPr txBox="1">
              <a:spLocks noChangeArrowheads="1"/>
            </p:cNvSpPr>
            <p:nvPr/>
          </p:nvSpPr>
          <p:spPr bwMode="auto">
            <a:xfrm>
              <a:off x="8972551" y="5548919"/>
              <a:ext cx="381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200">
                  <a:solidFill>
                    <a:schemeClr val="tx1"/>
                  </a:solidFill>
                  <a:latin typeface="+mn-lt"/>
                </a:rPr>
                <a:t>10</a:t>
              </a:r>
            </a:p>
          </p:txBody>
        </p:sp>
        <p:grpSp>
          <p:nvGrpSpPr>
            <p:cNvPr id="76" name="Group 75"/>
            <p:cNvGrpSpPr/>
            <p:nvPr/>
          </p:nvGrpSpPr>
          <p:grpSpPr>
            <a:xfrm>
              <a:off x="7308028" y="3234343"/>
              <a:ext cx="2807523" cy="2990910"/>
              <a:chOff x="7412802" y="2176462"/>
              <a:chExt cx="2807523" cy="2990910"/>
            </a:xfrm>
          </p:grpSpPr>
          <p:cxnSp>
            <p:nvCxnSpPr>
              <p:cNvPr id="6" name="Straight Arrow Connector 5">
                <a:extLst>
                  <a:ext uri="{FF2B5EF4-FFF2-40B4-BE49-F238E27FC236}">
                    <a16:creationId xmlns:a16="http://schemas.microsoft.com/office/drawing/2014/main" id="{1746F86D-EB4A-4F2B-8625-A66E348D2FFC}"/>
                  </a:ext>
                </a:extLst>
              </p:cNvPr>
              <p:cNvCxnSpPr/>
              <p:nvPr/>
            </p:nvCxnSpPr>
            <p:spPr>
              <a:xfrm>
                <a:off x="8086725" y="4462462"/>
                <a:ext cx="2133600" cy="0"/>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073ABED6-7FBA-4CD5-AA84-E86D32825809}"/>
                  </a:ext>
                </a:extLst>
              </p:cNvPr>
              <p:cNvCxnSpPr/>
              <p:nvPr/>
            </p:nvCxnSpPr>
            <p:spPr>
              <a:xfrm flipV="1">
                <a:off x="8086725" y="2176462"/>
                <a:ext cx="0" cy="2286000"/>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sp>
            <p:nvSpPr>
              <p:cNvPr id="15" name="TextBox 34">
                <a:extLst>
                  <a:ext uri="{FF2B5EF4-FFF2-40B4-BE49-F238E27FC236}">
                    <a16:creationId xmlns:a16="http://schemas.microsoft.com/office/drawing/2014/main" id="{104C864D-769C-4635-A83A-1F0D51FC1160}"/>
                  </a:ext>
                </a:extLst>
              </p:cNvPr>
              <p:cNvSpPr txBox="1">
                <a:spLocks noChangeArrowheads="1"/>
              </p:cNvSpPr>
              <p:nvPr/>
            </p:nvSpPr>
            <p:spPr bwMode="auto">
              <a:xfrm>
                <a:off x="8620125" y="4767262"/>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tx1"/>
                    </a:solidFill>
                    <a:latin typeface="+mn-lt"/>
                  </a:rPr>
                  <a:t>UTC, </a:t>
                </a:r>
                <a:r>
                  <a:rPr lang="en-US" altLang="en-US" sz="2000" dirty="0">
                    <a:solidFill>
                      <a:schemeClr val="tx1"/>
                    </a:solidFill>
                    <a:latin typeface="+mn-lt"/>
                    <a:cs typeface="Courier New" panose="02070309020205020404" pitchFamily="49" charset="0"/>
                  </a:rPr>
                  <a:t>t</a:t>
                </a:r>
                <a:endParaRPr lang="en-US" altLang="en-US" sz="2000" dirty="0">
                  <a:solidFill>
                    <a:schemeClr val="tx1"/>
                  </a:solidFill>
                  <a:latin typeface="+mn-lt"/>
                </a:endParaRPr>
              </a:p>
            </p:txBody>
          </p:sp>
          <p:sp>
            <p:nvSpPr>
              <p:cNvPr id="16" name="TextBox 35">
                <a:extLst>
                  <a:ext uri="{FF2B5EF4-FFF2-40B4-BE49-F238E27FC236}">
                    <a16:creationId xmlns:a16="http://schemas.microsoft.com/office/drawing/2014/main" id="{855EAE94-9453-4C74-9DD6-5BBDA976DB44}"/>
                  </a:ext>
                </a:extLst>
              </p:cNvPr>
              <p:cNvSpPr txBox="1">
                <a:spLocks noChangeArrowheads="1"/>
              </p:cNvSpPr>
              <p:nvPr/>
            </p:nvSpPr>
            <p:spPr bwMode="auto">
              <a:xfrm rot="16200000">
                <a:off x="6660357" y="3157508"/>
                <a:ext cx="1905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tx1"/>
                    </a:solidFill>
                    <a:latin typeface="+mn-lt"/>
                  </a:rPr>
                  <a:t>Clock time,</a:t>
                </a:r>
                <a:r>
                  <a:rPr lang="en-US" altLang="en-US" sz="2000" dirty="0">
                    <a:solidFill>
                      <a:schemeClr val="tx1"/>
                    </a:solidFill>
                    <a:latin typeface="+mn-lt"/>
                    <a:cs typeface="Courier New" panose="02070309020205020404" pitchFamily="49" charset="0"/>
                  </a:rPr>
                  <a:t> </a:t>
                </a:r>
                <a:r>
                  <a:rPr lang="en-US" altLang="en-US" sz="2000" dirty="0" err="1">
                    <a:solidFill>
                      <a:schemeClr val="tx1"/>
                    </a:solidFill>
                    <a:latin typeface="+mn-lt"/>
                    <a:cs typeface="Courier New" panose="02070309020205020404" pitchFamily="49" charset="0"/>
                  </a:rPr>
                  <a:t>C</a:t>
                </a:r>
                <a:r>
                  <a:rPr lang="en-US" altLang="en-US" sz="2000" baseline="-25000" dirty="0" err="1">
                    <a:solidFill>
                      <a:schemeClr val="tx1"/>
                    </a:solidFill>
                    <a:latin typeface="+mn-lt"/>
                    <a:cs typeface="Courier New" panose="02070309020205020404" pitchFamily="49" charset="0"/>
                  </a:rPr>
                  <a:t>p</a:t>
                </a:r>
                <a:r>
                  <a:rPr lang="en-US" altLang="en-US" sz="2000" dirty="0">
                    <a:solidFill>
                      <a:schemeClr val="tx1"/>
                    </a:solidFill>
                    <a:latin typeface="+mn-lt"/>
                    <a:cs typeface="Courier New" panose="02070309020205020404" pitchFamily="49" charset="0"/>
                  </a:rPr>
                  <a:t>(t)</a:t>
                </a:r>
                <a:endParaRPr lang="en-US" altLang="en-US" sz="2000" dirty="0">
                  <a:solidFill>
                    <a:schemeClr val="tx1"/>
                  </a:solidFill>
                  <a:latin typeface="+mn-lt"/>
                </a:endParaRPr>
              </a:p>
            </p:txBody>
          </p:sp>
          <p:sp>
            <p:nvSpPr>
              <p:cNvPr id="17" name="TextBox 36">
                <a:extLst>
                  <a:ext uri="{FF2B5EF4-FFF2-40B4-BE49-F238E27FC236}">
                    <a16:creationId xmlns:a16="http://schemas.microsoft.com/office/drawing/2014/main" id="{8D256305-6621-43D4-9AFC-36ABAE91E4C6}"/>
                  </a:ext>
                </a:extLst>
              </p:cNvPr>
              <p:cNvSpPr txBox="1">
                <a:spLocks noChangeArrowheads="1"/>
              </p:cNvSpPr>
              <p:nvPr/>
            </p:nvSpPr>
            <p:spPr bwMode="auto">
              <a:xfrm>
                <a:off x="7705725" y="3119438"/>
                <a:ext cx="381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algn="r" eaLnBrk="1" hangingPunct="1">
                  <a:spcBef>
                    <a:spcPct val="0"/>
                  </a:spcBef>
                  <a:buFontTx/>
                  <a:buNone/>
                </a:pPr>
                <a:r>
                  <a:rPr lang="en-US" altLang="en-US" sz="1200">
                    <a:solidFill>
                      <a:schemeClr val="tx1"/>
                    </a:solidFill>
                    <a:latin typeface="+mn-lt"/>
                  </a:rPr>
                  <a:t>10</a:t>
                </a:r>
              </a:p>
            </p:txBody>
          </p:sp>
          <p:sp>
            <p:nvSpPr>
              <p:cNvPr id="19" name="TextBox 38">
                <a:extLst>
                  <a:ext uri="{FF2B5EF4-FFF2-40B4-BE49-F238E27FC236}">
                    <a16:creationId xmlns:a16="http://schemas.microsoft.com/office/drawing/2014/main" id="{59AA935F-F513-4897-B086-79409FA59E18}"/>
                  </a:ext>
                </a:extLst>
              </p:cNvPr>
              <p:cNvSpPr txBox="1">
                <a:spLocks noChangeArrowheads="1"/>
              </p:cNvSpPr>
              <p:nvPr/>
            </p:nvSpPr>
            <p:spPr bwMode="auto">
              <a:xfrm>
                <a:off x="7934325" y="4538663"/>
                <a:ext cx="304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200">
                    <a:solidFill>
                      <a:schemeClr val="tx1"/>
                    </a:solidFill>
                    <a:latin typeface="+mn-lt"/>
                  </a:rPr>
                  <a:t>0</a:t>
                </a:r>
              </a:p>
            </p:txBody>
          </p:sp>
        </p:grpSp>
        <p:sp>
          <p:nvSpPr>
            <p:cNvPr id="22" name="TextBox 21">
              <a:extLst>
                <a:ext uri="{FF2B5EF4-FFF2-40B4-BE49-F238E27FC236}">
                  <a16:creationId xmlns:a16="http://schemas.microsoft.com/office/drawing/2014/main" id="{0B167897-6293-4B1A-A4D8-273C3DA08AEB}"/>
                </a:ext>
              </a:extLst>
            </p:cNvPr>
            <p:cNvSpPr txBox="1">
              <a:spLocks noChangeArrowheads="1"/>
            </p:cNvSpPr>
            <p:nvPr/>
          </p:nvSpPr>
          <p:spPr bwMode="auto">
            <a:xfrm rot="18881476">
              <a:off x="8466826" y="3775936"/>
              <a:ext cx="16652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rgbClr val="1D3064"/>
                  </a:solidFill>
                  <a:latin typeface="+mn-lt"/>
                </a:rPr>
                <a:t>Perfect clock</a:t>
              </a:r>
            </a:p>
          </p:txBody>
        </p:sp>
        <p:sp>
          <p:nvSpPr>
            <p:cNvPr id="23" name="TextBox 22">
              <a:extLst>
                <a:ext uri="{FF2B5EF4-FFF2-40B4-BE49-F238E27FC236}">
                  <a16:creationId xmlns:a16="http://schemas.microsoft.com/office/drawing/2014/main" id="{381E5CE0-A984-4DF1-9EB9-FF152564BF30}"/>
                </a:ext>
              </a:extLst>
            </p:cNvPr>
            <p:cNvSpPr txBox="1"/>
            <p:nvPr/>
          </p:nvSpPr>
          <p:spPr>
            <a:xfrm rot="18262911">
              <a:off x="7902577" y="4013777"/>
              <a:ext cx="1295400" cy="400110"/>
            </a:xfrm>
            <a:prstGeom prst="rect">
              <a:avLst/>
            </a:prstGeom>
            <a:noFill/>
          </p:spPr>
          <p:txBody>
            <a:bodyPr>
              <a:spAutoFit/>
            </a:bodyPr>
            <a:lstStyle/>
            <a:p>
              <a:pPr eaLnBrk="1" hangingPunct="1">
                <a:defRPr/>
              </a:pPr>
              <a:r>
                <a:rPr lang="en-US" sz="2000" dirty="0">
                  <a:cs typeface="Arial" charset="0"/>
                </a:rPr>
                <a:t>Fast Clock</a:t>
              </a:r>
            </a:p>
          </p:txBody>
        </p:sp>
        <p:sp>
          <p:nvSpPr>
            <p:cNvPr id="24" name="TextBox 23">
              <a:extLst>
                <a:ext uri="{FF2B5EF4-FFF2-40B4-BE49-F238E27FC236}">
                  <a16:creationId xmlns:a16="http://schemas.microsoft.com/office/drawing/2014/main" id="{D765BF35-7E4B-4744-A7A0-40E2499E4A60}"/>
                </a:ext>
              </a:extLst>
            </p:cNvPr>
            <p:cNvSpPr txBox="1">
              <a:spLocks noChangeArrowheads="1"/>
            </p:cNvSpPr>
            <p:nvPr/>
          </p:nvSpPr>
          <p:spPr bwMode="auto">
            <a:xfrm rot="19631558">
              <a:off x="8688389" y="4276507"/>
              <a:ext cx="1295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rgbClr val="1D6199"/>
                  </a:solidFill>
                  <a:latin typeface="+mn-lt"/>
                </a:rPr>
                <a:t>Slow Clock</a:t>
              </a:r>
            </a:p>
          </p:txBody>
        </p:sp>
        <p:sp>
          <p:nvSpPr>
            <p:cNvPr id="25" name="TextBox 24">
              <a:extLst>
                <a:ext uri="{FF2B5EF4-FFF2-40B4-BE49-F238E27FC236}">
                  <a16:creationId xmlns:a16="http://schemas.microsoft.com/office/drawing/2014/main" id="{9E4F2FC4-90BD-4FB8-91A5-628EF64D3C10}"/>
                </a:ext>
              </a:extLst>
            </p:cNvPr>
            <p:cNvSpPr txBox="1">
              <a:spLocks noChangeArrowheads="1"/>
            </p:cNvSpPr>
            <p:nvPr/>
          </p:nvSpPr>
          <p:spPr bwMode="auto">
            <a:xfrm>
              <a:off x="7600951" y="3462944"/>
              <a:ext cx="381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algn="r" eaLnBrk="1" hangingPunct="1">
                <a:spcBef>
                  <a:spcPct val="0"/>
                </a:spcBef>
                <a:buFontTx/>
                <a:buNone/>
              </a:pPr>
              <a:r>
                <a:rPr lang="en-US" altLang="en-US" sz="1200" dirty="0">
                  <a:solidFill>
                    <a:schemeClr val="tx1"/>
                  </a:solidFill>
                  <a:latin typeface="+mn-lt"/>
                </a:rPr>
                <a:t>15</a:t>
              </a:r>
            </a:p>
          </p:txBody>
        </p:sp>
        <p:sp>
          <p:nvSpPr>
            <p:cNvPr id="26" name="TextBox 25">
              <a:extLst>
                <a:ext uri="{FF2B5EF4-FFF2-40B4-BE49-F238E27FC236}">
                  <a16:creationId xmlns:a16="http://schemas.microsoft.com/office/drawing/2014/main" id="{D955D81B-DF23-4F15-895C-ABF545C89DAF}"/>
                </a:ext>
              </a:extLst>
            </p:cNvPr>
            <p:cNvSpPr txBox="1">
              <a:spLocks noChangeArrowheads="1"/>
            </p:cNvSpPr>
            <p:nvPr/>
          </p:nvSpPr>
          <p:spPr bwMode="auto">
            <a:xfrm>
              <a:off x="7600951" y="4634519"/>
              <a:ext cx="381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algn="r" eaLnBrk="1" hangingPunct="1">
                <a:spcBef>
                  <a:spcPct val="0"/>
                </a:spcBef>
                <a:buFontTx/>
                <a:buNone/>
              </a:pPr>
              <a:r>
                <a:rPr lang="en-US" altLang="en-US" sz="1200">
                  <a:solidFill>
                    <a:schemeClr val="tx1"/>
                  </a:solidFill>
                  <a:latin typeface="+mn-lt"/>
                </a:rPr>
                <a:t>7</a:t>
              </a:r>
            </a:p>
          </p:txBody>
        </p:sp>
        <mc:AlternateContent xmlns:mc="http://schemas.openxmlformats.org/markup-compatibility/2006" xmlns:a14="http://schemas.microsoft.com/office/drawing/2010/main">
          <mc:Choice Requires="a14">
            <p:sp>
              <p:nvSpPr>
                <p:cNvPr id="86" name="TextBox 85"/>
                <p:cNvSpPr txBox="1"/>
                <p:nvPr/>
              </p:nvSpPr>
              <p:spPr>
                <a:xfrm>
                  <a:off x="9786164" y="3026354"/>
                  <a:ext cx="871842" cy="5845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b="1" i="1" smtClean="0">
                                <a:solidFill>
                                  <a:srgbClr val="1D3064"/>
                                </a:solidFill>
                                <a:latin typeface="Cambria Math" panose="02040503050406030204" pitchFamily="18" charset="0"/>
                              </a:rPr>
                            </m:ctrlPr>
                          </m:fPr>
                          <m:num>
                            <m:r>
                              <a:rPr lang="en-US" sz="2000" b="1" i="1" smtClean="0">
                                <a:solidFill>
                                  <a:srgbClr val="1D3064"/>
                                </a:solidFill>
                                <a:latin typeface="Cambria Math" panose="02040503050406030204" pitchFamily="18" charset="0"/>
                              </a:rPr>
                              <m:t>𝒅𝑪</m:t>
                            </m:r>
                          </m:num>
                          <m:den>
                            <m:r>
                              <a:rPr lang="en-US" sz="2000" b="1" i="1" smtClean="0">
                                <a:solidFill>
                                  <a:srgbClr val="1D3064"/>
                                </a:solidFill>
                                <a:latin typeface="Cambria Math" panose="02040503050406030204" pitchFamily="18" charset="0"/>
                              </a:rPr>
                              <m:t>𝒅𝒕</m:t>
                            </m:r>
                          </m:den>
                        </m:f>
                        <m:r>
                          <a:rPr lang="en-US" sz="2000" b="1" i="1" smtClean="0">
                            <a:solidFill>
                              <a:srgbClr val="1D3064"/>
                            </a:solidFill>
                            <a:latin typeface="Cambria Math" panose="02040503050406030204" pitchFamily="18" charset="0"/>
                          </a:rPr>
                          <m:t>=</m:t>
                        </m:r>
                        <m:r>
                          <a:rPr lang="en-US" sz="2000" b="1" i="1" smtClean="0">
                            <a:solidFill>
                              <a:srgbClr val="1D3064"/>
                            </a:solidFill>
                            <a:latin typeface="Cambria Math" panose="02040503050406030204" pitchFamily="18" charset="0"/>
                          </a:rPr>
                          <m:t>𝟏</m:t>
                        </m:r>
                      </m:oMath>
                    </m:oMathPara>
                  </a14:m>
                  <a:endParaRPr lang="en-US" sz="2000" b="1" i="1" dirty="0">
                    <a:solidFill>
                      <a:srgbClr val="1D3064"/>
                    </a:solidFill>
                  </a:endParaRPr>
                </a:p>
              </p:txBody>
            </p:sp>
          </mc:Choice>
          <mc:Fallback xmlns="">
            <p:sp>
              <p:nvSpPr>
                <p:cNvPr id="86" name="TextBox 85"/>
                <p:cNvSpPr txBox="1">
                  <a:spLocks noRot="1" noChangeAspect="1" noMove="1" noResize="1" noEditPoints="1" noAdjustHandles="1" noChangeArrowheads="1" noChangeShapeType="1" noTextEdit="1"/>
                </p:cNvSpPr>
                <p:nvPr/>
              </p:nvSpPr>
              <p:spPr>
                <a:xfrm>
                  <a:off x="9786164" y="3026354"/>
                  <a:ext cx="871842" cy="584584"/>
                </a:xfrm>
                <a:prstGeom prst="rect">
                  <a:avLst/>
                </a:prstGeom>
                <a:blipFill rotWithShape="0">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737343F2-66A0-4B97-9D39-A052F7BC26EE}"/>
                    </a:ext>
                  </a:extLst>
                </p:cNvPr>
                <p:cNvSpPr txBox="1"/>
                <p:nvPr/>
              </p:nvSpPr>
              <p:spPr>
                <a:xfrm>
                  <a:off x="8214906" y="3000818"/>
                  <a:ext cx="986246" cy="58458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𝒅𝑪</m:t>
                            </m:r>
                          </m:num>
                          <m:den>
                            <m:r>
                              <a:rPr lang="en-US" sz="2000" b="1" i="1" smtClean="0">
                                <a:latin typeface="Cambria Math" panose="02040503050406030204" pitchFamily="18" charset="0"/>
                              </a:rPr>
                              <m:t>𝒅𝒕</m:t>
                            </m:r>
                          </m:den>
                        </m:f>
                        <m:r>
                          <a:rPr lang="en-US" sz="2000" b="1" i="1" smtClean="0">
                            <a:latin typeface="Cambria Math" panose="02040503050406030204" pitchFamily="18" charset="0"/>
                          </a:rPr>
                          <m:t>&gt;</m:t>
                        </m:r>
                        <m:r>
                          <a:rPr lang="en-US" sz="2000" b="1" i="1" smtClean="0">
                            <a:latin typeface="Cambria Math" panose="02040503050406030204" pitchFamily="18" charset="0"/>
                          </a:rPr>
                          <m:t>𝟏</m:t>
                        </m:r>
                      </m:oMath>
                    </m:oMathPara>
                  </a14:m>
                  <a:endParaRPr lang="en-US" sz="2000" b="1" i="1" dirty="0"/>
                </a:p>
              </p:txBody>
            </p:sp>
          </mc:Choice>
          <mc:Fallback xmlns="">
            <p:sp>
              <p:nvSpPr>
                <p:cNvPr id="87" name="TextBox 86">
                  <a:extLst>
                    <a:ext uri="{FF2B5EF4-FFF2-40B4-BE49-F238E27FC236}">
                      <a16:creationId xmlns:a16="http://schemas.microsoft.com/office/drawing/2014/main" xmlns:a14="http://schemas.microsoft.com/office/drawing/2010/main" xmlns="" id="{737343F2-66A0-4B97-9D39-A052F7BC26EE}"/>
                    </a:ext>
                  </a:extLst>
                </p:cNvPr>
                <p:cNvSpPr txBox="1">
                  <a:spLocks noRot="1" noChangeAspect="1" noMove="1" noResize="1" noEditPoints="1" noAdjustHandles="1" noChangeArrowheads="1" noChangeShapeType="1" noTextEdit="1"/>
                </p:cNvSpPr>
                <p:nvPr/>
              </p:nvSpPr>
              <p:spPr>
                <a:xfrm>
                  <a:off x="8214906" y="3000818"/>
                  <a:ext cx="986246" cy="584584"/>
                </a:xfrm>
                <a:prstGeom prst="rect">
                  <a:avLst/>
                </a:prstGeom>
                <a:blipFill rotWithShape="0">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99E9B12D-F0AD-42A2-8F13-62D6C3FD51D2}"/>
                    </a:ext>
                  </a:extLst>
                </p:cNvPr>
                <p:cNvSpPr txBox="1"/>
                <p:nvPr/>
              </p:nvSpPr>
              <p:spPr>
                <a:xfrm>
                  <a:off x="9459930" y="4574596"/>
                  <a:ext cx="871841" cy="5845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000" b="1" i="1" smtClean="0">
                                <a:solidFill>
                                  <a:srgbClr val="1D6199"/>
                                </a:solidFill>
                                <a:latin typeface="Cambria Math" panose="02040503050406030204" pitchFamily="18" charset="0"/>
                              </a:rPr>
                            </m:ctrlPr>
                          </m:fPr>
                          <m:num>
                            <m:r>
                              <a:rPr lang="en-US" sz="2000" b="1" i="1" smtClean="0">
                                <a:solidFill>
                                  <a:srgbClr val="1D6199"/>
                                </a:solidFill>
                                <a:latin typeface="Cambria Math" panose="02040503050406030204" pitchFamily="18" charset="0"/>
                              </a:rPr>
                              <m:t>𝒅𝑪</m:t>
                            </m:r>
                          </m:num>
                          <m:den>
                            <m:r>
                              <a:rPr lang="en-US" sz="2000" b="1" i="1" smtClean="0">
                                <a:solidFill>
                                  <a:srgbClr val="1D6199"/>
                                </a:solidFill>
                                <a:latin typeface="Cambria Math" panose="02040503050406030204" pitchFamily="18" charset="0"/>
                              </a:rPr>
                              <m:t>𝒅𝒕</m:t>
                            </m:r>
                          </m:den>
                        </m:f>
                        <m:r>
                          <a:rPr lang="en-US" sz="2000" b="1" i="1" smtClean="0">
                            <a:solidFill>
                              <a:srgbClr val="1D6199"/>
                            </a:solidFill>
                            <a:latin typeface="Cambria Math" panose="02040503050406030204" pitchFamily="18" charset="0"/>
                          </a:rPr>
                          <m:t>&lt;</m:t>
                        </m:r>
                        <m:r>
                          <a:rPr lang="en-US" sz="2000" b="1" i="1" smtClean="0">
                            <a:solidFill>
                              <a:srgbClr val="1D6199"/>
                            </a:solidFill>
                            <a:latin typeface="Cambria Math" panose="02040503050406030204" pitchFamily="18" charset="0"/>
                          </a:rPr>
                          <m:t>𝟏</m:t>
                        </m:r>
                      </m:oMath>
                    </m:oMathPara>
                  </a14:m>
                  <a:endParaRPr lang="en-US" sz="2000" b="1" i="1" dirty="0">
                    <a:solidFill>
                      <a:srgbClr val="1D6199"/>
                    </a:solidFill>
                  </a:endParaRPr>
                </a:p>
              </p:txBody>
            </p:sp>
          </mc:Choice>
          <mc:Fallback xmlns="">
            <p:sp>
              <p:nvSpPr>
                <p:cNvPr id="88" name="TextBox 87">
                  <a:extLst>
                    <a:ext uri="{FF2B5EF4-FFF2-40B4-BE49-F238E27FC236}">
                      <a16:creationId xmlns:a16="http://schemas.microsoft.com/office/drawing/2014/main" id="{99E9B12D-F0AD-42A2-8F13-62D6C3FD51D2}"/>
                    </a:ext>
                  </a:extLst>
                </p:cNvPr>
                <p:cNvSpPr txBox="1">
                  <a:spLocks noRot="1" noChangeAspect="1" noMove="1" noResize="1" noEditPoints="1" noAdjustHandles="1" noChangeArrowheads="1" noChangeShapeType="1" noTextEdit="1"/>
                </p:cNvSpPr>
                <p:nvPr/>
              </p:nvSpPr>
              <p:spPr>
                <a:xfrm>
                  <a:off x="9459930" y="4574596"/>
                  <a:ext cx="871841" cy="584584"/>
                </a:xfrm>
                <a:prstGeom prst="rect">
                  <a:avLst/>
                </a:prstGeom>
                <a:blipFill>
                  <a:blip r:embed="rId6"/>
                  <a:stretch>
                    <a:fillRect/>
                  </a:stretch>
                </a:blipFill>
              </p:spPr>
              <p:txBody>
                <a:bodyPr/>
                <a:lstStyle/>
                <a:p>
                  <a:r>
                    <a:rPr lang="en-IN">
                      <a:noFill/>
                    </a:rPr>
                    <a:t> </a:t>
                  </a:r>
                </a:p>
              </p:txBody>
            </p:sp>
          </mc:Fallback>
        </mc:AlternateContent>
      </p:grpSp>
      <p:graphicFrame>
        <p:nvGraphicFramePr>
          <p:cNvPr id="30" name="Object 2">
            <a:extLst>
              <a:ext uri="{FF2B5EF4-FFF2-40B4-BE49-F238E27FC236}">
                <a16:creationId xmlns:a16="http://schemas.microsoft.com/office/drawing/2014/main" id="{55AFB2B2-A50E-489C-8D75-30BC4FF3DE89}"/>
              </a:ext>
            </a:extLst>
          </p:cNvPr>
          <p:cNvGraphicFramePr>
            <a:graphicFrameLocks noChangeAspect="1"/>
          </p:cNvGraphicFramePr>
          <p:nvPr/>
        </p:nvGraphicFramePr>
        <p:xfrm>
          <a:off x="900503" y="4082794"/>
          <a:ext cx="4787900" cy="1752600"/>
        </p:xfrm>
        <a:graphic>
          <a:graphicData uri="http://schemas.openxmlformats.org/presentationml/2006/ole">
            <mc:AlternateContent xmlns:mc="http://schemas.openxmlformats.org/markup-compatibility/2006">
              <mc:Choice xmlns:v="urn:schemas-microsoft-com:vml" Requires="v">
                <p:oleObj name="Equation" r:id="rId7" imgW="1942920" imgH="711000" progId="Equation.3">
                  <p:embed/>
                </p:oleObj>
              </mc:Choice>
              <mc:Fallback>
                <p:oleObj name="Equation" r:id="rId7" imgW="1942920" imgH="711000" progId="Equation.3">
                  <p:embed/>
                  <p:pic>
                    <p:nvPicPr>
                      <p:cNvPr id="30" name="Object 2">
                        <a:extLst>
                          <a:ext uri="{FF2B5EF4-FFF2-40B4-BE49-F238E27FC236}">
                            <a16:creationId xmlns:a16="http://schemas.microsoft.com/office/drawing/2014/main" id="{55AFB2B2-A50E-489C-8D75-30BC4FF3DE89}"/>
                          </a:ext>
                        </a:extLst>
                      </p:cNvPr>
                      <p:cNvPicPr>
                        <a:picLocks noChangeAspect="1" noChangeArrowheads="1"/>
                      </p:cNvPicPr>
                      <p:nvPr/>
                    </p:nvPicPr>
                    <p:blipFill>
                      <a:blip r:embed="rId8"/>
                      <a:srcRect/>
                      <a:stretch>
                        <a:fillRect/>
                      </a:stretch>
                    </p:blipFill>
                    <p:spPr bwMode="auto">
                      <a:xfrm>
                        <a:off x="900503" y="4082794"/>
                        <a:ext cx="4787900" cy="175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714981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Drifting of Clock</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a:lnSpc>
                <a:spcPct val="100000"/>
              </a:lnSpc>
            </a:pPr>
            <a:r>
              <a:rPr lang="en-US" dirty="0"/>
              <a:t>Synchronization techniques</a:t>
            </a:r>
          </a:p>
          <a:p>
            <a:pPr marL="814387" lvl="2" indent="-457200">
              <a:buFont typeface="+mj-lt"/>
              <a:buAutoNum type="arabicPeriod"/>
            </a:pPr>
            <a:r>
              <a:rPr lang="en-US" sz="2400" dirty="0">
                <a:solidFill>
                  <a:srgbClr val="1D6199"/>
                </a:solidFill>
              </a:rPr>
              <a:t>External Synchronization </a:t>
            </a:r>
            <a:r>
              <a:rPr lang="en-US" sz="2400" dirty="0"/>
              <a:t>: Synchronization with real time (external) clocks.</a:t>
            </a:r>
          </a:p>
          <a:p>
            <a:pPr marL="814387" lvl="2" indent="-457200">
              <a:buFont typeface="+mj-lt"/>
              <a:buAutoNum type="arabicPeriod"/>
            </a:pPr>
            <a:r>
              <a:rPr lang="en-US" sz="2400" dirty="0">
                <a:solidFill>
                  <a:srgbClr val="1D6199"/>
                </a:solidFill>
              </a:rPr>
              <a:t>Mutual (Internal) Synchronization </a:t>
            </a:r>
            <a:r>
              <a:rPr lang="en-US" sz="2400" dirty="0"/>
              <a:t>: For consistent view of time across all nodes of the system</a:t>
            </a:r>
          </a:p>
        </p:txBody>
      </p:sp>
      <p:pic>
        <p:nvPicPr>
          <p:cNvPr id="5" name="Picture 3" descr="br1023-080124-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2868" y="2723338"/>
            <a:ext cx="2419396" cy="2419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6"/>
          <p:cNvSpPr txBox="1">
            <a:spLocks noChangeArrowheads="1"/>
          </p:cNvSpPr>
          <p:nvPr/>
        </p:nvSpPr>
        <p:spPr bwMode="auto">
          <a:xfrm>
            <a:off x="4625202" y="5523577"/>
            <a:ext cx="176843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pitchFamily="-107" charset="-128"/>
              </a:defRPr>
            </a:lvl1pPr>
            <a:lvl2pPr marL="37931725" indent="-37474525" eaLnBrk="0" hangingPunct="0">
              <a:defRPr sz="2400">
                <a:solidFill>
                  <a:schemeClr val="tx1"/>
                </a:solidFill>
                <a:latin typeface="Comic Sans MS" panose="030F0702030302020204" pitchFamily="66" charset="0"/>
                <a:ea typeface="ＭＳ Ｐゴシック" pitchFamily="-107" charset="-128"/>
              </a:defRPr>
            </a:lvl2pPr>
            <a:lvl3pPr eaLnBrk="0" hangingPunct="0">
              <a:defRPr sz="2400">
                <a:solidFill>
                  <a:schemeClr val="tx1"/>
                </a:solidFill>
                <a:latin typeface="Comic Sans MS" panose="030F0702030302020204" pitchFamily="66" charset="0"/>
                <a:ea typeface="ＭＳ Ｐゴシック" pitchFamily="-107" charset="-128"/>
              </a:defRPr>
            </a:lvl3pPr>
            <a:lvl4pPr eaLnBrk="0" hangingPunct="0">
              <a:defRPr sz="2400">
                <a:solidFill>
                  <a:schemeClr val="tx1"/>
                </a:solidFill>
                <a:latin typeface="Comic Sans MS" panose="030F0702030302020204" pitchFamily="66" charset="0"/>
                <a:ea typeface="ＭＳ Ｐゴシック" pitchFamily="-107" charset="-128"/>
              </a:defRPr>
            </a:lvl4pPr>
            <a:lvl5pPr eaLnBrk="0" hangingPunct="0">
              <a:defRPr sz="2400">
                <a:solidFill>
                  <a:schemeClr val="tx1"/>
                </a:solidFill>
                <a:latin typeface="Comic Sans MS" panose="030F0702030302020204" pitchFamily="66" charset="0"/>
                <a:ea typeface="ＭＳ Ｐゴシック" pitchFamily="-107"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9pPr>
          </a:lstStyle>
          <a:p>
            <a:pPr algn="ctr" eaLnBrk="1" hangingPunct="1"/>
            <a:r>
              <a:rPr lang="en-US" altLang="en-US" dirty="0">
                <a:latin typeface="+mj-lt"/>
              </a:rPr>
              <a:t>Oct 23, 2016</a:t>
            </a:r>
          </a:p>
          <a:p>
            <a:pPr algn="ctr" eaLnBrk="1" hangingPunct="1"/>
            <a:r>
              <a:rPr lang="en-US" altLang="en-US" dirty="0">
                <a:latin typeface="+mj-lt"/>
              </a:rPr>
              <a:t>8:00:00</a:t>
            </a:r>
          </a:p>
        </p:txBody>
      </p:sp>
      <p:pic>
        <p:nvPicPr>
          <p:cNvPr id="7" name="Picture 7" descr="bm1023-080149-s"/>
          <p:cNvPicPr>
            <a:picLocks noChangeAspect="1" noChangeArrowheads="1"/>
          </p:cNvPicPr>
          <p:nvPr/>
        </p:nvPicPr>
        <p:blipFill rotWithShape="1">
          <a:blip r:embed="rId4">
            <a:extLst>
              <a:ext uri="{28A0092B-C50C-407E-A947-70E740481C1C}">
                <a14:useLocalDpi xmlns:a14="http://schemas.microsoft.com/office/drawing/2010/main" val="0"/>
              </a:ext>
            </a:extLst>
          </a:blip>
          <a:srcRect t="3776"/>
          <a:stretch/>
        </p:blipFill>
        <p:spPr bwMode="auto">
          <a:xfrm>
            <a:off x="6744384" y="2780970"/>
            <a:ext cx="2430707" cy="2291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8"/>
          <p:cNvSpPr txBox="1">
            <a:spLocks noChangeArrowheads="1"/>
          </p:cNvSpPr>
          <p:nvPr/>
        </p:nvSpPr>
        <p:spPr bwMode="auto">
          <a:xfrm>
            <a:off x="2457613" y="5294977"/>
            <a:ext cx="10823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pitchFamily="-107" charset="-128"/>
              </a:defRPr>
            </a:lvl1pPr>
            <a:lvl2pPr marL="37931725" indent="-37474525" eaLnBrk="0" hangingPunct="0">
              <a:defRPr sz="2400">
                <a:solidFill>
                  <a:schemeClr val="tx1"/>
                </a:solidFill>
                <a:latin typeface="Comic Sans MS" panose="030F0702030302020204" pitchFamily="66" charset="0"/>
                <a:ea typeface="ＭＳ Ｐゴシック" pitchFamily="-107" charset="-128"/>
              </a:defRPr>
            </a:lvl2pPr>
            <a:lvl3pPr eaLnBrk="0" hangingPunct="0">
              <a:defRPr sz="2400">
                <a:solidFill>
                  <a:schemeClr val="tx1"/>
                </a:solidFill>
                <a:latin typeface="Comic Sans MS" panose="030F0702030302020204" pitchFamily="66" charset="0"/>
                <a:ea typeface="ＭＳ Ｐゴシック" pitchFamily="-107" charset="-128"/>
              </a:defRPr>
            </a:lvl3pPr>
            <a:lvl4pPr eaLnBrk="0" hangingPunct="0">
              <a:defRPr sz="2400">
                <a:solidFill>
                  <a:schemeClr val="tx1"/>
                </a:solidFill>
                <a:latin typeface="Comic Sans MS" panose="030F0702030302020204" pitchFamily="66" charset="0"/>
                <a:ea typeface="ＭＳ Ｐゴシック" pitchFamily="-107" charset="-128"/>
              </a:defRPr>
            </a:lvl4pPr>
            <a:lvl5pPr eaLnBrk="0" hangingPunct="0">
              <a:defRPr sz="2400">
                <a:solidFill>
                  <a:schemeClr val="tx1"/>
                </a:solidFill>
                <a:latin typeface="Comic Sans MS" panose="030F0702030302020204" pitchFamily="66" charset="0"/>
                <a:ea typeface="ＭＳ Ｐゴシック" pitchFamily="-107"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9pPr>
          </a:lstStyle>
          <a:p>
            <a:pPr algn="ctr" eaLnBrk="1" hangingPunct="1"/>
            <a:r>
              <a:rPr lang="en-US" altLang="en-US" sz="2000" dirty="0"/>
              <a:t>8:01:24</a:t>
            </a:r>
            <a:endParaRPr lang="en-US" altLang="en-US" dirty="0"/>
          </a:p>
        </p:txBody>
      </p:sp>
      <p:sp>
        <p:nvSpPr>
          <p:cNvPr id="9" name="Text Box 9"/>
          <p:cNvSpPr txBox="1">
            <a:spLocks noChangeArrowheads="1"/>
          </p:cNvSpPr>
          <p:nvPr/>
        </p:nvSpPr>
        <p:spPr bwMode="auto">
          <a:xfrm>
            <a:off x="7539831" y="5294977"/>
            <a:ext cx="10823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pitchFamily="-107" charset="-128"/>
              </a:defRPr>
            </a:lvl1pPr>
            <a:lvl2pPr marL="37931725" indent="-37474525" eaLnBrk="0" hangingPunct="0">
              <a:defRPr sz="2400">
                <a:solidFill>
                  <a:schemeClr val="tx1"/>
                </a:solidFill>
                <a:latin typeface="Comic Sans MS" panose="030F0702030302020204" pitchFamily="66" charset="0"/>
                <a:ea typeface="ＭＳ Ｐゴシック" pitchFamily="-107" charset="-128"/>
              </a:defRPr>
            </a:lvl2pPr>
            <a:lvl3pPr eaLnBrk="0" hangingPunct="0">
              <a:defRPr sz="2400">
                <a:solidFill>
                  <a:schemeClr val="tx1"/>
                </a:solidFill>
                <a:latin typeface="Comic Sans MS" panose="030F0702030302020204" pitchFamily="66" charset="0"/>
                <a:ea typeface="ＭＳ Ｐゴシック" pitchFamily="-107" charset="-128"/>
              </a:defRPr>
            </a:lvl3pPr>
            <a:lvl4pPr eaLnBrk="0" hangingPunct="0">
              <a:defRPr sz="2400">
                <a:solidFill>
                  <a:schemeClr val="tx1"/>
                </a:solidFill>
                <a:latin typeface="Comic Sans MS" panose="030F0702030302020204" pitchFamily="66" charset="0"/>
                <a:ea typeface="ＭＳ Ｐゴシック" pitchFamily="-107" charset="-128"/>
              </a:defRPr>
            </a:lvl4pPr>
            <a:lvl5pPr eaLnBrk="0" hangingPunct="0">
              <a:defRPr sz="2400">
                <a:solidFill>
                  <a:schemeClr val="tx1"/>
                </a:solidFill>
                <a:latin typeface="Comic Sans MS" panose="030F0702030302020204" pitchFamily="66" charset="0"/>
                <a:ea typeface="ＭＳ Ｐゴシック" pitchFamily="-107"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9pPr>
          </a:lstStyle>
          <a:p>
            <a:pPr algn="ctr" eaLnBrk="1" hangingPunct="1"/>
            <a:r>
              <a:rPr lang="en-US" altLang="en-US" sz="2000" dirty="0"/>
              <a:t>8:01:48</a:t>
            </a:r>
          </a:p>
        </p:txBody>
      </p:sp>
      <p:sp>
        <p:nvSpPr>
          <p:cNvPr id="10" name="Text Box 10"/>
          <p:cNvSpPr txBox="1">
            <a:spLocks noChangeArrowheads="1"/>
          </p:cNvSpPr>
          <p:nvPr/>
        </p:nvSpPr>
        <p:spPr bwMode="auto">
          <a:xfrm>
            <a:off x="1301749" y="5599777"/>
            <a:ext cx="316956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Comic Sans MS" panose="030F0702030302020204" pitchFamily="66" charset="0"/>
                <a:ea typeface="ＭＳ Ｐゴシック" pitchFamily="-107" charset="-128"/>
              </a:defRPr>
            </a:lvl1pPr>
            <a:lvl2pPr marL="37931725" indent="-37474525" eaLnBrk="0" hangingPunct="0">
              <a:defRPr sz="2400">
                <a:solidFill>
                  <a:schemeClr val="tx1"/>
                </a:solidFill>
                <a:latin typeface="Comic Sans MS" panose="030F0702030302020204" pitchFamily="66" charset="0"/>
                <a:ea typeface="ＭＳ Ｐゴシック" pitchFamily="-107" charset="-128"/>
              </a:defRPr>
            </a:lvl2pPr>
            <a:lvl3pPr eaLnBrk="0" hangingPunct="0">
              <a:defRPr sz="2400">
                <a:solidFill>
                  <a:schemeClr val="tx1"/>
                </a:solidFill>
                <a:latin typeface="Comic Sans MS" panose="030F0702030302020204" pitchFamily="66" charset="0"/>
                <a:ea typeface="ＭＳ Ｐゴシック" pitchFamily="-107" charset="-128"/>
              </a:defRPr>
            </a:lvl3pPr>
            <a:lvl4pPr eaLnBrk="0" hangingPunct="0">
              <a:defRPr sz="2400">
                <a:solidFill>
                  <a:schemeClr val="tx1"/>
                </a:solidFill>
                <a:latin typeface="Comic Sans MS" panose="030F0702030302020204" pitchFamily="66" charset="0"/>
                <a:ea typeface="ＭＳ Ｐゴシック" pitchFamily="-107" charset="-128"/>
              </a:defRPr>
            </a:lvl4pPr>
            <a:lvl5pPr eaLnBrk="0" hangingPunct="0">
              <a:defRPr sz="2400">
                <a:solidFill>
                  <a:schemeClr val="tx1"/>
                </a:solidFill>
                <a:latin typeface="Comic Sans MS" panose="030F0702030302020204" pitchFamily="66" charset="0"/>
                <a:ea typeface="ＭＳ Ｐゴシック" pitchFamily="-107"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9pPr>
          </a:lstStyle>
          <a:p>
            <a:pPr algn="ctr" eaLnBrk="1" hangingPunct="1"/>
            <a:r>
              <a:rPr lang="en-US" altLang="en-US" sz="2000" dirty="0">
                <a:latin typeface="+mj-lt"/>
              </a:rPr>
              <a:t>Skew = +84 seconds</a:t>
            </a:r>
          </a:p>
          <a:p>
            <a:pPr algn="ctr" eaLnBrk="1" hangingPunct="1"/>
            <a:r>
              <a:rPr lang="en-US" altLang="en-US" sz="2000" dirty="0">
                <a:latin typeface="+mj-lt"/>
              </a:rPr>
              <a:t>+84 seconds/35 days</a:t>
            </a:r>
          </a:p>
          <a:p>
            <a:pPr algn="ctr" eaLnBrk="1" hangingPunct="1"/>
            <a:r>
              <a:rPr lang="en-US" altLang="en-US" sz="2000" dirty="0">
                <a:latin typeface="+mj-lt"/>
              </a:rPr>
              <a:t>Drift = +2.4 sec/day</a:t>
            </a:r>
          </a:p>
        </p:txBody>
      </p:sp>
      <p:sp>
        <p:nvSpPr>
          <p:cNvPr id="11" name="Text Box 11"/>
          <p:cNvSpPr txBox="1">
            <a:spLocks noChangeArrowheads="1"/>
          </p:cNvSpPr>
          <p:nvPr/>
        </p:nvSpPr>
        <p:spPr bwMode="auto">
          <a:xfrm>
            <a:off x="6547524" y="5599777"/>
            <a:ext cx="314733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Comic Sans MS" panose="030F0702030302020204" pitchFamily="66" charset="0"/>
                <a:ea typeface="ＭＳ Ｐゴシック" pitchFamily="-107" charset="-128"/>
              </a:defRPr>
            </a:lvl1pPr>
            <a:lvl2pPr marL="37931725" indent="-37474525" eaLnBrk="0" hangingPunct="0">
              <a:defRPr sz="2400">
                <a:solidFill>
                  <a:schemeClr val="tx1"/>
                </a:solidFill>
                <a:latin typeface="Comic Sans MS" panose="030F0702030302020204" pitchFamily="66" charset="0"/>
                <a:ea typeface="ＭＳ Ｐゴシック" pitchFamily="-107" charset="-128"/>
              </a:defRPr>
            </a:lvl2pPr>
            <a:lvl3pPr eaLnBrk="0" hangingPunct="0">
              <a:defRPr sz="2400">
                <a:solidFill>
                  <a:schemeClr val="tx1"/>
                </a:solidFill>
                <a:latin typeface="Comic Sans MS" panose="030F0702030302020204" pitchFamily="66" charset="0"/>
                <a:ea typeface="ＭＳ Ｐゴシック" pitchFamily="-107" charset="-128"/>
              </a:defRPr>
            </a:lvl3pPr>
            <a:lvl4pPr eaLnBrk="0" hangingPunct="0">
              <a:defRPr sz="2400">
                <a:solidFill>
                  <a:schemeClr val="tx1"/>
                </a:solidFill>
                <a:latin typeface="Comic Sans MS" panose="030F0702030302020204" pitchFamily="66" charset="0"/>
                <a:ea typeface="ＭＳ Ｐゴシック" pitchFamily="-107" charset="-128"/>
              </a:defRPr>
            </a:lvl4pPr>
            <a:lvl5pPr eaLnBrk="0" hangingPunct="0">
              <a:defRPr sz="2400">
                <a:solidFill>
                  <a:schemeClr val="tx1"/>
                </a:solidFill>
                <a:latin typeface="Comic Sans MS" panose="030F0702030302020204" pitchFamily="66" charset="0"/>
                <a:ea typeface="ＭＳ Ｐゴシック" pitchFamily="-107"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pitchFamily="-107" charset="-128"/>
              </a:defRPr>
            </a:lvl9pPr>
          </a:lstStyle>
          <a:p>
            <a:pPr algn="ctr" eaLnBrk="1" hangingPunct="1"/>
            <a:r>
              <a:rPr lang="en-US" altLang="en-US" sz="2000" dirty="0">
                <a:latin typeface="+mj-lt"/>
              </a:rPr>
              <a:t>Skew = +108 seconds</a:t>
            </a:r>
          </a:p>
          <a:p>
            <a:pPr algn="ctr" eaLnBrk="1" hangingPunct="1"/>
            <a:r>
              <a:rPr lang="en-US" altLang="en-US" sz="2000" dirty="0">
                <a:latin typeface="+mj-lt"/>
              </a:rPr>
              <a:t>+108 seconds/35 days</a:t>
            </a:r>
          </a:p>
          <a:p>
            <a:pPr algn="ctr" eaLnBrk="1" hangingPunct="1"/>
            <a:r>
              <a:rPr lang="en-US" altLang="en-US" sz="2000" dirty="0">
                <a:latin typeface="+mj-lt"/>
              </a:rPr>
              <a:t>Drift = +3.1 sec/day</a:t>
            </a:r>
          </a:p>
        </p:txBody>
      </p:sp>
    </p:spTree>
    <p:extLst>
      <p:ext uri="{BB962C8B-B14F-4D97-AF65-F5344CB8AC3E}">
        <p14:creationId xmlns:p14="http://schemas.microsoft.com/office/powerpoint/2010/main" val="2394115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Dealing with Drift</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Assume we set computer to true time. (It is not good idea to set clock back.)</a:t>
            </a:r>
          </a:p>
          <a:p>
            <a:pPr marL="714375" lvl="2" indent="-357188"/>
            <a:r>
              <a:rPr lang="en-US" sz="2400" dirty="0"/>
              <a:t>Illusion of time moving backwards can confuse message ordering and software development environments.</a:t>
            </a:r>
          </a:p>
          <a:p>
            <a:pPr marL="400050"/>
            <a:r>
              <a:rPr lang="en-US" dirty="0"/>
              <a:t>There should be go for gradual clock correction.</a:t>
            </a:r>
          </a:p>
          <a:p>
            <a:pPr marL="714375" lvl="2" indent="-357188"/>
            <a:r>
              <a:rPr lang="en-US" sz="2400" b="1" dirty="0">
                <a:solidFill>
                  <a:srgbClr val="1D6199"/>
                </a:solidFill>
              </a:rPr>
              <a:t>If fast</a:t>
            </a:r>
            <a:r>
              <a:rPr lang="en-US" sz="2400" dirty="0">
                <a:solidFill>
                  <a:srgbClr val="1D6199"/>
                </a:solidFill>
              </a:rPr>
              <a:t>: </a:t>
            </a:r>
            <a:r>
              <a:rPr lang="en-US" sz="2400" dirty="0"/>
              <a:t>Make clock run slower until it synchronizes.</a:t>
            </a:r>
          </a:p>
          <a:p>
            <a:pPr marL="714375" lvl="2" indent="-357188"/>
            <a:r>
              <a:rPr lang="en-US" sz="2400" b="1" dirty="0">
                <a:solidFill>
                  <a:srgbClr val="1D6199"/>
                </a:solidFill>
              </a:rPr>
              <a:t>If slow</a:t>
            </a:r>
            <a:r>
              <a:rPr lang="en-US" sz="2400" dirty="0">
                <a:solidFill>
                  <a:srgbClr val="1D6199"/>
                </a:solidFill>
              </a:rPr>
              <a:t>: </a:t>
            </a:r>
            <a:r>
              <a:rPr lang="en-US" sz="2400" dirty="0"/>
              <a:t>Make clock run faster until it synchronizes.</a:t>
            </a:r>
          </a:p>
          <a:p>
            <a:r>
              <a:rPr lang="en-US" altLang="en-US" dirty="0"/>
              <a:t>Operating System can change rate at which it requests interrupts.</a:t>
            </a:r>
          </a:p>
          <a:p>
            <a:pPr marL="714375" lvl="2" indent="-357188"/>
            <a:r>
              <a:rPr lang="en-US" altLang="en-US" sz="2400" dirty="0"/>
              <a:t>if system requests interrupts every 14 </a:t>
            </a:r>
            <a:r>
              <a:rPr lang="en-US" altLang="en-US" sz="2400" dirty="0" err="1"/>
              <a:t>msec</a:t>
            </a:r>
            <a:r>
              <a:rPr lang="en-US" altLang="en-US" sz="2400" dirty="0"/>
              <a:t> but clock is too slow: request interrupts at 12 msec.</a:t>
            </a:r>
          </a:p>
          <a:p>
            <a:r>
              <a:rPr lang="en-US" altLang="en-US" dirty="0">
                <a:solidFill>
                  <a:srgbClr val="1D6199"/>
                </a:solidFill>
              </a:rPr>
              <a:t>Software correction:</a:t>
            </a:r>
            <a:r>
              <a:rPr lang="en-US" altLang="en-US" dirty="0"/>
              <a:t> Redefine the interval.</a:t>
            </a:r>
          </a:p>
        </p:txBody>
      </p:sp>
    </p:spTree>
    <p:extLst>
      <p:ext uri="{BB962C8B-B14F-4D97-AF65-F5344CB8AC3E}">
        <p14:creationId xmlns:p14="http://schemas.microsoft.com/office/powerpoint/2010/main" val="3167989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Dealing with Drift</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altLang="en-US" dirty="0"/>
              <a:t>In a distributed system, achieving agreement on time is not easy.</a:t>
            </a:r>
          </a:p>
          <a:p>
            <a:r>
              <a:rPr lang="en-US" altLang="en-US" dirty="0"/>
              <a:t>Assume no global agreement on time.  Let’s see what happens:</a:t>
            </a:r>
          </a:p>
          <a:p>
            <a:endParaRPr lang="en-US" altLang="en-US" dirty="0"/>
          </a:p>
          <a:p>
            <a:endParaRPr lang="en-US" altLang="en-US" dirty="0"/>
          </a:p>
          <a:p>
            <a:endParaRPr lang="en-US" altLang="en-US" dirty="0"/>
          </a:p>
          <a:p>
            <a:endParaRPr lang="en-US" altLang="en-US" dirty="0"/>
          </a:p>
          <a:p>
            <a:r>
              <a:rPr lang="en-US" altLang="en-US" dirty="0"/>
              <a:t>Assume that the compiler and editor are on different machines</a:t>
            </a:r>
          </a:p>
          <a:p>
            <a:pPr lvl="1"/>
            <a:r>
              <a:rPr lang="en-US" altLang="en-US" dirty="0" err="1">
                <a:solidFill>
                  <a:srgbClr val="1D6199"/>
                </a:solidFill>
              </a:rPr>
              <a:t>input.o</a:t>
            </a:r>
            <a:r>
              <a:rPr lang="en-US" altLang="en-US" dirty="0">
                <a:solidFill>
                  <a:schemeClr val="accent6"/>
                </a:solidFill>
              </a:rPr>
              <a:t> </a:t>
            </a:r>
            <a:r>
              <a:rPr lang="en-US" altLang="en-US" dirty="0"/>
              <a:t>has time 2144 msec</a:t>
            </a:r>
          </a:p>
          <a:p>
            <a:pPr lvl="1"/>
            <a:r>
              <a:rPr lang="en-US" altLang="en-US" dirty="0" err="1">
                <a:solidFill>
                  <a:srgbClr val="1D6199"/>
                </a:solidFill>
              </a:rPr>
              <a:t>input.c</a:t>
            </a:r>
            <a:r>
              <a:rPr lang="en-US" altLang="en-US" dirty="0">
                <a:solidFill>
                  <a:srgbClr val="1D6199"/>
                </a:solidFill>
              </a:rPr>
              <a:t> </a:t>
            </a:r>
            <a:r>
              <a:rPr lang="en-US" altLang="en-US" dirty="0"/>
              <a:t>is modified but is assigned time 2143 msec because the clock on its machine is slightly behind.</a:t>
            </a:r>
          </a:p>
          <a:p>
            <a:pPr lvl="1"/>
            <a:r>
              <a:rPr lang="en-US" altLang="en-US" dirty="0">
                <a:solidFill>
                  <a:srgbClr val="1D6199"/>
                </a:solidFill>
              </a:rPr>
              <a:t>Make</a:t>
            </a:r>
            <a:r>
              <a:rPr lang="en-US" altLang="en-US" dirty="0"/>
              <a:t> will not call the compiler.</a:t>
            </a:r>
          </a:p>
          <a:p>
            <a:r>
              <a:rPr lang="en-US" altLang="en-US" dirty="0"/>
              <a:t>The resulting executable will have a mixture of object files from old and new sources.</a:t>
            </a:r>
          </a:p>
          <a:p>
            <a:endParaRPr lang="en-US" altLang="en-US" dirty="0"/>
          </a:p>
        </p:txBody>
      </p:sp>
      <p:pic>
        <p:nvPicPr>
          <p:cNvPr id="5" name="Picture 4"/>
          <p:cNvPicPr>
            <a:picLocks noChangeAspect="1"/>
          </p:cNvPicPr>
          <p:nvPr/>
        </p:nvPicPr>
        <p:blipFill>
          <a:blip r:embed="rId2"/>
          <a:stretch>
            <a:fillRect/>
          </a:stretch>
        </p:blipFill>
        <p:spPr>
          <a:xfrm>
            <a:off x="486508" y="2124190"/>
            <a:ext cx="9332885" cy="2148045"/>
          </a:xfrm>
          <a:prstGeom prst="rect">
            <a:avLst/>
          </a:prstGeom>
        </p:spPr>
      </p:pic>
    </p:spTree>
    <p:extLst>
      <p:ext uri="{BB962C8B-B14F-4D97-AF65-F5344CB8AC3E}">
        <p14:creationId xmlns:p14="http://schemas.microsoft.com/office/powerpoint/2010/main" val="911084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Physical Clocks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altLang="en-US" dirty="0"/>
              <a:t>It is impossible to guarantee that crystals in different computers all run at exactly the same frequency. This difference in time values is </a:t>
            </a:r>
            <a:r>
              <a:rPr lang="en-US" altLang="en-US" b="1" dirty="0">
                <a:solidFill>
                  <a:srgbClr val="1D6199"/>
                </a:solidFill>
              </a:rPr>
              <a:t>clock skew</a:t>
            </a:r>
            <a:r>
              <a:rPr lang="en-US" altLang="en-US" dirty="0"/>
              <a:t>.</a:t>
            </a:r>
            <a:endParaRPr lang="en-US" altLang="en-US" b="1" dirty="0"/>
          </a:p>
          <a:p>
            <a:r>
              <a:rPr lang="en-US" altLang="en-US" dirty="0"/>
              <a:t>“Exact” time was computed by astronomers</a:t>
            </a:r>
          </a:p>
          <a:p>
            <a:pPr marL="714375" lvl="2" indent="-357188"/>
            <a:r>
              <a:rPr lang="en-US" altLang="en-US" sz="2400" dirty="0"/>
              <a:t>The difference between two transits of the sun is termed a solar day.</a:t>
            </a:r>
          </a:p>
          <a:p>
            <a:pPr marL="714375" lvl="2" indent="-357188"/>
            <a:r>
              <a:rPr lang="en-US" altLang="en-US" sz="2400" dirty="0"/>
              <a:t>Divide a solar day by </a:t>
            </a:r>
            <a:r>
              <a:rPr lang="en-US" altLang="en-US" sz="2400" dirty="0">
                <a:solidFill>
                  <a:srgbClr val="1D6199"/>
                </a:solidFill>
              </a:rPr>
              <a:t>24*60*60</a:t>
            </a:r>
            <a:r>
              <a:rPr lang="en-US" altLang="en-US" sz="2400" dirty="0"/>
              <a:t> yields a solar second.</a:t>
            </a:r>
          </a:p>
          <a:p>
            <a:r>
              <a:rPr lang="en-US" altLang="en-US" dirty="0"/>
              <a:t>However, the earth is slowing! (35 days less in a year over 300 million years)</a:t>
            </a:r>
          </a:p>
          <a:p>
            <a:r>
              <a:rPr lang="en-US" altLang="en-US" dirty="0"/>
              <a:t>There are also short-term variations caused by turbulence deep in the earth’s core.</a:t>
            </a:r>
          </a:p>
          <a:p>
            <a:pPr marL="714375" lvl="2" indent="-357188"/>
            <a:r>
              <a:rPr lang="en-US" altLang="en-US" sz="2400" dirty="0"/>
              <a:t>A large number of days (n) were used to the average day length, then dividing by 86,400 to determine the mean solar second.</a:t>
            </a:r>
          </a:p>
        </p:txBody>
      </p:sp>
    </p:spTree>
    <p:extLst>
      <p:ext uri="{BB962C8B-B14F-4D97-AF65-F5344CB8AC3E}">
        <p14:creationId xmlns:p14="http://schemas.microsoft.com/office/powerpoint/2010/main" val="1551183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Physical Clocks</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l="24345" t="41087" r="20523" b="35347"/>
          <a:stretch>
            <a:fillRect/>
          </a:stretch>
        </p:blipFill>
        <p:spPr bwMode="auto">
          <a:xfrm>
            <a:off x="1321594" y="963456"/>
            <a:ext cx="7691437" cy="4652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3060566" y="5868674"/>
            <a:ext cx="4523995" cy="461665"/>
          </a:xfrm>
          <a:prstGeom prst="rect">
            <a:avLst/>
          </a:prstGeom>
          <a:solidFill>
            <a:srgbClr val="1D3064"/>
          </a:solidFill>
        </p:spPr>
        <p:txBody>
          <a:bodyPr wrap="none">
            <a:spAutoFit/>
          </a:bodyPr>
          <a:lstStyle/>
          <a:p>
            <a:pPr>
              <a:buFont typeface="Wingdings" panose="05000000000000000000" pitchFamily="2" charset="2"/>
              <a:buNone/>
            </a:pPr>
            <a:r>
              <a:rPr lang="en-US" altLang="en-US" sz="2400" dirty="0">
                <a:solidFill>
                  <a:schemeClr val="bg1"/>
                </a:solidFill>
              </a:rPr>
              <a:t>Computation of the mean solar day.</a:t>
            </a:r>
          </a:p>
        </p:txBody>
      </p:sp>
    </p:spTree>
    <p:extLst>
      <p:ext uri="{BB962C8B-B14F-4D97-AF65-F5344CB8AC3E}">
        <p14:creationId xmlns:p14="http://schemas.microsoft.com/office/powerpoint/2010/main" val="218339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Physical Clocks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altLang="en-US" dirty="0"/>
              <a:t>How Computer Clocks Are Implemented ?</a:t>
            </a:r>
          </a:p>
          <a:p>
            <a:r>
              <a:rPr lang="en-US" altLang="en-US" dirty="0"/>
              <a:t>A computer clock usually consists of three components</a:t>
            </a:r>
          </a:p>
          <a:p>
            <a:pPr marL="814387" lvl="2" indent="-457200">
              <a:buFont typeface="+mj-lt"/>
              <a:buAutoNum type="arabicPeriod"/>
            </a:pPr>
            <a:r>
              <a:rPr lang="en-US" altLang="en-US" sz="2400" b="1" dirty="0">
                <a:solidFill>
                  <a:srgbClr val="1D6199"/>
                </a:solidFill>
              </a:rPr>
              <a:t>A quartz crystal </a:t>
            </a:r>
            <a:r>
              <a:rPr lang="en-US" altLang="en-US" sz="2400" dirty="0"/>
              <a:t>that oscillates at a well-defined frequency,</a:t>
            </a:r>
          </a:p>
          <a:p>
            <a:pPr marL="357187" lvl="2" indent="0">
              <a:buNone/>
            </a:pPr>
            <a:endParaRPr lang="en-US" altLang="en-US" sz="2400" dirty="0"/>
          </a:p>
        </p:txBody>
      </p:sp>
      <p:pic>
        <p:nvPicPr>
          <p:cNvPr id="1026" name="Picture 2" descr="How computer clock works2">
            <a:extLst>
              <a:ext uri="{FF2B5EF4-FFF2-40B4-BE49-F238E27FC236}">
                <a16:creationId xmlns:a16="http://schemas.microsoft.com/office/drawing/2014/main" id="{B3392939-DE54-6361-388B-039EFCC29C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1609" y="2606919"/>
            <a:ext cx="6470405" cy="3674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5780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Physical Clocks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altLang="en-US" dirty="0"/>
              <a:t>How Computer Clocks Are Implemented ?</a:t>
            </a:r>
          </a:p>
          <a:p>
            <a:r>
              <a:rPr lang="en-US" altLang="en-US" dirty="0"/>
              <a:t>A computer clock usually consists of three components</a:t>
            </a:r>
          </a:p>
          <a:p>
            <a:pPr marL="814387" lvl="2" indent="-457200">
              <a:buFont typeface="+mj-lt"/>
              <a:buAutoNum type="arabicPeriod"/>
            </a:pPr>
            <a:r>
              <a:rPr lang="en-US" altLang="en-US" sz="2400" b="1" dirty="0">
                <a:solidFill>
                  <a:srgbClr val="1D6199"/>
                </a:solidFill>
              </a:rPr>
              <a:t>A quartz crystal </a:t>
            </a:r>
            <a:r>
              <a:rPr lang="en-US" altLang="en-US" sz="2400" dirty="0"/>
              <a:t>that oscillates at a well-defined frequency,</a:t>
            </a:r>
          </a:p>
          <a:p>
            <a:pPr marL="814387" lvl="2" indent="-457200">
              <a:buFont typeface="+mj-lt"/>
              <a:buAutoNum type="arabicPeriod"/>
            </a:pPr>
            <a:r>
              <a:rPr lang="en-US" altLang="en-US" sz="2400" b="1" dirty="0">
                <a:solidFill>
                  <a:srgbClr val="1D6199"/>
                </a:solidFill>
              </a:rPr>
              <a:t>A constant register </a:t>
            </a:r>
            <a:r>
              <a:rPr lang="en-US" altLang="en-US" sz="2400" dirty="0"/>
              <a:t>- used to store a constant value that is decided based on the frequency of oscillation of the quartz</a:t>
            </a:r>
          </a:p>
          <a:p>
            <a:pPr marL="814387" lvl="2" indent="-457200">
              <a:buFont typeface="+mj-lt"/>
              <a:buAutoNum type="arabicPeriod"/>
            </a:pPr>
            <a:endParaRPr lang="en-US" altLang="en-US" sz="2400" dirty="0"/>
          </a:p>
        </p:txBody>
      </p:sp>
      <p:pic>
        <p:nvPicPr>
          <p:cNvPr id="5" name="Picture 4">
            <a:extLst>
              <a:ext uri="{FF2B5EF4-FFF2-40B4-BE49-F238E27FC236}">
                <a16:creationId xmlns:a16="http://schemas.microsoft.com/office/drawing/2014/main" id="{978CB831-9A3A-C5FF-BE74-0015F73FF6D7}"/>
              </a:ext>
            </a:extLst>
          </p:cNvPr>
          <p:cNvPicPr>
            <a:picLocks noChangeAspect="1"/>
          </p:cNvPicPr>
          <p:nvPr/>
        </p:nvPicPr>
        <p:blipFill>
          <a:blip r:embed="rId2"/>
          <a:stretch>
            <a:fillRect/>
          </a:stretch>
        </p:blipFill>
        <p:spPr>
          <a:xfrm>
            <a:off x="2135003" y="3429000"/>
            <a:ext cx="5303516" cy="3107110"/>
          </a:xfrm>
          <a:prstGeom prst="rect">
            <a:avLst/>
          </a:prstGeom>
        </p:spPr>
      </p:pic>
    </p:spTree>
    <p:extLst>
      <p:ext uri="{BB962C8B-B14F-4D97-AF65-F5344CB8AC3E}">
        <p14:creationId xmlns:p14="http://schemas.microsoft.com/office/powerpoint/2010/main" val="3022252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Physical Clocks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altLang="en-US" dirty="0"/>
              <a:t>How Computer Clocks Are Implemented ?</a:t>
            </a:r>
          </a:p>
          <a:p>
            <a:r>
              <a:rPr lang="en-US" altLang="en-US" dirty="0"/>
              <a:t>A computer clock usually consists of three components</a:t>
            </a:r>
          </a:p>
          <a:p>
            <a:pPr marL="814387" lvl="2" indent="-457200">
              <a:buFont typeface="+mj-lt"/>
              <a:buAutoNum type="arabicPeriod"/>
            </a:pPr>
            <a:r>
              <a:rPr lang="en-US" altLang="en-US" sz="2400" b="1" dirty="0">
                <a:solidFill>
                  <a:srgbClr val="1D6199"/>
                </a:solidFill>
              </a:rPr>
              <a:t>A quartz crystal </a:t>
            </a:r>
            <a:r>
              <a:rPr lang="en-US" altLang="en-US" sz="2400" dirty="0"/>
              <a:t>that oscillates at a well-defined frequency,</a:t>
            </a:r>
          </a:p>
          <a:p>
            <a:pPr marL="814387" lvl="2" indent="-457200">
              <a:buFont typeface="+mj-lt"/>
              <a:buAutoNum type="arabicPeriod"/>
            </a:pPr>
            <a:r>
              <a:rPr lang="en-US" altLang="en-US" sz="2400" b="1" dirty="0">
                <a:solidFill>
                  <a:srgbClr val="1D6199"/>
                </a:solidFill>
              </a:rPr>
              <a:t>A constant register </a:t>
            </a:r>
            <a:r>
              <a:rPr lang="en-US" altLang="en-US" sz="2400" dirty="0"/>
              <a:t>- used to store a constant value that is decided based on the frequency of oscillation of the quartz</a:t>
            </a:r>
          </a:p>
          <a:p>
            <a:pPr marL="814387" lvl="2" indent="-457200">
              <a:buFont typeface="+mj-lt"/>
              <a:buAutoNum type="arabicPeriod"/>
            </a:pPr>
            <a:r>
              <a:rPr lang="en-US" altLang="en-US" sz="2400" b="1" dirty="0">
                <a:solidFill>
                  <a:srgbClr val="1D6199"/>
                </a:solidFill>
              </a:rPr>
              <a:t>A counter register </a:t>
            </a:r>
            <a:r>
              <a:rPr lang="en-US" altLang="en-US" sz="2400" dirty="0"/>
              <a:t>- is used to keep track of the oscillations of the quartz crystal.</a:t>
            </a:r>
          </a:p>
          <a:p>
            <a:r>
              <a:rPr lang="en-US" altLang="en-US" dirty="0"/>
              <a:t>The value in the counter register is </a:t>
            </a:r>
            <a:r>
              <a:rPr lang="en-US" altLang="en-US" dirty="0">
                <a:solidFill>
                  <a:srgbClr val="1D6199"/>
                </a:solidFill>
              </a:rPr>
              <a:t>decremented by 1 </a:t>
            </a:r>
            <a:r>
              <a:rPr lang="en-US" altLang="en-US" dirty="0"/>
              <a:t>for </a:t>
            </a:r>
            <a:r>
              <a:rPr lang="en-US" altLang="en-US" dirty="0">
                <a:solidFill>
                  <a:srgbClr val="1D6199"/>
                </a:solidFill>
              </a:rPr>
              <a:t>each Oscillation </a:t>
            </a:r>
            <a:r>
              <a:rPr lang="en-US" altLang="en-US" dirty="0"/>
              <a:t>of the quartz crystal. When the value of the counter register </a:t>
            </a:r>
            <a:r>
              <a:rPr lang="en-US" altLang="en-US" dirty="0">
                <a:solidFill>
                  <a:srgbClr val="1D6199"/>
                </a:solidFill>
              </a:rPr>
              <a:t>becomes zero</a:t>
            </a:r>
            <a:r>
              <a:rPr lang="en-US" altLang="en-US" dirty="0"/>
              <a:t>, an </a:t>
            </a:r>
            <a:r>
              <a:rPr lang="en-US" altLang="en-US" dirty="0">
                <a:solidFill>
                  <a:srgbClr val="1D6199"/>
                </a:solidFill>
              </a:rPr>
              <a:t>interrupt is generated </a:t>
            </a:r>
            <a:r>
              <a:rPr lang="en-US" altLang="en-US" dirty="0"/>
              <a:t>and its value is reinitialized to the value in the constant register.</a:t>
            </a:r>
          </a:p>
          <a:p>
            <a:r>
              <a:rPr lang="en-US" altLang="en-US" dirty="0"/>
              <a:t>Each interrupt is called a </a:t>
            </a:r>
            <a:r>
              <a:rPr lang="en-US" altLang="en-US" dirty="0">
                <a:solidFill>
                  <a:srgbClr val="1D6199"/>
                </a:solidFill>
              </a:rPr>
              <a:t>clock tick.</a:t>
            </a:r>
            <a:endParaRPr lang="en-US" altLang="en-US" sz="2400" dirty="0">
              <a:solidFill>
                <a:srgbClr val="1D6199"/>
              </a:solidFill>
            </a:endParaRPr>
          </a:p>
        </p:txBody>
      </p:sp>
    </p:spTree>
    <p:extLst>
      <p:ext uri="{BB962C8B-B14F-4D97-AF65-F5344CB8AC3E}">
        <p14:creationId xmlns:p14="http://schemas.microsoft.com/office/powerpoint/2010/main" val="2835593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Synchronization to a time server</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altLang="en-US" dirty="0"/>
              <a:t>Suppose a server with an accurate clock (e.g., GPS-receiver)</a:t>
            </a:r>
          </a:p>
          <a:p>
            <a:pPr marL="714375" lvl="2" indent="-357188"/>
            <a:r>
              <a:rPr lang="en-US" altLang="en-US" sz="2400" dirty="0"/>
              <a:t>Could simply issue an RPC to obtain the time:</a:t>
            </a:r>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r>
              <a:rPr lang="en-US" altLang="en-US" dirty="0"/>
              <a:t>But this doesn’t account for network latency</a:t>
            </a:r>
          </a:p>
          <a:p>
            <a:pPr marL="714375" lvl="2" indent="-357188"/>
            <a:r>
              <a:rPr lang="en-US" altLang="en-US" sz="2400" dirty="0"/>
              <a:t>Message delays will have outdated server’s answer</a:t>
            </a:r>
          </a:p>
          <a:p>
            <a:endParaRPr lang="en-US" altLang="en-US" dirty="0"/>
          </a:p>
          <a:p>
            <a:endParaRPr lang="en-US" altLang="en-US" dirty="0"/>
          </a:p>
          <a:p>
            <a:endParaRPr lang="en-US" altLang="en-US" sz="2400" dirty="0"/>
          </a:p>
        </p:txBody>
      </p:sp>
      <p:grpSp>
        <p:nvGrpSpPr>
          <p:cNvPr id="31" name="Group 30"/>
          <p:cNvGrpSpPr/>
          <p:nvPr/>
        </p:nvGrpSpPr>
        <p:grpSpPr>
          <a:xfrm>
            <a:off x="3147217" y="1925933"/>
            <a:ext cx="5596732" cy="3260430"/>
            <a:chOff x="2076673" y="3334634"/>
            <a:chExt cx="4329999" cy="2120311"/>
          </a:xfrm>
        </p:grpSpPr>
        <p:sp>
          <p:nvSpPr>
            <p:cNvPr id="32" name="Rectangle 31"/>
            <p:cNvSpPr>
              <a:spLocks/>
            </p:cNvSpPr>
            <p:nvPr/>
          </p:nvSpPr>
          <p:spPr bwMode="auto">
            <a:xfrm>
              <a:off x="2076673" y="3516482"/>
              <a:ext cx="541963" cy="240183"/>
            </a:xfrm>
            <a:prstGeom prst="rect">
              <a:avLst/>
            </a:prstGeom>
            <a:noFill/>
            <a:ln w="12700" cap="flat">
              <a:noFill/>
              <a:miter lim="800000"/>
              <a:headEnd type="none" w="med" len="med"/>
              <a:tailEnd type="none" w="med" len="med"/>
            </a:ln>
          </p:spPr>
          <p:txBody>
            <a:bodyPr wrap="none" lIns="0" tIns="0" rIns="0" bIns="0" anchor="ctr">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dirty="0">
                  <a:latin typeface="+mj-lt"/>
                  <a:ea typeface="Gill Sans" pitchFamily="-84" charset="0"/>
                  <a:cs typeface="Arial"/>
                </a:rPr>
                <a:t>Client</a:t>
              </a:r>
            </a:p>
          </p:txBody>
        </p:sp>
        <p:sp>
          <p:nvSpPr>
            <p:cNvPr id="33" name="Rectangle 32"/>
            <p:cNvSpPr>
              <a:spLocks/>
            </p:cNvSpPr>
            <p:nvPr/>
          </p:nvSpPr>
          <p:spPr bwMode="auto">
            <a:xfrm>
              <a:off x="5515315" y="3506662"/>
              <a:ext cx="891357" cy="240183"/>
            </a:xfrm>
            <a:prstGeom prst="rect">
              <a:avLst/>
            </a:prstGeom>
            <a:noFill/>
            <a:ln w="12700" cap="flat">
              <a:noFill/>
              <a:miter lim="800000"/>
              <a:headEnd type="none" w="med" len="med"/>
              <a:tailEnd type="none" w="med" len="med"/>
            </a:ln>
          </p:spPr>
          <p:txBody>
            <a:bodyPr wrap="square" lIns="0" tIns="0" rIns="0" bIns="0" anchor="ctr">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a:latin typeface="+mj-lt"/>
                  <a:ea typeface="Gill Sans" pitchFamily="-84" charset="0"/>
                  <a:cs typeface="Arial"/>
                </a:rPr>
                <a:t>Server</a:t>
              </a:r>
              <a:endParaRPr lang="en-US" sz="2400" dirty="0">
                <a:latin typeface="+mj-lt"/>
                <a:ea typeface="Gill Sans" pitchFamily="-84" charset="0"/>
                <a:cs typeface="Arial"/>
              </a:endParaRPr>
            </a:p>
          </p:txBody>
        </p:sp>
        <p:pic>
          <p:nvPicPr>
            <p:cNvPr id="34" name="Picture 33" descr="Mac-Book-Black-On-48x48.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5300" y="3334634"/>
              <a:ext cx="609600" cy="609600"/>
            </a:xfrm>
            <a:prstGeom prst="rect">
              <a:avLst/>
            </a:prstGeom>
          </p:spPr>
        </p:pic>
        <p:pic>
          <p:nvPicPr>
            <p:cNvPr id="35" name="Picture 34" descr="server-48x48.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5715" y="3334634"/>
              <a:ext cx="609600" cy="609600"/>
            </a:xfrm>
            <a:prstGeom prst="rect">
              <a:avLst/>
            </a:prstGeom>
          </p:spPr>
        </p:pic>
        <p:sp>
          <p:nvSpPr>
            <p:cNvPr id="36" name="TextBox 12"/>
            <p:cNvSpPr txBox="1"/>
            <p:nvPr/>
          </p:nvSpPr>
          <p:spPr>
            <a:xfrm rot="373032">
              <a:off x="3422303" y="3869258"/>
              <a:ext cx="1326009" cy="300228"/>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i="1" dirty="0">
                  <a:latin typeface="+mj-lt"/>
                  <a:cs typeface="Arial"/>
                </a:rPr>
                <a:t>Time of day?</a:t>
              </a:r>
            </a:p>
          </p:txBody>
        </p:sp>
        <p:cxnSp>
          <p:nvCxnSpPr>
            <p:cNvPr id="37" name="Straight Connector 36"/>
            <p:cNvCxnSpPr>
              <a:stCxn id="37" idx="2"/>
            </p:cNvCxnSpPr>
            <p:nvPr/>
          </p:nvCxnSpPr>
          <p:spPr>
            <a:xfrm>
              <a:off x="2960100" y="3944234"/>
              <a:ext cx="778" cy="1510711"/>
            </a:xfrm>
            <a:prstGeom prst="line">
              <a:avLst/>
            </a:prstGeom>
            <a:ln>
              <a:prstDash val="solid"/>
            </a:ln>
            <a:effectLst/>
          </p:spPr>
          <p:style>
            <a:lnRef idx="3">
              <a:schemeClr val="dk1"/>
            </a:lnRef>
            <a:fillRef idx="0">
              <a:schemeClr val="dk1"/>
            </a:fillRef>
            <a:effectRef idx="2">
              <a:schemeClr val="dk1"/>
            </a:effectRef>
            <a:fontRef idx="minor">
              <a:schemeClr val="tx1"/>
            </a:fontRef>
          </p:style>
        </p:cxnSp>
        <p:cxnSp>
          <p:nvCxnSpPr>
            <p:cNvPr id="38" name="Straight Connector 37"/>
            <p:cNvCxnSpPr>
              <a:stCxn id="38" idx="2"/>
            </p:cNvCxnSpPr>
            <p:nvPr/>
          </p:nvCxnSpPr>
          <p:spPr>
            <a:xfrm>
              <a:off x="5210515" y="3944234"/>
              <a:ext cx="0" cy="1481512"/>
            </a:xfrm>
            <a:prstGeom prst="line">
              <a:avLst/>
            </a:prstGeom>
            <a:ln>
              <a:prstDash val="solid"/>
            </a:ln>
            <a:effectLst/>
          </p:spPr>
          <p:style>
            <a:lnRef idx="3">
              <a:schemeClr val="dk1"/>
            </a:lnRef>
            <a:fillRef idx="0">
              <a:schemeClr val="dk1"/>
            </a:fillRef>
            <a:effectRef idx="2">
              <a:schemeClr val="dk1"/>
            </a:effectRef>
            <a:fontRef idx="minor">
              <a:schemeClr val="tx1"/>
            </a:fontRef>
          </p:style>
        </p:cxnSp>
        <p:sp>
          <p:nvSpPr>
            <p:cNvPr id="39" name="TextBox 15"/>
            <p:cNvSpPr txBox="1"/>
            <p:nvPr/>
          </p:nvSpPr>
          <p:spPr>
            <a:xfrm>
              <a:off x="5315793" y="5025636"/>
              <a:ext cx="785287" cy="300228"/>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dirty="0">
                  <a:latin typeface="+mj-lt"/>
                  <a:ea typeface="Arial" charset="0"/>
                  <a:cs typeface="Arial" charset="0"/>
                </a:rPr>
                <a:t>Time ↓</a:t>
              </a:r>
            </a:p>
          </p:txBody>
        </p:sp>
        <p:cxnSp>
          <p:nvCxnSpPr>
            <p:cNvPr id="40" name="Curved Connector 8"/>
            <p:cNvCxnSpPr/>
            <p:nvPr/>
          </p:nvCxnSpPr>
          <p:spPr>
            <a:xfrm flipH="1" flipV="1">
              <a:off x="2960101" y="4126322"/>
              <a:ext cx="2250414" cy="252159"/>
            </a:xfrm>
            <a:prstGeom prst="straightConnector1">
              <a:avLst/>
            </a:prstGeom>
            <a:ln>
              <a:prstDash val="solid"/>
              <a:headEnd type="arrow"/>
              <a:tailEnd type="none"/>
            </a:ln>
            <a:effectLst/>
          </p:spPr>
          <p:style>
            <a:lnRef idx="3">
              <a:schemeClr val="dk1"/>
            </a:lnRef>
            <a:fillRef idx="0">
              <a:schemeClr val="dk1"/>
            </a:fillRef>
            <a:effectRef idx="2">
              <a:schemeClr val="dk1"/>
            </a:effectRef>
            <a:fontRef idx="minor">
              <a:schemeClr val="tx1"/>
            </a:fontRef>
          </p:style>
        </p:cxnSp>
        <p:cxnSp>
          <p:nvCxnSpPr>
            <p:cNvPr id="41" name="Curved Connector 8"/>
            <p:cNvCxnSpPr/>
            <p:nvPr/>
          </p:nvCxnSpPr>
          <p:spPr>
            <a:xfrm flipV="1">
              <a:off x="2960099" y="4636510"/>
              <a:ext cx="2250416" cy="351571"/>
            </a:xfrm>
            <a:prstGeom prst="straightConnector1">
              <a:avLst/>
            </a:prstGeom>
            <a:ln>
              <a:prstDash val="solid"/>
              <a:headEnd type="arrow"/>
              <a:tailEnd type="none"/>
            </a:ln>
            <a:effectLst/>
          </p:spPr>
          <p:style>
            <a:lnRef idx="3">
              <a:schemeClr val="dk1"/>
            </a:lnRef>
            <a:fillRef idx="0">
              <a:schemeClr val="dk1"/>
            </a:fillRef>
            <a:effectRef idx="2">
              <a:schemeClr val="dk1"/>
            </a:effectRef>
            <a:fontRef idx="minor">
              <a:schemeClr val="tx1"/>
            </a:fontRef>
          </p:style>
        </p:cxnSp>
        <p:sp>
          <p:nvSpPr>
            <p:cNvPr id="42" name="TextBox 23"/>
            <p:cNvSpPr txBox="1"/>
            <p:nvPr/>
          </p:nvSpPr>
          <p:spPr>
            <a:xfrm rot="21147479">
              <a:off x="3574753" y="4447201"/>
              <a:ext cx="903105" cy="300228"/>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i="1" dirty="0">
                  <a:latin typeface="+mj-lt"/>
                  <a:cs typeface="Arial"/>
                </a:rPr>
                <a:t>2:50 PM</a:t>
              </a:r>
            </a:p>
          </p:txBody>
        </p:sp>
      </p:grpSp>
    </p:spTree>
    <p:extLst>
      <p:ext uri="{BB962C8B-B14F-4D97-AF65-F5344CB8AC3E}">
        <p14:creationId xmlns:p14="http://schemas.microsoft.com/office/powerpoint/2010/main" val="2264417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Cristian’s Algorithm</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altLang="en-US" dirty="0" err="1"/>
              <a:t>Flaviu</a:t>
            </a:r>
            <a:r>
              <a:rPr lang="en-US" altLang="en-US" dirty="0"/>
              <a:t> Cristian (in 1989) provided an algorithm to synchronize networked computers with a time server</a:t>
            </a:r>
            <a:endParaRPr lang="en-US" altLang="en-US" sz="2400" dirty="0"/>
          </a:p>
          <a:p>
            <a:r>
              <a:rPr lang="en-US" altLang="en-US" dirty="0">
                <a:solidFill>
                  <a:srgbClr val="1D6199"/>
                </a:solidFill>
              </a:rPr>
              <a:t>The basic idea:</a:t>
            </a:r>
          </a:p>
          <a:p>
            <a:pPr marL="714375" lvl="2" indent="-357188"/>
            <a:r>
              <a:rPr lang="en-US" altLang="en-US" sz="2400" dirty="0"/>
              <a:t>Identify a network time server that has an accurate source for time (e.g.,  the time server has a UTC receiver)</a:t>
            </a:r>
          </a:p>
          <a:p>
            <a:pPr marL="714375" lvl="2" indent="-357188"/>
            <a:r>
              <a:rPr lang="en-US" altLang="en-US" sz="2400" dirty="0"/>
              <a:t>All the clients contact the network time server for synchronization</a:t>
            </a:r>
          </a:p>
          <a:p>
            <a:r>
              <a:rPr lang="en-US" altLang="en-US" dirty="0"/>
              <a:t>However, the network delays incurred when the client contacts the time server results in outdated time</a:t>
            </a:r>
          </a:p>
          <a:p>
            <a:pPr marL="714375" lvl="2" indent="-357188"/>
            <a:r>
              <a:rPr lang="en-US" altLang="en-US" sz="2400" dirty="0"/>
              <a:t>The algorithm estimates the network delays and compensates for it</a:t>
            </a:r>
          </a:p>
        </p:txBody>
      </p:sp>
    </p:spTree>
    <p:extLst>
      <p:ext uri="{BB962C8B-B14F-4D97-AF65-F5344CB8AC3E}">
        <p14:creationId xmlns:p14="http://schemas.microsoft.com/office/powerpoint/2010/main" val="1007013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latin typeface="+mn-lt"/>
              </a:rPr>
              <a:t>Cristian’s Algorithm</a:t>
            </a:r>
          </a:p>
        </p:txBody>
      </p:sp>
      <p:sp>
        <p:nvSpPr>
          <p:cNvPr id="4" name="Content Placeholder 2">
            <a:extLst>
              <a:ext uri="{FF2B5EF4-FFF2-40B4-BE49-F238E27FC236}">
                <a16:creationId xmlns:a16="http://schemas.microsoft.com/office/drawing/2014/main" id="{D30E362A-6FEE-460C-BD92-90669DCE5A1B}"/>
              </a:ext>
            </a:extLst>
          </p:cNvPr>
          <p:cNvSpPr txBox="1">
            <a:spLocks/>
          </p:cNvSpPr>
          <p:nvPr/>
        </p:nvSpPr>
        <p:spPr>
          <a:xfrm>
            <a:off x="131181" y="3514726"/>
            <a:ext cx="11929640" cy="2939284"/>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dirty="0" err="1">
                <a:cs typeface="Courier New" pitchFamily="49" charset="0"/>
              </a:rPr>
              <a:t>Ser</a:t>
            </a:r>
            <a:r>
              <a:rPr lang="en-US" dirty="0"/>
              <a:t> replies to </a:t>
            </a:r>
            <a:r>
              <a:rPr lang="en-US" dirty="0" err="1">
                <a:cs typeface="Courier New" pitchFamily="49" charset="0"/>
              </a:rPr>
              <a:t>Cli</a:t>
            </a:r>
            <a:r>
              <a:rPr lang="en-US" dirty="0"/>
              <a:t> at its local time </a:t>
            </a:r>
            <a:r>
              <a:rPr lang="en-US" dirty="0">
                <a:cs typeface="Courier New" pitchFamily="49" charset="0"/>
              </a:rPr>
              <a:t>T3</a:t>
            </a:r>
            <a:r>
              <a:rPr lang="en-US" dirty="0"/>
              <a:t>, piggybacking </a:t>
            </a:r>
            <a:r>
              <a:rPr lang="en-US" dirty="0">
                <a:cs typeface="Courier New" pitchFamily="49" charset="0"/>
              </a:rPr>
              <a:t>T1</a:t>
            </a:r>
            <a:r>
              <a:rPr lang="en-US" dirty="0"/>
              <a:t> and </a:t>
            </a:r>
            <a:r>
              <a:rPr lang="en-US" dirty="0">
                <a:cs typeface="Courier New" pitchFamily="49" charset="0"/>
              </a:rPr>
              <a:t>T2</a:t>
            </a:r>
          </a:p>
          <a:p>
            <a:pPr>
              <a:defRPr/>
            </a:pPr>
            <a:r>
              <a:rPr lang="en-US" dirty="0" err="1">
                <a:cs typeface="Courier New" pitchFamily="49" charset="0"/>
              </a:rPr>
              <a:t>Cli</a:t>
            </a:r>
            <a:r>
              <a:rPr lang="en-US" dirty="0">
                <a:cs typeface="Courier New" pitchFamily="49" charset="0"/>
              </a:rPr>
              <a:t> </a:t>
            </a:r>
            <a:r>
              <a:rPr lang="en-US" dirty="0"/>
              <a:t>receives the reply at its local time </a:t>
            </a:r>
            <a:r>
              <a:rPr lang="en-US" dirty="0">
                <a:cs typeface="Courier New" pitchFamily="49" charset="0"/>
              </a:rPr>
              <a:t>T4</a:t>
            </a:r>
          </a:p>
          <a:p>
            <a:pPr marL="714375" lvl="2" indent="-357188">
              <a:defRPr/>
            </a:pPr>
            <a:r>
              <a:rPr lang="en-US" sz="2400" dirty="0" err="1"/>
              <a:t>dTres</a:t>
            </a:r>
            <a:r>
              <a:rPr lang="en-US" sz="2400" dirty="0"/>
              <a:t> is the network delay for response transmission</a:t>
            </a:r>
          </a:p>
          <a:p>
            <a:pPr>
              <a:defRPr/>
            </a:pPr>
            <a:r>
              <a:rPr lang="en-US" dirty="0"/>
              <a:t>Now </a:t>
            </a:r>
            <a:r>
              <a:rPr lang="en-US" dirty="0" err="1">
                <a:cs typeface="Courier New" pitchFamily="49" charset="0"/>
              </a:rPr>
              <a:t>Cli</a:t>
            </a:r>
            <a:r>
              <a:rPr lang="en-US" dirty="0"/>
              <a:t> has the information </a:t>
            </a:r>
            <a:r>
              <a:rPr lang="en-US" dirty="0">
                <a:cs typeface="Courier New" pitchFamily="49" charset="0"/>
              </a:rPr>
              <a:t>T1</a:t>
            </a:r>
            <a:r>
              <a:rPr lang="en-US" dirty="0"/>
              <a:t>, </a:t>
            </a:r>
            <a:r>
              <a:rPr lang="en-US" dirty="0">
                <a:cs typeface="Courier New" pitchFamily="49" charset="0"/>
              </a:rPr>
              <a:t>T2</a:t>
            </a:r>
            <a:r>
              <a:rPr lang="en-US" dirty="0"/>
              <a:t>, </a:t>
            </a:r>
            <a:r>
              <a:rPr lang="en-US" dirty="0">
                <a:cs typeface="Courier New" pitchFamily="49" charset="0"/>
              </a:rPr>
              <a:t>T3</a:t>
            </a:r>
            <a:r>
              <a:rPr lang="en-US" dirty="0"/>
              <a:t> and </a:t>
            </a:r>
            <a:r>
              <a:rPr lang="en-US" dirty="0">
                <a:cs typeface="Courier New" pitchFamily="49" charset="0"/>
              </a:rPr>
              <a:t>T4</a:t>
            </a:r>
          </a:p>
          <a:p>
            <a:pPr>
              <a:defRPr/>
            </a:pPr>
            <a:r>
              <a:rPr lang="en-US" b="1" dirty="0">
                <a:solidFill>
                  <a:srgbClr val="1D6199"/>
                </a:solidFill>
              </a:rPr>
              <a:t>Assuming that the transmission delay from </a:t>
            </a:r>
            <a:r>
              <a:rPr lang="en-US" b="1" dirty="0" err="1">
                <a:solidFill>
                  <a:srgbClr val="1D6199"/>
                </a:solidFill>
                <a:cs typeface="Courier New" pitchFamily="49" charset="0"/>
              </a:rPr>
              <a:t>Cli</a:t>
            </a:r>
            <a:r>
              <a:rPr lang="en-US" b="1" dirty="0" err="1">
                <a:solidFill>
                  <a:srgbClr val="1D6199"/>
                </a:solidFill>
                <a:sym typeface="Wingdings" pitchFamily="2" charset="2"/>
              </a:rPr>
              <a:t></a:t>
            </a:r>
            <a:r>
              <a:rPr lang="en-US" b="1" dirty="0" err="1">
                <a:solidFill>
                  <a:srgbClr val="1D6199"/>
                </a:solidFill>
                <a:cs typeface="Courier New" pitchFamily="49" charset="0"/>
              </a:rPr>
              <a:t>Ser</a:t>
            </a:r>
            <a:r>
              <a:rPr lang="en-US" b="1" dirty="0">
                <a:solidFill>
                  <a:srgbClr val="1D6199"/>
                </a:solidFill>
              </a:rPr>
              <a:t> and </a:t>
            </a:r>
            <a:r>
              <a:rPr lang="en-US" b="1" dirty="0" err="1">
                <a:solidFill>
                  <a:srgbClr val="1D6199"/>
                </a:solidFill>
                <a:cs typeface="Courier New" pitchFamily="49" charset="0"/>
              </a:rPr>
              <a:t>Ser</a:t>
            </a:r>
            <a:r>
              <a:rPr lang="en-US" b="1" dirty="0" err="1">
                <a:solidFill>
                  <a:srgbClr val="1D6199"/>
                </a:solidFill>
                <a:sym typeface="Wingdings" pitchFamily="2" charset="2"/>
              </a:rPr>
              <a:t></a:t>
            </a:r>
            <a:r>
              <a:rPr lang="en-US" b="1" dirty="0" err="1">
                <a:solidFill>
                  <a:srgbClr val="1D6199"/>
                </a:solidFill>
                <a:cs typeface="Courier New" pitchFamily="49" charset="0"/>
              </a:rPr>
              <a:t>Cli</a:t>
            </a:r>
            <a:r>
              <a:rPr lang="en-US" b="1" dirty="0">
                <a:solidFill>
                  <a:srgbClr val="1D6199"/>
                </a:solidFill>
              </a:rPr>
              <a:t> are the same</a:t>
            </a:r>
          </a:p>
          <a:p>
            <a:pPr>
              <a:buFontTx/>
              <a:buNone/>
              <a:defRPr/>
            </a:pPr>
            <a:r>
              <a:rPr lang="en-US" dirty="0">
                <a:solidFill>
                  <a:srgbClr val="1D6199"/>
                </a:solidFill>
                <a:cs typeface="Courier New" pitchFamily="49" charset="0"/>
              </a:rPr>
              <a:t>					</a:t>
            </a:r>
            <a:r>
              <a:rPr lang="en-US" b="1" dirty="0">
                <a:solidFill>
                  <a:srgbClr val="1D6199"/>
                </a:solidFill>
                <a:cs typeface="Courier New" pitchFamily="49" charset="0"/>
              </a:rPr>
              <a:t>T2-T1 ≈ T4–T3</a:t>
            </a:r>
          </a:p>
        </p:txBody>
      </p:sp>
      <p:cxnSp>
        <p:nvCxnSpPr>
          <p:cNvPr id="5" name="Straight Arrow Connector 4">
            <a:extLst>
              <a:ext uri="{FF2B5EF4-FFF2-40B4-BE49-F238E27FC236}">
                <a16:creationId xmlns:a16="http://schemas.microsoft.com/office/drawing/2014/main" id="{E9A0F3BA-A0F8-40F5-A992-E69864099F94}"/>
              </a:ext>
            </a:extLst>
          </p:cNvPr>
          <p:cNvCxnSpPr/>
          <p:nvPr/>
        </p:nvCxnSpPr>
        <p:spPr>
          <a:xfrm>
            <a:off x="8410576" y="1579563"/>
            <a:ext cx="2743200" cy="0"/>
          </a:xfrm>
          <a:prstGeom prst="straightConnector1">
            <a:avLst/>
          </a:prstGeom>
          <a:ln w="381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44182BBF-450D-43C8-AD3F-CD8BA6DA37A2}"/>
              </a:ext>
            </a:extLst>
          </p:cNvPr>
          <p:cNvCxnSpPr/>
          <p:nvPr/>
        </p:nvCxnSpPr>
        <p:spPr>
          <a:xfrm>
            <a:off x="8410576" y="2722563"/>
            <a:ext cx="2667000" cy="0"/>
          </a:xfrm>
          <a:prstGeom prst="straightConnector1">
            <a:avLst/>
          </a:prstGeom>
          <a:ln w="38100">
            <a:solidFill>
              <a:schemeClr val="accent6"/>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3E408A32-19D9-4173-BDE7-61194410B718}"/>
              </a:ext>
            </a:extLst>
          </p:cNvPr>
          <p:cNvSpPr txBox="1">
            <a:spLocks noChangeArrowheads="1"/>
          </p:cNvSpPr>
          <p:nvPr/>
        </p:nvSpPr>
        <p:spPr bwMode="auto">
          <a:xfrm>
            <a:off x="7300912" y="1155700"/>
            <a:ext cx="19478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tx1"/>
                </a:solidFill>
                <a:latin typeface="+mn-lt"/>
              </a:rPr>
              <a:t>Time Server </a:t>
            </a:r>
            <a:r>
              <a:rPr lang="en-US" altLang="en-US" sz="2000" dirty="0">
                <a:solidFill>
                  <a:schemeClr val="tx1"/>
                </a:solidFill>
                <a:latin typeface="+mn-lt"/>
                <a:cs typeface="Courier New" panose="02070309020205020404" pitchFamily="49" charset="0"/>
              </a:rPr>
              <a:t>Ser</a:t>
            </a:r>
          </a:p>
        </p:txBody>
      </p:sp>
      <p:sp>
        <p:nvSpPr>
          <p:cNvPr id="8" name="TextBox 7">
            <a:extLst>
              <a:ext uri="{FF2B5EF4-FFF2-40B4-BE49-F238E27FC236}">
                <a16:creationId xmlns:a16="http://schemas.microsoft.com/office/drawing/2014/main" id="{A8336634-AF73-4177-ACB6-3E54D268A517}"/>
              </a:ext>
            </a:extLst>
          </p:cNvPr>
          <p:cNvSpPr txBox="1">
            <a:spLocks noChangeArrowheads="1"/>
          </p:cNvSpPr>
          <p:nvPr/>
        </p:nvSpPr>
        <p:spPr bwMode="auto">
          <a:xfrm>
            <a:off x="7648576" y="2755900"/>
            <a:ext cx="1143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accent6"/>
                </a:solidFill>
                <a:latin typeface="+mn-lt"/>
              </a:rPr>
              <a:t>Client </a:t>
            </a:r>
            <a:r>
              <a:rPr lang="en-US" altLang="en-US" sz="2000" dirty="0" err="1">
                <a:solidFill>
                  <a:schemeClr val="accent6"/>
                </a:solidFill>
                <a:latin typeface="+mn-lt"/>
                <a:cs typeface="Courier New" panose="02070309020205020404" pitchFamily="49" charset="0"/>
              </a:rPr>
              <a:t>Cli</a:t>
            </a:r>
            <a:endParaRPr lang="en-US" altLang="en-US" sz="2000" dirty="0">
              <a:solidFill>
                <a:schemeClr val="accent6"/>
              </a:solidFill>
              <a:latin typeface="+mn-lt"/>
              <a:cs typeface="Courier New" panose="02070309020205020404" pitchFamily="49" charset="0"/>
            </a:endParaRPr>
          </a:p>
        </p:txBody>
      </p:sp>
      <p:cxnSp>
        <p:nvCxnSpPr>
          <p:cNvPr id="9" name="Straight Arrow Connector 8">
            <a:extLst>
              <a:ext uri="{FF2B5EF4-FFF2-40B4-BE49-F238E27FC236}">
                <a16:creationId xmlns:a16="http://schemas.microsoft.com/office/drawing/2014/main" id="{32B74E9B-5B69-44BC-B7BA-8B9C7FAAED37}"/>
              </a:ext>
            </a:extLst>
          </p:cNvPr>
          <p:cNvCxnSpPr/>
          <p:nvPr/>
        </p:nvCxnSpPr>
        <p:spPr>
          <a:xfrm flipV="1">
            <a:off x="9020176" y="1612901"/>
            <a:ext cx="838200" cy="1109663"/>
          </a:xfrm>
          <a:prstGeom prst="straightConnector1">
            <a:avLst/>
          </a:prstGeom>
          <a:ln w="38100">
            <a:solidFill>
              <a:schemeClr val="accent6"/>
            </a:solidFill>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10" name="TextBox 11">
            <a:extLst>
              <a:ext uri="{FF2B5EF4-FFF2-40B4-BE49-F238E27FC236}">
                <a16:creationId xmlns:a16="http://schemas.microsoft.com/office/drawing/2014/main" id="{2B980A5D-C7B6-46D4-811D-E1CC9B937E83}"/>
              </a:ext>
            </a:extLst>
          </p:cNvPr>
          <p:cNvSpPr txBox="1">
            <a:spLocks noChangeArrowheads="1"/>
          </p:cNvSpPr>
          <p:nvPr/>
        </p:nvSpPr>
        <p:spPr bwMode="auto">
          <a:xfrm>
            <a:off x="8791576" y="2679700"/>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solidFill>
                  <a:schemeClr val="tx1"/>
                </a:solidFill>
                <a:latin typeface="+mn-lt"/>
                <a:cs typeface="Courier New" panose="02070309020205020404" pitchFamily="49" charset="0"/>
              </a:rPr>
              <a:t>T1</a:t>
            </a:r>
          </a:p>
        </p:txBody>
      </p:sp>
      <p:sp>
        <p:nvSpPr>
          <p:cNvPr id="11" name="TextBox 12">
            <a:extLst>
              <a:ext uri="{FF2B5EF4-FFF2-40B4-BE49-F238E27FC236}">
                <a16:creationId xmlns:a16="http://schemas.microsoft.com/office/drawing/2014/main" id="{3451FA65-7956-4193-B2B1-53EF08B07946}"/>
              </a:ext>
            </a:extLst>
          </p:cNvPr>
          <p:cNvSpPr txBox="1">
            <a:spLocks noChangeArrowheads="1"/>
          </p:cNvSpPr>
          <p:nvPr/>
        </p:nvSpPr>
        <p:spPr bwMode="auto">
          <a:xfrm>
            <a:off x="9553576" y="1274764"/>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tx1"/>
                </a:solidFill>
                <a:latin typeface="+mn-lt"/>
                <a:cs typeface="Courier New" panose="02070309020205020404" pitchFamily="49" charset="0"/>
              </a:rPr>
              <a:t>T2</a:t>
            </a:r>
          </a:p>
        </p:txBody>
      </p:sp>
      <p:sp>
        <p:nvSpPr>
          <p:cNvPr id="12" name="TextBox 13">
            <a:extLst>
              <a:ext uri="{FF2B5EF4-FFF2-40B4-BE49-F238E27FC236}">
                <a16:creationId xmlns:a16="http://schemas.microsoft.com/office/drawing/2014/main" id="{B7D5053B-786B-4170-B134-CA45C1C0D00A}"/>
              </a:ext>
            </a:extLst>
          </p:cNvPr>
          <p:cNvSpPr txBox="1">
            <a:spLocks noChangeArrowheads="1"/>
          </p:cNvSpPr>
          <p:nvPr/>
        </p:nvSpPr>
        <p:spPr bwMode="auto">
          <a:xfrm>
            <a:off x="9934576" y="1274764"/>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solidFill>
                  <a:schemeClr val="tx1"/>
                </a:solidFill>
                <a:latin typeface="+mn-lt"/>
                <a:cs typeface="Courier New" panose="02070309020205020404" pitchFamily="49" charset="0"/>
              </a:rPr>
              <a:t>T3</a:t>
            </a:r>
          </a:p>
        </p:txBody>
      </p:sp>
      <p:cxnSp>
        <p:nvCxnSpPr>
          <p:cNvPr id="13" name="Straight Arrow Connector 12">
            <a:extLst>
              <a:ext uri="{FF2B5EF4-FFF2-40B4-BE49-F238E27FC236}">
                <a16:creationId xmlns:a16="http://schemas.microsoft.com/office/drawing/2014/main" id="{8C058058-BE65-4297-9544-F421D15B8DCF}"/>
              </a:ext>
            </a:extLst>
          </p:cNvPr>
          <p:cNvCxnSpPr>
            <a:stCxn id="12" idx="2"/>
          </p:cNvCxnSpPr>
          <p:nvPr/>
        </p:nvCxnSpPr>
        <p:spPr>
          <a:xfrm>
            <a:off x="10201276" y="1674874"/>
            <a:ext cx="800100" cy="1081026"/>
          </a:xfrm>
          <a:prstGeom prst="straightConnector1">
            <a:avLst/>
          </a:prstGeom>
          <a:ln w="38100">
            <a:solidFill>
              <a:schemeClr val="tx1"/>
            </a:solidFill>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14" name="TextBox 17">
            <a:extLst>
              <a:ext uri="{FF2B5EF4-FFF2-40B4-BE49-F238E27FC236}">
                <a16:creationId xmlns:a16="http://schemas.microsoft.com/office/drawing/2014/main" id="{E0566E55-2BF0-4A4B-ABFE-041AEF89C0F3}"/>
              </a:ext>
            </a:extLst>
          </p:cNvPr>
          <p:cNvSpPr txBox="1">
            <a:spLocks noChangeArrowheads="1"/>
          </p:cNvSpPr>
          <p:nvPr/>
        </p:nvSpPr>
        <p:spPr bwMode="auto">
          <a:xfrm>
            <a:off x="10848976" y="2679700"/>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solidFill>
                  <a:schemeClr val="tx1"/>
                </a:solidFill>
                <a:latin typeface="+mn-lt"/>
                <a:cs typeface="Courier New" panose="02070309020205020404" pitchFamily="49" charset="0"/>
              </a:rPr>
              <a:t>T4</a:t>
            </a:r>
          </a:p>
        </p:txBody>
      </p:sp>
      <p:cxnSp>
        <p:nvCxnSpPr>
          <p:cNvPr id="15" name="Straight Arrow Connector 14">
            <a:extLst>
              <a:ext uri="{FF2B5EF4-FFF2-40B4-BE49-F238E27FC236}">
                <a16:creationId xmlns:a16="http://schemas.microsoft.com/office/drawing/2014/main" id="{A106CF62-B3D0-4CA9-9721-B6650C6A52D3}"/>
              </a:ext>
            </a:extLst>
          </p:cNvPr>
          <p:cNvCxnSpPr/>
          <p:nvPr/>
        </p:nvCxnSpPr>
        <p:spPr>
          <a:xfrm flipV="1">
            <a:off x="10163176" y="1579563"/>
            <a:ext cx="0" cy="1143000"/>
          </a:xfrm>
          <a:prstGeom prst="straightConnector1">
            <a:avLst/>
          </a:prstGeom>
          <a:ln w="19050">
            <a:solidFill>
              <a:schemeClr val="tx1"/>
            </a:solidFill>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893BC6AF-B548-4452-BA7A-A1A7218D7796}"/>
              </a:ext>
            </a:extLst>
          </p:cNvPr>
          <p:cNvCxnSpPr/>
          <p:nvPr/>
        </p:nvCxnSpPr>
        <p:spPr>
          <a:xfrm flipV="1">
            <a:off x="9858376" y="1612900"/>
            <a:ext cx="0" cy="1143000"/>
          </a:xfrm>
          <a:prstGeom prst="straightConnector1">
            <a:avLst/>
          </a:prstGeom>
          <a:ln w="19050">
            <a:solidFill>
              <a:schemeClr val="tx1"/>
            </a:solidFill>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7" name="Rectangle 16">
            <a:extLst>
              <a:ext uri="{FF2B5EF4-FFF2-40B4-BE49-F238E27FC236}">
                <a16:creationId xmlns:a16="http://schemas.microsoft.com/office/drawing/2014/main" id="{CD65BF2B-E0B5-414A-AE4C-CDE1890A589E}"/>
              </a:ext>
            </a:extLst>
          </p:cNvPr>
          <p:cNvSpPr/>
          <p:nvPr/>
        </p:nvSpPr>
        <p:spPr>
          <a:xfrm>
            <a:off x="8715376" y="1917700"/>
            <a:ext cx="457200" cy="304800"/>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rPr>
              <a:t>T1</a:t>
            </a:r>
          </a:p>
        </p:txBody>
      </p:sp>
      <p:sp>
        <p:nvSpPr>
          <p:cNvPr id="18" name="Rectangle 17">
            <a:extLst>
              <a:ext uri="{FF2B5EF4-FFF2-40B4-BE49-F238E27FC236}">
                <a16:creationId xmlns:a16="http://schemas.microsoft.com/office/drawing/2014/main" id="{4A709DB2-2F93-47D7-B590-0C598C7F0F50}"/>
              </a:ext>
            </a:extLst>
          </p:cNvPr>
          <p:cNvSpPr/>
          <p:nvPr/>
        </p:nvSpPr>
        <p:spPr>
          <a:xfrm>
            <a:off x="10696576" y="1917700"/>
            <a:ext cx="1464258" cy="304800"/>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rPr>
              <a:t>T1, T2, T3</a:t>
            </a:r>
          </a:p>
        </p:txBody>
      </p:sp>
      <p:sp>
        <p:nvSpPr>
          <p:cNvPr id="19" name="Content Placeholder 2">
            <a:extLst>
              <a:ext uri="{FF2B5EF4-FFF2-40B4-BE49-F238E27FC236}">
                <a16:creationId xmlns:a16="http://schemas.microsoft.com/office/drawing/2014/main" id="{2187077A-BF4A-40BE-9A1E-0B671F690DCE}"/>
              </a:ext>
            </a:extLst>
          </p:cNvPr>
          <p:cNvSpPr txBox="1">
            <a:spLocks/>
          </p:cNvSpPr>
          <p:nvPr/>
        </p:nvSpPr>
        <p:spPr bwMode="auto">
          <a:xfrm>
            <a:off x="157586" y="949385"/>
            <a:ext cx="6231519" cy="2130425"/>
          </a:xfrm>
          <a:prstGeom prst="rect">
            <a:avLst/>
          </a:prstGeom>
          <a:noFill/>
          <a:ln w="9525">
            <a:noFill/>
            <a:miter lim="800000"/>
            <a:headEnd/>
            <a:tailEnd/>
          </a:ln>
        </p:spPr>
        <p:txBody>
          <a:bodyPr/>
          <a:lstStyle/>
          <a:p>
            <a:pPr marL="265113" indent="-265113" algn="just">
              <a:lnSpc>
                <a:spcPct val="90000"/>
              </a:lnSpc>
              <a:spcBef>
                <a:spcPts val="1000"/>
              </a:spcBef>
              <a:buClr>
                <a:schemeClr val="accent6"/>
              </a:buClr>
              <a:buFont typeface="Webdings" panose="05030102010509060703" pitchFamily="18" charset="2"/>
              <a:buChar char=""/>
              <a:defRPr/>
            </a:pPr>
            <a:r>
              <a:rPr lang="en-US" sz="2400" dirty="0">
                <a:cs typeface="Courier New" pitchFamily="49" charset="0"/>
              </a:rPr>
              <a:t>Client </a:t>
            </a:r>
            <a:r>
              <a:rPr lang="en-US" sz="2400" dirty="0" err="1">
                <a:cs typeface="Courier New" pitchFamily="49" charset="0"/>
              </a:rPr>
              <a:t>Cli</a:t>
            </a:r>
            <a:r>
              <a:rPr lang="en-US" sz="2400" dirty="0">
                <a:cs typeface="Courier New" pitchFamily="49" charset="0"/>
              </a:rPr>
              <a:t> sends a request to Time Server Ser, time stamped its local clock time T1</a:t>
            </a:r>
          </a:p>
          <a:p>
            <a:pPr marL="265113" indent="-265113" algn="just">
              <a:lnSpc>
                <a:spcPct val="90000"/>
              </a:lnSpc>
              <a:spcBef>
                <a:spcPts val="1000"/>
              </a:spcBef>
              <a:buClr>
                <a:schemeClr val="accent6"/>
              </a:buClr>
              <a:buFont typeface="Webdings" panose="05030102010509060703" pitchFamily="18" charset="2"/>
              <a:buChar char=""/>
              <a:defRPr/>
            </a:pPr>
            <a:r>
              <a:rPr lang="en-US" sz="2400" dirty="0" err="1">
                <a:cs typeface="Courier New" pitchFamily="49" charset="0"/>
              </a:rPr>
              <a:t>Ser</a:t>
            </a:r>
            <a:r>
              <a:rPr lang="en-US" sz="2400" dirty="0">
                <a:cs typeface="Courier New" pitchFamily="49" charset="0"/>
              </a:rPr>
              <a:t> will record the time of receipt  T2 according to its local clock</a:t>
            </a:r>
          </a:p>
          <a:p>
            <a:pPr marL="265113" lvl="1" indent="-265113" algn="just">
              <a:lnSpc>
                <a:spcPct val="90000"/>
              </a:lnSpc>
              <a:spcBef>
                <a:spcPts val="1000"/>
              </a:spcBef>
              <a:buClr>
                <a:schemeClr val="accent6"/>
              </a:buClr>
              <a:buFont typeface="Webdings" panose="05030102010509060703" pitchFamily="18" charset="2"/>
              <a:buChar char=""/>
              <a:defRPr/>
            </a:pPr>
            <a:r>
              <a:rPr lang="en-US" sz="2400" dirty="0" err="1">
                <a:cs typeface="Courier New" pitchFamily="49" charset="0"/>
              </a:rPr>
              <a:t>dTreq</a:t>
            </a:r>
            <a:r>
              <a:rPr lang="en-US" sz="2400" dirty="0">
                <a:cs typeface="Courier New" pitchFamily="49" charset="0"/>
              </a:rPr>
              <a:t> is network delay for request transmission</a:t>
            </a:r>
          </a:p>
        </p:txBody>
      </p:sp>
      <p:sp>
        <p:nvSpPr>
          <p:cNvPr id="20" name="TextBox 11">
            <a:extLst>
              <a:ext uri="{FF2B5EF4-FFF2-40B4-BE49-F238E27FC236}">
                <a16:creationId xmlns:a16="http://schemas.microsoft.com/office/drawing/2014/main" id="{9780643A-B85D-466B-B4E8-6A3306FF7725}"/>
              </a:ext>
            </a:extLst>
          </p:cNvPr>
          <p:cNvSpPr txBox="1">
            <a:spLocks noChangeArrowheads="1"/>
          </p:cNvSpPr>
          <p:nvPr/>
        </p:nvSpPr>
        <p:spPr bwMode="auto">
          <a:xfrm>
            <a:off x="9172576" y="2832100"/>
            <a:ext cx="609600" cy="254000"/>
          </a:xfrm>
          <a:prstGeom prst="rect">
            <a:avLst/>
          </a:prstGeom>
          <a:noFill/>
          <a:ln w="9525">
            <a:noFill/>
            <a:miter lim="800000"/>
            <a:headEnd/>
            <a:tailEnd/>
          </a:ln>
        </p:spPr>
        <p:txBody>
          <a:bodyPr>
            <a:spAutoFit/>
          </a:bodyPr>
          <a:lstStyle/>
          <a:p>
            <a:pPr eaLnBrk="1" hangingPunct="1">
              <a:defRPr/>
            </a:pPr>
            <a:r>
              <a:rPr lang="en-US" sz="1050" dirty="0" err="1">
                <a:cs typeface="Courier New" pitchFamily="49" charset="0"/>
              </a:rPr>
              <a:t>dTreq</a:t>
            </a:r>
            <a:endParaRPr lang="en-US" sz="1050" dirty="0">
              <a:cs typeface="Courier New" pitchFamily="49" charset="0"/>
            </a:endParaRPr>
          </a:p>
        </p:txBody>
      </p:sp>
      <p:cxnSp>
        <p:nvCxnSpPr>
          <p:cNvPr id="21" name="Straight Arrow Connector 20">
            <a:extLst>
              <a:ext uri="{FF2B5EF4-FFF2-40B4-BE49-F238E27FC236}">
                <a16:creationId xmlns:a16="http://schemas.microsoft.com/office/drawing/2014/main" id="{587B54E7-F51C-4847-9408-5AD86BFB971B}"/>
              </a:ext>
            </a:extLst>
          </p:cNvPr>
          <p:cNvCxnSpPr/>
          <p:nvPr/>
        </p:nvCxnSpPr>
        <p:spPr>
          <a:xfrm flipH="1">
            <a:off x="9020176" y="3060700"/>
            <a:ext cx="838200" cy="0"/>
          </a:xfrm>
          <a:prstGeom prst="straightConnector1">
            <a:avLst/>
          </a:prstGeom>
          <a:ln w="3175">
            <a:solidFill>
              <a:schemeClr val="tx1"/>
            </a:solidFill>
            <a:prstDash val="sysDash"/>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2" name="TextBox 11">
            <a:extLst>
              <a:ext uri="{FF2B5EF4-FFF2-40B4-BE49-F238E27FC236}">
                <a16:creationId xmlns:a16="http://schemas.microsoft.com/office/drawing/2014/main" id="{738A7B4F-622C-4FAA-9E08-520075E5240A}"/>
              </a:ext>
            </a:extLst>
          </p:cNvPr>
          <p:cNvSpPr txBox="1">
            <a:spLocks noChangeArrowheads="1"/>
          </p:cNvSpPr>
          <p:nvPr/>
        </p:nvSpPr>
        <p:spPr bwMode="auto">
          <a:xfrm>
            <a:off x="10315576" y="2832100"/>
            <a:ext cx="609600" cy="254000"/>
          </a:xfrm>
          <a:prstGeom prst="rect">
            <a:avLst/>
          </a:prstGeom>
          <a:noFill/>
          <a:ln w="9525">
            <a:noFill/>
            <a:miter lim="800000"/>
            <a:headEnd/>
            <a:tailEnd/>
          </a:ln>
        </p:spPr>
        <p:txBody>
          <a:bodyPr>
            <a:spAutoFit/>
          </a:bodyPr>
          <a:lstStyle/>
          <a:p>
            <a:pPr eaLnBrk="1" hangingPunct="1">
              <a:defRPr/>
            </a:pPr>
            <a:r>
              <a:rPr lang="en-US" sz="1050" dirty="0" err="1">
                <a:cs typeface="Courier New" pitchFamily="49" charset="0"/>
              </a:rPr>
              <a:t>dTres</a:t>
            </a:r>
            <a:endParaRPr lang="en-US" sz="1050" dirty="0">
              <a:cs typeface="Courier New" pitchFamily="49" charset="0"/>
            </a:endParaRPr>
          </a:p>
        </p:txBody>
      </p:sp>
      <p:cxnSp>
        <p:nvCxnSpPr>
          <p:cNvPr id="23" name="Straight Arrow Connector 22">
            <a:extLst>
              <a:ext uri="{FF2B5EF4-FFF2-40B4-BE49-F238E27FC236}">
                <a16:creationId xmlns:a16="http://schemas.microsoft.com/office/drawing/2014/main" id="{55CDAF27-44CA-4A8E-AC93-3DF2F9F08593}"/>
              </a:ext>
            </a:extLst>
          </p:cNvPr>
          <p:cNvCxnSpPr/>
          <p:nvPr/>
        </p:nvCxnSpPr>
        <p:spPr>
          <a:xfrm flipH="1">
            <a:off x="10163176" y="3060700"/>
            <a:ext cx="838200" cy="0"/>
          </a:xfrm>
          <a:prstGeom prst="straightConnector1">
            <a:avLst/>
          </a:prstGeom>
          <a:ln w="3175">
            <a:solidFill>
              <a:schemeClr val="tx1"/>
            </a:solidFill>
            <a:prstDash val="sysDash"/>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4" name="Rectangle 23"/>
          <p:cNvSpPr>
            <a:spLocks/>
          </p:cNvSpPr>
          <p:nvPr/>
        </p:nvSpPr>
        <p:spPr bwMode="auto">
          <a:xfrm>
            <a:off x="6886176" y="2379841"/>
            <a:ext cx="602729" cy="307777"/>
          </a:xfrm>
          <a:prstGeom prst="rect">
            <a:avLst/>
          </a:prstGeom>
          <a:noFill/>
          <a:ln w="12700" cap="flat">
            <a:noFill/>
            <a:miter lim="800000"/>
            <a:headEnd type="none" w="med" len="med"/>
            <a:tailEnd type="none" w="med" len="med"/>
          </a:ln>
        </p:spPr>
        <p:txBody>
          <a:bodyPr wrap="none" lIns="0" tIns="0" rIns="0" bIns="0" anchor="ctr">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dirty="0">
                <a:latin typeface="+mj-lt"/>
                <a:ea typeface="Helvetica Neue Medium" charset="0"/>
                <a:cs typeface="Helvetica Neue Medium" charset="0"/>
              </a:rPr>
              <a:t>Client</a:t>
            </a:r>
          </a:p>
        </p:txBody>
      </p:sp>
      <p:sp>
        <p:nvSpPr>
          <p:cNvPr id="25" name="Rectangle 24"/>
          <p:cNvSpPr>
            <a:spLocks/>
          </p:cNvSpPr>
          <p:nvPr/>
        </p:nvSpPr>
        <p:spPr bwMode="auto">
          <a:xfrm>
            <a:off x="6702834" y="1011337"/>
            <a:ext cx="891357" cy="307777"/>
          </a:xfrm>
          <a:prstGeom prst="rect">
            <a:avLst/>
          </a:prstGeom>
          <a:noFill/>
          <a:ln w="12700" cap="flat">
            <a:noFill/>
            <a:miter lim="800000"/>
            <a:headEnd type="none" w="med" len="med"/>
            <a:tailEnd type="none" w="med" len="med"/>
          </a:ln>
        </p:spPr>
        <p:txBody>
          <a:bodyPr wrap="square" lIns="0" tIns="0" rIns="0" bIns="0" anchor="ctr">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dirty="0">
                <a:latin typeface="+mj-lt"/>
                <a:ea typeface="Helvetica Neue Medium" charset="0"/>
                <a:cs typeface="Helvetica Neue Medium" charset="0"/>
              </a:rPr>
              <a:t>Server</a:t>
            </a:r>
          </a:p>
        </p:txBody>
      </p:sp>
      <p:pic>
        <p:nvPicPr>
          <p:cNvPr id="26" name="Picture 25" descr="Mac-Book-Black-On-48x48.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37243" y="2715817"/>
            <a:ext cx="609600" cy="609600"/>
          </a:xfrm>
          <a:prstGeom prst="rect">
            <a:avLst/>
          </a:prstGeom>
        </p:spPr>
      </p:pic>
      <p:pic>
        <p:nvPicPr>
          <p:cNvPr id="27" name="Picture 26" descr="server-48x48.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43712" y="1350224"/>
            <a:ext cx="609600" cy="609600"/>
          </a:xfrm>
          <a:prstGeom prst="rect">
            <a:avLst/>
          </a:prstGeom>
        </p:spPr>
      </p:pic>
    </p:spTree>
    <p:extLst>
      <p:ext uri="{BB962C8B-B14F-4D97-AF65-F5344CB8AC3E}">
        <p14:creationId xmlns:p14="http://schemas.microsoft.com/office/powerpoint/2010/main" val="3747981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9">
                                            <p:txEl>
                                              <p:pRg st="1" end="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
                                            <p:txEl>
                                              <p:pRg st="2" end="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
                                            <p:txEl>
                                              <p:pRg st="1" end="1"/>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
                                            <p:txEl>
                                              <p:pRg st="2" end="2"/>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
                                            <p:txEl>
                                              <p:pRg st="4" end="4"/>
                                            </p:txEl>
                                          </p:spTgt>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1" grpId="0"/>
      <p:bldP spid="12" grpId="0"/>
      <p:bldP spid="14" grpId="0"/>
      <p:bldP spid="17" grpId="0" animBg="1"/>
      <p:bldP spid="18" grpId="0" animBg="1"/>
      <p:bldP spid="20" grpId="0"/>
      <p:bldP spid="22" grpId="0"/>
      <p:bldP spid="24" grpId="0"/>
      <p:bldP spid="2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latin typeface="+mn-lt"/>
              </a:rPr>
              <a:t>Cristian’s Algorithm</a:t>
            </a:r>
          </a:p>
        </p:txBody>
      </p:sp>
      <p:sp>
        <p:nvSpPr>
          <p:cNvPr id="24" name="Content Placeholder 23"/>
          <p:cNvSpPr>
            <a:spLocks noGrp="1"/>
          </p:cNvSpPr>
          <p:nvPr>
            <p:ph idx="1"/>
          </p:nvPr>
        </p:nvSpPr>
        <p:spPr>
          <a:xfrm>
            <a:off x="131180" y="711202"/>
            <a:ext cx="11891487" cy="5672666"/>
          </a:xfrm>
        </p:spPr>
        <p:txBody>
          <a:bodyPr/>
          <a:lstStyle/>
          <a:p>
            <a:r>
              <a:rPr lang="en-US" dirty="0"/>
              <a:t>Note times:</a:t>
            </a:r>
          </a:p>
          <a:p>
            <a:pPr marL="714375" lvl="2" indent="-357188">
              <a:defRPr/>
            </a:pPr>
            <a:r>
              <a:rPr lang="en-US" sz="2000" dirty="0"/>
              <a:t>Request sent: T0</a:t>
            </a:r>
          </a:p>
          <a:p>
            <a:pPr marL="714375" lvl="2" indent="-357188">
              <a:defRPr/>
            </a:pPr>
            <a:r>
              <a:rPr lang="en-US" sz="2000" dirty="0"/>
              <a:t>Reply received: T1</a:t>
            </a:r>
          </a:p>
          <a:p>
            <a:r>
              <a:rPr lang="en-US" dirty="0"/>
              <a:t>Assume network delays are symmetric.</a:t>
            </a:r>
          </a:p>
          <a:p>
            <a:r>
              <a:rPr lang="en-US" dirty="0"/>
              <a:t>Client sets time to:</a:t>
            </a:r>
          </a:p>
        </p:txBody>
      </p:sp>
      <p:sp>
        <p:nvSpPr>
          <p:cNvPr id="25" name="Text Box 20">
            <a:extLst>
              <a:ext uri="{FF2B5EF4-FFF2-40B4-BE49-F238E27FC236}">
                <a16:creationId xmlns:a16="http://schemas.microsoft.com/office/drawing/2014/main" id="{8E099E1F-6004-490E-8CE7-860E440F1BC3}"/>
              </a:ext>
            </a:extLst>
          </p:cNvPr>
          <p:cNvSpPr txBox="1">
            <a:spLocks noChangeArrowheads="1"/>
          </p:cNvSpPr>
          <p:nvPr/>
        </p:nvSpPr>
        <p:spPr bwMode="auto">
          <a:xfrm>
            <a:off x="5330572" y="4955069"/>
            <a:ext cx="290855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just"/>
            <a:r>
              <a:rPr lang="en-US" altLang="en-US" dirty="0">
                <a:latin typeface="+mj-lt"/>
              </a:rPr>
              <a:t>= estimated overhead</a:t>
            </a:r>
            <a:br>
              <a:rPr lang="en-US" altLang="en-US" dirty="0">
                <a:latin typeface="+mj-lt"/>
              </a:rPr>
            </a:br>
            <a:r>
              <a:rPr lang="en-US" altLang="en-US" dirty="0">
                <a:latin typeface="+mj-lt"/>
              </a:rPr>
              <a:t>   in each direction</a:t>
            </a:r>
          </a:p>
        </p:txBody>
      </p:sp>
      <p:grpSp>
        <p:nvGrpSpPr>
          <p:cNvPr id="26" name="Group 23">
            <a:extLst>
              <a:ext uri="{FF2B5EF4-FFF2-40B4-BE49-F238E27FC236}">
                <a16:creationId xmlns:a16="http://schemas.microsoft.com/office/drawing/2014/main" id="{642B6705-DE8B-415D-81D9-C4ED0CE964BF}"/>
              </a:ext>
            </a:extLst>
          </p:cNvPr>
          <p:cNvGrpSpPr>
            <a:grpSpLocks/>
          </p:cNvGrpSpPr>
          <p:nvPr/>
        </p:nvGrpSpPr>
        <p:grpSpPr bwMode="auto">
          <a:xfrm>
            <a:off x="3438525" y="4407380"/>
            <a:ext cx="1828800" cy="304800"/>
            <a:chOff x="2016" y="1824"/>
            <a:chExt cx="1152" cy="192"/>
          </a:xfrm>
        </p:grpSpPr>
        <p:sp>
          <p:nvSpPr>
            <p:cNvPr id="27" name="AutoShape 24">
              <a:extLst>
                <a:ext uri="{FF2B5EF4-FFF2-40B4-BE49-F238E27FC236}">
                  <a16:creationId xmlns:a16="http://schemas.microsoft.com/office/drawing/2014/main" id="{F32BE330-C117-4910-87C8-A49F8186FDDD}"/>
                </a:ext>
              </a:extLst>
            </p:cNvPr>
            <p:cNvSpPr>
              <a:spLocks/>
            </p:cNvSpPr>
            <p:nvPr/>
          </p:nvSpPr>
          <p:spPr bwMode="auto">
            <a:xfrm rot="5400000">
              <a:off x="2208" y="1632"/>
              <a:ext cx="192" cy="576"/>
            </a:xfrm>
            <a:prstGeom prst="rightBrace">
              <a:avLst>
                <a:gd name="adj1" fmla="val 25000"/>
                <a:gd name="adj2" fmla="val 50000"/>
              </a:avLst>
            </a:prstGeom>
            <a:noFill/>
            <a:ln w="25400">
              <a:solidFill>
                <a:schemeClr val="tx2"/>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28" name="AutoShape 25">
              <a:extLst>
                <a:ext uri="{FF2B5EF4-FFF2-40B4-BE49-F238E27FC236}">
                  <a16:creationId xmlns:a16="http://schemas.microsoft.com/office/drawing/2014/main" id="{331D1578-E4DF-43B7-B232-2593FC3F70A0}"/>
                </a:ext>
              </a:extLst>
            </p:cNvPr>
            <p:cNvSpPr>
              <a:spLocks/>
            </p:cNvSpPr>
            <p:nvPr/>
          </p:nvSpPr>
          <p:spPr bwMode="auto">
            <a:xfrm rot="5400000">
              <a:off x="2784" y="1632"/>
              <a:ext cx="192" cy="576"/>
            </a:xfrm>
            <a:prstGeom prst="rightBrace">
              <a:avLst>
                <a:gd name="adj1" fmla="val 25000"/>
                <a:gd name="adj2" fmla="val 50000"/>
              </a:avLst>
            </a:prstGeom>
            <a:noFill/>
            <a:ln w="25400">
              <a:solidFill>
                <a:schemeClr val="tx2"/>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B6C9D31-4FE0-4A16-8A5C-B97A33572758}"/>
                  </a:ext>
                </a:extLst>
              </p:cNvPr>
              <p:cNvSpPr txBox="1"/>
              <p:nvPr/>
            </p:nvSpPr>
            <p:spPr>
              <a:xfrm>
                <a:off x="4270987" y="4959406"/>
                <a:ext cx="1127360" cy="689035"/>
              </a:xfrm>
              <a:prstGeom prst="rect">
                <a:avLst/>
              </a:prstGeom>
              <a:noFill/>
              <a:ln>
                <a:solidFill>
                  <a:schemeClr val="tx2"/>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pt-BR" sz="2400" i="1" smtClean="0">
                              <a:latin typeface="Cambria Math" panose="02040503050406030204" pitchFamily="18" charset="0"/>
                            </a:rPr>
                          </m:ctrlPr>
                        </m:fPr>
                        <m:num>
                          <m:sSub>
                            <m:sSubPr>
                              <m:ctrlPr>
                                <a:rPr lang="pt-BR" sz="2400" i="1">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1 </m:t>
                              </m:r>
                            </m:sub>
                          </m:sSub>
                          <m:r>
                            <a:rPr lang="en-US" sz="2400" b="0" i="1" smtClean="0">
                              <a:latin typeface="Cambria Math" panose="02040503050406030204" pitchFamily="18" charset="0"/>
                            </a:rPr>
                            <m:t>−</m:t>
                          </m:r>
                          <m:sSub>
                            <m:sSubPr>
                              <m:ctrlPr>
                                <a:rPr lang="pt-BR" sz="2400" i="1" smtClean="0">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0</m:t>
                              </m:r>
                            </m:sub>
                          </m:sSub>
                        </m:num>
                        <m:den>
                          <m:r>
                            <a:rPr lang="en-US" sz="2400" b="0" i="1" smtClean="0">
                              <a:latin typeface="Cambria Math" panose="02040503050406030204" pitchFamily="18" charset="0"/>
                            </a:rPr>
                            <m:t>2</m:t>
                          </m:r>
                        </m:den>
                      </m:f>
                    </m:oMath>
                  </m:oMathPara>
                </a14:m>
                <a:endParaRPr lang="en-US" dirty="0">
                  <a:latin typeface="+mj-lt"/>
                </a:endParaRPr>
              </a:p>
            </p:txBody>
          </p:sp>
        </mc:Choice>
        <mc:Fallback xmlns="">
          <p:sp>
            <p:nvSpPr>
              <p:cNvPr id="29" name="TextBox 28">
                <a:extLst>
                  <a:ext uri="{FF2B5EF4-FFF2-40B4-BE49-F238E27FC236}">
                    <a16:creationId xmlns:a16="http://schemas.microsoft.com/office/drawing/2014/main" xmlns:a14="http://schemas.microsoft.com/office/drawing/2010/main" xmlns="" id="{7B6C9D31-4FE0-4A16-8A5C-B97A33572758}"/>
                  </a:ext>
                </a:extLst>
              </p:cNvPr>
              <p:cNvSpPr txBox="1">
                <a:spLocks noRot="1" noChangeAspect="1" noMove="1" noResize="1" noEditPoints="1" noAdjustHandles="1" noChangeArrowheads="1" noChangeShapeType="1" noTextEdit="1"/>
              </p:cNvSpPr>
              <p:nvPr/>
            </p:nvSpPr>
            <p:spPr>
              <a:xfrm>
                <a:off x="4270987" y="4959406"/>
                <a:ext cx="1127360" cy="689035"/>
              </a:xfrm>
              <a:prstGeom prst="rect">
                <a:avLst/>
              </a:prstGeom>
              <a:blipFill rotWithShape="0">
                <a:blip r:embed="rId2"/>
                <a:stretch>
                  <a:fillRect/>
                </a:stretch>
              </a:blipFill>
              <a:ln>
                <a:solidFill>
                  <a:schemeClr val="tx2"/>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9280F3D7-60D4-4D95-8D27-8A6DD6E21341}"/>
                  </a:ext>
                </a:extLst>
              </p:cNvPr>
              <p:cNvSpPr txBox="1"/>
              <p:nvPr/>
            </p:nvSpPr>
            <p:spPr>
              <a:xfrm>
                <a:off x="4270987" y="5764974"/>
                <a:ext cx="3886200" cy="689035"/>
              </a:xfrm>
              <a:prstGeom prst="rect">
                <a:avLst/>
              </a:prstGeom>
              <a:noFill/>
              <a:ln>
                <a:solidFill>
                  <a:schemeClr val="tx2"/>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2400" i="1" smtClean="0">
                              <a:latin typeface="Cambria Math" panose="02040503050406030204" pitchFamily="18" charset="0"/>
                            </a:rPr>
                          </m:ctrlPr>
                        </m:sSubPr>
                        <m:e>
                          <m:r>
                            <a:rPr lang="en-US" sz="2400" i="1">
                              <a:latin typeface="Cambria Math" panose="02040503050406030204" pitchFamily="18" charset="0"/>
                            </a:rPr>
                            <m:t>𝑇</m:t>
                          </m:r>
                        </m:e>
                        <m:sub>
                          <m:r>
                            <a:rPr lang="en-US" sz="2400" b="0" i="1" smtClean="0">
                              <a:latin typeface="Cambria Math" panose="02040503050406030204" pitchFamily="18" charset="0"/>
                            </a:rPr>
                            <m:t>𝑛𝑒𝑤</m:t>
                          </m:r>
                          <m:r>
                            <a:rPr lang="en-US" sz="2400" i="1">
                              <a:latin typeface="Cambria Math" panose="02040503050406030204" pitchFamily="18" charset="0"/>
                            </a:rPr>
                            <m:t> </m:t>
                          </m:r>
                        </m:sub>
                      </m:sSub>
                      <m:r>
                        <a:rPr lang="en-US" sz="2400" b="0" i="1" smtClean="0">
                          <a:latin typeface="Cambria Math" panose="02040503050406030204" pitchFamily="18" charset="0"/>
                        </a:rPr>
                        <m:t>=</m:t>
                      </m:r>
                      <m:sSub>
                        <m:sSubPr>
                          <m:ctrlPr>
                            <a:rPr lang="pt-BR" sz="2400" i="1">
                              <a:latin typeface="Cambria Math" panose="02040503050406030204" pitchFamily="18" charset="0"/>
                            </a:rPr>
                          </m:ctrlPr>
                        </m:sSubPr>
                        <m:e>
                          <m:r>
                            <a:rPr lang="en-US" sz="2400" i="1">
                              <a:latin typeface="Cambria Math" panose="02040503050406030204" pitchFamily="18" charset="0"/>
                            </a:rPr>
                            <m:t>𝑇</m:t>
                          </m:r>
                        </m:e>
                        <m:sub>
                          <m:r>
                            <a:rPr lang="en-US" sz="2400" b="0" i="1" smtClean="0">
                              <a:latin typeface="Cambria Math" panose="02040503050406030204" pitchFamily="18" charset="0"/>
                            </a:rPr>
                            <m:t>𝑠𝑒𝑟𝑣𝑒𝑟</m:t>
                          </m:r>
                          <m:r>
                            <a:rPr lang="en-US" sz="2400" i="1">
                              <a:latin typeface="Cambria Math" panose="02040503050406030204" pitchFamily="18" charset="0"/>
                            </a:rPr>
                            <m:t> </m:t>
                          </m:r>
                        </m:sub>
                      </m:sSub>
                      <m:r>
                        <a:rPr lang="en-US" sz="2400" b="0" i="1" smtClean="0">
                          <a:latin typeface="Cambria Math" panose="02040503050406030204" pitchFamily="18" charset="0"/>
                        </a:rPr>
                        <m:t>+</m:t>
                      </m:r>
                      <m:f>
                        <m:fPr>
                          <m:ctrlPr>
                            <a:rPr lang="pt-BR" sz="2400" i="1" smtClean="0">
                              <a:latin typeface="Cambria Math" panose="02040503050406030204" pitchFamily="18" charset="0"/>
                            </a:rPr>
                          </m:ctrlPr>
                        </m:fPr>
                        <m:num>
                          <m:sSub>
                            <m:sSubPr>
                              <m:ctrlPr>
                                <a:rPr lang="pt-BR" sz="2400" i="1">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1 </m:t>
                              </m:r>
                            </m:sub>
                          </m:sSub>
                          <m:r>
                            <a:rPr lang="en-US" sz="2400" b="0" i="1" smtClean="0">
                              <a:latin typeface="Cambria Math" panose="02040503050406030204" pitchFamily="18" charset="0"/>
                            </a:rPr>
                            <m:t>−</m:t>
                          </m:r>
                          <m:sSub>
                            <m:sSubPr>
                              <m:ctrlPr>
                                <a:rPr lang="pt-BR" sz="2400" i="1" smtClean="0">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0</m:t>
                              </m:r>
                            </m:sub>
                          </m:sSub>
                        </m:num>
                        <m:den>
                          <m:r>
                            <a:rPr lang="en-US" sz="2400" b="0" i="1" smtClean="0">
                              <a:latin typeface="Cambria Math" panose="02040503050406030204" pitchFamily="18" charset="0"/>
                            </a:rPr>
                            <m:t>2</m:t>
                          </m:r>
                        </m:den>
                      </m:f>
                    </m:oMath>
                  </m:oMathPara>
                </a14:m>
                <a:endParaRPr lang="en-US" dirty="0">
                  <a:latin typeface="+mj-lt"/>
                </a:endParaRPr>
              </a:p>
            </p:txBody>
          </p:sp>
        </mc:Choice>
        <mc:Fallback xmlns="">
          <p:sp>
            <p:nvSpPr>
              <p:cNvPr id="30" name="TextBox 29">
                <a:extLst>
                  <a:ext uri="{FF2B5EF4-FFF2-40B4-BE49-F238E27FC236}">
                    <a16:creationId xmlns:a16="http://schemas.microsoft.com/office/drawing/2014/main" xmlns:a14="http://schemas.microsoft.com/office/drawing/2010/main" xmlns="" id="{9280F3D7-60D4-4D95-8D27-8A6DD6E21341}"/>
                  </a:ext>
                </a:extLst>
              </p:cNvPr>
              <p:cNvSpPr txBox="1">
                <a:spLocks noRot="1" noChangeAspect="1" noMove="1" noResize="1" noEditPoints="1" noAdjustHandles="1" noChangeArrowheads="1" noChangeShapeType="1" noTextEdit="1"/>
              </p:cNvSpPr>
              <p:nvPr/>
            </p:nvSpPr>
            <p:spPr>
              <a:xfrm>
                <a:off x="4270987" y="5764974"/>
                <a:ext cx="3886200" cy="689035"/>
              </a:xfrm>
              <a:prstGeom prst="rect">
                <a:avLst/>
              </a:prstGeom>
              <a:blipFill rotWithShape="0">
                <a:blip r:embed="rId3"/>
                <a:stretch>
                  <a:fillRect/>
                </a:stretch>
              </a:blipFill>
              <a:ln>
                <a:solidFill>
                  <a:schemeClr val="tx2"/>
                </a:solidFill>
              </a:ln>
            </p:spPr>
            <p:txBody>
              <a:bodyPr/>
              <a:lstStyle/>
              <a:p>
                <a:r>
                  <a:rPr lang="en-IN">
                    <a:noFill/>
                  </a:rPr>
                  <a:t> </a:t>
                </a:r>
              </a:p>
            </p:txBody>
          </p:sp>
        </mc:Fallback>
      </mc:AlternateContent>
      <p:sp>
        <p:nvSpPr>
          <p:cNvPr id="31" name="Line 5">
            <a:extLst>
              <a:ext uri="{FF2B5EF4-FFF2-40B4-BE49-F238E27FC236}">
                <a16:creationId xmlns:a16="http://schemas.microsoft.com/office/drawing/2014/main" id="{306CBAFE-4315-4962-A998-742B41CD5553}"/>
              </a:ext>
            </a:extLst>
          </p:cNvPr>
          <p:cNvSpPr>
            <a:spLocks noChangeShapeType="1"/>
          </p:cNvSpPr>
          <p:nvPr/>
        </p:nvSpPr>
        <p:spPr bwMode="auto">
          <a:xfrm>
            <a:off x="2371725" y="4407382"/>
            <a:ext cx="5257800" cy="0"/>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2" name="Line 6">
            <a:extLst>
              <a:ext uri="{FF2B5EF4-FFF2-40B4-BE49-F238E27FC236}">
                <a16:creationId xmlns:a16="http://schemas.microsoft.com/office/drawing/2014/main" id="{997924F7-25C4-47F0-843E-22954D1ECC9C}"/>
              </a:ext>
            </a:extLst>
          </p:cNvPr>
          <p:cNvSpPr>
            <a:spLocks noChangeShapeType="1"/>
          </p:cNvSpPr>
          <p:nvPr/>
        </p:nvSpPr>
        <p:spPr bwMode="auto">
          <a:xfrm>
            <a:off x="2371725" y="3507269"/>
            <a:ext cx="5257800" cy="0"/>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3" name="Text Box 7">
            <a:extLst>
              <a:ext uri="{FF2B5EF4-FFF2-40B4-BE49-F238E27FC236}">
                <a16:creationId xmlns:a16="http://schemas.microsoft.com/office/drawing/2014/main" id="{10265189-75A4-4E27-AE2B-527539BC509E}"/>
              </a:ext>
            </a:extLst>
          </p:cNvPr>
          <p:cNvSpPr txBox="1">
            <a:spLocks noChangeArrowheads="1"/>
          </p:cNvSpPr>
          <p:nvPr/>
        </p:nvSpPr>
        <p:spPr bwMode="auto">
          <a:xfrm>
            <a:off x="771525" y="3264382"/>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b="1" dirty="0">
                <a:latin typeface="+mj-lt"/>
              </a:rPr>
              <a:t>server</a:t>
            </a:r>
            <a:endParaRPr lang="en-US" altLang="en-US" b="1" baseline="-25000" dirty="0">
              <a:latin typeface="+mj-lt"/>
            </a:endParaRPr>
          </a:p>
        </p:txBody>
      </p:sp>
      <p:sp>
        <p:nvSpPr>
          <p:cNvPr id="34" name="Text Box 8">
            <a:extLst>
              <a:ext uri="{FF2B5EF4-FFF2-40B4-BE49-F238E27FC236}">
                <a16:creationId xmlns:a16="http://schemas.microsoft.com/office/drawing/2014/main" id="{7C6919D6-BB4F-4131-8C8E-D1182EBECF67}"/>
              </a:ext>
            </a:extLst>
          </p:cNvPr>
          <p:cNvSpPr txBox="1">
            <a:spLocks noChangeArrowheads="1"/>
          </p:cNvSpPr>
          <p:nvPr/>
        </p:nvSpPr>
        <p:spPr bwMode="auto">
          <a:xfrm>
            <a:off x="1000125" y="4174019"/>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b="1" dirty="0">
                <a:latin typeface="+mj-lt"/>
              </a:rPr>
              <a:t>client</a:t>
            </a:r>
            <a:endParaRPr lang="en-US" altLang="en-US" b="1" baseline="-25000" dirty="0">
              <a:latin typeface="+mj-lt"/>
            </a:endParaRPr>
          </a:p>
        </p:txBody>
      </p:sp>
      <p:sp>
        <p:nvSpPr>
          <p:cNvPr id="35" name="Text Box 9">
            <a:extLst>
              <a:ext uri="{FF2B5EF4-FFF2-40B4-BE49-F238E27FC236}">
                <a16:creationId xmlns:a16="http://schemas.microsoft.com/office/drawing/2014/main" id="{6AA61C3F-1CAD-4A58-BB9F-23821D1089B5}"/>
              </a:ext>
            </a:extLst>
          </p:cNvPr>
          <p:cNvSpPr txBox="1">
            <a:spLocks noChangeArrowheads="1"/>
          </p:cNvSpPr>
          <p:nvPr/>
        </p:nvSpPr>
        <p:spPr bwMode="auto">
          <a:xfrm>
            <a:off x="7248525" y="4421669"/>
            <a:ext cx="7216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dirty="0">
                <a:latin typeface="+mj-lt"/>
              </a:rPr>
              <a:t>time</a:t>
            </a:r>
          </a:p>
        </p:txBody>
      </p:sp>
      <p:sp>
        <p:nvSpPr>
          <p:cNvPr id="36" name="Line 10">
            <a:extLst>
              <a:ext uri="{FF2B5EF4-FFF2-40B4-BE49-F238E27FC236}">
                <a16:creationId xmlns:a16="http://schemas.microsoft.com/office/drawing/2014/main" id="{56DE6D20-0A34-4E5B-A112-A2DA9B294A9E}"/>
              </a:ext>
            </a:extLst>
          </p:cNvPr>
          <p:cNvSpPr>
            <a:spLocks noChangeShapeType="1"/>
          </p:cNvSpPr>
          <p:nvPr/>
        </p:nvSpPr>
        <p:spPr bwMode="auto">
          <a:xfrm flipV="1">
            <a:off x="3363913" y="3494569"/>
            <a:ext cx="685800" cy="914400"/>
          </a:xfrm>
          <a:prstGeom prst="line">
            <a:avLst/>
          </a:prstGeom>
          <a:noFill/>
          <a:ln w="25400">
            <a:solidFill>
              <a:schemeClr val="tx2"/>
            </a:solidFill>
            <a:round/>
            <a:headEnd/>
            <a:tailEnd type="stealth" w="lg" len="lg"/>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7" name="Line 11">
            <a:extLst>
              <a:ext uri="{FF2B5EF4-FFF2-40B4-BE49-F238E27FC236}">
                <a16:creationId xmlns:a16="http://schemas.microsoft.com/office/drawing/2014/main" id="{16585AE3-3C76-459E-9296-01363A0F52F2}"/>
              </a:ext>
            </a:extLst>
          </p:cNvPr>
          <p:cNvSpPr>
            <a:spLocks noChangeShapeType="1"/>
          </p:cNvSpPr>
          <p:nvPr/>
        </p:nvSpPr>
        <p:spPr bwMode="auto">
          <a:xfrm>
            <a:off x="4657725" y="3492982"/>
            <a:ext cx="685800" cy="914400"/>
          </a:xfrm>
          <a:prstGeom prst="line">
            <a:avLst/>
          </a:prstGeom>
          <a:noFill/>
          <a:ln w="25400">
            <a:solidFill>
              <a:schemeClr val="tx2"/>
            </a:solidFill>
            <a:round/>
            <a:headEnd/>
            <a:tailEnd type="stealth" w="lg" len="lg"/>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38" name="Text Box 12">
            <a:extLst>
              <a:ext uri="{FF2B5EF4-FFF2-40B4-BE49-F238E27FC236}">
                <a16:creationId xmlns:a16="http://schemas.microsoft.com/office/drawing/2014/main" id="{6F147F58-E92A-4D1B-B37B-6ACB445DAE61}"/>
              </a:ext>
            </a:extLst>
          </p:cNvPr>
          <p:cNvSpPr txBox="1">
            <a:spLocks noChangeArrowheads="1"/>
          </p:cNvSpPr>
          <p:nvPr/>
        </p:nvSpPr>
        <p:spPr bwMode="auto">
          <a:xfrm>
            <a:off x="2524125" y="3950183"/>
            <a:ext cx="9814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dirty="0">
                <a:latin typeface="+mj-lt"/>
              </a:rPr>
              <a:t>request</a:t>
            </a:r>
          </a:p>
        </p:txBody>
      </p:sp>
      <p:sp>
        <p:nvSpPr>
          <p:cNvPr id="39" name="Text Box 13">
            <a:extLst>
              <a:ext uri="{FF2B5EF4-FFF2-40B4-BE49-F238E27FC236}">
                <a16:creationId xmlns:a16="http://schemas.microsoft.com/office/drawing/2014/main" id="{CC22E836-9D1B-4DFA-96E6-B79F918A514C}"/>
              </a:ext>
            </a:extLst>
          </p:cNvPr>
          <p:cNvSpPr txBox="1">
            <a:spLocks noChangeArrowheads="1"/>
          </p:cNvSpPr>
          <p:nvPr/>
        </p:nvSpPr>
        <p:spPr bwMode="auto">
          <a:xfrm>
            <a:off x="5253037" y="3950183"/>
            <a:ext cx="6767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dirty="0">
                <a:latin typeface="+mj-lt"/>
              </a:rPr>
              <a:t>reply</a:t>
            </a:r>
          </a:p>
        </p:txBody>
      </p:sp>
      <p:sp>
        <p:nvSpPr>
          <p:cNvPr id="40" name="Text Box 14">
            <a:extLst>
              <a:ext uri="{FF2B5EF4-FFF2-40B4-BE49-F238E27FC236}">
                <a16:creationId xmlns:a16="http://schemas.microsoft.com/office/drawing/2014/main" id="{F3383F5D-06B3-4C06-85B4-69613772F042}"/>
              </a:ext>
            </a:extLst>
          </p:cNvPr>
          <p:cNvSpPr txBox="1">
            <a:spLocks noChangeArrowheads="1"/>
          </p:cNvSpPr>
          <p:nvPr/>
        </p:nvSpPr>
        <p:spPr bwMode="auto">
          <a:xfrm>
            <a:off x="3109913" y="4423257"/>
            <a:ext cx="4908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dirty="0">
                <a:latin typeface="+mj-lt"/>
              </a:rPr>
              <a:t>T</a:t>
            </a:r>
            <a:r>
              <a:rPr lang="en-US" altLang="en-US" sz="2800" baseline="-25000" dirty="0">
                <a:latin typeface="+mj-lt"/>
              </a:rPr>
              <a:t>0</a:t>
            </a:r>
          </a:p>
        </p:txBody>
      </p:sp>
      <p:sp>
        <p:nvSpPr>
          <p:cNvPr id="41" name="Text Box 15">
            <a:extLst>
              <a:ext uri="{FF2B5EF4-FFF2-40B4-BE49-F238E27FC236}">
                <a16:creationId xmlns:a16="http://schemas.microsoft.com/office/drawing/2014/main" id="{D2DD6317-A003-4823-BE81-7B81DD8927B0}"/>
              </a:ext>
            </a:extLst>
          </p:cNvPr>
          <p:cNvSpPr txBox="1">
            <a:spLocks noChangeArrowheads="1"/>
          </p:cNvSpPr>
          <p:nvPr/>
        </p:nvSpPr>
        <p:spPr bwMode="auto">
          <a:xfrm>
            <a:off x="5167312" y="4423257"/>
            <a:ext cx="4908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dirty="0">
                <a:latin typeface="+mj-lt"/>
              </a:rPr>
              <a:t>T</a:t>
            </a:r>
            <a:r>
              <a:rPr lang="en-US" altLang="en-US" sz="2800" baseline="-25000" dirty="0">
                <a:latin typeface="+mj-lt"/>
              </a:rPr>
              <a:t>1</a:t>
            </a:r>
          </a:p>
        </p:txBody>
      </p:sp>
      <p:sp>
        <p:nvSpPr>
          <p:cNvPr id="42" name="Line 16">
            <a:extLst>
              <a:ext uri="{FF2B5EF4-FFF2-40B4-BE49-F238E27FC236}">
                <a16:creationId xmlns:a16="http://schemas.microsoft.com/office/drawing/2014/main" id="{18970F1B-D1F0-4547-9FA8-D4D2341BED2B}"/>
              </a:ext>
            </a:extLst>
          </p:cNvPr>
          <p:cNvSpPr>
            <a:spLocks noChangeShapeType="1"/>
          </p:cNvSpPr>
          <p:nvPr/>
        </p:nvSpPr>
        <p:spPr bwMode="auto">
          <a:xfrm>
            <a:off x="4352925" y="3202469"/>
            <a:ext cx="0" cy="304800"/>
          </a:xfrm>
          <a:prstGeom prst="line">
            <a:avLst/>
          </a:prstGeom>
          <a:noFill/>
          <a:ln w="25400">
            <a:solidFill>
              <a:schemeClr val="tx2"/>
            </a:solidFill>
            <a:round/>
            <a:headEnd/>
            <a:tailEnd type="stealth" w="lg" len="lg"/>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3" name="Text Box 17">
            <a:extLst>
              <a:ext uri="{FF2B5EF4-FFF2-40B4-BE49-F238E27FC236}">
                <a16:creationId xmlns:a16="http://schemas.microsoft.com/office/drawing/2014/main" id="{485EE701-1F71-4CC0-9D13-25EB2BBC7954}"/>
              </a:ext>
            </a:extLst>
          </p:cNvPr>
          <p:cNvSpPr txBox="1">
            <a:spLocks noChangeArrowheads="1"/>
          </p:cNvSpPr>
          <p:nvPr/>
        </p:nvSpPr>
        <p:spPr bwMode="auto">
          <a:xfrm>
            <a:off x="4276725" y="2821469"/>
            <a:ext cx="83067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i="1" dirty="0">
                <a:latin typeface="+mj-lt"/>
              </a:rPr>
              <a:t>T</a:t>
            </a:r>
            <a:r>
              <a:rPr lang="en-US" altLang="en-US" i="1" baseline="-25000" dirty="0">
                <a:latin typeface="+mj-lt"/>
              </a:rPr>
              <a:t>server</a:t>
            </a:r>
          </a:p>
        </p:txBody>
      </p:sp>
      <p:pic>
        <p:nvPicPr>
          <p:cNvPr id="45" name="Picture 44" descr="Mac-Book-Black-On-48x48.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9940" y="4173395"/>
            <a:ext cx="609600" cy="609600"/>
          </a:xfrm>
          <a:prstGeom prst="rect">
            <a:avLst/>
          </a:prstGeom>
        </p:spPr>
      </p:pic>
      <p:pic>
        <p:nvPicPr>
          <p:cNvPr id="46" name="Picture 45" descr="server-48x48.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3147" y="3202469"/>
            <a:ext cx="609600" cy="609600"/>
          </a:xfrm>
          <a:prstGeom prst="rect">
            <a:avLst/>
          </a:prstGeom>
        </p:spPr>
      </p:pic>
    </p:spTree>
    <p:extLst>
      <p:ext uri="{BB962C8B-B14F-4D97-AF65-F5344CB8AC3E}">
        <p14:creationId xmlns:p14="http://schemas.microsoft.com/office/powerpoint/2010/main" val="3392030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3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36"/>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38"/>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3"/>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42"/>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37"/>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39"/>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41"/>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26"/>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29"/>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25"/>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9" grpId="0" animBg="1"/>
      <p:bldP spid="30" grpId="0" animBg="1"/>
      <p:bldP spid="31" grpId="0" animBg="1"/>
      <p:bldP spid="32" grpId="0" animBg="1"/>
      <p:bldP spid="33" grpId="0"/>
      <p:bldP spid="34" grpId="0"/>
      <p:bldP spid="35" grpId="0"/>
      <p:bldP spid="36" grpId="0" animBg="1"/>
      <p:bldP spid="37" grpId="0" animBg="1"/>
      <p:bldP spid="38" grpId="0"/>
      <p:bldP spid="39" grpId="0"/>
      <p:bldP spid="40" grpId="0"/>
      <p:bldP spid="41" grpId="0"/>
      <p:bldP spid="42" grpId="0" animBg="1"/>
      <p:bldP spid="4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latin typeface="+mn-lt"/>
              </a:rPr>
              <a:t>Cristian’s Algorithm</a:t>
            </a:r>
          </a:p>
        </p:txBody>
      </p:sp>
      <p:grpSp>
        <p:nvGrpSpPr>
          <p:cNvPr id="23" name="Group 23">
            <a:extLst>
              <a:ext uri="{FF2B5EF4-FFF2-40B4-BE49-F238E27FC236}">
                <a16:creationId xmlns:a16="http://schemas.microsoft.com/office/drawing/2014/main" id="{642B6705-DE8B-415D-81D9-C4ED0CE964BF}"/>
              </a:ext>
            </a:extLst>
          </p:cNvPr>
          <p:cNvGrpSpPr>
            <a:grpSpLocks/>
          </p:cNvGrpSpPr>
          <p:nvPr/>
        </p:nvGrpSpPr>
        <p:grpSpPr bwMode="auto">
          <a:xfrm>
            <a:off x="3209925" y="3454063"/>
            <a:ext cx="1828800" cy="287338"/>
            <a:chOff x="2016" y="1824"/>
            <a:chExt cx="1152" cy="181"/>
          </a:xfrm>
        </p:grpSpPr>
        <p:sp>
          <p:nvSpPr>
            <p:cNvPr id="44" name="AutoShape 24">
              <a:extLst>
                <a:ext uri="{FF2B5EF4-FFF2-40B4-BE49-F238E27FC236}">
                  <a16:creationId xmlns:a16="http://schemas.microsoft.com/office/drawing/2014/main" id="{F32BE330-C117-4910-87C8-A49F8186FDDD}"/>
                </a:ext>
              </a:extLst>
            </p:cNvPr>
            <p:cNvSpPr>
              <a:spLocks/>
            </p:cNvSpPr>
            <p:nvPr/>
          </p:nvSpPr>
          <p:spPr bwMode="auto">
            <a:xfrm rot="5400000">
              <a:off x="2127" y="1713"/>
              <a:ext cx="156" cy="378"/>
            </a:xfrm>
            <a:prstGeom prst="rightBrace">
              <a:avLst>
                <a:gd name="adj1" fmla="val 25000"/>
                <a:gd name="adj2" fmla="val 50000"/>
              </a:avLst>
            </a:prstGeom>
            <a:noFill/>
            <a:ln w="25400">
              <a:solidFill>
                <a:schemeClr val="tx2"/>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45" name="AutoShape 25">
              <a:extLst>
                <a:ext uri="{FF2B5EF4-FFF2-40B4-BE49-F238E27FC236}">
                  <a16:creationId xmlns:a16="http://schemas.microsoft.com/office/drawing/2014/main" id="{331D1578-E4DF-43B7-B232-2593FC3F70A0}"/>
                </a:ext>
              </a:extLst>
            </p:cNvPr>
            <p:cNvSpPr>
              <a:spLocks/>
            </p:cNvSpPr>
            <p:nvPr/>
          </p:nvSpPr>
          <p:spPr bwMode="auto">
            <a:xfrm rot="5400000">
              <a:off x="2885" y="1723"/>
              <a:ext cx="181" cy="384"/>
            </a:xfrm>
            <a:prstGeom prst="rightBrace">
              <a:avLst>
                <a:gd name="adj1" fmla="val 25000"/>
                <a:gd name="adj2" fmla="val 50000"/>
              </a:avLst>
            </a:prstGeom>
            <a:noFill/>
            <a:ln w="25400">
              <a:solidFill>
                <a:schemeClr val="tx2"/>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gr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280F3D7-60D4-4D95-8D27-8A6DD6E21341}"/>
                  </a:ext>
                </a:extLst>
              </p:cNvPr>
              <p:cNvSpPr txBox="1"/>
              <p:nvPr/>
            </p:nvSpPr>
            <p:spPr>
              <a:xfrm>
                <a:off x="4433455" y="4592498"/>
                <a:ext cx="4110469" cy="689035"/>
              </a:xfrm>
              <a:prstGeom prst="rect">
                <a:avLst/>
              </a:prstGeom>
              <a:noFill/>
              <a:ln>
                <a:solidFill>
                  <a:schemeClr val="tx2"/>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2400" i="1" smtClean="0">
                              <a:latin typeface="Cambria Math" panose="02040503050406030204" pitchFamily="18" charset="0"/>
                            </a:rPr>
                          </m:ctrlPr>
                        </m:sSubPr>
                        <m:e>
                          <m:r>
                            <a:rPr lang="en-US" sz="2400" i="1">
                              <a:latin typeface="Cambria Math" panose="02040503050406030204" pitchFamily="18" charset="0"/>
                            </a:rPr>
                            <m:t>𝑇</m:t>
                          </m:r>
                        </m:e>
                        <m:sub>
                          <m:r>
                            <a:rPr lang="en-US" sz="2400" b="0" i="1" smtClean="0">
                              <a:latin typeface="Cambria Math" panose="02040503050406030204" pitchFamily="18" charset="0"/>
                            </a:rPr>
                            <m:t>𝑛𝑒𝑤</m:t>
                          </m:r>
                          <m:r>
                            <a:rPr lang="en-US" sz="2400" i="1">
                              <a:latin typeface="Cambria Math" panose="02040503050406030204" pitchFamily="18" charset="0"/>
                            </a:rPr>
                            <m:t> </m:t>
                          </m:r>
                        </m:sub>
                      </m:sSub>
                      <m:r>
                        <a:rPr lang="en-US" sz="2400" b="0" i="1" smtClean="0">
                          <a:latin typeface="Cambria Math" panose="02040503050406030204" pitchFamily="18" charset="0"/>
                        </a:rPr>
                        <m:t>=</m:t>
                      </m:r>
                      <m:sSub>
                        <m:sSubPr>
                          <m:ctrlPr>
                            <a:rPr lang="pt-BR" sz="2400" i="1">
                              <a:latin typeface="Cambria Math" panose="02040503050406030204" pitchFamily="18" charset="0"/>
                            </a:rPr>
                          </m:ctrlPr>
                        </m:sSubPr>
                        <m:e>
                          <m:r>
                            <a:rPr lang="en-US" sz="2400" i="1">
                              <a:latin typeface="Cambria Math" panose="02040503050406030204" pitchFamily="18" charset="0"/>
                            </a:rPr>
                            <m:t>𝑇</m:t>
                          </m:r>
                        </m:e>
                        <m:sub>
                          <m:r>
                            <a:rPr lang="en-US" sz="2400" b="0" i="1" smtClean="0">
                              <a:latin typeface="Cambria Math" panose="02040503050406030204" pitchFamily="18" charset="0"/>
                            </a:rPr>
                            <m:t>𝑠𝑒𝑟𝑣𝑒𝑟</m:t>
                          </m:r>
                          <m:r>
                            <a:rPr lang="en-US" sz="2400" i="1">
                              <a:latin typeface="Cambria Math" panose="02040503050406030204" pitchFamily="18" charset="0"/>
                            </a:rPr>
                            <m:t> </m:t>
                          </m:r>
                        </m:sub>
                      </m:sSub>
                      <m:r>
                        <a:rPr lang="en-US" sz="2400" b="0" i="1" smtClean="0">
                          <a:latin typeface="Cambria Math" panose="02040503050406030204" pitchFamily="18" charset="0"/>
                        </a:rPr>
                        <m:t>+</m:t>
                      </m:r>
                      <m:f>
                        <m:fPr>
                          <m:ctrlPr>
                            <a:rPr lang="pt-BR" sz="2400" i="1" smtClean="0">
                              <a:latin typeface="Cambria Math" panose="02040503050406030204" pitchFamily="18" charset="0"/>
                            </a:rPr>
                          </m:ctrlPr>
                        </m:fPr>
                        <m:num>
                          <m:sSub>
                            <m:sSubPr>
                              <m:ctrlPr>
                                <a:rPr lang="pt-BR" sz="2400" i="1">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1 </m:t>
                              </m:r>
                            </m:sub>
                          </m:sSub>
                          <m:r>
                            <a:rPr lang="en-US" sz="2400" b="0" i="1" smtClean="0">
                              <a:latin typeface="Cambria Math" panose="02040503050406030204" pitchFamily="18" charset="0"/>
                            </a:rPr>
                            <m:t>−</m:t>
                          </m:r>
                          <m:sSub>
                            <m:sSubPr>
                              <m:ctrlPr>
                                <a:rPr lang="pt-BR" sz="2400" i="1" smtClean="0">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0</m:t>
                              </m:r>
                            </m:sub>
                          </m:sSub>
                          <m:r>
                            <a:rPr lang="en-IN" sz="2400" b="0" i="1" smtClean="0">
                              <a:latin typeface="Cambria Math" panose="02040503050406030204" pitchFamily="18" charset="0"/>
                            </a:rPr>
                            <m:t>−</m:t>
                          </m:r>
                          <m:r>
                            <a:rPr lang="en-IN" sz="2400" b="0" i="1" smtClean="0">
                              <a:latin typeface="Cambria Math" panose="02040503050406030204" pitchFamily="18" charset="0"/>
                            </a:rPr>
                            <m:t>𝐼</m:t>
                          </m:r>
                        </m:num>
                        <m:den>
                          <m:r>
                            <a:rPr lang="en-US" sz="2400" b="0" i="1" smtClean="0">
                              <a:latin typeface="Cambria Math" panose="02040503050406030204" pitchFamily="18" charset="0"/>
                            </a:rPr>
                            <m:t>2</m:t>
                          </m:r>
                        </m:den>
                      </m:f>
                    </m:oMath>
                  </m:oMathPara>
                </a14:m>
                <a:endParaRPr lang="en-US" dirty="0">
                  <a:latin typeface="+mj-lt"/>
                </a:endParaRPr>
              </a:p>
            </p:txBody>
          </p:sp>
        </mc:Choice>
        <mc:Fallback xmlns="">
          <p:sp>
            <p:nvSpPr>
              <p:cNvPr id="46" name="TextBox 45">
                <a:extLst>
                  <a:ext uri="{FF2B5EF4-FFF2-40B4-BE49-F238E27FC236}">
                    <a16:creationId xmlns:a16="http://schemas.microsoft.com/office/drawing/2014/main" xmlns:a14="http://schemas.microsoft.com/office/drawing/2010/main" xmlns="" id="{9280F3D7-60D4-4D95-8D27-8A6DD6E21341}"/>
                  </a:ext>
                </a:extLst>
              </p:cNvPr>
              <p:cNvSpPr txBox="1">
                <a:spLocks noRot="1" noChangeAspect="1" noMove="1" noResize="1" noEditPoints="1" noAdjustHandles="1" noChangeArrowheads="1" noChangeShapeType="1" noTextEdit="1"/>
              </p:cNvSpPr>
              <p:nvPr/>
            </p:nvSpPr>
            <p:spPr>
              <a:xfrm>
                <a:off x="4433455" y="4592498"/>
                <a:ext cx="4110469" cy="689035"/>
              </a:xfrm>
              <a:prstGeom prst="rect">
                <a:avLst/>
              </a:prstGeom>
              <a:blipFill rotWithShape="0">
                <a:blip r:embed="rId2"/>
                <a:stretch>
                  <a:fillRect/>
                </a:stretch>
              </a:blipFill>
              <a:ln>
                <a:solidFill>
                  <a:schemeClr val="tx2"/>
                </a:solidFill>
              </a:ln>
            </p:spPr>
            <p:txBody>
              <a:bodyPr/>
              <a:lstStyle/>
              <a:p>
                <a:r>
                  <a:rPr lang="en-IN">
                    <a:noFill/>
                  </a:rPr>
                  <a:t> </a:t>
                </a:r>
              </a:p>
            </p:txBody>
          </p:sp>
        </mc:Fallback>
      </mc:AlternateContent>
      <p:sp>
        <p:nvSpPr>
          <p:cNvPr id="47" name="Line 5">
            <a:extLst>
              <a:ext uri="{FF2B5EF4-FFF2-40B4-BE49-F238E27FC236}">
                <a16:creationId xmlns:a16="http://schemas.microsoft.com/office/drawing/2014/main" id="{306CBAFE-4315-4962-A998-742B41CD5553}"/>
              </a:ext>
            </a:extLst>
          </p:cNvPr>
          <p:cNvSpPr>
            <a:spLocks noChangeShapeType="1"/>
          </p:cNvSpPr>
          <p:nvPr/>
        </p:nvSpPr>
        <p:spPr bwMode="auto">
          <a:xfrm>
            <a:off x="2143125" y="3454060"/>
            <a:ext cx="5257800" cy="0"/>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8" name="Line 6">
            <a:extLst>
              <a:ext uri="{FF2B5EF4-FFF2-40B4-BE49-F238E27FC236}">
                <a16:creationId xmlns:a16="http://schemas.microsoft.com/office/drawing/2014/main" id="{997924F7-25C4-47F0-843E-22954D1ECC9C}"/>
              </a:ext>
            </a:extLst>
          </p:cNvPr>
          <p:cNvSpPr>
            <a:spLocks noChangeShapeType="1"/>
          </p:cNvSpPr>
          <p:nvPr/>
        </p:nvSpPr>
        <p:spPr bwMode="auto">
          <a:xfrm>
            <a:off x="2143125" y="2553947"/>
            <a:ext cx="5257800" cy="0"/>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49" name="Text Box 7">
            <a:extLst>
              <a:ext uri="{FF2B5EF4-FFF2-40B4-BE49-F238E27FC236}">
                <a16:creationId xmlns:a16="http://schemas.microsoft.com/office/drawing/2014/main" id="{10265189-75A4-4E27-AE2B-527539BC509E}"/>
              </a:ext>
            </a:extLst>
          </p:cNvPr>
          <p:cNvSpPr txBox="1">
            <a:spLocks noChangeArrowheads="1"/>
          </p:cNvSpPr>
          <p:nvPr/>
        </p:nvSpPr>
        <p:spPr bwMode="auto">
          <a:xfrm>
            <a:off x="542925" y="231106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b="1" dirty="0">
                <a:latin typeface="+mj-lt"/>
              </a:rPr>
              <a:t>server</a:t>
            </a:r>
            <a:endParaRPr lang="en-US" altLang="en-US" b="1" baseline="-25000" dirty="0">
              <a:latin typeface="+mj-lt"/>
            </a:endParaRPr>
          </a:p>
        </p:txBody>
      </p:sp>
      <p:sp>
        <p:nvSpPr>
          <p:cNvPr id="50" name="Text Box 8">
            <a:extLst>
              <a:ext uri="{FF2B5EF4-FFF2-40B4-BE49-F238E27FC236}">
                <a16:creationId xmlns:a16="http://schemas.microsoft.com/office/drawing/2014/main" id="{7C6919D6-BB4F-4131-8C8E-D1182EBECF67}"/>
              </a:ext>
            </a:extLst>
          </p:cNvPr>
          <p:cNvSpPr txBox="1">
            <a:spLocks noChangeArrowheads="1"/>
          </p:cNvSpPr>
          <p:nvPr/>
        </p:nvSpPr>
        <p:spPr bwMode="auto">
          <a:xfrm>
            <a:off x="771525" y="3220697"/>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b="1" dirty="0">
                <a:latin typeface="+mj-lt"/>
              </a:rPr>
              <a:t>client</a:t>
            </a:r>
            <a:endParaRPr lang="en-US" altLang="en-US" b="1" baseline="-25000" dirty="0">
              <a:latin typeface="+mj-lt"/>
            </a:endParaRPr>
          </a:p>
        </p:txBody>
      </p:sp>
      <p:sp>
        <p:nvSpPr>
          <p:cNvPr id="51" name="Text Box 9">
            <a:extLst>
              <a:ext uri="{FF2B5EF4-FFF2-40B4-BE49-F238E27FC236}">
                <a16:creationId xmlns:a16="http://schemas.microsoft.com/office/drawing/2014/main" id="{6AA61C3F-1CAD-4A58-BB9F-23821D1089B5}"/>
              </a:ext>
            </a:extLst>
          </p:cNvPr>
          <p:cNvSpPr txBox="1">
            <a:spLocks noChangeArrowheads="1"/>
          </p:cNvSpPr>
          <p:nvPr/>
        </p:nvSpPr>
        <p:spPr bwMode="auto">
          <a:xfrm>
            <a:off x="7019925" y="3468347"/>
            <a:ext cx="7216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dirty="0">
                <a:latin typeface="+mj-lt"/>
              </a:rPr>
              <a:t>time</a:t>
            </a:r>
          </a:p>
        </p:txBody>
      </p:sp>
      <p:sp>
        <p:nvSpPr>
          <p:cNvPr id="52" name="Line 10">
            <a:extLst>
              <a:ext uri="{FF2B5EF4-FFF2-40B4-BE49-F238E27FC236}">
                <a16:creationId xmlns:a16="http://schemas.microsoft.com/office/drawing/2014/main" id="{56DE6D20-0A34-4E5B-A112-A2DA9B294A9E}"/>
              </a:ext>
            </a:extLst>
          </p:cNvPr>
          <p:cNvSpPr>
            <a:spLocks noChangeShapeType="1"/>
          </p:cNvSpPr>
          <p:nvPr/>
        </p:nvSpPr>
        <p:spPr bwMode="auto">
          <a:xfrm flipV="1">
            <a:off x="3135313" y="2541247"/>
            <a:ext cx="685800" cy="914400"/>
          </a:xfrm>
          <a:prstGeom prst="line">
            <a:avLst/>
          </a:prstGeom>
          <a:noFill/>
          <a:ln w="25400">
            <a:solidFill>
              <a:schemeClr val="tx2"/>
            </a:solidFill>
            <a:round/>
            <a:headEnd/>
            <a:tailEnd type="stealth" w="lg" len="lg"/>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53" name="Line 11">
            <a:extLst>
              <a:ext uri="{FF2B5EF4-FFF2-40B4-BE49-F238E27FC236}">
                <a16:creationId xmlns:a16="http://schemas.microsoft.com/office/drawing/2014/main" id="{16585AE3-3C76-459E-9296-01363A0F52F2}"/>
              </a:ext>
            </a:extLst>
          </p:cNvPr>
          <p:cNvSpPr>
            <a:spLocks noChangeShapeType="1"/>
          </p:cNvSpPr>
          <p:nvPr/>
        </p:nvSpPr>
        <p:spPr bwMode="auto">
          <a:xfrm>
            <a:off x="4429125" y="2539660"/>
            <a:ext cx="685800" cy="914400"/>
          </a:xfrm>
          <a:prstGeom prst="line">
            <a:avLst/>
          </a:prstGeom>
          <a:noFill/>
          <a:ln w="25400">
            <a:solidFill>
              <a:schemeClr val="tx2"/>
            </a:solidFill>
            <a:round/>
            <a:headEnd/>
            <a:tailEnd type="stealth" w="lg" len="lg"/>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54" name="Text Box 12">
            <a:extLst>
              <a:ext uri="{FF2B5EF4-FFF2-40B4-BE49-F238E27FC236}">
                <a16:creationId xmlns:a16="http://schemas.microsoft.com/office/drawing/2014/main" id="{6F147F58-E92A-4D1B-B37B-6ACB445DAE61}"/>
              </a:ext>
            </a:extLst>
          </p:cNvPr>
          <p:cNvSpPr txBox="1">
            <a:spLocks noChangeArrowheads="1"/>
          </p:cNvSpPr>
          <p:nvPr/>
        </p:nvSpPr>
        <p:spPr bwMode="auto">
          <a:xfrm>
            <a:off x="2295525" y="2996861"/>
            <a:ext cx="9814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dirty="0">
                <a:latin typeface="+mj-lt"/>
              </a:rPr>
              <a:t>request</a:t>
            </a:r>
          </a:p>
        </p:txBody>
      </p:sp>
      <p:sp>
        <p:nvSpPr>
          <p:cNvPr id="55" name="Text Box 13">
            <a:extLst>
              <a:ext uri="{FF2B5EF4-FFF2-40B4-BE49-F238E27FC236}">
                <a16:creationId xmlns:a16="http://schemas.microsoft.com/office/drawing/2014/main" id="{CC22E836-9D1B-4DFA-96E6-B79F918A514C}"/>
              </a:ext>
            </a:extLst>
          </p:cNvPr>
          <p:cNvSpPr txBox="1">
            <a:spLocks noChangeArrowheads="1"/>
          </p:cNvSpPr>
          <p:nvPr/>
        </p:nvSpPr>
        <p:spPr bwMode="auto">
          <a:xfrm>
            <a:off x="5024437" y="2996861"/>
            <a:ext cx="6767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dirty="0">
                <a:latin typeface="+mj-lt"/>
              </a:rPr>
              <a:t>reply</a:t>
            </a:r>
          </a:p>
        </p:txBody>
      </p:sp>
      <p:sp>
        <p:nvSpPr>
          <p:cNvPr id="56" name="Text Box 14">
            <a:extLst>
              <a:ext uri="{FF2B5EF4-FFF2-40B4-BE49-F238E27FC236}">
                <a16:creationId xmlns:a16="http://schemas.microsoft.com/office/drawing/2014/main" id="{F3383F5D-06B3-4C06-85B4-69613772F042}"/>
              </a:ext>
            </a:extLst>
          </p:cNvPr>
          <p:cNvSpPr txBox="1">
            <a:spLocks noChangeArrowheads="1"/>
          </p:cNvSpPr>
          <p:nvPr/>
        </p:nvSpPr>
        <p:spPr bwMode="auto">
          <a:xfrm>
            <a:off x="2839873" y="3469934"/>
            <a:ext cx="4908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dirty="0">
                <a:latin typeface="+mj-lt"/>
              </a:rPr>
              <a:t>T</a:t>
            </a:r>
            <a:r>
              <a:rPr lang="en-US" altLang="en-US" sz="2800" baseline="-25000" dirty="0">
                <a:latin typeface="+mj-lt"/>
              </a:rPr>
              <a:t>0</a:t>
            </a:r>
          </a:p>
        </p:txBody>
      </p:sp>
      <p:sp>
        <p:nvSpPr>
          <p:cNvPr id="57" name="Text Box 15">
            <a:extLst>
              <a:ext uri="{FF2B5EF4-FFF2-40B4-BE49-F238E27FC236}">
                <a16:creationId xmlns:a16="http://schemas.microsoft.com/office/drawing/2014/main" id="{D2DD6317-A003-4823-BE81-7B81DD8927B0}"/>
              </a:ext>
            </a:extLst>
          </p:cNvPr>
          <p:cNvSpPr txBox="1">
            <a:spLocks noChangeArrowheads="1"/>
          </p:cNvSpPr>
          <p:nvPr/>
        </p:nvSpPr>
        <p:spPr bwMode="auto">
          <a:xfrm>
            <a:off x="4938712" y="3469935"/>
            <a:ext cx="4908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dirty="0">
                <a:latin typeface="+mj-lt"/>
              </a:rPr>
              <a:t>T</a:t>
            </a:r>
            <a:r>
              <a:rPr lang="en-US" altLang="en-US" sz="2800" baseline="-25000" dirty="0">
                <a:latin typeface="+mj-lt"/>
              </a:rPr>
              <a:t>1</a:t>
            </a:r>
          </a:p>
        </p:txBody>
      </p:sp>
      <p:sp>
        <p:nvSpPr>
          <p:cNvPr id="58" name="Line 16">
            <a:extLst>
              <a:ext uri="{FF2B5EF4-FFF2-40B4-BE49-F238E27FC236}">
                <a16:creationId xmlns:a16="http://schemas.microsoft.com/office/drawing/2014/main" id="{18970F1B-D1F0-4547-9FA8-D4D2341BED2B}"/>
              </a:ext>
            </a:extLst>
          </p:cNvPr>
          <p:cNvSpPr>
            <a:spLocks noChangeShapeType="1"/>
          </p:cNvSpPr>
          <p:nvPr/>
        </p:nvSpPr>
        <p:spPr bwMode="auto">
          <a:xfrm>
            <a:off x="4124325" y="2249147"/>
            <a:ext cx="0" cy="304800"/>
          </a:xfrm>
          <a:prstGeom prst="line">
            <a:avLst/>
          </a:prstGeom>
          <a:noFill/>
          <a:ln w="25400">
            <a:solidFill>
              <a:schemeClr val="tx2"/>
            </a:solidFill>
            <a:round/>
            <a:headEnd/>
            <a:tailEnd type="stealth" w="lg" len="lg"/>
          </a:ln>
          <a:extLst>
            <a:ext uri="{909E8E84-426E-40DD-AFC4-6F175D3DCCD1}">
              <a14:hiddenFill xmlns:a14="http://schemas.microsoft.com/office/drawing/2010/main">
                <a:noFill/>
              </a14:hiddenFill>
            </a:ext>
          </a:extLst>
        </p:spPr>
        <p:txBody>
          <a:bodyPr/>
          <a:lstStyle/>
          <a:p>
            <a:endParaRPr lang="en-US">
              <a:latin typeface="+mj-lt"/>
            </a:endParaRPr>
          </a:p>
        </p:txBody>
      </p:sp>
      <p:sp>
        <p:nvSpPr>
          <p:cNvPr id="59" name="Text Box 17">
            <a:extLst>
              <a:ext uri="{FF2B5EF4-FFF2-40B4-BE49-F238E27FC236}">
                <a16:creationId xmlns:a16="http://schemas.microsoft.com/office/drawing/2014/main" id="{485EE701-1F71-4CC0-9D13-25EB2BBC7954}"/>
              </a:ext>
            </a:extLst>
          </p:cNvPr>
          <p:cNvSpPr txBox="1">
            <a:spLocks noChangeArrowheads="1"/>
          </p:cNvSpPr>
          <p:nvPr/>
        </p:nvSpPr>
        <p:spPr bwMode="auto">
          <a:xfrm>
            <a:off x="4048125" y="1868147"/>
            <a:ext cx="83067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i="1" dirty="0">
                <a:latin typeface="+mj-lt"/>
              </a:rPr>
              <a:t>T</a:t>
            </a:r>
            <a:r>
              <a:rPr lang="en-US" altLang="en-US" i="1" baseline="-25000" dirty="0">
                <a:latin typeface="+mj-lt"/>
              </a:rPr>
              <a:t>server</a:t>
            </a:r>
          </a:p>
        </p:txBody>
      </p:sp>
      <p:sp>
        <p:nvSpPr>
          <p:cNvPr id="60" name="Rectangle 2">
            <a:extLst>
              <a:ext uri="{FF2B5EF4-FFF2-40B4-BE49-F238E27FC236}">
                <a16:creationId xmlns:a16="http://schemas.microsoft.com/office/drawing/2014/main" id="{F36C2293-E9A8-448C-A0AF-27BB4DD847A6}"/>
              </a:ext>
            </a:extLst>
          </p:cNvPr>
          <p:cNvSpPr>
            <a:spLocks noChangeArrowheads="1"/>
          </p:cNvSpPr>
          <p:nvPr/>
        </p:nvSpPr>
        <p:spPr bwMode="auto">
          <a:xfrm>
            <a:off x="3810163" y="2568126"/>
            <a:ext cx="641818" cy="1190141"/>
          </a:xfrm>
          <a:prstGeom prst="rect">
            <a:avLst/>
          </a:prstGeom>
          <a:solidFill>
            <a:schemeClr val="bg1">
              <a:lumMod val="65000"/>
              <a:alpha val="39999"/>
            </a:schemeClr>
          </a:solidFill>
          <a:ln>
            <a:noFill/>
          </a:ln>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61" name="AutoShape 36">
            <a:extLst>
              <a:ext uri="{FF2B5EF4-FFF2-40B4-BE49-F238E27FC236}">
                <a16:creationId xmlns:a16="http://schemas.microsoft.com/office/drawing/2014/main" id="{B0E73182-0572-4849-814D-5083F94123DE}"/>
              </a:ext>
            </a:extLst>
          </p:cNvPr>
          <p:cNvSpPr>
            <a:spLocks/>
          </p:cNvSpPr>
          <p:nvPr/>
        </p:nvSpPr>
        <p:spPr bwMode="auto">
          <a:xfrm rot="5400000">
            <a:off x="3962555" y="3606645"/>
            <a:ext cx="317984" cy="600868"/>
          </a:xfrm>
          <a:prstGeom prst="rightBrace">
            <a:avLst>
              <a:gd name="adj1" fmla="val 28333"/>
              <a:gd name="adj2" fmla="val 50000"/>
            </a:avLst>
          </a:prstGeom>
          <a:noFill/>
          <a:ln w="25400">
            <a:solidFill>
              <a:schemeClr val="tx2"/>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solidFill>
                <a:schemeClr val="tx2"/>
              </a:solidFill>
              <a:latin typeface="+mj-lt"/>
            </a:endParaRPr>
          </a:p>
        </p:txBody>
      </p:sp>
      <p:sp>
        <p:nvSpPr>
          <p:cNvPr id="62" name="Text Box 15">
            <a:extLst>
              <a:ext uri="{FF2B5EF4-FFF2-40B4-BE49-F238E27FC236}">
                <a16:creationId xmlns:a16="http://schemas.microsoft.com/office/drawing/2014/main" id="{35A994BD-8CDD-474B-9F98-FD0F80FF5C28}"/>
              </a:ext>
            </a:extLst>
          </p:cNvPr>
          <p:cNvSpPr txBox="1">
            <a:spLocks noChangeArrowheads="1"/>
          </p:cNvSpPr>
          <p:nvPr/>
        </p:nvSpPr>
        <p:spPr bwMode="auto">
          <a:xfrm>
            <a:off x="2676525" y="3976687"/>
            <a:ext cx="29468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lg"/>
              </a14:hiddenLine>
            </a:ext>
          </a:extLst>
        </p:spPr>
        <p:txBody>
          <a:bodyPr wrap="squar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dirty="0">
                <a:latin typeface="+mj-lt"/>
              </a:rPr>
              <a:t>I = server processing time</a:t>
            </a:r>
            <a:endParaRPr lang="en-US" altLang="en-US" sz="2000" baseline="-25000" dirty="0">
              <a:latin typeface="+mj-lt"/>
            </a:endParaRPr>
          </a:p>
        </p:txBody>
      </p:sp>
      <p:pic>
        <p:nvPicPr>
          <p:cNvPr id="24" name="Picture 23" descr="Mac-Book-Black-On-48x48.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520" y="3263885"/>
            <a:ext cx="609600" cy="609600"/>
          </a:xfrm>
          <a:prstGeom prst="rect">
            <a:avLst/>
          </a:prstGeom>
        </p:spPr>
      </p:pic>
      <p:pic>
        <p:nvPicPr>
          <p:cNvPr id="25" name="Picture 24" descr="server-48x48.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7727" y="2292959"/>
            <a:ext cx="609600" cy="609600"/>
          </a:xfrm>
          <a:prstGeom prst="rect">
            <a:avLst/>
          </a:prstGeom>
        </p:spPr>
      </p:pic>
    </p:spTree>
    <p:extLst>
      <p:ext uri="{BB962C8B-B14F-4D97-AF65-F5344CB8AC3E}">
        <p14:creationId xmlns:p14="http://schemas.microsoft.com/office/powerpoint/2010/main" val="3207587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5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2"/>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5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59"/>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5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53"/>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5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5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23"/>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60"/>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61"/>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62"/>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animBg="1"/>
      <p:bldP spid="48" grpId="0" animBg="1"/>
      <p:bldP spid="49" grpId="0"/>
      <p:bldP spid="50" grpId="0"/>
      <p:bldP spid="51" grpId="0"/>
      <p:bldP spid="52" grpId="0" animBg="1"/>
      <p:bldP spid="53" grpId="0" animBg="1"/>
      <p:bldP spid="54" grpId="0"/>
      <p:bldP spid="55" grpId="0"/>
      <p:bldP spid="56" grpId="0"/>
      <p:bldP spid="57" grpId="0"/>
      <p:bldP spid="58" grpId="0" animBg="1"/>
      <p:bldP spid="59" grpId="0"/>
      <p:bldP spid="60" grpId="0" animBg="1"/>
      <p:bldP spid="61" grpId="0" animBg="1"/>
      <p:bldP spid="6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latin typeface="+mn-lt"/>
              </a:rPr>
              <a:t>Cristian’s Algorithm</a:t>
            </a:r>
          </a:p>
        </p:txBody>
      </p:sp>
      <p:sp>
        <p:nvSpPr>
          <p:cNvPr id="23" name="Line 4"/>
          <p:cNvSpPr>
            <a:spLocks noChangeShapeType="1"/>
          </p:cNvSpPr>
          <p:nvPr/>
        </p:nvSpPr>
        <p:spPr bwMode="auto">
          <a:xfrm>
            <a:off x="2133600" y="2424112"/>
            <a:ext cx="5257800" cy="0"/>
          </a:xfrm>
          <a:prstGeom prst="line">
            <a:avLst/>
          </a:prstGeom>
          <a:noFill/>
          <a:ln w="25400">
            <a:solidFill>
              <a:schemeClr val="tx1"/>
            </a:solidFill>
            <a:round/>
            <a:headEnd/>
            <a:tailEnd type="stealth" w="lg" len="lg"/>
          </a:ln>
        </p:spPr>
        <p:txBody>
          <a:bodyPr/>
          <a:lstStyle/>
          <a:p>
            <a:pPr>
              <a:defRPr/>
            </a:pPr>
            <a:endParaRPr lang="en-US">
              <a:latin typeface="+mj-lt"/>
              <a:ea typeface="+mn-ea"/>
            </a:endParaRPr>
          </a:p>
        </p:txBody>
      </p:sp>
      <p:sp>
        <p:nvSpPr>
          <p:cNvPr id="44" name="Line 5"/>
          <p:cNvSpPr>
            <a:spLocks noChangeShapeType="1"/>
          </p:cNvSpPr>
          <p:nvPr/>
        </p:nvSpPr>
        <p:spPr bwMode="auto">
          <a:xfrm>
            <a:off x="2133600" y="1509712"/>
            <a:ext cx="5257800" cy="0"/>
          </a:xfrm>
          <a:prstGeom prst="line">
            <a:avLst/>
          </a:prstGeom>
          <a:noFill/>
          <a:ln w="25400">
            <a:solidFill>
              <a:schemeClr val="tx1"/>
            </a:solidFill>
            <a:round/>
            <a:headEnd/>
            <a:tailEnd type="stealth" w="lg" len="lg"/>
          </a:ln>
        </p:spPr>
        <p:txBody>
          <a:bodyPr/>
          <a:lstStyle/>
          <a:p>
            <a:pPr>
              <a:defRPr/>
            </a:pPr>
            <a:endParaRPr lang="en-US">
              <a:latin typeface="+mj-lt"/>
              <a:ea typeface="+mn-ea"/>
            </a:endParaRPr>
          </a:p>
        </p:txBody>
      </p:sp>
      <p:sp>
        <p:nvSpPr>
          <p:cNvPr id="45" name="Text Box 6"/>
          <p:cNvSpPr txBox="1">
            <a:spLocks noChangeArrowheads="1"/>
          </p:cNvSpPr>
          <p:nvPr/>
        </p:nvSpPr>
        <p:spPr bwMode="auto">
          <a:xfrm>
            <a:off x="533400" y="1281112"/>
            <a:ext cx="1524000" cy="461665"/>
          </a:xfrm>
          <a:prstGeom prst="rect">
            <a:avLst/>
          </a:prstGeom>
          <a:noFill/>
          <a:ln w="25400">
            <a:noFill/>
            <a:miter lim="800000"/>
            <a:headEnd/>
            <a:tailEnd/>
          </a:ln>
        </p:spPr>
        <p:txBody>
          <a:bodyPr>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b="1" i="1" dirty="0">
                <a:latin typeface="+mj-lt"/>
              </a:rPr>
              <a:t>server</a:t>
            </a:r>
            <a:endParaRPr lang="en-US" altLang="en-US" b="1" i="1" baseline="-25000" dirty="0">
              <a:latin typeface="+mj-lt"/>
            </a:endParaRPr>
          </a:p>
        </p:txBody>
      </p:sp>
      <p:sp>
        <p:nvSpPr>
          <p:cNvPr id="46" name="Text Box 7"/>
          <p:cNvSpPr txBox="1">
            <a:spLocks noChangeArrowheads="1"/>
          </p:cNvSpPr>
          <p:nvPr/>
        </p:nvSpPr>
        <p:spPr bwMode="auto">
          <a:xfrm>
            <a:off x="762000" y="2190750"/>
            <a:ext cx="1295400" cy="461665"/>
          </a:xfrm>
          <a:prstGeom prst="rect">
            <a:avLst/>
          </a:prstGeom>
          <a:noFill/>
          <a:ln w="25400">
            <a:noFill/>
            <a:miter lim="800000"/>
            <a:headEnd/>
            <a:tailEnd/>
          </a:ln>
        </p:spPr>
        <p:txBody>
          <a:bodyPr>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b="1" i="1">
                <a:latin typeface="+mj-lt"/>
              </a:rPr>
              <a:t>client</a:t>
            </a:r>
            <a:endParaRPr lang="en-US" altLang="en-US" b="1" i="1" baseline="-25000">
              <a:latin typeface="+mj-lt"/>
            </a:endParaRPr>
          </a:p>
        </p:txBody>
      </p:sp>
      <p:sp>
        <p:nvSpPr>
          <p:cNvPr id="47" name="Text Box 8"/>
          <p:cNvSpPr txBox="1">
            <a:spLocks noChangeArrowheads="1"/>
          </p:cNvSpPr>
          <p:nvPr/>
        </p:nvSpPr>
        <p:spPr bwMode="auto">
          <a:xfrm>
            <a:off x="7010400" y="2438400"/>
            <a:ext cx="712054" cy="461665"/>
          </a:xfrm>
          <a:prstGeom prst="rect">
            <a:avLst/>
          </a:prstGeom>
          <a:noFill/>
          <a:ln w="25400">
            <a:noFill/>
            <a:miter lim="800000"/>
            <a:headEnd/>
            <a:tailEnd/>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i="1">
                <a:latin typeface="+mj-lt"/>
              </a:rPr>
              <a:t>time</a:t>
            </a:r>
          </a:p>
        </p:txBody>
      </p:sp>
      <p:sp>
        <p:nvSpPr>
          <p:cNvPr id="48" name="Line 9"/>
          <p:cNvSpPr>
            <a:spLocks noChangeShapeType="1"/>
          </p:cNvSpPr>
          <p:nvPr/>
        </p:nvSpPr>
        <p:spPr bwMode="auto">
          <a:xfrm flipV="1">
            <a:off x="3145600" y="1530185"/>
            <a:ext cx="774157" cy="879639"/>
          </a:xfrm>
          <a:prstGeom prst="line">
            <a:avLst/>
          </a:prstGeom>
          <a:noFill/>
          <a:ln w="25400">
            <a:solidFill>
              <a:schemeClr val="bg1">
                <a:lumMod val="50000"/>
              </a:schemeClr>
            </a:solidFill>
            <a:round/>
            <a:headEnd/>
            <a:tailEnd type="stealth" w="lg" len="lg"/>
          </a:ln>
        </p:spPr>
        <p:txBody>
          <a:bodyPr/>
          <a:lstStyle/>
          <a:p>
            <a:pPr>
              <a:defRPr/>
            </a:pPr>
            <a:endParaRPr lang="en-US">
              <a:latin typeface="+mj-lt"/>
              <a:ea typeface="+mn-ea"/>
            </a:endParaRPr>
          </a:p>
        </p:txBody>
      </p:sp>
      <p:sp>
        <p:nvSpPr>
          <p:cNvPr id="49" name="Line 10"/>
          <p:cNvSpPr>
            <a:spLocks noChangeShapeType="1"/>
          </p:cNvSpPr>
          <p:nvPr/>
        </p:nvSpPr>
        <p:spPr bwMode="auto">
          <a:xfrm>
            <a:off x="5122863" y="1509712"/>
            <a:ext cx="685800" cy="914400"/>
          </a:xfrm>
          <a:prstGeom prst="line">
            <a:avLst/>
          </a:prstGeom>
          <a:noFill/>
          <a:ln w="25400">
            <a:solidFill>
              <a:schemeClr val="bg1">
                <a:lumMod val="50000"/>
              </a:schemeClr>
            </a:solidFill>
            <a:round/>
            <a:headEnd/>
            <a:tailEnd type="stealth" w="lg" len="lg"/>
          </a:ln>
        </p:spPr>
        <p:txBody>
          <a:bodyPr/>
          <a:lstStyle/>
          <a:p>
            <a:pPr>
              <a:defRPr/>
            </a:pPr>
            <a:endParaRPr lang="en-US">
              <a:latin typeface="+mj-lt"/>
              <a:ea typeface="+mn-ea"/>
            </a:endParaRPr>
          </a:p>
        </p:txBody>
      </p:sp>
      <p:sp>
        <p:nvSpPr>
          <p:cNvPr id="50" name="Text Box 11"/>
          <p:cNvSpPr txBox="1">
            <a:spLocks noChangeArrowheads="1"/>
          </p:cNvSpPr>
          <p:nvPr/>
        </p:nvSpPr>
        <p:spPr bwMode="auto">
          <a:xfrm>
            <a:off x="2286000" y="1749425"/>
            <a:ext cx="962443" cy="40011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i="1">
                <a:latin typeface="+mj-lt"/>
              </a:rPr>
              <a:t>request</a:t>
            </a:r>
          </a:p>
        </p:txBody>
      </p:sp>
      <p:sp>
        <p:nvSpPr>
          <p:cNvPr id="51" name="Text Box 12"/>
          <p:cNvSpPr txBox="1">
            <a:spLocks noChangeArrowheads="1"/>
          </p:cNvSpPr>
          <p:nvPr/>
        </p:nvSpPr>
        <p:spPr bwMode="auto">
          <a:xfrm>
            <a:off x="5502275" y="1749425"/>
            <a:ext cx="663964" cy="40011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i="1">
                <a:latin typeface="+mj-lt"/>
              </a:rPr>
              <a:t>reply</a:t>
            </a:r>
          </a:p>
        </p:txBody>
      </p:sp>
      <p:sp>
        <p:nvSpPr>
          <p:cNvPr id="52" name="Text Box 13"/>
          <p:cNvSpPr txBox="1">
            <a:spLocks noChangeArrowheads="1"/>
          </p:cNvSpPr>
          <p:nvPr/>
        </p:nvSpPr>
        <p:spPr bwMode="auto">
          <a:xfrm>
            <a:off x="2667000" y="2439987"/>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a:latin typeface="+mj-lt"/>
              </a:rPr>
              <a:t>T</a:t>
            </a:r>
            <a:r>
              <a:rPr lang="en-US" altLang="en-US" sz="2800" baseline="-25000">
                <a:latin typeface="+mj-lt"/>
              </a:rPr>
              <a:t>0</a:t>
            </a:r>
          </a:p>
        </p:txBody>
      </p:sp>
      <p:sp>
        <p:nvSpPr>
          <p:cNvPr id="53" name="Text Box 14"/>
          <p:cNvSpPr txBox="1">
            <a:spLocks noChangeArrowheads="1"/>
          </p:cNvSpPr>
          <p:nvPr/>
        </p:nvSpPr>
        <p:spPr bwMode="auto">
          <a:xfrm>
            <a:off x="5767388" y="2439987"/>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a:latin typeface="+mj-lt"/>
              </a:rPr>
              <a:t>T</a:t>
            </a:r>
            <a:r>
              <a:rPr lang="en-US" altLang="en-US" sz="2800" baseline="-25000">
                <a:latin typeface="+mj-lt"/>
              </a:rPr>
              <a:t>1</a:t>
            </a:r>
          </a:p>
        </p:txBody>
      </p:sp>
      <p:sp>
        <p:nvSpPr>
          <p:cNvPr id="54" name="Line 15"/>
          <p:cNvSpPr>
            <a:spLocks noChangeShapeType="1"/>
          </p:cNvSpPr>
          <p:nvPr/>
        </p:nvSpPr>
        <p:spPr bwMode="auto">
          <a:xfrm>
            <a:off x="4319588" y="1128712"/>
            <a:ext cx="0" cy="304800"/>
          </a:xfrm>
          <a:prstGeom prst="line">
            <a:avLst/>
          </a:prstGeom>
          <a:noFill/>
          <a:ln w="25400">
            <a:solidFill>
              <a:schemeClr val="tx1"/>
            </a:solidFill>
            <a:round/>
            <a:headEnd/>
            <a:tailEnd type="stealth" w="lg" len="lg"/>
          </a:ln>
        </p:spPr>
        <p:txBody>
          <a:bodyPr/>
          <a:lstStyle/>
          <a:p>
            <a:pPr>
              <a:defRPr/>
            </a:pPr>
            <a:endParaRPr lang="en-US">
              <a:latin typeface="+mj-lt"/>
              <a:ea typeface="+mn-ea"/>
            </a:endParaRPr>
          </a:p>
        </p:txBody>
      </p:sp>
      <p:sp>
        <p:nvSpPr>
          <p:cNvPr id="55" name="Text Box 16"/>
          <p:cNvSpPr txBox="1">
            <a:spLocks noChangeArrowheads="1"/>
          </p:cNvSpPr>
          <p:nvPr/>
        </p:nvSpPr>
        <p:spPr bwMode="auto">
          <a:xfrm>
            <a:off x="4243388" y="838200"/>
            <a:ext cx="822854" cy="461665"/>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i="1" dirty="0">
                <a:latin typeface="+mj-lt"/>
              </a:rPr>
              <a:t>T</a:t>
            </a:r>
            <a:r>
              <a:rPr lang="en-US" altLang="en-US" i="1" baseline="-25000" dirty="0">
                <a:latin typeface="+mj-lt"/>
              </a:rPr>
              <a:t>server</a:t>
            </a:r>
          </a:p>
        </p:txBody>
      </p:sp>
      <p:sp>
        <p:nvSpPr>
          <p:cNvPr id="56" name="Line 10">
            <a:extLst>
              <a:ext uri="{FF2B5EF4-FFF2-40B4-BE49-F238E27FC236}">
                <a16:creationId xmlns:a16="http://schemas.microsoft.com/office/drawing/2014/main" id="{58377D06-360A-46EF-8A13-0F60AF491801}"/>
              </a:ext>
            </a:extLst>
          </p:cNvPr>
          <p:cNvSpPr>
            <a:spLocks noChangeShapeType="1"/>
          </p:cNvSpPr>
          <p:nvPr/>
        </p:nvSpPr>
        <p:spPr bwMode="auto">
          <a:xfrm>
            <a:off x="4845423" y="1512982"/>
            <a:ext cx="685800" cy="914400"/>
          </a:xfrm>
          <a:prstGeom prst="line">
            <a:avLst/>
          </a:prstGeom>
          <a:noFill/>
          <a:ln w="25400">
            <a:solidFill>
              <a:schemeClr val="tx2"/>
            </a:solidFill>
            <a:round/>
            <a:headEnd/>
            <a:tailEnd type="stealth" w="lg" len="lg"/>
          </a:ln>
        </p:spPr>
        <p:txBody>
          <a:bodyPr/>
          <a:lstStyle/>
          <a:p>
            <a:pPr>
              <a:defRPr/>
            </a:pPr>
            <a:endParaRPr lang="en-US">
              <a:latin typeface="+mj-lt"/>
              <a:ea typeface="+mn-ea"/>
            </a:endParaRPr>
          </a:p>
        </p:txBody>
      </p:sp>
      <p:sp>
        <p:nvSpPr>
          <p:cNvPr id="57" name="Line 10">
            <a:extLst>
              <a:ext uri="{FF2B5EF4-FFF2-40B4-BE49-F238E27FC236}">
                <a16:creationId xmlns:a16="http://schemas.microsoft.com/office/drawing/2014/main" id="{8A470607-6DCD-4DC0-87D6-D05EACB9756B}"/>
              </a:ext>
            </a:extLst>
          </p:cNvPr>
          <p:cNvSpPr>
            <a:spLocks noChangeShapeType="1"/>
          </p:cNvSpPr>
          <p:nvPr/>
        </p:nvSpPr>
        <p:spPr bwMode="auto">
          <a:xfrm>
            <a:off x="4728418" y="1516251"/>
            <a:ext cx="685800" cy="914400"/>
          </a:xfrm>
          <a:prstGeom prst="line">
            <a:avLst/>
          </a:prstGeom>
          <a:noFill/>
          <a:ln w="25400">
            <a:solidFill>
              <a:schemeClr val="tx2"/>
            </a:solidFill>
            <a:round/>
            <a:headEnd/>
            <a:tailEnd type="stealth" w="lg" len="lg"/>
          </a:ln>
        </p:spPr>
        <p:txBody>
          <a:bodyPr/>
          <a:lstStyle/>
          <a:p>
            <a:pPr>
              <a:defRPr/>
            </a:pPr>
            <a:endParaRPr lang="en-US">
              <a:latin typeface="+mj-lt"/>
              <a:ea typeface="+mn-ea"/>
            </a:endParaRPr>
          </a:p>
        </p:txBody>
      </p:sp>
      <p:sp>
        <p:nvSpPr>
          <p:cNvPr id="58" name="Line 10">
            <a:extLst>
              <a:ext uri="{FF2B5EF4-FFF2-40B4-BE49-F238E27FC236}">
                <a16:creationId xmlns:a16="http://schemas.microsoft.com/office/drawing/2014/main" id="{C96F096A-2BE3-4CE1-8008-82E7D9041039}"/>
              </a:ext>
            </a:extLst>
          </p:cNvPr>
          <p:cNvSpPr>
            <a:spLocks noChangeShapeType="1"/>
          </p:cNvSpPr>
          <p:nvPr/>
        </p:nvSpPr>
        <p:spPr bwMode="auto">
          <a:xfrm>
            <a:off x="4986039" y="1512982"/>
            <a:ext cx="685800" cy="914400"/>
          </a:xfrm>
          <a:prstGeom prst="line">
            <a:avLst/>
          </a:prstGeom>
          <a:noFill/>
          <a:ln w="25400">
            <a:solidFill>
              <a:schemeClr val="tx2"/>
            </a:solidFill>
            <a:round/>
            <a:headEnd/>
            <a:tailEnd type="stealth" w="lg" len="lg"/>
          </a:ln>
        </p:spPr>
        <p:txBody>
          <a:bodyPr/>
          <a:lstStyle/>
          <a:p>
            <a:pPr>
              <a:defRPr/>
            </a:pPr>
            <a:endParaRPr lang="en-US">
              <a:latin typeface="+mj-lt"/>
              <a:ea typeface="+mn-ea"/>
            </a:endParaRPr>
          </a:p>
        </p:txBody>
      </p:sp>
      <p:sp>
        <p:nvSpPr>
          <p:cNvPr id="59" name="Line 9">
            <a:extLst>
              <a:ext uri="{FF2B5EF4-FFF2-40B4-BE49-F238E27FC236}">
                <a16:creationId xmlns:a16="http://schemas.microsoft.com/office/drawing/2014/main" id="{30BF12E4-8BA5-46B0-9368-E3BDD42407B9}"/>
              </a:ext>
            </a:extLst>
          </p:cNvPr>
          <p:cNvSpPr>
            <a:spLocks noChangeShapeType="1"/>
          </p:cNvSpPr>
          <p:nvPr/>
        </p:nvSpPr>
        <p:spPr bwMode="auto">
          <a:xfrm flipV="1">
            <a:off x="3280611" y="1530185"/>
            <a:ext cx="773727" cy="885905"/>
          </a:xfrm>
          <a:prstGeom prst="line">
            <a:avLst/>
          </a:prstGeom>
          <a:noFill/>
          <a:ln w="25400">
            <a:solidFill>
              <a:schemeClr val="tx2"/>
            </a:solidFill>
            <a:round/>
            <a:headEnd/>
            <a:tailEnd type="stealth" w="lg" len="lg"/>
          </a:ln>
        </p:spPr>
        <p:txBody>
          <a:bodyPr/>
          <a:lstStyle/>
          <a:p>
            <a:pPr>
              <a:defRPr/>
            </a:pPr>
            <a:endParaRPr lang="en-US">
              <a:latin typeface="+mj-lt"/>
              <a:ea typeface="+mn-ea"/>
            </a:endParaRPr>
          </a:p>
        </p:txBody>
      </p:sp>
      <p:sp>
        <p:nvSpPr>
          <p:cNvPr id="60" name="Line 9">
            <a:extLst>
              <a:ext uri="{FF2B5EF4-FFF2-40B4-BE49-F238E27FC236}">
                <a16:creationId xmlns:a16="http://schemas.microsoft.com/office/drawing/2014/main" id="{53065F10-8792-4BC0-9F8A-5D276AB907A0}"/>
              </a:ext>
            </a:extLst>
          </p:cNvPr>
          <p:cNvSpPr>
            <a:spLocks noChangeShapeType="1"/>
          </p:cNvSpPr>
          <p:nvPr/>
        </p:nvSpPr>
        <p:spPr bwMode="auto">
          <a:xfrm flipV="1">
            <a:off x="3412869" y="1522867"/>
            <a:ext cx="784403" cy="901244"/>
          </a:xfrm>
          <a:prstGeom prst="line">
            <a:avLst/>
          </a:prstGeom>
          <a:noFill/>
          <a:ln w="25400">
            <a:solidFill>
              <a:schemeClr val="tx2"/>
            </a:solidFill>
            <a:round/>
            <a:headEnd/>
            <a:tailEnd type="stealth" w="lg" len="lg"/>
          </a:ln>
        </p:spPr>
        <p:txBody>
          <a:bodyPr/>
          <a:lstStyle/>
          <a:p>
            <a:pPr>
              <a:defRPr/>
            </a:pPr>
            <a:endParaRPr lang="en-US">
              <a:latin typeface="+mj-lt"/>
              <a:ea typeface="+mn-ea"/>
            </a:endParaRPr>
          </a:p>
        </p:txBody>
      </p:sp>
      <p:sp>
        <p:nvSpPr>
          <p:cNvPr id="61" name="Line 9">
            <a:extLst>
              <a:ext uri="{FF2B5EF4-FFF2-40B4-BE49-F238E27FC236}">
                <a16:creationId xmlns:a16="http://schemas.microsoft.com/office/drawing/2014/main" id="{CD7E66EF-2BD3-427F-A14D-07BEFE6B60C1}"/>
              </a:ext>
            </a:extLst>
          </p:cNvPr>
          <p:cNvSpPr>
            <a:spLocks noChangeShapeType="1"/>
          </p:cNvSpPr>
          <p:nvPr/>
        </p:nvSpPr>
        <p:spPr bwMode="auto">
          <a:xfrm flipV="1">
            <a:off x="3557257" y="1513696"/>
            <a:ext cx="784403" cy="910415"/>
          </a:xfrm>
          <a:prstGeom prst="line">
            <a:avLst/>
          </a:prstGeom>
          <a:noFill/>
          <a:ln w="25400">
            <a:solidFill>
              <a:schemeClr val="tx2"/>
            </a:solidFill>
            <a:round/>
            <a:headEnd/>
            <a:tailEnd type="stealth" w="lg" len="lg"/>
          </a:ln>
        </p:spPr>
        <p:txBody>
          <a:bodyPr/>
          <a:lstStyle/>
          <a:p>
            <a:pPr>
              <a:defRPr/>
            </a:pPr>
            <a:endParaRPr lang="en-US" dirty="0">
              <a:latin typeface="+mj-lt"/>
              <a:ea typeface="+mn-ea"/>
            </a:endParaRPr>
          </a:p>
        </p:txBody>
      </p:sp>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DCB2E7A4-AE6E-4424-8BCE-644660287DAB}"/>
                  </a:ext>
                </a:extLst>
              </p:cNvPr>
              <p:cNvSpPr/>
              <p:nvPr/>
            </p:nvSpPr>
            <p:spPr>
              <a:xfrm>
                <a:off x="144084" y="3028619"/>
                <a:ext cx="5387139" cy="2419124"/>
              </a:xfrm>
              <a:prstGeom prst="rect">
                <a:avLst/>
              </a:prstGeom>
              <a:ln>
                <a:solidFill>
                  <a:schemeClr val="tx2"/>
                </a:solidFill>
              </a:ln>
            </p:spPr>
            <p:txBody>
              <a:bodyPr wrap="square">
                <a:spAutoFit/>
              </a:bodyPr>
              <a:lstStyle/>
              <a:p>
                <a:pPr marL="457200" indent="-457200" algn="just">
                  <a:lnSpc>
                    <a:spcPct val="90000"/>
                  </a:lnSpc>
                  <a:buFont typeface="+mj-lt"/>
                  <a:buAutoNum type="arabicPeriod"/>
                </a:pPr>
                <a:r>
                  <a:rPr lang="en-IN" altLang="en-US" sz="2400" dirty="0">
                    <a:latin typeface="+mj-lt"/>
                  </a:rPr>
                  <a:t>Several measurements of </a:t>
                </a:r>
                <a14:m>
                  <m:oMath xmlns:m="http://schemas.openxmlformats.org/officeDocument/2006/math">
                    <m:d>
                      <m:dPr>
                        <m:ctrlPr>
                          <a:rPr lang="en-IN" altLang="en-US" sz="2400" i="1">
                            <a:latin typeface="Cambria Math" panose="02040503050406030204" pitchFamily="18" charset="0"/>
                          </a:rPr>
                        </m:ctrlPr>
                      </m:dPr>
                      <m:e>
                        <m:sSub>
                          <m:sSubPr>
                            <m:ctrlPr>
                              <a:rPr lang="en-IN" altLang="en-US" sz="2400" i="1">
                                <a:latin typeface="Cambria Math" panose="02040503050406030204" pitchFamily="18" charset="0"/>
                              </a:rPr>
                            </m:ctrlPr>
                          </m:sSubPr>
                          <m:e>
                            <m:r>
                              <a:rPr lang="en-IN" altLang="en-US" sz="2400" i="1">
                                <a:latin typeface="Cambria Math" panose="02040503050406030204" pitchFamily="18" charset="0"/>
                              </a:rPr>
                              <m:t>𝑇</m:t>
                            </m:r>
                          </m:e>
                          <m:sub>
                            <m:r>
                              <a:rPr lang="en-IN" altLang="en-US" sz="2400" i="1">
                                <a:latin typeface="Cambria Math" panose="02040503050406030204" pitchFamily="18" charset="0"/>
                              </a:rPr>
                              <m:t>1</m:t>
                            </m:r>
                          </m:sub>
                        </m:sSub>
                        <m:r>
                          <a:rPr lang="en-IN" altLang="en-US" sz="2400" i="1">
                            <a:latin typeface="Cambria Math" panose="02040503050406030204" pitchFamily="18" charset="0"/>
                          </a:rPr>
                          <m:t>−</m:t>
                        </m:r>
                        <m:sSub>
                          <m:sSubPr>
                            <m:ctrlPr>
                              <a:rPr lang="en-IN" altLang="en-US" sz="2400" i="1">
                                <a:latin typeface="Cambria Math" panose="02040503050406030204" pitchFamily="18" charset="0"/>
                              </a:rPr>
                            </m:ctrlPr>
                          </m:sSubPr>
                          <m:e>
                            <m:r>
                              <a:rPr lang="en-IN" altLang="en-US" sz="2400" i="1">
                                <a:latin typeface="Cambria Math" panose="02040503050406030204" pitchFamily="18" charset="0"/>
                              </a:rPr>
                              <m:t>𝑇</m:t>
                            </m:r>
                          </m:e>
                          <m:sub>
                            <m:r>
                              <a:rPr lang="en-IN" altLang="en-US" sz="2400" i="1">
                                <a:latin typeface="Cambria Math" panose="02040503050406030204" pitchFamily="18" charset="0"/>
                              </a:rPr>
                              <m:t>0</m:t>
                            </m:r>
                          </m:sub>
                        </m:sSub>
                      </m:e>
                    </m:d>
                  </m:oMath>
                </a14:m>
                <a:r>
                  <a:rPr lang="en-IN" altLang="en-US" sz="2400" dirty="0">
                    <a:solidFill>
                      <a:schemeClr val="tx1"/>
                    </a:solidFill>
                    <a:latin typeface="+mj-lt"/>
                  </a:rPr>
                  <a:t> are made, those measurements for which </a:t>
                </a:r>
                <a14:m>
                  <m:oMath xmlns:m="http://schemas.openxmlformats.org/officeDocument/2006/math">
                    <m:d>
                      <m:dPr>
                        <m:ctrlPr>
                          <a:rPr lang="en-IN" altLang="en-US" sz="2400" i="1">
                            <a:latin typeface="Cambria Math" panose="02040503050406030204" pitchFamily="18" charset="0"/>
                          </a:rPr>
                        </m:ctrlPr>
                      </m:dPr>
                      <m:e>
                        <m:sSub>
                          <m:sSubPr>
                            <m:ctrlPr>
                              <a:rPr lang="en-IN" altLang="en-US" sz="2400" i="1">
                                <a:latin typeface="Cambria Math" panose="02040503050406030204" pitchFamily="18" charset="0"/>
                              </a:rPr>
                            </m:ctrlPr>
                          </m:sSubPr>
                          <m:e>
                            <m:r>
                              <a:rPr lang="en-IN" altLang="en-US" sz="2400" i="1">
                                <a:latin typeface="Cambria Math" panose="02040503050406030204" pitchFamily="18" charset="0"/>
                              </a:rPr>
                              <m:t>𝑇</m:t>
                            </m:r>
                          </m:e>
                          <m:sub>
                            <m:r>
                              <a:rPr lang="en-IN" altLang="en-US" sz="2400" i="1">
                                <a:latin typeface="Cambria Math" panose="02040503050406030204" pitchFamily="18" charset="0"/>
                              </a:rPr>
                              <m:t>1</m:t>
                            </m:r>
                          </m:sub>
                        </m:sSub>
                        <m:r>
                          <a:rPr lang="en-IN" altLang="en-US" sz="2400" i="1">
                            <a:latin typeface="Cambria Math" panose="02040503050406030204" pitchFamily="18" charset="0"/>
                          </a:rPr>
                          <m:t>−</m:t>
                        </m:r>
                        <m:sSub>
                          <m:sSubPr>
                            <m:ctrlPr>
                              <a:rPr lang="en-IN" altLang="en-US" sz="2400" i="1">
                                <a:latin typeface="Cambria Math" panose="02040503050406030204" pitchFamily="18" charset="0"/>
                              </a:rPr>
                            </m:ctrlPr>
                          </m:sSubPr>
                          <m:e>
                            <m:r>
                              <a:rPr lang="en-IN" altLang="en-US" sz="2400" i="1">
                                <a:latin typeface="Cambria Math" panose="02040503050406030204" pitchFamily="18" charset="0"/>
                              </a:rPr>
                              <m:t>𝑇</m:t>
                            </m:r>
                          </m:e>
                          <m:sub>
                            <m:r>
                              <a:rPr lang="en-IN" altLang="en-US" sz="2400" i="1">
                                <a:latin typeface="Cambria Math" panose="02040503050406030204" pitchFamily="18" charset="0"/>
                              </a:rPr>
                              <m:t>0</m:t>
                            </m:r>
                          </m:sub>
                        </m:sSub>
                      </m:e>
                    </m:d>
                  </m:oMath>
                </a14:m>
                <a:r>
                  <a:rPr lang="en-IN" altLang="en-US" sz="2400" dirty="0">
                    <a:solidFill>
                      <a:schemeClr val="tx1"/>
                    </a:solidFill>
                    <a:latin typeface="+mj-lt"/>
                  </a:rPr>
                  <a:t> exceeds some threshold value are considered to be unreliable and discarded.</a:t>
                </a:r>
              </a:p>
              <a:p>
                <a:pPr marL="457200" indent="-457200" algn="just">
                  <a:lnSpc>
                    <a:spcPct val="90000"/>
                  </a:lnSpc>
                  <a:buFont typeface="+mj-lt"/>
                  <a:buAutoNum type="arabicPeriod"/>
                </a:pPr>
                <a:r>
                  <a:rPr lang="en-IN" altLang="en-US" sz="2400" dirty="0">
                    <a:latin typeface="+mj-lt"/>
                  </a:rPr>
                  <a:t>Average of the remaining measurements is then calculated.</a:t>
                </a:r>
                <a:endParaRPr lang="en-IN" altLang="en-US" sz="2000" i="1" dirty="0">
                  <a:latin typeface="+mj-lt"/>
                </a:endParaRPr>
              </a:p>
            </p:txBody>
          </p:sp>
        </mc:Choice>
        <mc:Fallback xmlns="">
          <p:sp>
            <p:nvSpPr>
              <p:cNvPr id="62" name="Rectangle 61">
                <a:extLst>
                  <a:ext uri="{FF2B5EF4-FFF2-40B4-BE49-F238E27FC236}">
                    <a16:creationId xmlns:a16="http://schemas.microsoft.com/office/drawing/2014/main" xmlns:a14="http://schemas.microsoft.com/office/drawing/2010/main" xmlns="" id="{DCB2E7A4-AE6E-4424-8BCE-644660287DAB}"/>
                  </a:ext>
                </a:extLst>
              </p:cNvPr>
              <p:cNvSpPr>
                <a:spLocks noRot="1" noChangeAspect="1" noMove="1" noResize="1" noEditPoints="1" noAdjustHandles="1" noChangeArrowheads="1" noChangeShapeType="1" noTextEdit="1"/>
              </p:cNvSpPr>
              <p:nvPr/>
            </p:nvSpPr>
            <p:spPr>
              <a:xfrm>
                <a:off x="144084" y="3028619"/>
                <a:ext cx="5387139" cy="2419124"/>
              </a:xfrm>
              <a:prstGeom prst="rect">
                <a:avLst/>
              </a:prstGeom>
              <a:blipFill rotWithShape="0">
                <a:blip r:embed="rId2"/>
                <a:stretch>
                  <a:fillRect l="-1695" t="-3258" r="-1695" b="-4762"/>
                </a:stretch>
              </a:blipFill>
              <a:ln>
                <a:solidFill>
                  <a:schemeClr val="tx2"/>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3260211D-6FF9-4E6C-9B3D-3F27C22A8980}"/>
                  </a:ext>
                </a:extLst>
              </p:cNvPr>
              <p:cNvSpPr/>
              <p:nvPr/>
            </p:nvSpPr>
            <p:spPr>
              <a:xfrm>
                <a:off x="6258228" y="4361354"/>
                <a:ext cx="3200400" cy="369332"/>
              </a:xfrm>
              <a:prstGeom prst="rect">
                <a:avLst/>
              </a:prstGeom>
              <a:ln>
                <a:noFill/>
              </a:ln>
            </p:spPr>
            <p:txBody>
              <a:bodyPr wrap="square">
                <a:spAutoFit/>
              </a:bodyPr>
              <a:lstStyle/>
              <a:p>
                <a:pPr algn="just">
                  <a:lnSpc>
                    <a:spcPct val="90000"/>
                  </a:lnSpc>
                </a:pPr>
                <a14:m>
                  <m:oMathPara xmlns:m="http://schemas.openxmlformats.org/officeDocument/2006/math">
                    <m:oMathParaPr>
                      <m:jc m:val="left"/>
                    </m:oMathParaPr>
                    <m:oMath xmlns:m="http://schemas.openxmlformats.org/officeDocument/2006/math">
                      <m:r>
                        <a:rPr lang="en-IN" altLang="en-US" sz="2000" b="1" i="1" smtClean="0">
                          <a:solidFill>
                            <a:schemeClr val="tx1"/>
                          </a:solidFill>
                          <a:latin typeface="Cambria Math" panose="02040503050406030204" pitchFamily="18" charset="0"/>
                        </a:rPr>
                        <m:t>𝒎𝒊𝒏</m:t>
                      </m:r>
                      <m:r>
                        <a:rPr lang="en-IN" altLang="en-US" sz="2000" b="1" i="1" smtClean="0">
                          <a:solidFill>
                            <a:schemeClr val="tx1"/>
                          </a:solidFill>
                          <a:latin typeface="Cambria Math" panose="02040503050406030204" pitchFamily="18" charset="0"/>
                        </a:rPr>
                        <m:t>(</m:t>
                      </m:r>
                      <m:f>
                        <m:fPr>
                          <m:type m:val="lin"/>
                          <m:ctrlPr>
                            <a:rPr lang="en-IN" altLang="en-US" sz="2000" b="1" i="1">
                              <a:solidFill>
                                <a:schemeClr val="tx1"/>
                              </a:solidFill>
                              <a:latin typeface="Cambria Math" panose="02040503050406030204" pitchFamily="18" charset="0"/>
                            </a:rPr>
                          </m:ctrlPr>
                        </m:fPr>
                        <m:num>
                          <m:r>
                            <a:rPr lang="en-IN" altLang="en-US" sz="2000" b="1" i="1">
                              <a:solidFill>
                                <a:schemeClr val="tx1"/>
                              </a:solidFill>
                              <a:latin typeface="Cambria Math" panose="02040503050406030204" pitchFamily="18" charset="0"/>
                            </a:rPr>
                            <m:t>(</m:t>
                          </m:r>
                          <m:sSub>
                            <m:sSubPr>
                              <m:ctrlPr>
                                <a:rPr lang="en-IN" altLang="en-US" sz="2000" b="1" i="1">
                                  <a:solidFill>
                                    <a:schemeClr val="tx1"/>
                                  </a:solidFill>
                                  <a:latin typeface="Cambria Math" panose="02040503050406030204" pitchFamily="18" charset="0"/>
                                </a:rPr>
                              </m:ctrlPr>
                            </m:sSubPr>
                            <m:e>
                              <m:r>
                                <a:rPr lang="en-IN" altLang="en-US" sz="2000" b="1" i="1">
                                  <a:solidFill>
                                    <a:schemeClr val="tx1"/>
                                  </a:solidFill>
                                  <a:latin typeface="Cambria Math" panose="02040503050406030204" pitchFamily="18" charset="0"/>
                                </a:rPr>
                                <m:t>𝑻</m:t>
                              </m:r>
                            </m:e>
                            <m:sub>
                              <m:r>
                                <a:rPr lang="en-IN" altLang="en-US" sz="2000" b="1" i="1">
                                  <a:solidFill>
                                    <a:schemeClr val="tx1"/>
                                  </a:solidFill>
                                  <a:latin typeface="Cambria Math" panose="02040503050406030204" pitchFamily="18" charset="0"/>
                                </a:rPr>
                                <m:t>𝟏</m:t>
                              </m:r>
                            </m:sub>
                          </m:sSub>
                          <m:r>
                            <a:rPr lang="en-IN" altLang="en-US" sz="2000" b="1" i="1">
                              <a:solidFill>
                                <a:schemeClr val="tx1"/>
                              </a:solidFill>
                              <a:latin typeface="Cambria Math" panose="02040503050406030204" pitchFamily="18" charset="0"/>
                            </a:rPr>
                            <m:t>−</m:t>
                          </m:r>
                          <m:sSub>
                            <m:sSubPr>
                              <m:ctrlPr>
                                <a:rPr lang="en-IN" altLang="en-US" sz="2000" b="1" i="1">
                                  <a:solidFill>
                                    <a:schemeClr val="tx1"/>
                                  </a:solidFill>
                                  <a:latin typeface="Cambria Math" panose="02040503050406030204" pitchFamily="18" charset="0"/>
                                </a:rPr>
                              </m:ctrlPr>
                            </m:sSubPr>
                            <m:e>
                              <m:r>
                                <a:rPr lang="en-IN" altLang="en-US" sz="2000" b="1" i="1">
                                  <a:solidFill>
                                    <a:schemeClr val="tx1"/>
                                  </a:solidFill>
                                  <a:latin typeface="Cambria Math" panose="02040503050406030204" pitchFamily="18" charset="0"/>
                                </a:rPr>
                                <m:t>𝑻</m:t>
                              </m:r>
                            </m:e>
                            <m:sub>
                              <m:r>
                                <a:rPr lang="en-IN" altLang="en-US" sz="2000" b="1" i="1">
                                  <a:solidFill>
                                    <a:schemeClr val="tx1"/>
                                  </a:solidFill>
                                  <a:latin typeface="Cambria Math" panose="02040503050406030204" pitchFamily="18" charset="0"/>
                                </a:rPr>
                                <m:t>𝟎</m:t>
                              </m:r>
                            </m:sub>
                          </m:sSub>
                          <m:r>
                            <a:rPr lang="en-IN" altLang="en-US" sz="2000" b="1" i="1">
                              <a:solidFill>
                                <a:schemeClr val="tx1"/>
                              </a:solidFill>
                              <a:latin typeface="Cambria Math" panose="02040503050406030204" pitchFamily="18" charset="0"/>
                            </a:rPr>
                            <m:t>)</m:t>
                          </m:r>
                        </m:num>
                        <m:den>
                          <m:r>
                            <a:rPr lang="en-IN" altLang="en-US" sz="2000" b="1" i="1">
                              <a:solidFill>
                                <a:schemeClr val="tx1"/>
                              </a:solidFill>
                              <a:latin typeface="Cambria Math" panose="02040503050406030204" pitchFamily="18" charset="0"/>
                            </a:rPr>
                            <m:t>𝟐</m:t>
                          </m:r>
                        </m:den>
                      </m:f>
                      <m:r>
                        <a:rPr lang="en-IN" altLang="en-US" sz="2000" b="1" i="1">
                          <a:solidFill>
                            <a:schemeClr val="tx1"/>
                          </a:solidFill>
                          <a:latin typeface="Cambria Math" panose="02040503050406030204" pitchFamily="18" charset="0"/>
                        </a:rPr>
                        <m:t>)</m:t>
                      </m:r>
                    </m:oMath>
                  </m:oMathPara>
                </a14:m>
                <a:endParaRPr lang="en-GB" altLang="en-US" sz="2000" b="1" dirty="0">
                  <a:solidFill>
                    <a:schemeClr val="tx1"/>
                  </a:solidFill>
                  <a:latin typeface="+mj-lt"/>
                </a:endParaRPr>
              </a:p>
            </p:txBody>
          </p:sp>
        </mc:Choice>
        <mc:Fallback xmlns="">
          <p:sp>
            <p:nvSpPr>
              <p:cNvPr id="63" name="Rectangle 62">
                <a:extLst>
                  <a:ext uri="{FF2B5EF4-FFF2-40B4-BE49-F238E27FC236}">
                    <a16:creationId xmlns:a16="http://schemas.microsoft.com/office/drawing/2014/main" xmlns:a14="http://schemas.microsoft.com/office/drawing/2010/main" xmlns="" id="{3260211D-6FF9-4E6C-9B3D-3F27C22A8980}"/>
                  </a:ext>
                </a:extLst>
              </p:cNvPr>
              <p:cNvSpPr>
                <a:spLocks noRot="1" noChangeAspect="1" noMove="1" noResize="1" noEditPoints="1" noAdjustHandles="1" noChangeArrowheads="1" noChangeShapeType="1" noTextEdit="1"/>
              </p:cNvSpPr>
              <p:nvPr/>
            </p:nvSpPr>
            <p:spPr>
              <a:xfrm>
                <a:off x="6258228" y="4361354"/>
                <a:ext cx="3200400" cy="369332"/>
              </a:xfrm>
              <a:prstGeom prst="rect">
                <a:avLst/>
              </a:prstGeom>
              <a:blipFill rotWithShape="0">
                <a:blip r:embed="rId3"/>
                <a:stretch>
                  <a:fillRect t="-132787" b="-193443"/>
                </a:stretch>
              </a:blipFill>
              <a:ln>
                <a:noFill/>
              </a:ln>
            </p:spPr>
            <p:txBody>
              <a:bodyPr/>
              <a:lstStyle/>
              <a:p>
                <a:r>
                  <a:rPr lang="en-IN">
                    <a:noFill/>
                  </a:rPr>
                  <a:t> </a:t>
                </a:r>
              </a:p>
            </p:txBody>
          </p:sp>
        </mc:Fallback>
      </mc:AlternateContent>
      <p:sp>
        <p:nvSpPr>
          <p:cNvPr id="64" name="AutoShape 25">
            <a:extLst>
              <a:ext uri="{FF2B5EF4-FFF2-40B4-BE49-F238E27FC236}">
                <a16:creationId xmlns:a16="http://schemas.microsoft.com/office/drawing/2014/main" id="{A0131B89-BB0C-4195-A488-3F6694D98F1B}"/>
              </a:ext>
            </a:extLst>
          </p:cNvPr>
          <p:cNvSpPr>
            <a:spLocks/>
          </p:cNvSpPr>
          <p:nvPr/>
        </p:nvSpPr>
        <p:spPr bwMode="auto">
          <a:xfrm rot="5400000">
            <a:off x="4339005" y="1657718"/>
            <a:ext cx="304800" cy="1837589"/>
          </a:xfrm>
          <a:prstGeom prst="rightBrace">
            <a:avLst>
              <a:gd name="adj1" fmla="val 25000"/>
              <a:gd name="adj2" fmla="val 50000"/>
            </a:avLst>
          </a:prstGeom>
          <a:noFill/>
          <a:ln w="25400">
            <a:solidFill>
              <a:schemeClr val="tx2"/>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5943CD2E-40A3-4C9D-AE4C-EAE1541DEE9F}"/>
                  </a:ext>
                </a:extLst>
              </p:cNvPr>
              <p:cNvSpPr txBox="1"/>
              <p:nvPr/>
            </p:nvSpPr>
            <p:spPr>
              <a:xfrm>
                <a:off x="159700" y="6058792"/>
                <a:ext cx="5769613" cy="369332"/>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2400" b="1" i="1" smtClean="0">
                              <a:solidFill>
                                <a:srgbClr val="1D6199"/>
                              </a:solidFill>
                              <a:latin typeface="Cambria Math" panose="02040503050406030204" pitchFamily="18" charset="0"/>
                            </a:rPr>
                          </m:ctrlPr>
                        </m:sSubPr>
                        <m:e>
                          <m:r>
                            <a:rPr lang="en-US" sz="2400" b="1" i="1">
                              <a:solidFill>
                                <a:srgbClr val="1D6199"/>
                              </a:solidFill>
                              <a:latin typeface="Cambria Math" panose="02040503050406030204" pitchFamily="18" charset="0"/>
                            </a:rPr>
                            <m:t>𝑻</m:t>
                          </m:r>
                        </m:e>
                        <m:sub>
                          <m:r>
                            <a:rPr lang="en-US" sz="2400" b="1" i="1" smtClean="0">
                              <a:solidFill>
                                <a:srgbClr val="1D6199"/>
                              </a:solidFill>
                              <a:latin typeface="Cambria Math" panose="02040503050406030204" pitchFamily="18" charset="0"/>
                            </a:rPr>
                            <m:t>𝒏𝒆𝒘</m:t>
                          </m:r>
                          <m:r>
                            <a:rPr lang="en-US" sz="2400" b="1" i="1">
                              <a:solidFill>
                                <a:srgbClr val="1D6199"/>
                              </a:solidFill>
                              <a:latin typeface="Cambria Math" panose="02040503050406030204" pitchFamily="18" charset="0"/>
                            </a:rPr>
                            <m:t> </m:t>
                          </m:r>
                        </m:sub>
                      </m:sSub>
                      <m:r>
                        <a:rPr lang="en-US" sz="2400" b="1" i="1" smtClean="0">
                          <a:solidFill>
                            <a:srgbClr val="1D6199"/>
                          </a:solidFill>
                          <a:latin typeface="Cambria Math" panose="02040503050406030204" pitchFamily="18" charset="0"/>
                        </a:rPr>
                        <m:t>=</m:t>
                      </m:r>
                      <m:sSub>
                        <m:sSubPr>
                          <m:ctrlPr>
                            <a:rPr lang="pt-BR" sz="2400" b="1" i="1">
                              <a:solidFill>
                                <a:srgbClr val="1D6199"/>
                              </a:solidFill>
                              <a:latin typeface="Cambria Math" panose="02040503050406030204" pitchFamily="18" charset="0"/>
                            </a:rPr>
                          </m:ctrlPr>
                        </m:sSubPr>
                        <m:e>
                          <m:r>
                            <a:rPr lang="en-US" sz="2400" b="1" i="1">
                              <a:solidFill>
                                <a:srgbClr val="1D6199"/>
                              </a:solidFill>
                              <a:latin typeface="Cambria Math" panose="02040503050406030204" pitchFamily="18" charset="0"/>
                            </a:rPr>
                            <m:t>𝑻</m:t>
                          </m:r>
                        </m:e>
                        <m:sub>
                          <m:r>
                            <a:rPr lang="en-US" sz="2400" b="1" i="1" smtClean="0">
                              <a:solidFill>
                                <a:srgbClr val="1D6199"/>
                              </a:solidFill>
                              <a:latin typeface="Cambria Math" panose="02040503050406030204" pitchFamily="18" charset="0"/>
                            </a:rPr>
                            <m:t>𝒔𝒆𝒓𝒗𝒆𝒓</m:t>
                          </m:r>
                          <m:r>
                            <a:rPr lang="en-US" sz="2400" b="1" i="1">
                              <a:solidFill>
                                <a:srgbClr val="1D6199"/>
                              </a:solidFill>
                              <a:latin typeface="Cambria Math" panose="02040503050406030204" pitchFamily="18" charset="0"/>
                            </a:rPr>
                            <m:t> </m:t>
                          </m:r>
                        </m:sub>
                      </m:sSub>
                      <m:r>
                        <a:rPr lang="en-US" sz="2400" b="1" i="1" smtClean="0">
                          <a:solidFill>
                            <a:srgbClr val="1D6199"/>
                          </a:solidFill>
                          <a:latin typeface="Cambria Math" panose="02040503050406030204" pitchFamily="18" charset="0"/>
                        </a:rPr>
                        <m:t>+</m:t>
                      </m:r>
                      <m:r>
                        <a:rPr lang="en-IN" altLang="en-US" sz="2400" b="1" i="1">
                          <a:solidFill>
                            <a:srgbClr val="1D6199"/>
                          </a:solidFill>
                          <a:latin typeface="Cambria Math" panose="02040503050406030204" pitchFamily="18" charset="0"/>
                        </a:rPr>
                        <m:t>𝒂𝒗𝒆𝒓𝒂𝒈𝒆</m:t>
                      </m:r>
                      <m:r>
                        <a:rPr lang="en-IN" altLang="en-US" sz="2400" b="1" i="1">
                          <a:solidFill>
                            <a:srgbClr val="1D6199"/>
                          </a:solidFill>
                          <a:latin typeface="Cambria Math" panose="02040503050406030204" pitchFamily="18" charset="0"/>
                        </a:rPr>
                        <m:t>(</m:t>
                      </m:r>
                      <m:f>
                        <m:fPr>
                          <m:type m:val="lin"/>
                          <m:ctrlPr>
                            <a:rPr lang="en-IN" altLang="en-US" sz="2400" b="1" i="1">
                              <a:solidFill>
                                <a:srgbClr val="1D6199"/>
                              </a:solidFill>
                              <a:latin typeface="Cambria Math" panose="02040503050406030204" pitchFamily="18" charset="0"/>
                            </a:rPr>
                          </m:ctrlPr>
                        </m:fPr>
                        <m:num>
                          <m:r>
                            <a:rPr lang="en-IN" altLang="en-US" sz="2400" b="1" i="1">
                              <a:solidFill>
                                <a:srgbClr val="1D6199"/>
                              </a:solidFill>
                              <a:latin typeface="Cambria Math" panose="02040503050406030204" pitchFamily="18" charset="0"/>
                            </a:rPr>
                            <m:t>(</m:t>
                          </m:r>
                          <m:sSub>
                            <m:sSubPr>
                              <m:ctrlPr>
                                <a:rPr lang="en-IN" altLang="en-US" sz="2400" b="1" i="1">
                                  <a:solidFill>
                                    <a:srgbClr val="1D6199"/>
                                  </a:solidFill>
                                  <a:latin typeface="Cambria Math" panose="02040503050406030204" pitchFamily="18" charset="0"/>
                                </a:rPr>
                              </m:ctrlPr>
                            </m:sSubPr>
                            <m:e>
                              <m:r>
                                <a:rPr lang="en-IN" altLang="en-US" sz="2400" b="1" i="1">
                                  <a:solidFill>
                                    <a:srgbClr val="1D6199"/>
                                  </a:solidFill>
                                  <a:latin typeface="Cambria Math" panose="02040503050406030204" pitchFamily="18" charset="0"/>
                                </a:rPr>
                                <m:t>𝑻</m:t>
                              </m:r>
                            </m:e>
                            <m:sub>
                              <m:r>
                                <a:rPr lang="en-IN" altLang="en-US" sz="2400" b="1" i="1">
                                  <a:solidFill>
                                    <a:srgbClr val="1D6199"/>
                                  </a:solidFill>
                                  <a:latin typeface="Cambria Math" panose="02040503050406030204" pitchFamily="18" charset="0"/>
                                </a:rPr>
                                <m:t>𝟏</m:t>
                              </m:r>
                            </m:sub>
                          </m:sSub>
                          <m:r>
                            <a:rPr lang="en-IN" altLang="en-US" sz="2400" b="1" i="1">
                              <a:solidFill>
                                <a:srgbClr val="1D6199"/>
                              </a:solidFill>
                              <a:latin typeface="Cambria Math" panose="02040503050406030204" pitchFamily="18" charset="0"/>
                            </a:rPr>
                            <m:t>−</m:t>
                          </m:r>
                          <m:sSub>
                            <m:sSubPr>
                              <m:ctrlPr>
                                <a:rPr lang="en-IN" altLang="en-US" sz="2400" b="1" i="1">
                                  <a:solidFill>
                                    <a:srgbClr val="1D6199"/>
                                  </a:solidFill>
                                  <a:latin typeface="Cambria Math" panose="02040503050406030204" pitchFamily="18" charset="0"/>
                                </a:rPr>
                              </m:ctrlPr>
                            </m:sSubPr>
                            <m:e>
                              <m:r>
                                <a:rPr lang="en-IN" altLang="en-US" sz="2400" b="1" i="1">
                                  <a:solidFill>
                                    <a:srgbClr val="1D6199"/>
                                  </a:solidFill>
                                  <a:latin typeface="Cambria Math" panose="02040503050406030204" pitchFamily="18" charset="0"/>
                                </a:rPr>
                                <m:t>𝑻</m:t>
                              </m:r>
                            </m:e>
                            <m:sub>
                              <m:r>
                                <a:rPr lang="en-IN" altLang="en-US" sz="2400" b="1" i="1">
                                  <a:solidFill>
                                    <a:srgbClr val="1D6199"/>
                                  </a:solidFill>
                                  <a:latin typeface="Cambria Math" panose="02040503050406030204" pitchFamily="18" charset="0"/>
                                </a:rPr>
                                <m:t>𝟎</m:t>
                              </m:r>
                            </m:sub>
                          </m:sSub>
                          <m:r>
                            <a:rPr lang="en-IN" altLang="en-US" sz="2400" b="1" i="1">
                              <a:solidFill>
                                <a:srgbClr val="1D6199"/>
                              </a:solidFill>
                              <a:latin typeface="Cambria Math" panose="02040503050406030204" pitchFamily="18" charset="0"/>
                            </a:rPr>
                            <m:t>)</m:t>
                          </m:r>
                        </m:num>
                        <m:den>
                          <m:r>
                            <a:rPr lang="en-IN" altLang="en-US" sz="2400" b="1" i="1">
                              <a:solidFill>
                                <a:srgbClr val="1D6199"/>
                              </a:solidFill>
                              <a:latin typeface="Cambria Math" panose="02040503050406030204" pitchFamily="18" charset="0"/>
                            </a:rPr>
                            <m:t>𝟐</m:t>
                          </m:r>
                        </m:den>
                      </m:f>
                      <m:r>
                        <a:rPr lang="en-IN" altLang="en-US" sz="2400" b="1" i="1">
                          <a:solidFill>
                            <a:srgbClr val="1D6199"/>
                          </a:solidFill>
                          <a:latin typeface="Cambria Math" panose="02040503050406030204" pitchFamily="18" charset="0"/>
                        </a:rPr>
                        <m:t>)</m:t>
                      </m:r>
                    </m:oMath>
                  </m:oMathPara>
                </a14:m>
                <a:endParaRPr lang="en-US" sz="2400" b="1" dirty="0">
                  <a:solidFill>
                    <a:srgbClr val="1D6199"/>
                  </a:solidFill>
                  <a:latin typeface="+mj-lt"/>
                </a:endParaRPr>
              </a:p>
            </p:txBody>
          </p:sp>
        </mc:Choice>
        <mc:Fallback xmlns="">
          <p:sp>
            <p:nvSpPr>
              <p:cNvPr id="65" name="TextBox 64">
                <a:extLst>
                  <a:ext uri="{FF2B5EF4-FFF2-40B4-BE49-F238E27FC236}">
                    <a16:creationId xmlns:a16="http://schemas.microsoft.com/office/drawing/2014/main" id="{5943CD2E-40A3-4C9D-AE4C-EAE1541DEE9F}"/>
                  </a:ext>
                </a:extLst>
              </p:cNvPr>
              <p:cNvSpPr txBox="1">
                <a:spLocks noRot="1" noChangeAspect="1" noMove="1" noResize="1" noEditPoints="1" noAdjustHandles="1" noChangeArrowheads="1" noChangeShapeType="1" noTextEdit="1"/>
              </p:cNvSpPr>
              <p:nvPr/>
            </p:nvSpPr>
            <p:spPr>
              <a:xfrm>
                <a:off x="159700" y="6058792"/>
                <a:ext cx="5769613" cy="369332"/>
              </a:xfrm>
              <a:prstGeom prst="rect">
                <a:avLst/>
              </a:prstGeom>
              <a:blipFill>
                <a:blip r:embed="rId4"/>
                <a:stretch>
                  <a:fillRect l="-211" t="-170000" r="-9926" b="-256667"/>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BA161A5A-0D4F-4CE3-9695-7F647EFD5C32}"/>
                  </a:ext>
                </a:extLst>
              </p:cNvPr>
              <p:cNvSpPr txBox="1"/>
              <p:nvPr/>
            </p:nvSpPr>
            <p:spPr>
              <a:xfrm>
                <a:off x="6258228" y="4937772"/>
                <a:ext cx="5014610" cy="332399"/>
              </a:xfrm>
              <a:prstGeom prst="rect">
                <a:avLst/>
              </a:prstGeom>
              <a:noFill/>
              <a:ln>
                <a:noFill/>
              </a:ln>
            </p:spPr>
            <p:txBody>
              <a:bodyPr wrap="square" lIns="0" tIns="0" rIns="0" bIns="0" rtlCol="0">
                <a:spAutoFit/>
              </a:bodyPr>
              <a:lstStyle/>
              <a:p>
                <a:pPr algn="just">
                  <a:lnSpc>
                    <a:spcPct val="90000"/>
                  </a:lnSpc>
                </a:pPr>
                <a14:m>
                  <m:oMathPara xmlns:m="http://schemas.openxmlformats.org/officeDocument/2006/math">
                    <m:oMathParaPr>
                      <m:jc m:val="centerGroup"/>
                    </m:oMathParaPr>
                    <m:oMath xmlns:m="http://schemas.openxmlformats.org/officeDocument/2006/math">
                      <m:sSub>
                        <m:sSubPr>
                          <m:ctrlPr>
                            <a:rPr lang="pt-BR" sz="2400" b="1" i="1" smtClean="0">
                              <a:solidFill>
                                <a:srgbClr val="1D6199"/>
                              </a:solidFill>
                              <a:latin typeface="Cambria Math" panose="02040503050406030204" pitchFamily="18" charset="0"/>
                            </a:rPr>
                          </m:ctrlPr>
                        </m:sSubPr>
                        <m:e>
                          <m:r>
                            <a:rPr lang="en-US" sz="2400" b="1" i="1">
                              <a:solidFill>
                                <a:srgbClr val="1D6199"/>
                              </a:solidFill>
                              <a:latin typeface="Cambria Math" panose="02040503050406030204" pitchFamily="18" charset="0"/>
                            </a:rPr>
                            <m:t>𝑻</m:t>
                          </m:r>
                        </m:e>
                        <m:sub>
                          <m:r>
                            <a:rPr lang="en-US" sz="2400" b="1" i="1" smtClean="0">
                              <a:solidFill>
                                <a:srgbClr val="1D6199"/>
                              </a:solidFill>
                              <a:latin typeface="Cambria Math" panose="02040503050406030204" pitchFamily="18" charset="0"/>
                            </a:rPr>
                            <m:t>𝒏𝒆𝒘</m:t>
                          </m:r>
                          <m:r>
                            <a:rPr lang="en-US" sz="2400" b="1" i="1">
                              <a:solidFill>
                                <a:srgbClr val="1D6199"/>
                              </a:solidFill>
                              <a:latin typeface="Cambria Math" panose="02040503050406030204" pitchFamily="18" charset="0"/>
                            </a:rPr>
                            <m:t> </m:t>
                          </m:r>
                        </m:sub>
                      </m:sSub>
                      <m:r>
                        <a:rPr lang="en-US" sz="2400" b="1" i="1" smtClean="0">
                          <a:solidFill>
                            <a:srgbClr val="1D6199"/>
                          </a:solidFill>
                          <a:latin typeface="Cambria Math" panose="02040503050406030204" pitchFamily="18" charset="0"/>
                        </a:rPr>
                        <m:t>=</m:t>
                      </m:r>
                      <m:sSub>
                        <m:sSubPr>
                          <m:ctrlPr>
                            <a:rPr lang="pt-BR" sz="2400" b="1" i="1">
                              <a:solidFill>
                                <a:srgbClr val="1D6199"/>
                              </a:solidFill>
                              <a:latin typeface="Cambria Math" panose="02040503050406030204" pitchFamily="18" charset="0"/>
                            </a:rPr>
                          </m:ctrlPr>
                        </m:sSubPr>
                        <m:e>
                          <m:r>
                            <a:rPr lang="en-US" sz="2400" b="1" i="1">
                              <a:solidFill>
                                <a:srgbClr val="1D6199"/>
                              </a:solidFill>
                              <a:latin typeface="Cambria Math" panose="02040503050406030204" pitchFamily="18" charset="0"/>
                            </a:rPr>
                            <m:t>𝑻</m:t>
                          </m:r>
                        </m:e>
                        <m:sub>
                          <m:r>
                            <a:rPr lang="en-US" sz="2400" b="1" i="1" smtClean="0">
                              <a:solidFill>
                                <a:srgbClr val="1D6199"/>
                              </a:solidFill>
                              <a:latin typeface="Cambria Math" panose="02040503050406030204" pitchFamily="18" charset="0"/>
                            </a:rPr>
                            <m:t>𝒔𝒆𝒓𝒗𝒆𝒓</m:t>
                          </m:r>
                          <m:r>
                            <a:rPr lang="en-US" sz="2400" b="1" i="1">
                              <a:solidFill>
                                <a:srgbClr val="1D6199"/>
                              </a:solidFill>
                              <a:latin typeface="Cambria Math" panose="02040503050406030204" pitchFamily="18" charset="0"/>
                            </a:rPr>
                            <m:t> </m:t>
                          </m:r>
                        </m:sub>
                      </m:sSub>
                      <m:r>
                        <a:rPr lang="en-US" sz="2400" b="1" i="1" smtClean="0">
                          <a:solidFill>
                            <a:srgbClr val="1D6199"/>
                          </a:solidFill>
                          <a:latin typeface="Cambria Math" panose="02040503050406030204" pitchFamily="18" charset="0"/>
                        </a:rPr>
                        <m:t>+</m:t>
                      </m:r>
                      <m:r>
                        <a:rPr lang="en-IN" altLang="en-US" sz="2400" b="1" i="1">
                          <a:solidFill>
                            <a:srgbClr val="1D6199"/>
                          </a:solidFill>
                          <a:latin typeface="Cambria Math" panose="02040503050406030204" pitchFamily="18" charset="0"/>
                        </a:rPr>
                        <m:t>𝒎𝒊𝒏</m:t>
                      </m:r>
                      <m:r>
                        <a:rPr lang="en-IN" altLang="en-US" sz="2400" b="1" i="1">
                          <a:solidFill>
                            <a:srgbClr val="1D6199"/>
                          </a:solidFill>
                          <a:latin typeface="Cambria Math" panose="02040503050406030204" pitchFamily="18" charset="0"/>
                        </a:rPr>
                        <m:t>(</m:t>
                      </m:r>
                      <m:f>
                        <m:fPr>
                          <m:type m:val="lin"/>
                          <m:ctrlPr>
                            <a:rPr lang="en-IN" altLang="en-US" sz="2400" b="1" i="1">
                              <a:solidFill>
                                <a:srgbClr val="1D6199"/>
                              </a:solidFill>
                              <a:latin typeface="Cambria Math" panose="02040503050406030204" pitchFamily="18" charset="0"/>
                            </a:rPr>
                          </m:ctrlPr>
                        </m:fPr>
                        <m:num>
                          <m:r>
                            <a:rPr lang="en-IN" altLang="en-US" sz="2400" b="1" i="1">
                              <a:solidFill>
                                <a:srgbClr val="1D6199"/>
                              </a:solidFill>
                              <a:latin typeface="Cambria Math" panose="02040503050406030204" pitchFamily="18" charset="0"/>
                            </a:rPr>
                            <m:t>(</m:t>
                          </m:r>
                          <m:sSub>
                            <m:sSubPr>
                              <m:ctrlPr>
                                <a:rPr lang="en-IN" altLang="en-US" sz="2400" b="1" i="1">
                                  <a:solidFill>
                                    <a:srgbClr val="1D6199"/>
                                  </a:solidFill>
                                  <a:latin typeface="Cambria Math" panose="02040503050406030204" pitchFamily="18" charset="0"/>
                                </a:rPr>
                              </m:ctrlPr>
                            </m:sSubPr>
                            <m:e>
                              <m:r>
                                <a:rPr lang="en-IN" altLang="en-US" sz="2400" b="1" i="1">
                                  <a:solidFill>
                                    <a:srgbClr val="1D6199"/>
                                  </a:solidFill>
                                  <a:latin typeface="Cambria Math" panose="02040503050406030204" pitchFamily="18" charset="0"/>
                                </a:rPr>
                                <m:t>𝑻</m:t>
                              </m:r>
                            </m:e>
                            <m:sub>
                              <m:r>
                                <a:rPr lang="en-IN" altLang="en-US" sz="2400" b="1" i="1">
                                  <a:solidFill>
                                    <a:srgbClr val="1D6199"/>
                                  </a:solidFill>
                                  <a:latin typeface="Cambria Math" panose="02040503050406030204" pitchFamily="18" charset="0"/>
                                </a:rPr>
                                <m:t>𝟏</m:t>
                              </m:r>
                            </m:sub>
                          </m:sSub>
                          <m:r>
                            <a:rPr lang="en-IN" altLang="en-US" sz="2400" b="1" i="1">
                              <a:solidFill>
                                <a:srgbClr val="1D6199"/>
                              </a:solidFill>
                              <a:latin typeface="Cambria Math" panose="02040503050406030204" pitchFamily="18" charset="0"/>
                            </a:rPr>
                            <m:t>−</m:t>
                          </m:r>
                          <m:sSub>
                            <m:sSubPr>
                              <m:ctrlPr>
                                <a:rPr lang="en-IN" altLang="en-US" sz="2400" b="1" i="1">
                                  <a:solidFill>
                                    <a:srgbClr val="1D6199"/>
                                  </a:solidFill>
                                  <a:latin typeface="Cambria Math" panose="02040503050406030204" pitchFamily="18" charset="0"/>
                                </a:rPr>
                              </m:ctrlPr>
                            </m:sSubPr>
                            <m:e>
                              <m:r>
                                <a:rPr lang="en-IN" altLang="en-US" sz="2400" b="1" i="1">
                                  <a:solidFill>
                                    <a:srgbClr val="1D6199"/>
                                  </a:solidFill>
                                  <a:latin typeface="Cambria Math" panose="02040503050406030204" pitchFamily="18" charset="0"/>
                                </a:rPr>
                                <m:t>𝑻</m:t>
                              </m:r>
                            </m:e>
                            <m:sub>
                              <m:r>
                                <a:rPr lang="en-IN" altLang="en-US" sz="2400" b="1" i="1">
                                  <a:solidFill>
                                    <a:srgbClr val="1D6199"/>
                                  </a:solidFill>
                                  <a:latin typeface="Cambria Math" panose="02040503050406030204" pitchFamily="18" charset="0"/>
                                </a:rPr>
                                <m:t>𝟎</m:t>
                              </m:r>
                            </m:sub>
                          </m:sSub>
                          <m:r>
                            <a:rPr lang="en-IN" altLang="en-US" sz="2400" b="1" i="1">
                              <a:solidFill>
                                <a:srgbClr val="1D6199"/>
                              </a:solidFill>
                              <a:latin typeface="Cambria Math" panose="02040503050406030204" pitchFamily="18" charset="0"/>
                            </a:rPr>
                            <m:t>)</m:t>
                          </m:r>
                        </m:num>
                        <m:den>
                          <m:r>
                            <a:rPr lang="en-IN" altLang="en-US" sz="2400" b="1" i="1">
                              <a:solidFill>
                                <a:srgbClr val="1D6199"/>
                              </a:solidFill>
                              <a:latin typeface="Cambria Math" panose="02040503050406030204" pitchFamily="18" charset="0"/>
                            </a:rPr>
                            <m:t>𝟐</m:t>
                          </m:r>
                        </m:den>
                      </m:f>
                      <m:r>
                        <a:rPr lang="en-IN" altLang="en-US" sz="2400" b="1" i="1">
                          <a:solidFill>
                            <a:srgbClr val="1D6199"/>
                          </a:solidFill>
                          <a:latin typeface="Cambria Math" panose="02040503050406030204" pitchFamily="18" charset="0"/>
                        </a:rPr>
                        <m:t>)</m:t>
                      </m:r>
                    </m:oMath>
                  </m:oMathPara>
                </a14:m>
                <a:endParaRPr lang="en-US" sz="2400" b="1" dirty="0">
                  <a:solidFill>
                    <a:srgbClr val="1D6199"/>
                  </a:solidFill>
                  <a:latin typeface="+mj-lt"/>
                </a:endParaRPr>
              </a:p>
            </p:txBody>
          </p:sp>
        </mc:Choice>
        <mc:Fallback xmlns="">
          <p:sp>
            <p:nvSpPr>
              <p:cNvPr id="66" name="TextBox 65">
                <a:extLst>
                  <a:ext uri="{FF2B5EF4-FFF2-40B4-BE49-F238E27FC236}">
                    <a16:creationId xmlns:a16="http://schemas.microsoft.com/office/drawing/2014/main" id="{BA161A5A-0D4F-4CE3-9695-7F647EFD5C32}"/>
                  </a:ext>
                </a:extLst>
              </p:cNvPr>
              <p:cNvSpPr txBox="1">
                <a:spLocks noRot="1" noChangeAspect="1" noMove="1" noResize="1" noEditPoints="1" noAdjustHandles="1" noChangeArrowheads="1" noChangeShapeType="1" noTextEdit="1"/>
              </p:cNvSpPr>
              <p:nvPr/>
            </p:nvSpPr>
            <p:spPr>
              <a:xfrm>
                <a:off x="6258228" y="4937772"/>
                <a:ext cx="5014610" cy="332399"/>
              </a:xfrm>
              <a:prstGeom prst="rect">
                <a:avLst/>
              </a:prstGeom>
              <a:blipFill>
                <a:blip r:embed="rId5"/>
                <a:stretch>
                  <a:fillRect l="-1217" t="-194545" r="-12287" b="-28000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7" name="Rectangle 66">
                <a:extLst>
                  <a:ext uri="{FF2B5EF4-FFF2-40B4-BE49-F238E27FC236}">
                    <a16:creationId xmlns:a16="http://schemas.microsoft.com/office/drawing/2014/main" id="{8B8BDF8E-28E3-4FF8-BB01-A49E4743F318}"/>
                  </a:ext>
                </a:extLst>
              </p:cNvPr>
              <p:cNvSpPr/>
              <p:nvPr/>
            </p:nvSpPr>
            <p:spPr>
              <a:xfrm>
                <a:off x="159700" y="5531565"/>
                <a:ext cx="3200400" cy="369332"/>
              </a:xfrm>
              <a:prstGeom prst="rect">
                <a:avLst/>
              </a:prstGeom>
              <a:ln>
                <a:noFill/>
              </a:ln>
            </p:spPr>
            <p:txBody>
              <a:bodyPr wrap="square">
                <a:spAutoFit/>
              </a:bodyPr>
              <a:lstStyle/>
              <a:p>
                <a:pPr algn="just">
                  <a:lnSpc>
                    <a:spcPct val="90000"/>
                  </a:lnSpc>
                </a:pPr>
                <a14:m>
                  <m:oMathPara xmlns:m="http://schemas.openxmlformats.org/officeDocument/2006/math">
                    <m:oMathParaPr>
                      <m:jc m:val="centerGroup"/>
                    </m:oMathParaPr>
                    <m:oMath xmlns:m="http://schemas.openxmlformats.org/officeDocument/2006/math">
                      <m:r>
                        <a:rPr lang="en-IN" altLang="en-US" sz="2000" b="1" i="1" smtClean="0">
                          <a:solidFill>
                            <a:srgbClr val="1D3064"/>
                          </a:solidFill>
                          <a:latin typeface="Cambria Math" panose="02040503050406030204" pitchFamily="18" charset="0"/>
                        </a:rPr>
                        <m:t>𝒂𝒗𝒆𝒓𝒂𝒈𝒆</m:t>
                      </m:r>
                      <m:r>
                        <a:rPr lang="en-IN" altLang="en-US" sz="2000" b="1" i="1" smtClean="0">
                          <a:solidFill>
                            <a:srgbClr val="1D3064"/>
                          </a:solidFill>
                          <a:latin typeface="Cambria Math" panose="02040503050406030204" pitchFamily="18" charset="0"/>
                        </a:rPr>
                        <m:t>(</m:t>
                      </m:r>
                      <m:f>
                        <m:fPr>
                          <m:type m:val="lin"/>
                          <m:ctrlPr>
                            <a:rPr lang="en-IN" altLang="en-US" sz="2000" b="1" i="1">
                              <a:solidFill>
                                <a:srgbClr val="1D3064"/>
                              </a:solidFill>
                              <a:latin typeface="Cambria Math" panose="02040503050406030204" pitchFamily="18" charset="0"/>
                            </a:rPr>
                          </m:ctrlPr>
                        </m:fPr>
                        <m:num>
                          <m:r>
                            <a:rPr lang="en-IN" altLang="en-US" sz="2000" b="1" i="1">
                              <a:solidFill>
                                <a:srgbClr val="1D3064"/>
                              </a:solidFill>
                              <a:latin typeface="Cambria Math" panose="02040503050406030204" pitchFamily="18" charset="0"/>
                            </a:rPr>
                            <m:t>(</m:t>
                          </m:r>
                          <m:sSub>
                            <m:sSubPr>
                              <m:ctrlPr>
                                <a:rPr lang="en-IN" altLang="en-US" sz="2000" b="1" i="1">
                                  <a:solidFill>
                                    <a:srgbClr val="1D3064"/>
                                  </a:solidFill>
                                  <a:latin typeface="Cambria Math" panose="02040503050406030204" pitchFamily="18" charset="0"/>
                                </a:rPr>
                              </m:ctrlPr>
                            </m:sSubPr>
                            <m:e>
                              <m:r>
                                <a:rPr lang="en-IN" altLang="en-US" sz="2000" b="1" i="1">
                                  <a:solidFill>
                                    <a:srgbClr val="1D3064"/>
                                  </a:solidFill>
                                  <a:latin typeface="Cambria Math" panose="02040503050406030204" pitchFamily="18" charset="0"/>
                                </a:rPr>
                                <m:t>𝑻</m:t>
                              </m:r>
                            </m:e>
                            <m:sub>
                              <m:r>
                                <a:rPr lang="en-IN" altLang="en-US" sz="2000" b="1" i="1">
                                  <a:solidFill>
                                    <a:srgbClr val="1D3064"/>
                                  </a:solidFill>
                                  <a:latin typeface="Cambria Math" panose="02040503050406030204" pitchFamily="18" charset="0"/>
                                </a:rPr>
                                <m:t>𝟏</m:t>
                              </m:r>
                            </m:sub>
                          </m:sSub>
                          <m:r>
                            <a:rPr lang="en-IN" altLang="en-US" sz="2000" b="1" i="1">
                              <a:solidFill>
                                <a:srgbClr val="1D3064"/>
                              </a:solidFill>
                              <a:latin typeface="Cambria Math" panose="02040503050406030204" pitchFamily="18" charset="0"/>
                            </a:rPr>
                            <m:t>−</m:t>
                          </m:r>
                          <m:sSub>
                            <m:sSubPr>
                              <m:ctrlPr>
                                <a:rPr lang="en-IN" altLang="en-US" sz="2000" b="1" i="1">
                                  <a:solidFill>
                                    <a:srgbClr val="1D3064"/>
                                  </a:solidFill>
                                  <a:latin typeface="Cambria Math" panose="02040503050406030204" pitchFamily="18" charset="0"/>
                                </a:rPr>
                              </m:ctrlPr>
                            </m:sSubPr>
                            <m:e>
                              <m:r>
                                <a:rPr lang="en-IN" altLang="en-US" sz="2000" b="1" i="1">
                                  <a:solidFill>
                                    <a:srgbClr val="1D3064"/>
                                  </a:solidFill>
                                  <a:latin typeface="Cambria Math" panose="02040503050406030204" pitchFamily="18" charset="0"/>
                                </a:rPr>
                                <m:t>𝑻</m:t>
                              </m:r>
                            </m:e>
                            <m:sub>
                              <m:r>
                                <a:rPr lang="en-IN" altLang="en-US" sz="2000" b="1" i="1">
                                  <a:solidFill>
                                    <a:srgbClr val="1D3064"/>
                                  </a:solidFill>
                                  <a:latin typeface="Cambria Math" panose="02040503050406030204" pitchFamily="18" charset="0"/>
                                </a:rPr>
                                <m:t>𝟎</m:t>
                              </m:r>
                            </m:sub>
                          </m:sSub>
                          <m:r>
                            <a:rPr lang="en-IN" altLang="en-US" sz="2000" b="1" i="1">
                              <a:solidFill>
                                <a:srgbClr val="1D3064"/>
                              </a:solidFill>
                              <a:latin typeface="Cambria Math" panose="02040503050406030204" pitchFamily="18" charset="0"/>
                            </a:rPr>
                            <m:t>)</m:t>
                          </m:r>
                        </m:num>
                        <m:den>
                          <m:r>
                            <a:rPr lang="en-IN" altLang="en-US" sz="2000" b="1" i="1">
                              <a:solidFill>
                                <a:srgbClr val="1D3064"/>
                              </a:solidFill>
                              <a:latin typeface="Cambria Math" panose="02040503050406030204" pitchFamily="18" charset="0"/>
                            </a:rPr>
                            <m:t>𝟐</m:t>
                          </m:r>
                        </m:den>
                      </m:f>
                      <m:r>
                        <a:rPr lang="en-IN" altLang="en-US" sz="2000" b="1" i="1">
                          <a:solidFill>
                            <a:srgbClr val="1D3064"/>
                          </a:solidFill>
                          <a:latin typeface="Cambria Math" panose="02040503050406030204" pitchFamily="18" charset="0"/>
                        </a:rPr>
                        <m:t>)</m:t>
                      </m:r>
                    </m:oMath>
                  </m:oMathPara>
                </a14:m>
                <a:endParaRPr lang="en-GB" altLang="en-US" sz="2000" b="1" dirty="0">
                  <a:solidFill>
                    <a:srgbClr val="1D3064"/>
                  </a:solidFill>
                  <a:latin typeface="+mj-lt"/>
                </a:endParaRPr>
              </a:p>
            </p:txBody>
          </p:sp>
        </mc:Choice>
        <mc:Fallback xmlns="">
          <p:sp>
            <p:nvSpPr>
              <p:cNvPr id="67" name="Rectangle 66">
                <a:extLst>
                  <a:ext uri="{FF2B5EF4-FFF2-40B4-BE49-F238E27FC236}">
                    <a16:creationId xmlns="" xmlns:a16="http://schemas.microsoft.com/office/drawing/2014/main" xmlns:a14="http://schemas.microsoft.com/office/drawing/2010/main" id="{8B8BDF8E-28E3-4FF8-BB01-A49E4743F318}"/>
                  </a:ext>
                </a:extLst>
              </p:cNvPr>
              <p:cNvSpPr>
                <a:spLocks noRot="1" noChangeAspect="1" noMove="1" noResize="1" noEditPoints="1" noAdjustHandles="1" noChangeArrowheads="1" noChangeShapeType="1" noTextEdit="1"/>
              </p:cNvSpPr>
              <p:nvPr/>
            </p:nvSpPr>
            <p:spPr>
              <a:xfrm>
                <a:off x="159700" y="5531565"/>
                <a:ext cx="3200400" cy="369332"/>
              </a:xfrm>
              <a:prstGeom prst="rect">
                <a:avLst/>
              </a:prstGeom>
              <a:blipFill rotWithShape="0">
                <a:blip r:embed="rId6"/>
                <a:stretch>
                  <a:fillRect t="-132787" r="-8381" b="-193443"/>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Rectangle 67">
                <a:extLst>
                  <a:ext uri="{FF2B5EF4-FFF2-40B4-BE49-F238E27FC236}">
                    <a16:creationId xmlns:a16="http://schemas.microsoft.com/office/drawing/2014/main" id="{7821EDB7-C04A-4836-AF84-482FEB5294BA}"/>
                  </a:ext>
                </a:extLst>
              </p:cNvPr>
              <p:cNvSpPr/>
              <p:nvPr/>
            </p:nvSpPr>
            <p:spPr>
              <a:xfrm>
                <a:off x="6258228" y="3060985"/>
                <a:ext cx="5786135" cy="1089529"/>
              </a:xfrm>
              <a:prstGeom prst="rect">
                <a:avLst/>
              </a:prstGeom>
              <a:ln>
                <a:solidFill>
                  <a:schemeClr val="tx2"/>
                </a:solidFill>
              </a:ln>
            </p:spPr>
            <p:txBody>
              <a:bodyPr wrap="square">
                <a:spAutoFit/>
              </a:bodyPr>
              <a:lstStyle/>
              <a:p>
                <a:pPr algn="just">
                  <a:lnSpc>
                    <a:spcPct val="90000"/>
                  </a:lnSpc>
                </a:pPr>
                <a:r>
                  <a:rPr lang="en-IN" altLang="en-US" sz="2400" dirty="0">
                    <a:latin typeface="+mj-lt"/>
                  </a:rPr>
                  <a:t>Alternatively, the measurement for which the value of </a:t>
                </a:r>
                <a14:m>
                  <m:oMath xmlns:m="http://schemas.openxmlformats.org/officeDocument/2006/math">
                    <m:d>
                      <m:dPr>
                        <m:ctrlPr>
                          <a:rPr lang="en-IN" altLang="en-US" sz="2400" i="1">
                            <a:latin typeface="Cambria Math" panose="02040503050406030204" pitchFamily="18" charset="0"/>
                          </a:rPr>
                        </m:ctrlPr>
                      </m:dPr>
                      <m:e>
                        <m:sSub>
                          <m:sSubPr>
                            <m:ctrlPr>
                              <a:rPr lang="en-IN" altLang="en-US" sz="2400" i="1">
                                <a:latin typeface="Cambria Math" panose="02040503050406030204" pitchFamily="18" charset="0"/>
                              </a:rPr>
                            </m:ctrlPr>
                          </m:sSubPr>
                          <m:e>
                            <m:r>
                              <a:rPr lang="en-IN" altLang="en-US" sz="2400" i="1">
                                <a:latin typeface="Cambria Math" panose="02040503050406030204" pitchFamily="18" charset="0"/>
                              </a:rPr>
                              <m:t>𝑇</m:t>
                            </m:r>
                          </m:e>
                          <m:sub>
                            <m:r>
                              <a:rPr lang="en-IN" altLang="en-US" sz="2400" i="1">
                                <a:latin typeface="Cambria Math" panose="02040503050406030204" pitchFamily="18" charset="0"/>
                              </a:rPr>
                              <m:t>1</m:t>
                            </m:r>
                          </m:sub>
                        </m:sSub>
                        <m:r>
                          <a:rPr lang="en-IN" altLang="en-US" sz="2400" i="1">
                            <a:latin typeface="Cambria Math" panose="02040503050406030204" pitchFamily="18" charset="0"/>
                          </a:rPr>
                          <m:t>−</m:t>
                        </m:r>
                        <m:sSub>
                          <m:sSubPr>
                            <m:ctrlPr>
                              <a:rPr lang="en-IN" altLang="en-US" sz="2400" i="1">
                                <a:latin typeface="Cambria Math" panose="02040503050406030204" pitchFamily="18" charset="0"/>
                              </a:rPr>
                            </m:ctrlPr>
                          </m:sSubPr>
                          <m:e>
                            <m:r>
                              <a:rPr lang="en-IN" altLang="en-US" sz="2400" i="1">
                                <a:latin typeface="Cambria Math" panose="02040503050406030204" pitchFamily="18" charset="0"/>
                              </a:rPr>
                              <m:t>𝑇</m:t>
                            </m:r>
                          </m:e>
                          <m:sub>
                            <m:r>
                              <a:rPr lang="en-IN" altLang="en-US" sz="2400" i="1">
                                <a:latin typeface="Cambria Math" panose="02040503050406030204" pitchFamily="18" charset="0"/>
                              </a:rPr>
                              <m:t>0</m:t>
                            </m:r>
                          </m:sub>
                        </m:sSub>
                      </m:e>
                    </m:d>
                  </m:oMath>
                </a14:m>
                <a:r>
                  <a:rPr lang="en-IN" altLang="en-US" sz="2400" dirty="0">
                    <a:latin typeface="+mj-lt"/>
                  </a:rPr>
                  <a:t> is minimum is considered to be the most accurate one.</a:t>
                </a:r>
                <a:endParaRPr lang="en-IN" altLang="en-US" sz="2000" i="1" dirty="0">
                  <a:latin typeface="+mj-lt"/>
                </a:endParaRPr>
              </a:p>
            </p:txBody>
          </p:sp>
        </mc:Choice>
        <mc:Fallback xmlns="">
          <p:sp>
            <p:nvSpPr>
              <p:cNvPr id="68" name="Rectangle 67">
                <a:extLst>
                  <a:ext uri="{FF2B5EF4-FFF2-40B4-BE49-F238E27FC236}">
                    <a16:creationId xmlns:a16="http://schemas.microsoft.com/office/drawing/2014/main" xmlns:a14="http://schemas.microsoft.com/office/drawing/2010/main" xmlns="" id="{7821EDB7-C04A-4836-AF84-482FEB5294BA}"/>
                  </a:ext>
                </a:extLst>
              </p:cNvPr>
              <p:cNvSpPr>
                <a:spLocks noRot="1" noChangeAspect="1" noMove="1" noResize="1" noEditPoints="1" noAdjustHandles="1" noChangeArrowheads="1" noChangeShapeType="1" noTextEdit="1"/>
              </p:cNvSpPr>
              <p:nvPr/>
            </p:nvSpPr>
            <p:spPr>
              <a:xfrm>
                <a:off x="6258228" y="3060985"/>
                <a:ext cx="5786135" cy="1089529"/>
              </a:xfrm>
              <a:prstGeom prst="rect">
                <a:avLst/>
              </a:prstGeom>
              <a:blipFill rotWithShape="0">
                <a:blip r:embed="rId7"/>
                <a:stretch>
                  <a:fillRect l="-1577" t="-6630" r="-1472" b="-11602"/>
                </a:stretch>
              </a:blipFill>
              <a:ln>
                <a:solidFill>
                  <a:schemeClr val="tx2"/>
                </a:solidFill>
              </a:ln>
            </p:spPr>
            <p:txBody>
              <a:bodyPr/>
              <a:lstStyle/>
              <a:p>
                <a:r>
                  <a:rPr lang="en-IN">
                    <a:noFill/>
                  </a:rPr>
                  <a:t> </a:t>
                </a:r>
              </a:p>
            </p:txBody>
          </p:sp>
        </mc:Fallback>
      </mc:AlternateContent>
      <p:grpSp>
        <p:nvGrpSpPr>
          <p:cNvPr id="3" name="Group 2"/>
          <p:cNvGrpSpPr/>
          <p:nvPr/>
        </p:nvGrpSpPr>
        <p:grpSpPr>
          <a:xfrm>
            <a:off x="503069" y="1211451"/>
            <a:ext cx="686393" cy="1580526"/>
            <a:chOff x="503069" y="1211451"/>
            <a:chExt cx="686393" cy="1580526"/>
          </a:xfrm>
        </p:grpSpPr>
        <p:pic>
          <p:nvPicPr>
            <p:cNvPr id="29" name="Picture 28" descr="Mac-Book-Black-On-48x48.png"/>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79862" y="2182377"/>
              <a:ext cx="609600" cy="609600"/>
            </a:xfrm>
            <a:prstGeom prst="rect">
              <a:avLst/>
            </a:prstGeom>
          </p:spPr>
        </p:pic>
        <p:pic>
          <p:nvPicPr>
            <p:cNvPr id="30" name="Picture 29" descr="server-48x48.png"/>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03069" y="1211451"/>
              <a:ext cx="609600" cy="609600"/>
            </a:xfrm>
            <a:prstGeom prst="rect">
              <a:avLst/>
            </a:prstGeom>
          </p:spPr>
        </p:pic>
      </p:grpSp>
    </p:spTree>
    <p:extLst>
      <p:ext uri="{BB962C8B-B14F-4D97-AF65-F5344CB8AC3E}">
        <p14:creationId xmlns:p14="http://schemas.microsoft.com/office/powerpoint/2010/main" val="429583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2">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2">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P spid="58" grpId="0" animBg="1"/>
      <p:bldP spid="59" grpId="0" animBg="1"/>
      <p:bldP spid="60" grpId="0" animBg="1"/>
      <p:bldP spid="61" grpId="0" animBg="1"/>
      <p:bldP spid="62" grpId="0" animBg="1"/>
      <p:bldP spid="63" grpId="0"/>
      <p:bldP spid="64" grpId="0" animBg="1"/>
      <p:bldP spid="65" grpId="0"/>
      <p:bldP spid="66" grpId="0"/>
      <p:bldP spid="67" grpId="0"/>
      <p:bldP spid="6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latin typeface="+mn-lt"/>
              </a:rPr>
              <a:t>Error Bounds in Cristian’s Algorithm </a:t>
            </a:r>
          </a:p>
        </p:txBody>
      </p:sp>
      <p:sp>
        <p:nvSpPr>
          <p:cNvPr id="29" name="Rectangle 2"/>
          <p:cNvSpPr>
            <a:spLocks noChangeArrowheads="1"/>
          </p:cNvSpPr>
          <p:nvPr/>
        </p:nvSpPr>
        <p:spPr bwMode="auto">
          <a:xfrm>
            <a:off x="4567237" y="1647825"/>
            <a:ext cx="1295400" cy="2286000"/>
          </a:xfrm>
          <a:prstGeom prst="rect">
            <a:avLst/>
          </a:prstGeom>
          <a:solidFill>
            <a:schemeClr val="bg1">
              <a:lumMod val="65000"/>
              <a:alpha val="39999"/>
            </a:schemeClr>
          </a:solidFill>
          <a:ln>
            <a:noFill/>
          </a:ln>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30" name="Line 4"/>
          <p:cNvSpPr>
            <a:spLocks noChangeShapeType="1"/>
          </p:cNvSpPr>
          <p:nvPr/>
        </p:nvSpPr>
        <p:spPr bwMode="auto">
          <a:xfrm>
            <a:off x="2890837" y="2562225"/>
            <a:ext cx="5257800" cy="0"/>
          </a:xfrm>
          <a:prstGeom prst="line">
            <a:avLst/>
          </a:prstGeom>
          <a:noFill/>
          <a:ln w="25400">
            <a:solidFill>
              <a:schemeClr val="tx1"/>
            </a:solidFill>
            <a:round/>
            <a:headEnd/>
            <a:tailEnd type="stealth" w="lg" len="lg"/>
          </a:ln>
        </p:spPr>
        <p:txBody>
          <a:bodyPr/>
          <a:lstStyle/>
          <a:p>
            <a:pPr>
              <a:defRPr/>
            </a:pPr>
            <a:endParaRPr lang="en-US">
              <a:latin typeface="+mj-lt"/>
              <a:ea typeface="+mn-ea"/>
            </a:endParaRPr>
          </a:p>
        </p:txBody>
      </p:sp>
      <p:sp>
        <p:nvSpPr>
          <p:cNvPr id="31" name="Line 5"/>
          <p:cNvSpPr>
            <a:spLocks noChangeShapeType="1"/>
          </p:cNvSpPr>
          <p:nvPr/>
        </p:nvSpPr>
        <p:spPr bwMode="auto">
          <a:xfrm>
            <a:off x="2890837" y="1647825"/>
            <a:ext cx="5257800" cy="0"/>
          </a:xfrm>
          <a:prstGeom prst="line">
            <a:avLst/>
          </a:prstGeom>
          <a:noFill/>
          <a:ln w="25400">
            <a:solidFill>
              <a:schemeClr val="tx1"/>
            </a:solidFill>
            <a:round/>
            <a:headEnd/>
            <a:tailEnd type="stealth" w="lg" len="lg"/>
          </a:ln>
        </p:spPr>
        <p:txBody>
          <a:bodyPr/>
          <a:lstStyle/>
          <a:p>
            <a:pPr>
              <a:defRPr/>
            </a:pPr>
            <a:endParaRPr lang="en-US">
              <a:latin typeface="+mj-lt"/>
              <a:ea typeface="+mn-ea"/>
            </a:endParaRPr>
          </a:p>
        </p:txBody>
      </p:sp>
      <p:sp>
        <p:nvSpPr>
          <p:cNvPr id="32" name="Text Box 6"/>
          <p:cNvSpPr txBox="1">
            <a:spLocks noChangeArrowheads="1"/>
          </p:cNvSpPr>
          <p:nvPr/>
        </p:nvSpPr>
        <p:spPr bwMode="auto">
          <a:xfrm>
            <a:off x="1290637" y="1419225"/>
            <a:ext cx="1524000" cy="461665"/>
          </a:xfrm>
          <a:prstGeom prst="rect">
            <a:avLst/>
          </a:prstGeom>
          <a:noFill/>
          <a:ln w="25400">
            <a:noFill/>
            <a:miter lim="800000"/>
            <a:headEnd/>
            <a:tailEnd/>
          </a:ln>
        </p:spPr>
        <p:txBody>
          <a:bodyPr>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i="1" dirty="0">
                <a:latin typeface="+mj-lt"/>
              </a:rPr>
              <a:t>server</a:t>
            </a:r>
            <a:endParaRPr lang="en-US" altLang="en-US" i="1" baseline="-25000" dirty="0">
              <a:latin typeface="+mj-lt"/>
            </a:endParaRPr>
          </a:p>
        </p:txBody>
      </p:sp>
      <p:sp>
        <p:nvSpPr>
          <p:cNvPr id="33" name="Text Box 7"/>
          <p:cNvSpPr txBox="1">
            <a:spLocks noChangeArrowheads="1"/>
          </p:cNvSpPr>
          <p:nvPr/>
        </p:nvSpPr>
        <p:spPr bwMode="auto">
          <a:xfrm>
            <a:off x="1519237" y="2328863"/>
            <a:ext cx="1295400" cy="461665"/>
          </a:xfrm>
          <a:prstGeom prst="rect">
            <a:avLst/>
          </a:prstGeom>
          <a:noFill/>
          <a:ln w="25400">
            <a:noFill/>
            <a:miter lim="800000"/>
            <a:headEnd/>
            <a:tailEnd/>
          </a:ln>
        </p:spPr>
        <p:txBody>
          <a:bodyPr>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i="1" dirty="0">
                <a:latin typeface="+mj-lt"/>
              </a:rPr>
              <a:t>client</a:t>
            </a:r>
            <a:endParaRPr lang="en-US" altLang="en-US" i="1" baseline="-25000" dirty="0">
              <a:latin typeface="+mj-lt"/>
            </a:endParaRPr>
          </a:p>
        </p:txBody>
      </p:sp>
      <p:sp>
        <p:nvSpPr>
          <p:cNvPr id="34" name="Text Box 8"/>
          <p:cNvSpPr txBox="1">
            <a:spLocks noChangeArrowheads="1"/>
          </p:cNvSpPr>
          <p:nvPr/>
        </p:nvSpPr>
        <p:spPr bwMode="auto">
          <a:xfrm>
            <a:off x="7767637" y="2576513"/>
            <a:ext cx="712054" cy="461665"/>
          </a:xfrm>
          <a:prstGeom prst="rect">
            <a:avLst/>
          </a:prstGeom>
          <a:noFill/>
          <a:ln w="25400">
            <a:noFill/>
            <a:miter lim="800000"/>
            <a:headEnd/>
            <a:tailEnd/>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i="1">
                <a:latin typeface="+mj-lt"/>
              </a:rPr>
              <a:t>time</a:t>
            </a:r>
          </a:p>
        </p:txBody>
      </p:sp>
      <p:sp>
        <p:nvSpPr>
          <p:cNvPr id="35" name="Line 9"/>
          <p:cNvSpPr>
            <a:spLocks noChangeShapeType="1"/>
          </p:cNvSpPr>
          <p:nvPr/>
        </p:nvSpPr>
        <p:spPr bwMode="auto">
          <a:xfrm flipV="1">
            <a:off x="3883025" y="1649413"/>
            <a:ext cx="685800" cy="914400"/>
          </a:xfrm>
          <a:prstGeom prst="line">
            <a:avLst/>
          </a:prstGeom>
          <a:noFill/>
          <a:ln w="25400">
            <a:solidFill>
              <a:schemeClr val="bg1">
                <a:lumMod val="50000"/>
              </a:schemeClr>
            </a:solidFill>
            <a:round/>
            <a:headEnd/>
            <a:tailEnd type="stealth" w="lg" len="lg"/>
          </a:ln>
        </p:spPr>
        <p:txBody>
          <a:bodyPr/>
          <a:lstStyle/>
          <a:p>
            <a:pPr>
              <a:defRPr/>
            </a:pPr>
            <a:endParaRPr lang="en-US">
              <a:latin typeface="+mj-lt"/>
              <a:ea typeface="+mn-ea"/>
            </a:endParaRPr>
          </a:p>
        </p:txBody>
      </p:sp>
      <p:sp>
        <p:nvSpPr>
          <p:cNvPr id="36" name="Line 10"/>
          <p:cNvSpPr>
            <a:spLocks noChangeShapeType="1"/>
          </p:cNvSpPr>
          <p:nvPr/>
        </p:nvSpPr>
        <p:spPr bwMode="auto">
          <a:xfrm>
            <a:off x="5880100" y="1647825"/>
            <a:ext cx="685800" cy="914400"/>
          </a:xfrm>
          <a:prstGeom prst="line">
            <a:avLst/>
          </a:prstGeom>
          <a:noFill/>
          <a:ln w="25400">
            <a:solidFill>
              <a:schemeClr val="bg1">
                <a:lumMod val="50000"/>
              </a:schemeClr>
            </a:solidFill>
            <a:round/>
            <a:headEnd/>
            <a:tailEnd type="stealth" w="lg" len="lg"/>
          </a:ln>
        </p:spPr>
        <p:txBody>
          <a:bodyPr/>
          <a:lstStyle/>
          <a:p>
            <a:pPr>
              <a:defRPr/>
            </a:pPr>
            <a:endParaRPr lang="en-US">
              <a:latin typeface="+mj-lt"/>
              <a:ea typeface="+mn-ea"/>
            </a:endParaRPr>
          </a:p>
        </p:txBody>
      </p:sp>
      <p:sp>
        <p:nvSpPr>
          <p:cNvPr id="37" name="Text Box 11"/>
          <p:cNvSpPr txBox="1">
            <a:spLocks noChangeArrowheads="1"/>
          </p:cNvSpPr>
          <p:nvPr/>
        </p:nvSpPr>
        <p:spPr bwMode="auto">
          <a:xfrm>
            <a:off x="3043237" y="1887538"/>
            <a:ext cx="962443" cy="40011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i="1">
                <a:latin typeface="+mj-lt"/>
              </a:rPr>
              <a:t>request</a:t>
            </a:r>
          </a:p>
        </p:txBody>
      </p:sp>
      <p:sp>
        <p:nvSpPr>
          <p:cNvPr id="38" name="Text Box 12"/>
          <p:cNvSpPr txBox="1">
            <a:spLocks noChangeArrowheads="1"/>
          </p:cNvSpPr>
          <p:nvPr/>
        </p:nvSpPr>
        <p:spPr bwMode="auto">
          <a:xfrm>
            <a:off x="6259512" y="1887538"/>
            <a:ext cx="663964" cy="40011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i="1">
                <a:latin typeface="+mj-lt"/>
              </a:rPr>
              <a:t>reply</a:t>
            </a:r>
          </a:p>
        </p:txBody>
      </p:sp>
      <p:sp>
        <p:nvSpPr>
          <p:cNvPr id="39" name="Text Box 13"/>
          <p:cNvSpPr txBox="1">
            <a:spLocks noChangeArrowheads="1"/>
          </p:cNvSpPr>
          <p:nvPr/>
        </p:nvSpPr>
        <p:spPr bwMode="auto">
          <a:xfrm>
            <a:off x="3424237" y="2578100"/>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a:latin typeface="+mj-lt"/>
              </a:rPr>
              <a:t>T</a:t>
            </a:r>
            <a:r>
              <a:rPr lang="en-US" altLang="en-US" sz="2800" baseline="-25000">
                <a:latin typeface="+mj-lt"/>
              </a:rPr>
              <a:t>0</a:t>
            </a:r>
          </a:p>
        </p:txBody>
      </p:sp>
      <p:sp>
        <p:nvSpPr>
          <p:cNvPr id="40" name="Text Box 14"/>
          <p:cNvSpPr txBox="1">
            <a:spLocks noChangeArrowheads="1"/>
          </p:cNvSpPr>
          <p:nvPr/>
        </p:nvSpPr>
        <p:spPr bwMode="auto">
          <a:xfrm>
            <a:off x="6524625" y="2578100"/>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a:latin typeface="+mj-lt"/>
              </a:rPr>
              <a:t>T</a:t>
            </a:r>
            <a:r>
              <a:rPr lang="en-US" altLang="en-US" sz="2800" baseline="-25000">
                <a:latin typeface="+mj-lt"/>
              </a:rPr>
              <a:t>1</a:t>
            </a:r>
          </a:p>
        </p:txBody>
      </p:sp>
      <p:sp>
        <p:nvSpPr>
          <p:cNvPr id="41" name="Line 15"/>
          <p:cNvSpPr>
            <a:spLocks noChangeShapeType="1"/>
          </p:cNvSpPr>
          <p:nvPr/>
        </p:nvSpPr>
        <p:spPr bwMode="auto">
          <a:xfrm>
            <a:off x="5076825" y="1266825"/>
            <a:ext cx="0" cy="304800"/>
          </a:xfrm>
          <a:prstGeom prst="line">
            <a:avLst/>
          </a:prstGeom>
          <a:noFill/>
          <a:ln w="25400">
            <a:solidFill>
              <a:schemeClr val="tx1"/>
            </a:solidFill>
            <a:round/>
            <a:headEnd/>
            <a:tailEnd type="stealth" w="lg" len="lg"/>
          </a:ln>
        </p:spPr>
        <p:txBody>
          <a:bodyPr/>
          <a:lstStyle/>
          <a:p>
            <a:pPr>
              <a:defRPr/>
            </a:pPr>
            <a:endParaRPr lang="en-US">
              <a:latin typeface="+mj-lt"/>
              <a:ea typeface="+mn-ea"/>
            </a:endParaRPr>
          </a:p>
        </p:txBody>
      </p:sp>
      <p:sp>
        <p:nvSpPr>
          <p:cNvPr id="42" name="Text Box 16"/>
          <p:cNvSpPr txBox="1">
            <a:spLocks noChangeArrowheads="1"/>
          </p:cNvSpPr>
          <p:nvPr/>
        </p:nvSpPr>
        <p:spPr bwMode="auto">
          <a:xfrm>
            <a:off x="5000625" y="976313"/>
            <a:ext cx="822854" cy="461665"/>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i="1" dirty="0">
                <a:latin typeface="+mj-lt"/>
              </a:rPr>
              <a:t>T</a:t>
            </a:r>
            <a:r>
              <a:rPr lang="en-US" altLang="en-US" i="1" baseline="-25000" dirty="0">
                <a:latin typeface="+mj-lt"/>
              </a:rPr>
              <a:t>server</a:t>
            </a:r>
          </a:p>
        </p:txBody>
      </p:sp>
      <p:grpSp>
        <p:nvGrpSpPr>
          <p:cNvPr id="43" name="Group 17"/>
          <p:cNvGrpSpPr>
            <a:grpSpLocks/>
          </p:cNvGrpSpPr>
          <p:nvPr/>
        </p:nvGrpSpPr>
        <p:grpSpPr bwMode="auto">
          <a:xfrm>
            <a:off x="3805235" y="2638428"/>
            <a:ext cx="762000" cy="844551"/>
            <a:chOff x="1920" y="2784"/>
            <a:chExt cx="480" cy="532"/>
          </a:xfrm>
        </p:grpSpPr>
        <p:sp>
          <p:nvSpPr>
            <p:cNvPr id="69" name="AutoShape 18"/>
            <p:cNvSpPr>
              <a:spLocks/>
            </p:cNvSpPr>
            <p:nvPr/>
          </p:nvSpPr>
          <p:spPr bwMode="auto">
            <a:xfrm rot="5400000">
              <a:off x="2088" y="2664"/>
              <a:ext cx="192" cy="432"/>
            </a:xfrm>
            <a:prstGeom prst="rightBrace">
              <a:avLst>
                <a:gd name="adj1" fmla="val 18750"/>
                <a:gd name="adj2" fmla="val 50000"/>
              </a:avLst>
            </a:prstGeom>
            <a:noFill/>
            <a:ln w="25400">
              <a:solidFill>
                <a:schemeClr val="tx1"/>
              </a:solidFill>
              <a:round/>
              <a:headEnd/>
              <a:tailEnd type="none" w="lg" len="lg"/>
            </a:ln>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70" name="Text Box 19"/>
            <p:cNvSpPr txBox="1">
              <a:spLocks noChangeArrowheads="1"/>
            </p:cNvSpPr>
            <p:nvPr/>
          </p:nvSpPr>
          <p:spPr bwMode="auto">
            <a:xfrm>
              <a:off x="1920" y="2986"/>
              <a:ext cx="455" cy="33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a:latin typeface="+mj-lt"/>
                </a:rPr>
                <a:t>T</a:t>
              </a:r>
              <a:r>
                <a:rPr lang="en-US" altLang="en-US" sz="2800" baseline="-25000">
                  <a:latin typeface="+mj-lt"/>
                </a:rPr>
                <a:t>min</a:t>
              </a:r>
            </a:p>
          </p:txBody>
        </p:sp>
      </p:grpSp>
      <p:grpSp>
        <p:nvGrpSpPr>
          <p:cNvPr id="71" name="Group 20"/>
          <p:cNvGrpSpPr>
            <a:grpSpLocks/>
          </p:cNvGrpSpPr>
          <p:nvPr/>
        </p:nvGrpSpPr>
        <p:grpSpPr bwMode="auto">
          <a:xfrm>
            <a:off x="5786434" y="2638428"/>
            <a:ext cx="762000" cy="844551"/>
            <a:chOff x="3168" y="2784"/>
            <a:chExt cx="480" cy="532"/>
          </a:xfrm>
        </p:grpSpPr>
        <p:sp>
          <p:nvSpPr>
            <p:cNvPr id="72" name="AutoShape 21"/>
            <p:cNvSpPr>
              <a:spLocks/>
            </p:cNvSpPr>
            <p:nvPr/>
          </p:nvSpPr>
          <p:spPr bwMode="auto">
            <a:xfrm rot="5400000">
              <a:off x="3336" y="2664"/>
              <a:ext cx="192" cy="432"/>
            </a:xfrm>
            <a:prstGeom prst="rightBrace">
              <a:avLst>
                <a:gd name="adj1" fmla="val 18750"/>
                <a:gd name="adj2" fmla="val 50000"/>
              </a:avLst>
            </a:prstGeom>
            <a:noFill/>
            <a:ln w="25400">
              <a:solidFill>
                <a:schemeClr val="tx1"/>
              </a:solidFill>
              <a:round/>
              <a:headEnd/>
              <a:tailEnd type="none" w="lg" len="lg"/>
            </a:ln>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73" name="Text Box 22"/>
            <p:cNvSpPr txBox="1">
              <a:spLocks noChangeArrowheads="1"/>
            </p:cNvSpPr>
            <p:nvPr/>
          </p:nvSpPr>
          <p:spPr bwMode="auto">
            <a:xfrm>
              <a:off x="3168" y="2986"/>
              <a:ext cx="455" cy="33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a:latin typeface="+mj-lt"/>
                </a:rPr>
                <a:t>T</a:t>
              </a:r>
              <a:r>
                <a:rPr lang="en-US" altLang="en-US" sz="2800" baseline="-25000">
                  <a:latin typeface="+mj-lt"/>
                </a:rPr>
                <a:t>min</a:t>
              </a:r>
            </a:p>
          </p:txBody>
        </p:sp>
      </p:grpSp>
      <p:sp>
        <p:nvSpPr>
          <p:cNvPr id="74" name="Line 23"/>
          <p:cNvSpPr>
            <a:spLocks noChangeShapeType="1"/>
          </p:cNvSpPr>
          <p:nvPr/>
        </p:nvSpPr>
        <p:spPr bwMode="auto">
          <a:xfrm flipV="1">
            <a:off x="4567237" y="1647825"/>
            <a:ext cx="0" cy="914400"/>
          </a:xfrm>
          <a:prstGeom prst="line">
            <a:avLst/>
          </a:prstGeom>
          <a:noFill/>
          <a:ln w="25400">
            <a:solidFill>
              <a:schemeClr val="tx1"/>
            </a:solidFill>
            <a:prstDash val="sysDot"/>
            <a:round/>
            <a:headEnd/>
            <a:tailEnd type="none" w="lg" len="lg"/>
          </a:ln>
        </p:spPr>
        <p:txBody>
          <a:bodyPr/>
          <a:lstStyle/>
          <a:p>
            <a:pPr>
              <a:defRPr/>
            </a:pPr>
            <a:endParaRPr lang="en-US">
              <a:latin typeface="+mj-lt"/>
              <a:ea typeface="+mn-ea"/>
            </a:endParaRPr>
          </a:p>
        </p:txBody>
      </p:sp>
      <p:sp>
        <p:nvSpPr>
          <p:cNvPr id="75" name="Line 24"/>
          <p:cNvSpPr>
            <a:spLocks noChangeShapeType="1"/>
          </p:cNvSpPr>
          <p:nvPr/>
        </p:nvSpPr>
        <p:spPr bwMode="auto">
          <a:xfrm flipV="1">
            <a:off x="5862637" y="1647825"/>
            <a:ext cx="0" cy="914400"/>
          </a:xfrm>
          <a:prstGeom prst="line">
            <a:avLst/>
          </a:prstGeom>
          <a:noFill/>
          <a:ln w="25400">
            <a:solidFill>
              <a:schemeClr val="tx1"/>
            </a:solidFill>
            <a:prstDash val="sysDot"/>
            <a:round/>
            <a:headEnd/>
            <a:tailEnd type="none" w="lg" len="lg"/>
          </a:ln>
        </p:spPr>
        <p:txBody>
          <a:bodyPr/>
          <a:lstStyle/>
          <a:p>
            <a:pPr>
              <a:defRPr/>
            </a:pPr>
            <a:endParaRPr lang="en-US">
              <a:latin typeface="+mj-lt"/>
              <a:ea typeface="+mn-ea"/>
            </a:endParaRPr>
          </a:p>
        </p:txBody>
      </p:sp>
      <p:grpSp>
        <p:nvGrpSpPr>
          <p:cNvPr id="76" name="Group 25"/>
          <p:cNvGrpSpPr>
            <a:grpSpLocks/>
          </p:cNvGrpSpPr>
          <p:nvPr/>
        </p:nvGrpSpPr>
        <p:grpSpPr bwMode="auto">
          <a:xfrm>
            <a:off x="1366837" y="2714625"/>
            <a:ext cx="3683000" cy="1516063"/>
            <a:chOff x="384" y="2832"/>
            <a:chExt cx="2320" cy="955"/>
          </a:xfrm>
        </p:grpSpPr>
        <p:sp>
          <p:nvSpPr>
            <p:cNvPr id="77" name="Freeform 26"/>
            <p:cNvSpPr>
              <a:spLocks/>
            </p:cNvSpPr>
            <p:nvPr/>
          </p:nvSpPr>
          <p:spPr bwMode="auto">
            <a:xfrm>
              <a:off x="1776" y="2832"/>
              <a:ext cx="928" cy="826"/>
            </a:xfrm>
            <a:custGeom>
              <a:avLst/>
              <a:gdLst>
                <a:gd name="T0" fmla="*/ 0 w 928"/>
                <a:gd name="T1" fmla="*/ 624 h 728"/>
                <a:gd name="T2" fmla="*/ 816 w 928"/>
                <a:gd name="T3" fmla="*/ 624 h 728"/>
                <a:gd name="T4" fmla="*/ 672 w 928"/>
                <a:gd name="T5" fmla="*/ 0 h 728"/>
                <a:gd name="T6" fmla="*/ 0 60000 65536"/>
                <a:gd name="T7" fmla="*/ 0 60000 65536"/>
                <a:gd name="T8" fmla="*/ 0 60000 65536"/>
                <a:gd name="T9" fmla="*/ 0 w 928"/>
                <a:gd name="T10" fmla="*/ 0 h 728"/>
                <a:gd name="T11" fmla="*/ 928 w 928"/>
                <a:gd name="T12" fmla="*/ 728 h 728"/>
              </a:gdLst>
              <a:ahLst/>
              <a:cxnLst>
                <a:cxn ang="T6">
                  <a:pos x="T0" y="T1"/>
                </a:cxn>
                <a:cxn ang="T7">
                  <a:pos x="T2" y="T3"/>
                </a:cxn>
                <a:cxn ang="T8">
                  <a:pos x="T4" y="T5"/>
                </a:cxn>
              </a:cxnLst>
              <a:rect l="T9" t="T10" r="T11" b="T12"/>
              <a:pathLst>
                <a:path w="928" h="728">
                  <a:moveTo>
                    <a:pt x="0" y="624"/>
                  </a:moveTo>
                  <a:cubicBezTo>
                    <a:pt x="352" y="676"/>
                    <a:pt x="704" y="728"/>
                    <a:pt x="816" y="624"/>
                  </a:cubicBezTo>
                  <a:cubicBezTo>
                    <a:pt x="928" y="520"/>
                    <a:pt x="800" y="260"/>
                    <a:pt x="672" y="0"/>
                  </a:cubicBezTo>
                </a:path>
              </a:pathLst>
            </a:custGeom>
            <a:noFill/>
            <a:ln w="25400">
              <a:solidFill>
                <a:schemeClr val="tx1"/>
              </a:solidFill>
              <a:round/>
              <a:headEnd/>
              <a:tailEnd type="stealth" w="lg" len="lg"/>
            </a:ln>
          </p:spPr>
          <p:txBody>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78" name="Text Box 27"/>
            <p:cNvSpPr txBox="1">
              <a:spLocks noChangeArrowheads="1"/>
            </p:cNvSpPr>
            <p:nvPr/>
          </p:nvSpPr>
          <p:spPr bwMode="auto">
            <a:xfrm>
              <a:off x="384" y="3264"/>
              <a:ext cx="1834" cy="523"/>
            </a:xfrm>
            <a:prstGeom prst="rect">
              <a:avLst/>
            </a:prstGeom>
            <a:noFill/>
            <a:ln w="25400">
              <a:noFill/>
              <a:miter lim="800000"/>
              <a:headEnd/>
              <a:tailEnd type="none" w="lg" len="lg"/>
            </a:ln>
          </p:spPr>
          <p:txBody>
            <a:bodyPr>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dirty="0">
                  <a:latin typeface="+mj-lt"/>
                </a:rPr>
                <a:t>Earliest time message arrives</a:t>
              </a:r>
            </a:p>
          </p:txBody>
        </p:sp>
      </p:grpSp>
      <p:grpSp>
        <p:nvGrpSpPr>
          <p:cNvPr id="79" name="Group 28"/>
          <p:cNvGrpSpPr>
            <a:grpSpLocks/>
          </p:cNvGrpSpPr>
          <p:nvPr/>
        </p:nvGrpSpPr>
        <p:grpSpPr bwMode="auto">
          <a:xfrm>
            <a:off x="5380037" y="2790825"/>
            <a:ext cx="4292600" cy="1516063"/>
            <a:chOff x="2912" y="2832"/>
            <a:chExt cx="2704" cy="955"/>
          </a:xfrm>
        </p:grpSpPr>
        <p:sp>
          <p:nvSpPr>
            <p:cNvPr id="80" name="Freeform 29"/>
            <p:cNvSpPr>
              <a:spLocks/>
            </p:cNvSpPr>
            <p:nvPr/>
          </p:nvSpPr>
          <p:spPr bwMode="auto">
            <a:xfrm flipH="1">
              <a:off x="2912" y="2832"/>
              <a:ext cx="928" cy="728"/>
            </a:xfrm>
            <a:custGeom>
              <a:avLst/>
              <a:gdLst>
                <a:gd name="T0" fmla="*/ 0 w 928"/>
                <a:gd name="T1" fmla="*/ 624 h 728"/>
                <a:gd name="T2" fmla="*/ 816 w 928"/>
                <a:gd name="T3" fmla="*/ 624 h 728"/>
                <a:gd name="T4" fmla="*/ 672 w 928"/>
                <a:gd name="T5" fmla="*/ 0 h 728"/>
                <a:gd name="T6" fmla="*/ 0 60000 65536"/>
                <a:gd name="T7" fmla="*/ 0 60000 65536"/>
                <a:gd name="T8" fmla="*/ 0 60000 65536"/>
                <a:gd name="T9" fmla="*/ 0 w 928"/>
                <a:gd name="T10" fmla="*/ 0 h 728"/>
                <a:gd name="T11" fmla="*/ 928 w 928"/>
                <a:gd name="T12" fmla="*/ 728 h 728"/>
              </a:gdLst>
              <a:ahLst/>
              <a:cxnLst>
                <a:cxn ang="T6">
                  <a:pos x="T0" y="T1"/>
                </a:cxn>
                <a:cxn ang="T7">
                  <a:pos x="T2" y="T3"/>
                </a:cxn>
                <a:cxn ang="T8">
                  <a:pos x="T4" y="T5"/>
                </a:cxn>
              </a:cxnLst>
              <a:rect l="T9" t="T10" r="T11" b="T12"/>
              <a:pathLst>
                <a:path w="928" h="728">
                  <a:moveTo>
                    <a:pt x="0" y="624"/>
                  </a:moveTo>
                  <a:cubicBezTo>
                    <a:pt x="352" y="676"/>
                    <a:pt x="704" y="728"/>
                    <a:pt x="816" y="624"/>
                  </a:cubicBezTo>
                  <a:cubicBezTo>
                    <a:pt x="928" y="520"/>
                    <a:pt x="800" y="260"/>
                    <a:pt x="672" y="0"/>
                  </a:cubicBezTo>
                </a:path>
              </a:pathLst>
            </a:custGeom>
            <a:noFill/>
            <a:ln w="25400">
              <a:solidFill>
                <a:schemeClr val="tx1"/>
              </a:solidFill>
              <a:round/>
              <a:headEnd/>
              <a:tailEnd type="stealth" w="lg" len="lg"/>
            </a:ln>
          </p:spPr>
          <p:txBody>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81" name="Text Box 30"/>
            <p:cNvSpPr txBox="1">
              <a:spLocks noChangeArrowheads="1"/>
            </p:cNvSpPr>
            <p:nvPr/>
          </p:nvSpPr>
          <p:spPr bwMode="auto">
            <a:xfrm>
              <a:off x="3830" y="3264"/>
              <a:ext cx="1786" cy="523"/>
            </a:xfrm>
            <a:prstGeom prst="rect">
              <a:avLst/>
            </a:prstGeom>
            <a:noFill/>
            <a:ln w="25400">
              <a:noFill/>
              <a:miter lim="800000"/>
              <a:headEnd/>
              <a:tailEnd type="none" w="lg" len="lg"/>
            </a:ln>
          </p:spPr>
          <p:txBody>
            <a:bodyPr>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dirty="0">
                  <a:latin typeface="+mj-lt"/>
                </a:rPr>
                <a:t>Latest time message leaves</a:t>
              </a:r>
            </a:p>
          </p:txBody>
        </p:sp>
      </p:grpSp>
      <p:sp>
        <p:nvSpPr>
          <p:cNvPr id="82" name="Line 31"/>
          <p:cNvSpPr>
            <a:spLocks noChangeShapeType="1"/>
          </p:cNvSpPr>
          <p:nvPr/>
        </p:nvSpPr>
        <p:spPr bwMode="auto">
          <a:xfrm flipV="1">
            <a:off x="3881437" y="1647825"/>
            <a:ext cx="1371600" cy="914400"/>
          </a:xfrm>
          <a:prstGeom prst="line">
            <a:avLst/>
          </a:prstGeom>
          <a:noFill/>
          <a:ln w="25400">
            <a:solidFill>
              <a:srgbClr val="0070C0"/>
            </a:solidFill>
            <a:round/>
            <a:headEnd/>
            <a:tailEnd type="stealth" w="lg" len="lg"/>
          </a:ln>
        </p:spPr>
        <p:txBody>
          <a:bodyPr/>
          <a:lstStyle/>
          <a:p>
            <a:pPr>
              <a:defRPr/>
            </a:pPr>
            <a:endParaRPr lang="en-US">
              <a:latin typeface="+mj-lt"/>
              <a:ea typeface="+mn-ea"/>
            </a:endParaRPr>
          </a:p>
        </p:txBody>
      </p:sp>
      <p:sp>
        <p:nvSpPr>
          <p:cNvPr id="83" name="Line 32"/>
          <p:cNvSpPr>
            <a:spLocks noChangeShapeType="1"/>
          </p:cNvSpPr>
          <p:nvPr/>
        </p:nvSpPr>
        <p:spPr bwMode="auto">
          <a:xfrm flipV="1">
            <a:off x="3881437" y="1647825"/>
            <a:ext cx="1981200" cy="914400"/>
          </a:xfrm>
          <a:prstGeom prst="line">
            <a:avLst/>
          </a:prstGeom>
          <a:noFill/>
          <a:ln w="25400">
            <a:solidFill>
              <a:srgbClr val="0070C0"/>
            </a:solidFill>
            <a:round/>
            <a:headEnd/>
            <a:tailEnd type="stealth" w="lg" len="lg"/>
          </a:ln>
        </p:spPr>
        <p:txBody>
          <a:bodyPr/>
          <a:lstStyle/>
          <a:p>
            <a:pPr>
              <a:defRPr/>
            </a:pPr>
            <a:endParaRPr lang="en-US">
              <a:latin typeface="+mj-lt"/>
              <a:ea typeface="+mn-ea"/>
            </a:endParaRPr>
          </a:p>
        </p:txBody>
      </p:sp>
      <p:sp>
        <p:nvSpPr>
          <p:cNvPr id="84" name="Line 33"/>
          <p:cNvSpPr>
            <a:spLocks noChangeShapeType="1"/>
          </p:cNvSpPr>
          <p:nvPr/>
        </p:nvSpPr>
        <p:spPr bwMode="auto">
          <a:xfrm>
            <a:off x="5405437" y="1647825"/>
            <a:ext cx="1143000" cy="914400"/>
          </a:xfrm>
          <a:prstGeom prst="line">
            <a:avLst/>
          </a:prstGeom>
          <a:noFill/>
          <a:ln w="25400">
            <a:solidFill>
              <a:srgbClr val="0070C0"/>
            </a:solidFill>
            <a:round/>
            <a:headEnd/>
            <a:tailEnd type="stealth" w="lg" len="lg"/>
          </a:ln>
        </p:spPr>
        <p:txBody>
          <a:bodyPr/>
          <a:lstStyle/>
          <a:p>
            <a:pPr>
              <a:defRPr/>
            </a:pPr>
            <a:endParaRPr lang="en-US">
              <a:latin typeface="+mj-lt"/>
              <a:ea typeface="+mn-ea"/>
            </a:endParaRPr>
          </a:p>
        </p:txBody>
      </p:sp>
      <p:sp>
        <p:nvSpPr>
          <p:cNvPr id="85" name="Line 34"/>
          <p:cNvSpPr>
            <a:spLocks noChangeShapeType="1"/>
          </p:cNvSpPr>
          <p:nvPr/>
        </p:nvSpPr>
        <p:spPr bwMode="auto">
          <a:xfrm>
            <a:off x="4567237" y="1647825"/>
            <a:ext cx="1981200" cy="914400"/>
          </a:xfrm>
          <a:prstGeom prst="line">
            <a:avLst/>
          </a:prstGeom>
          <a:noFill/>
          <a:ln w="25400">
            <a:solidFill>
              <a:srgbClr val="0070C0"/>
            </a:solidFill>
            <a:round/>
            <a:headEnd/>
            <a:tailEnd type="stealth" w="lg" len="lg"/>
          </a:ln>
        </p:spPr>
        <p:txBody>
          <a:bodyPr/>
          <a:lstStyle/>
          <a:p>
            <a:pPr>
              <a:defRPr/>
            </a:pPr>
            <a:endParaRPr lang="en-US">
              <a:latin typeface="+mj-lt"/>
              <a:ea typeface="+mn-ea"/>
            </a:endParaRPr>
          </a:p>
        </p:txBody>
      </p:sp>
      <p:grpSp>
        <p:nvGrpSpPr>
          <p:cNvPr id="86" name="Group 35"/>
          <p:cNvGrpSpPr>
            <a:grpSpLocks/>
          </p:cNvGrpSpPr>
          <p:nvPr/>
        </p:nvGrpSpPr>
        <p:grpSpPr bwMode="auto">
          <a:xfrm>
            <a:off x="3348037" y="4010027"/>
            <a:ext cx="2868613" cy="996951"/>
            <a:chOff x="1632" y="2544"/>
            <a:chExt cx="1807" cy="628"/>
          </a:xfrm>
        </p:grpSpPr>
        <p:sp>
          <p:nvSpPr>
            <p:cNvPr id="87" name="AutoShape 36"/>
            <p:cNvSpPr>
              <a:spLocks/>
            </p:cNvSpPr>
            <p:nvPr/>
          </p:nvSpPr>
          <p:spPr bwMode="auto">
            <a:xfrm rot="5400000">
              <a:off x="2688" y="2256"/>
              <a:ext cx="240" cy="816"/>
            </a:xfrm>
            <a:prstGeom prst="rightBrace">
              <a:avLst>
                <a:gd name="adj1" fmla="val 28333"/>
                <a:gd name="adj2" fmla="val 50000"/>
              </a:avLst>
            </a:prstGeom>
            <a:noFill/>
            <a:ln w="2540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88" name="Text Box 37"/>
            <p:cNvSpPr txBox="1">
              <a:spLocks noChangeArrowheads="1"/>
            </p:cNvSpPr>
            <p:nvPr/>
          </p:nvSpPr>
          <p:spPr bwMode="auto">
            <a:xfrm>
              <a:off x="1632" y="2842"/>
              <a:ext cx="1807" cy="33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dirty="0">
                  <a:latin typeface="+mj-lt"/>
                </a:rPr>
                <a:t>range = T</a:t>
              </a:r>
              <a:r>
                <a:rPr lang="en-US" altLang="en-US" sz="2800" baseline="-25000" dirty="0">
                  <a:latin typeface="+mj-lt"/>
                </a:rPr>
                <a:t>1</a:t>
              </a:r>
              <a:r>
                <a:rPr lang="en-US" altLang="en-US" sz="2800" dirty="0">
                  <a:latin typeface="+mj-lt"/>
                </a:rPr>
                <a:t>-T</a:t>
              </a:r>
              <a:r>
                <a:rPr lang="en-US" altLang="en-US" sz="2800" baseline="-25000" dirty="0">
                  <a:latin typeface="+mj-lt"/>
                </a:rPr>
                <a:t>0</a:t>
              </a:r>
              <a:r>
                <a:rPr lang="en-US" altLang="en-US" sz="2800" dirty="0">
                  <a:latin typeface="+mj-lt"/>
                </a:rPr>
                <a:t>-2T</a:t>
              </a:r>
              <a:r>
                <a:rPr lang="en-US" altLang="en-US" sz="2800" baseline="-25000" dirty="0">
                  <a:latin typeface="+mj-lt"/>
                </a:rPr>
                <a:t>min</a:t>
              </a:r>
            </a:p>
          </p:txBody>
        </p:sp>
      </p:grpSp>
      <p:sp>
        <p:nvSpPr>
          <p:cNvPr id="89" name="Text Box 39"/>
          <p:cNvSpPr txBox="1">
            <a:spLocks noChangeArrowheads="1"/>
          </p:cNvSpPr>
          <p:nvPr/>
        </p:nvSpPr>
        <p:spPr bwMode="auto">
          <a:xfrm>
            <a:off x="2814637" y="5379392"/>
            <a:ext cx="2739853" cy="461665"/>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dirty="0">
                <a:latin typeface="+mj-lt"/>
              </a:rPr>
              <a:t>Accuracy of Result =</a:t>
            </a:r>
          </a:p>
        </p:txBody>
      </p:sp>
      <p:sp>
        <p:nvSpPr>
          <p:cNvPr id="90" name="Rectangle 41"/>
          <p:cNvSpPr>
            <a:spLocks noChangeArrowheads="1"/>
          </p:cNvSpPr>
          <p:nvPr/>
        </p:nvSpPr>
        <p:spPr bwMode="auto">
          <a:xfrm>
            <a:off x="2285999" y="5259392"/>
            <a:ext cx="5862637" cy="723896"/>
          </a:xfrm>
          <a:prstGeom prst="rect">
            <a:avLst/>
          </a:prstGeom>
          <a:noFill/>
          <a:ln w="25400">
            <a:solidFill>
              <a:srgbClr val="1D3064"/>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ctr" eaLnBrk="1" hangingPunct="1"/>
            <a:endParaRPr lang="en-US" altLang="en-US">
              <a:latin typeface="+mj-lt"/>
            </a:endParaRPr>
          </a:p>
        </p:txBody>
      </p:sp>
      <mc:AlternateContent xmlns:mc="http://schemas.openxmlformats.org/markup-compatibility/2006" xmlns:a14="http://schemas.microsoft.com/office/drawing/2010/main">
        <mc:Choice Requires="a14">
          <p:sp>
            <p:nvSpPr>
              <p:cNvPr id="91" name="TextBox 90"/>
              <p:cNvSpPr txBox="1"/>
              <p:nvPr/>
            </p:nvSpPr>
            <p:spPr>
              <a:xfrm>
                <a:off x="5593962" y="5365750"/>
                <a:ext cx="2178239" cy="529953"/>
              </a:xfrm>
              <a:prstGeom prst="rect">
                <a:avLst/>
              </a:prstGeom>
              <a:noFill/>
              <a:ln>
                <a:noFill/>
              </a:ln>
            </p:spPr>
            <p:txBody>
              <a:bodyPr wrap="square" lIns="0" tIns="0" rIns="0" bIns="0" rtlCol="0">
                <a:spAutoFit/>
              </a:bodyPr>
              <a:lstStyle/>
              <a:p>
                <a14:m>
                  <m:oMath xmlns:m="http://schemas.openxmlformats.org/officeDocument/2006/math">
                    <m:r>
                      <a:rPr lang="en-US" sz="2400" i="1" smtClean="0">
                        <a:latin typeface="Cambria Math" panose="02040503050406030204" pitchFamily="18" charset="0"/>
                      </a:rPr>
                      <m:t>±</m:t>
                    </m:r>
                    <m:f>
                      <m:fPr>
                        <m:ctrlPr>
                          <a:rPr lang="pt-BR" sz="2400" i="1" smtClean="0">
                            <a:latin typeface="Cambria Math" panose="02040503050406030204" pitchFamily="18" charset="0"/>
                          </a:rPr>
                        </m:ctrlPr>
                      </m:fPr>
                      <m:num>
                        <m:sSub>
                          <m:sSubPr>
                            <m:ctrlPr>
                              <a:rPr lang="pt-BR" sz="2400" i="1">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1 </m:t>
                            </m:r>
                          </m:sub>
                        </m:sSub>
                        <m:r>
                          <a:rPr lang="en-US" sz="2400" b="0" i="1" smtClean="0">
                            <a:latin typeface="Cambria Math" panose="02040503050406030204" pitchFamily="18" charset="0"/>
                          </a:rPr>
                          <m:t>−</m:t>
                        </m:r>
                        <m:sSub>
                          <m:sSubPr>
                            <m:ctrlPr>
                              <a:rPr lang="pt-BR" sz="2400" i="1" smtClean="0">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0</m:t>
                            </m:r>
                          </m:sub>
                        </m:sSub>
                      </m:num>
                      <m:den>
                        <m:r>
                          <a:rPr lang="en-US" sz="2400" b="0" i="1" smtClean="0">
                            <a:latin typeface="Cambria Math" panose="02040503050406030204" pitchFamily="18" charset="0"/>
                          </a:rPr>
                          <m:t>2</m:t>
                        </m:r>
                      </m:den>
                    </m:f>
                    <m:r>
                      <a:rPr lang="en-US" sz="2400" b="0" i="0" smtClean="0">
                        <a:latin typeface="Cambria Math" panose="02040503050406030204" pitchFamily="18" charset="0"/>
                      </a:rPr>
                      <m:t> −</m:t>
                    </m:r>
                  </m:oMath>
                </a14:m>
                <a:r>
                  <a:rPr lang="en-US" sz="2400" dirty="0">
                    <a:latin typeface="+mj-lt"/>
                  </a:rPr>
                  <a:t> </a:t>
                </a:r>
                <a14:m>
                  <m:oMath xmlns:m="http://schemas.openxmlformats.org/officeDocument/2006/math">
                    <m:sSub>
                      <m:sSubPr>
                        <m:ctrlPr>
                          <a:rPr lang="pt-BR" sz="2400" i="1">
                            <a:latin typeface="Cambria Math" panose="02040503050406030204" pitchFamily="18" charset="0"/>
                          </a:rPr>
                        </m:ctrlPr>
                      </m:sSubPr>
                      <m:e>
                        <m:r>
                          <a:rPr lang="en-US" sz="2400" i="1">
                            <a:latin typeface="Cambria Math" panose="02040503050406030204" pitchFamily="18" charset="0"/>
                          </a:rPr>
                          <m:t>𝑇</m:t>
                        </m:r>
                      </m:e>
                      <m:sub>
                        <m:r>
                          <a:rPr lang="en-US" sz="2400" b="0" i="1" smtClean="0">
                            <a:latin typeface="Cambria Math" panose="02040503050406030204" pitchFamily="18" charset="0"/>
                          </a:rPr>
                          <m:t>𝑚𝑖𝑛</m:t>
                        </m:r>
                        <m:r>
                          <a:rPr lang="en-US" sz="2400" i="1">
                            <a:latin typeface="Cambria Math" panose="02040503050406030204" pitchFamily="18" charset="0"/>
                          </a:rPr>
                          <m:t> </m:t>
                        </m:r>
                      </m:sub>
                    </m:sSub>
                  </m:oMath>
                </a14:m>
                <a:endParaRPr lang="en-US" sz="2400" dirty="0">
                  <a:latin typeface="+mj-lt"/>
                </a:endParaRPr>
              </a:p>
            </p:txBody>
          </p:sp>
        </mc:Choice>
        <mc:Fallback xmlns="">
          <p:sp>
            <p:nvSpPr>
              <p:cNvPr id="91" name="TextBox 90"/>
              <p:cNvSpPr txBox="1">
                <a:spLocks noRot="1" noChangeAspect="1" noMove="1" noResize="1" noEditPoints="1" noAdjustHandles="1" noChangeArrowheads="1" noChangeShapeType="1" noTextEdit="1"/>
              </p:cNvSpPr>
              <p:nvPr/>
            </p:nvSpPr>
            <p:spPr>
              <a:xfrm>
                <a:off x="5593962" y="5365750"/>
                <a:ext cx="2178239" cy="529953"/>
              </a:xfrm>
              <a:prstGeom prst="rect">
                <a:avLst/>
              </a:prstGeom>
              <a:blipFill rotWithShape="0">
                <a:blip r:embed="rId2"/>
                <a:stretch>
                  <a:fillRect/>
                </a:stretch>
              </a:blipFill>
              <a:ln>
                <a:noFill/>
              </a:ln>
            </p:spPr>
            <p:txBody>
              <a:bodyPr/>
              <a:lstStyle/>
              <a:p>
                <a:r>
                  <a:rPr lang="en-IN">
                    <a:noFill/>
                  </a:rPr>
                  <a:t> </a:t>
                </a:r>
              </a:p>
            </p:txBody>
          </p:sp>
        </mc:Fallback>
      </mc:AlternateContent>
      <p:grpSp>
        <p:nvGrpSpPr>
          <p:cNvPr id="44" name="Group 43"/>
          <p:cNvGrpSpPr/>
          <p:nvPr/>
        </p:nvGrpSpPr>
        <p:grpSpPr>
          <a:xfrm>
            <a:off x="1213549" y="1362702"/>
            <a:ext cx="686393" cy="1580526"/>
            <a:chOff x="503069" y="1211451"/>
            <a:chExt cx="686393" cy="1580526"/>
          </a:xfrm>
        </p:grpSpPr>
        <p:pic>
          <p:nvPicPr>
            <p:cNvPr id="45" name="Picture 44" descr="Mac-Book-Black-On-48x48.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862" y="2182377"/>
              <a:ext cx="609600" cy="609600"/>
            </a:xfrm>
            <a:prstGeom prst="rect">
              <a:avLst/>
            </a:prstGeom>
          </p:spPr>
        </p:pic>
        <p:pic>
          <p:nvPicPr>
            <p:cNvPr id="46" name="Picture 45" descr="server-48x48.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3069" y="1211451"/>
              <a:ext cx="609600" cy="609600"/>
            </a:xfrm>
            <a:prstGeom prst="rect">
              <a:avLst/>
            </a:prstGeom>
          </p:spPr>
        </p:pic>
      </p:grpSp>
    </p:spTree>
    <p:extLst>
      <p:ext uri="{BB962C8B-B14F-4D97-AF65-F5344CB8AC3E}">
        <p14:creationId xmlns:p14="http://schemas.microsoft.com/office/powerpoint/2010/main" val="3515656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74"/>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7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1"/>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75"/>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82"/>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8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83"/>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8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84"/>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8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85"/>
                                        </p:tgtEl>
                                        <p:attrNameLst>
                                          <p:attrName>style.visibility</p:attrName>
                                        </p:attrNameLst>
                                      </p:cBhvr>
                                      <p:to>
                                        <p:strVal val="hidden"/>
                                      </p:to>
                                    </p:set>
                                  </p:childTnLst>
                                </p:cTn>
                              </p:par>
                              <p:par>
                                <p:cTn id="49" presetID="1"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86"/>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90"/>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91"/>
                                        </p:tgtEl>
                                        <p:attrNameLst>
                                          <p:attrName>style.visibility</p:attrName>
                                        </p:attrNameLst>
                                      </p:cBhvr>
                                      <p:to>
                                        <p:strVal val="visible"/>
                                      </p:to>
                                    </p:set>
                                  </p:childTnLst>
                                </p:cTn>
                              </p:par>
                            </p:childTnLst>
                          </p:cTn>
                        </p:par>
                        <p:par>
                          <p:cTn id="60" fill="hold">
                            <p:stCondLst>
                              <p:cond delay="0"/>
                            </p:stCondLst>
                            <p:childTnLst>
                              <p:par>
                                <p:cTn id="61" presetID="1" presetClass="entr" presetSubtype="0" fill="hold" grpId="0" nodeType="afterEffect">
                                  <p:stCondLst>
                                    <p:cond delay="0"/>
                                  </p:stCondLst>
                                  <p:childTnLst>
                                    <p:set>
                                      <p:cBhvr>
                                        <p:cTn id="62"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89" grpId="0"/>
      <p:bldP spid="90" grpId="0" animBg="1"/>
      <p:bldP spid="9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Cristian’s Algorithm</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altLang="en-US" dirty="0">
                <a:solidFill>
                  <a:srgbClr val="1D6199"/>
                </a:solidFill>
              </a:rPr>
              <a:t>Assumption about packet transmission delays:</a:t>
            </a:r>
          </a:p>
          <a:p>
            <a:pPr marL="714375" lvl="2" indent="-357188">
              <a:defRPr/>
            </a:pPr>
            <a:r>
              <a:rPr lang="en-US" altLang="en-US" sz="2400" dirty="0"/>
              <a:t>Cristian’s algorithm assumes that the round-trip times for messages exchanged over the network are reasonably short</a:t>
            </a:r>
          </a:p>
          <a:p>
            <a:pPr marL="714375" lvl="2" indent="-357188">
              <a:defRPr/>
            </a:pPr>
            <a:r>
              <a:rPr lang="en-US" altLang="en-US" sz="2400" dirty="0"/>
              <a:t>The algorithm assumes that the delay for the request and response are equal</a:t>
            </a:r>
          </a:p>
          <a:p>
            <a:pPr marL="714375" lvl="2" indent="-357188">
              <a:defRPr/>
            </a:pPr>
            <a:r>
              <a:rPr lang="en-US" altLang="en-US" sz="2400" dirty="0"/>
              <a:t>Cristian’s algorithm is intended for synchronizing computers within intranets </a:t>
            </a:r>
          </a:p>
          <a:p>
            <a:r>
              <a:rPr lang="en-US" altLang="en-US" dirty="0">
                <a:solidFill>
                  <a:srgbClr val="1D6199"/>
                </a:solidFill>
              </a:rPr>
              <a:t>A probabilistic approach for calculating delays:</a:t>
            </a:r>
          </a:p>
          <a:p>
            <a:pPr marL="714375" lvl="2" indent="-357188">
              <a:defRPr/>
            </a:pPr>
            <a:r>
              <a:rPr lang="en-US" altLang="en-US" sz="2400" dirty="0"/>
              <a:t>There is no tight bound on the maximum drift between clocks of computers</a:t>
            </a:r>
          </a:p>
          <a:p>
            <a:r>
              <a:rPr lang="en-US" altLang="en-US" dirty="0">
                <a:solidFill>
                  <a:srgbClr val="1D6199"/>
                </a:solidFill>
              </a:rPr>
              <a:t>Time server failure or faulty server clock:</a:t>
            </a:r>
          </a:p>
          <a:p>
            <a:pPr marL="714375" lvl="2" indent="-357188">
              <a:defRPr/>
            </a:pPr>
            <a:r>
              <a:rPr lang="en-US" altLang="en-US" sz="2400" dirty="0"/>
              <a:t>Faulty clock on the time server leads to inaccurate clocks in the entire DS</a:t>
            </a:r>
          </a:p>
          <a:p>
            <a:pPr marL="714375" lvl="2" indent="-357188">
              <a:defRPr/>
            </a:pPr>
            <a:r>
              <a:rPr lang="en-US" altLang="en-US" sz="2400" dirty="0"/>
              <a:t>Failure of the time server will render synchronization impossible</a:t>
            </a:r>
          </a:p>
          <a:p>
            <a:endParaRPr lang="en-US" altLang="en-US" sz="2400" dirty="0"/>
          </a:p>
        </p:txBody>
      </p:sp>
    </p:spTree>
    <p:extLst>
      <p:ext uri="{BB962C8B-B14F-4D97-AF65-F5344CB8AC3E}">
        <p14:creationId xmlns:p14="http://schemas.microsoft.com/office/powerpoint/2010/main" val="2283104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Berkeley Algorithm</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50256" y="668788"/>
            <a:ext cx="11891487" cy="5626504"/>
          </a:xfrm>
        </p:spPr>
        <p:txBody>
          <a:bodyPr/>
          <a:lstStyle/>
          <a:p>
            <a:r>
              <a:rPr lang="en-US" altLang="en-US" dirty="0"/>
              <a:t>A single time server can fail, blocking timekeeping </a:t>
            </a:r>
          </a:p>
          <a:p>
            <a:r>
              <a:rPr lang="en-US" altLang="en-US" dirty="0"/>
              <a:t>The Berkeley algorithm is a </a:t>
            </a:r>
            <a:r>
              <a:rPr lang="en-US" altLang="en-US" dirty="0">
                <a:solidFill>
                  <a:srgbClr val="1D6199"/>
                </a:solidFill>
              </a:rPr>
              <a:t>distributed algorithm for timekeeping</a:t>
            </a:r>
          </a:p>
          <a:p>
            <a:r>
              <a:rPr lang="en-US" altLang="en-US" dirty="0"/>
              <a:t>Assumes all machines have equally-accurate local clocks</a:t>
            </a:r>
          </a:p>
          <a:p>
            <a:r>
              <a:rPr lang="en-US" altLang="en-US" dirty="0"/>
              <a:t>Obtains average from participating computers and synchronizes clocks to that average</a:t>
            </a:r>
          </a:p>
          <a:p>
            <a:r>
              <a:rPr lang="en-US" altLang="en-US" dirty="0"/>
              <a:t>Time server </a:t>
            </a:r>
            <a:r>
              <a:rPr lang="en-US" altLang="en-US" dirty="0">
                <a:solidFill>
                  <a:srgbClr val="1D6199"/>
                </a:solidFill>
              </a:rPr>
              <a:t>periodically sends a message </a:t>
            </a:r>
            <a:r>
              <a:rPr lang="en-US" altLang="en-US" dirty="0"/>
              <a:t>(“time=?”) to all computers in the group. </a:t>
            </a:r>
          </a:p>
          <a:p>
            <a:r>
              <a:rPr lang="en-US" altLang="en-US" dirty="0"/>
              <a:t>Each computer in the group sends its clock value to the server.</a:t>
            </a:r>
          </a:p>
          <a:p>
            <a:r>
              <a:rPr lang="en-US" altLang="en-US" dirty="0"/>
              <a:t>Server has prior knowledge of propagation time from node to  server.</a:t>
            </a:r>
          </a:p>
          <a:p>
            <a:r>
              <a:rPr lang="en-US" altLang="en-US" dirty="0"/>
              <a:t>Time server readjusts the clock values of the reply messages using propagation time &amp; then takes </a:t>
            </a:r>
            <a:r>
              <a:rPr lang="en-US" altLang="en-US" dirty="0">
                <a:solidFill>
                  <a:srgbClr val="1D6199"/>
                </a:solidFill>
              </a:rPr>
              <a:t>fault tolerant average</a:t>
            </a:r>
            <a:r>
              <a:rPr lang="en-US" altLang="en-US" dirty="0"/>
              <a:t>.</a:t>
            </a:r>
          </a:p>
          <a:p>
            <a:r>
              <a:rPr lang="en-US" altLang="en-US" dirty="0"/>
              <a:t>The time server readjusts its own time &amp; </a:t>
            </a:r>
            <a:r>
              <a:rPr lang="en-US" altLang="en-US" dirty="0">
                <a:solidFill>
                  <a:srgbClr val="1D6199"/>
                </a:solidFill>
              </a:rPr>
              <a:t>sends the adjustment (positive or negative) to each node.</a:t>
            </a:r>
          </a:p>
        </p:txBody>
      </p:sp>
    </p:spTree>
    <p:extLst>
      <p:ext uri="{BB962C8B-B14F-4D97-AF65-F5344CB8AC3E}">
        <p14:creationId xmlns:p14="http://schemas.microsoft.com/office/powerpoint/2010/main" val="35054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Berkeley Algorithm</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marL="0" indent="0">
              <a:buNone/>
            </a:pPr>
            <a:r>
              <a:rPr lang="en-US" altLang="en-US" b="1" dirty="0">
                <a:solidFill>
                  <a:srgbClr val="1D6199"/>
                </a:solidFill>
              </a:rPr>
              <a:t>Approach:</a:t>
            </a:r>
          </a:p>
          <a:p>
            <a:r>
              <a:rPr lang="en-US" altLang="en-US" dirty="0"/>
              <a:t>A time server periodically (approx. once in 4 minutes) sends its time to all the computers and polls them for the time difference</a:t>
            </a:r>
          </a:p>
          <a:p>
            <a:r>
              <a:rPr lang="en-US" altLang="en-US" dirty="0"/>
              <a:t>The computers compute the time difference and then reply</a:t>
            </a:r>
          </a:p>
          <a:p>
            <a:r>
              <a:rPr lang="en-US" altLang="en-US" dirty="0"/>
              <a:t>The server computes an average time difference for each computer</a:t>
            </a:r>
          </a:p>
          <a:p>
            <a:r>
              <a:rPr lang="en-US" altLang="en-US" dirty="0"/>
              <a:t>The server commands all the computers to update their time (by gradual time synchronization)</a:t>
            </a:r>
          </a:p>
        </p:txBody>
      </p:sp>
      <p:sp>
        <p:nvSpPr>
          <p:cNvPr id="4" name="Content Placeholder 2">
            <a:extLst>
              <a:ext uri="{FF2B5EF4-FFF2-40B4-BE49-F238E27FC236}">
                <a16:creationId xmlns:a16="http://schemas.microsoft.com/office/drawing/2014/main" id="{2625F6D8-CFEE-4804-80F2-F2851B4A24B7}"/>
              </a:ext>
            </a:extLst>
          </p:cNvPr>
          <p:cNvSpPr txBox="1">
            <a:spLocks/>
          </p:cNvSpPr>
          <p:nvPr/>
        </p:nvSpPr>
        <p:spPr>
          <a:xfrm>
            <a:off x="629322" y="3982445"/>
            <a:ext cx="6702264" cy="2054145"/>
          </a:xfrm>
          <a:prstGeom prst="rect">
            <a:avLst/>
          </a:prstGeom>
          <a:ln>
            <a:solidFill>
              <a:srgbClr val="1D3064"/>
            </a:solidFill>
          </a:ln>
        </p:spPr>
        <p:txBody>
          <a:bodyPr vert="horz" lIns="91440" tIns="45720" rIns="91440" bIns="45720" rtlCol="0">
            <a:norm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42925" lvl="1" indent="-357188">
              <a:buFontTx/>
              <a:buAutoNum type="arabicPeriod"/>
              <a:defRPr/>
            </a:pPr>
            <a:r>
              <a:rPr lang="en-US" sz="2200" dirty="0"/>
              <a:t>At 3:00, the time daemon tells the other machines its time and asks for theirs.</a:t>
            </a:r>
          </a:p>
          <a:p>
            <a:pPr marL="542925" lvl="1" indent="-357188">
              <a:buFontTx/>
              <a:buAutoNum type="arabicPeriod"/>
              <a:defRPr/>
            </a:pPr>
            <a:r>
              <a:rPr lang="en-US" sz="2200" dirty="0"/>
              <a:t>They respond with how far ahead or behind the time daemon they are.</a:t>
            </a:r>
          </a:p>
          <a:p>
            <a:pPr marL="542925" lvl="1" indent="-357188">
              <a:buFontTx/>
              <a:buAutoNum type="arabicPeriod"/>
              <a:defRPr/>
            </a:pPr>
            <a:r>
              <a:rPr lang="en-US" sz="2200" dirty="0"/>
              <a:t>The time daemon computes the average and tells each machine how to adjust its clock</a:t>
            </a:r>
            <a:endParaRPr lang="en-US" sz="2800" dirty="0"/>
          </a:p>
        </p:txBody>
      </p:sp>
      <p:cxnSp>
        <p:nvCxnSpPr>
          <p:cNvPr id="46" name="Straight Connector 45">
            <a:extLst>
              <a:ext uri="{FF2B5EF4-FFF2-40B4-BE49-F238E27FC236}">
                <a16:creationId xmlns:a16="http://schemas.microsoft.com/office/drawing/2014/main" id="{7E112CDE-CB64-4859-9F92-17F82AE2A201}"/>
              </a:ext>
            </a:extLst>
          </p:cNvPr>
          <p:cNvCxnSpPr/>
          <p:nvPr/>
        </p:nvCxnSpPr>
        <p:spPr>
          <a:xfrm>
            <a:off x="9641397" y="4634998"/>
            <a:ext cx="0" cy="2286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3A40528-B284-4732-AF8F-627EE790DF5B}"/>
              </a:ext>
            </a:extLst>
          </p:cNvPr>
          <p:cNvCxnSpPr/>
          <p:nvPr/>
        </p:nvCxnSpPr>
        <p:spPr>
          <a:xfrm>
            <a:off x="8984172" y="4863598"/>
            <a:ext cx="0" cy="2286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A487EFB-69CD-459C-A490-88C91E1E2F35}"/>
              </a:ext>
            </a:extLst>
          </p:cNvPr>
          <p:cNvCxnSpPr/>
          <p:nvPr/>
        </p:nvCxnSpPr>
        <p:spPr>
          <a:xfrm>
            <a:off x="10279572" y="4863598"/>
            <a:ext cx="0" cy="2286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9" name="Group 20">
            <a:extLst>
              <a:ext uri="{FF2B5EF4-FFF2-40B4-BE49-F238E27FC236}">
                <a16:creationId xmlns:a16="http://schemas.microsoft.com/office/drawing/2014/main" id="{FAAFBCD1-324F-4577-A5D4-D1243CDC3031}"/>
              </a:ext>
            </a:extLst>
          </p:cNvPr>
          <p:cNvGrpSpPr>
            <a:grpSpLocks/>
          </p:cNvGrpSpPr>
          <p:nvPr/>
        </p:nvGrpSpPr>
        <p:grpSpPr bwMode="auto">
          <a:xfrm>
            <a:off x="9288973" y="4025398"/>
            <a:ext cx="690563" cy="762000"/>
            <a:chOff x="6243638" y="4572000"/>
            <a:chExt cx="690562" cy="762000"/>
          </a:xfrm>
        </p:grpSpPr>
        <p:sp>
          <p:nvSpPr>
            <p:cNvPr id="50" name="Rectangle 49">
              <a:extLst>
                <a:ext uri="{FF2B5EF4-FFF2-40B4-BE49-F238E27FC236}">
                  <a16:creationId xmlns:a16="http://schemas.microsoft.com/office/drawing/2014/main" id="{1C5459DA-14E4-4098-AA33-F6657356F80A}"/>
                </a:ext>
              </a:extLst>
            </p:cNvPr>
            <p:cNvSpPr/>
            <p:nvPr/>
          </p:nvSpPr>
          <p:spPr>
            <a:xfrm>
              <a:off x="6248400" y="4572000"/>
              <a:ext cx="685800" cy="685800"/>
            </a:xfrm>
            <a:prstGeom prst="rect">
              <a:avLst/>
            </a:prstGeom>
            <a:solidFill>
              <a:srgbClr val="FF000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a:latin typeface="+mj-lt"/>
              </a:endParaRPr>
            </a:p>
          </p:txBody>
        </p:sp>
        <p:grpSp>
          <p:nvGrpSpPr>
            <p:cNvPr id="51" name="Group 18">
              <a:extLst>
                <a:ext uri="{FF2B5EF4-FFF2-40B4-BE49-F238E27FC236}">
                  <a16:creationId xmlns:a16="http://schemas.microsoft.com/office/drawing/2014/main" id="{DD0F18E2-1AB4-4068-BA8F-DC0147747BFD}"/>
                </a:ext>
              </a:extLst>
            </p:cNvPr>
            <p:cNvGrpSpPr>
              <a:grpSpLocks/>
            </p:cNvGrpSpPr>
            <p:nvPr/>
          </p:nvGrpSpPr>
          <p:grpSpPr bwMode="auto">
            <a:xfrm>
              <a:off x="6243638" y="4629150"/>
              <a:ext cx="690562" cy="704850"/>
              <a:chOff x="6243638" y="4629150"/>
              <a:chExt cx="1681162" cy="1681162"/>
            </a:xfrm>
          </p:grpSpPr>
          <p:pic>
            <p:nvPicPr>
              <p:cNvPr id="52" name="Picture 3" descr="C:\Documents and Settings\dd\Local Settings\Temporary Internet Files\Content.IE5\QNWT6PGV\MC900431586[1].png">
                <a:extLst>
                  <a:ext uri="{FF2B5EF4-FFF2-40B4-BE49-F238E27FC236}">
                    <a16:creationId xmlns:a16="http://schemas.microsoft.com/office/drawing/2014/main" id="{E074501B-5489-4202-8EBC-2820FF88E4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3638" y="4629150"/>
                <a:ext cx="1681162" cy="168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 name="Oval 52">
                <a:extLst>
                  <a:ext uri="{FF2B5EF4-FFF2-40B4-BE49-F238E27FC236}">
                    <a16:creationId xmlns:a16="http://schemas.microsoft.com/office/drawing/2014/main" id="{D89DE283-4771-490C-AD04-C274DB5D4D86}"/>
                  </a:ext>
                </a:extLst>
              </p:cNvPr>
              <p:cNvSpPr/>
              <p:nvPr/>
            </p:nvSpPr>
            <p:spPr>
              <a:xfrm>
                <a:off x="6553199" y="4876801"/>
                <a:ext cx="1066801" cy="1066799"/>
              </a:xfrm>
              <a:prstGeom prst="ellipse">
                <a:avLst/>
              </a:prstGeom>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anchor="ctr"/>
              <a:lstStyle/>
              <a:p>
                <a:pPr algn="ctr" eaLnBrk="1" hangingPunct="1">
                  <a:defRPr/>
                </a:pPr>
                <a:endParaRPr lang="en-US">
                  <a:latin typeface="+mj-lt"/>
                </a:endParaRPr>
              </a:p>
            </p:txBody>
          </p:sp>
          <p:cxnSp>
            <p:nvCxnSpPr>
              <p:cNvPr id="54" name="Straight Connector 53">
                <a:extLst>
                  <a:ext uri="{FF2B5EF4-FFF2-40B4-BE49-F238E27FC236}">
                    <a16:creationId xmlns:a16="http://schemas.microsoft.com/office/drawing/2014/main" id="{76EF1C08-5D43-4F2E-86F6-9A9CAF61AE4C}"/>
                  </a:ext>
                </a:extLst>
              </p:cNvPr>
              <p:cNvCxnSpPr/>
              <p:nvPr/>
            </p:nvCxnSpPr>
            <p:spPr>
              <a:xfrm>
                <a:off x="7086151" y="4875267"/>
                <a:ext cx="0" cy="533881"/>
              </a:xfrm>
              <a:prstGeom prst="line">
                <a:avLst/>
              </a:prstGeom>
              <a:ln w="19050">
                <a:solidFill>
                  <a:schemeClr val="tx1"/>
                </a:solidFill>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AB7AD729-C443-4923-9186-07C777DB61E0}"/>
                  </a:ext>
                </a:extLst>
              </p:cNvPr>
              <p:cNvCxnSpPr/>
              <p:nvPr/>
            </p:nvCxnSpPr>
            <p:spPr>
              <a:xfrm flipH="1">
                <a:off x="7086151" y="5409149"/>
                <a:ext cx="382610" cy="0"/>
              </a:xfrm>
              <a:prstGeom prst="line">
                <a:avLst/>
              </a:prstGeom>
              <a:ln w="19050">
                <a:solidFill>
                  <a:schemeClr val="tx1"/>
                </a:solidFill>
                <a:headEnd type="arrow" w="med" len="med"/>
                <a:tailEnd type="none" w="med" len="med"/>
              </a:ln>
            </p:spPr>
            <p:style>
              <a:lnRef idx="1">
                <a:schemeClr val="dk1"/>
              </a:lnRef>
              <a:fillRef idx="0">
                <a:schemeClr val="dk1"/>
              </a:fillRef>
              <a:effectRef idx="0">
                <a:schemeClr val="dk1"/>
              </a:effectRef>
              <a:fontRef idx="minor">
                <a:schemeClr val="tx1"/>
              </a:fontRef>
            </p:style>
          </p:cxnSp>
        </p:grpSp>
      </p:grpSp>
      <p:grpSp>
        <p:nvGrpSpPr>
          <p:cNvPr id="56" name="Group 23">
            <a:extLst>
              <a:ext uri="{FF2B5EF4-FFF2-40B4-BE49-F238E27FC236}">
                <a16:creationId xmlns:a16="http://schemas.microsoft.com/office/drawing/2014/main" id="{A3E42834-1C66-4952-B44A-A5E78D7E66B8}"/>
              </a:ext>
            </a:extLst>
          </p:cNvPr>
          <p:cNvGrpSpPr>
            <a:grpSpLocks/>
          </p:cNvGrpSpPr>
          <p:nvPr/>
        </p:nvGrpSpPr>
        <p:grpSpPr bwMode="auto">
          <a:xfrm>
            <a:off x="8626985" y="5015998"/>
            <a:ext cx="690562" cy="762000"/>
            <a:chOff x="6243641" y="4572000"/>
            <a:chExt cx="690563" cy="762000"/>
          </a:xfrm>
        </p:grpSpPr>
        <p:sp>
          <p:nvSpPr>
            <p:cNvPr id="57" name="Rectangle 56">
              <a:extLst>
                <a:ext uri="{FF2B5EF4-FFF2-40B4-BE49-F238E27FC236}">
                  <a16:creationId xmlns:a16="http://schemas.microsoft.com/office/drawing/2014/main" id="{B60B7177-9B92-432A-9B29-B5F1D78B37B1}"/>
                </a:ext>
              </a:extLst>
            </p:cNvPr>
            <p:cNvSpPr/>
            <p:nvPr/>
          </p:nvSpPr>
          <p:spPr>
            <a:xfrm>
              <a:off x="6248400" y="4572000"/>
              <a:ext cx="685800" cy="685800"/>
            </a:xfrm>
            <a:prstGeom prst="rect">
              <a:avLst/>
            </a:prstGeom>
            <a:solidFill>
              <a:schemeClr val="tx1">
                <a:lumMod val="75000"/>
                <a:lumOff val="25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a:latin typeface="+mj-lt"/>
              </a:endParaRPr>
            </a:p>
          </p:txBody>
        </p:sp>
        <p:grpSp>
          <p:nvGrpSpPr>
            <p:cNvPr id="58" name="Group 18">
              <a:extLst>
                <a:ext uri="{FF2B5EF4-FFF2-40B4-BE49-F238E27FC236}">
                  <a16:creationId xmlns:a16="http://schemas.microsoft.com/office/drawing/2014/main" id="{49C65151-77D4-42C8-9356-EDD01DEB499A}"/>
                </a:ext>
              </a:extLst>
            </p:cNvPr>
            <p:cNvGrpSpPr>
              <a:grpSpLocks/>
            </p:cNvGrpSpPr>
            <p:nvPr/>
          </p:nvGrpSpPr>
          <p:grpSpPr bwMode="auto">
            <a:xfrm>
              <a:off x="6243641" y="4629150"/>
              <a:ext cx="690563" cy="704850"/>
              <a:chOff x="6243638" y="4629150"/>
              <a:chExt cx="1681162" cy="1681162"/>
            </a:xfrm>
          </p:grpSpPr>
          <p:pic>
            <p:nvPicPr>
              <p:cNvPr id="59" name="Picture 3" descr="C:\Documents and Settings\dd\Local Settings\Temporary Internet Files\Content.IE5\QNWT6PGV\MC900431586[1].png">
                <a:extLst>
                  <a:ext uri="{FF2B5EF4-FFF2-40B4-BE49-F238E27FC236}">
                    <a16:creationId xmlns:a16="http://schemas.microsoft.com/office/drawing/2014/main" id="{B1B3902D-CBDF-41E9-B2A9-05C99BB95E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3638" y="4629150"/>
                <a:ext cx="1681162" cy="168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Oval 59">
                <a:extLst>
                  <a:ext uri="{FF2B5EF4-FFF2-40B4-BE49-F238E27FC236}">
                    <a16:creationId xmlns:a16="http://schemas.microsoft.com/office/drawing/2014/main" id="{E9CE1194-3954-446F-A581-79B72CF942A4}"/>
                  </a:ext>
                </a:extLst>
              </p:cNvPr>
              <p:cNvSpPr/>
              <p:nvPr/>
            </p:nvSpPr>
            <p:spPr>
              <a:xfrm>
                <a:off x="6553199" y="4876801"/>
                <a:ext cx="1066801" cy="1066799"/>
              </a:xfrm>
              <a:prstGeom prst="ellipse">
                <a:avLst/>
              </a:prstGeom>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anchor="ctr"/>
              <a:lstStyle/>
              <a:p>
                <a:pPr algn="ctr" eaLnBrk="1" hangingPunct="1">
                  <a:defRPr/>
                </a:pPr>
                <a:endParaRPr lang="en-US">
                  <a:latin typeface="+mj-lt"/>
                </a:endParaRPr>
              </a:p>
            </p:txBody>
          </p:sp>
          <p:cxnSp>
            <p:nvCxnSpPr>
              <p:cNvPr id="61" name="Straight Connector 60">
                <a:extLst>
                  <a:ext uri="{FF2B5EF4-FFF2-40B4-BE49-F238E27FC236}">
                    <a16:creationId xmlns:a16="http://schemas.microsoft.com/office/drawing/2014/main" id="{EDC5E82A-4B3B-473A-9D0B-E68388D542A9}"/>
                  </a:ext>
                </a:extLst>
              </p:cNvPr>
              <p:cNvCxnSpPr/>
              <p:nvPr/>
            </p:nvCxnSpPr>
            <p:spPr>
              <a:xfrm>
                <a:off x="6769243" y="4829830"/>
                <a:ext cx="343961" cy="552815"/>
              </a:xfrm>
              <a:prstGeom prst="line">
                <a:avLst/>
              </a:prstGeom>
              <a:ln w="19050">
                <a:solidFill>
                  <a:schemeClr val="tx1"/>
                </a:solidFill>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a16="http://schemas.microsoft.com/office/drawing/2014/main" id="{3CACF32E-1CAF-48AD-83D4-4C8AAAD3F011}"/>
                  </a:ext>
                </a:extLst>
              </p:cNvPr>
              <p:cNvCxnSpPr/>
              <p:nvPr/>
            </p:nvCxnSpPr>
            <p:spPr>
              <a:xfrm flipH="1">
                <a:off x="7113204" y="5193325"/>
                <a:ext cx="371015" cy="181747"/>
              </a:xfrm>
              <a:prstGeom prst="line">
                <a:avLst/>
              </a:prstGeom>
              <a:ln w="19050">
                <a:solidFill>
                  <a:schemeClr val="tx1"/>
                </a:solidFill>
                <a:headEnd type="arrow" w="med" len="med"/>
                <a:tailEnd type="none" w="med" len="med"/>
              </a:ln>
            </p:spPr>
            <p:style>
              <a:lnRef idx="1">
                <a:schemeClr val="dk1"/>
              </a:lnRef>
              <a:fillRef idx="0">
                <a:schemeClr val="dk1"/>
              </a:fillRef>
              <a:effectRef idx="0">
                <a:schemeClr val="dk1"/>
              </a:effectRef>
              <a:fontRef idx="minor">
                <a:schemeClr val="tx1"/>
              </a:fontRef>
            </p:style>
          </p:cxnSp>
        </p:grpSp>
      </p:grpSp>
      <p:grpSp>
        <p:nvGrpSpPr>
          <p:cNvPr id="63" name="Group 30">
            <a:extLst>
              <a:ext uri="{FF2B5EF4-FFF2-40B4-BE49-F238E27FC236}">
                <a16:creationId xmlns:a16="http://schemas.microsoft.com/office/drawing/2014/main" id="{2455D030-0046-4829-9343-2F7AC9B7BB16}"/>
              </a:ext>
            </a:extLst>
          </p:cNvPr>
          <p:cNvGrpSpPr>
            <a:grpSpLocks/>
          </p:cNvGrpSpPr>
          <p:nvPr/>
        </p:nvGrpSpPr>
        <p:grpSpPr bwMode="auto">
          <a:xfrm>
            <a:off x="9941435" y="5015998"/>
            <a:ext cx="690562" cy="762000"/>
            <a:chOff x="6243638" y="4572000"/>
            <a:chExt cx="690562" cy="762000"/>
          </a:xfrm>
        </p:grpSpPr>
        <p:sp>
          <p:nvSpPr>
            <p:cNvPr id="64" name="Rectangle 63">
              <a:extLst>
                <a:ext uri="{FF2B5EF4-FFF2-40B4-BE49-F238E27FC236}">
                  <a16:creationId xmlns:a16="http://schemas.microsoft.com/office/drawing/2014/main" id="{C1E47116-1B20-4941-90B0-12741B987838}"/>
                </a:ext>
              </a:extLst>
            </p:cNvPr>
            <p:cNvSpPr/>
            <p:nvPr/>
          </p:nvSpPr>
          <p:spPr>
            <a:xfrm>
              <a:off x="6248400" y="4572000"/>
              <a:ext cx="685800" cy="685800"/>
            </a:xfrm>
            <a:prstGeom prst="rect">
              <a:avLst/>
            </a:prstGeom>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a:latin typeface="+mj-lt"/>
              </a:endParaRPr>
            </a:p>
          </p:txBody>
        </p:sp>
        <p:grpSp>
          <p:nvGrpSpPr>
            <p:cNvPr id="65" name="Group 18">
              <a:extLst>
                <a:ext uri="{FF2B5EF4-FFF2-40B4-BE49-F238E27FC236}">
                  <a16:creationId xmlns:a16="http://schemas.microsoft.com/office/drawing/2014/main" id="{8EB03F9D-D6BE-4621-8230-0D9B58CE121C}"/>
                </a:ext>
              </a:extLst>
            </p:cNvPr>
            <p:cNvGrpSpPr>
              <a:grpSpLocks/>
            </p:cNvGrpSpPr>
            <p:nvPr/>
          </p:nvGrpSpPr>
          <p:grpSpPr bwMode="auto">
            <a:xfrm>
              <a:off x="6243638" y="4629150"/>
              <a:ext cx="690562" cy="704850"/>
              <a:chOff x="6243638" y="4629150"/>
              <a:chExt cx="1681162" cy="1681162"/>
            </a:xfrm>
          </p:grpSpPr>
          <p:pic>
            <p:nvPicPr>
              <p:cNvPr id="66" name="Picture 3" descr="C:\Documents and Settings\dd\Local Settings\Temporary Internet Files\Content.IE5\QNWT6PGV\MC900431586[1].png">
                <a:extLst>
                  <a:ext uri="{FF2B5EF4-FFF2-40B4-BE49-F238E27FC236}">
                    <a16:creationId xmlns:a16="http://schemas.microsoft.com/office/drawing/2014/main" id="{44394F47-0F06-4A86-93B6-C329368259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3638" y="4629150"/>
                <a:ext cx="1681162" cy="168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 name="Oval 66">
                <a:extLst>
                  <a:ext uri="{FF2B5EF4-FFF2-40B4-BE49-F238E27FC236}">
                    <a16:creationId xmlns:a16="http://schemas.microsoft.com/office/drawing/2014/main" id="{47B654FF-E306-4801-9D71-72AA33C94FC6}"/>
                  </a:ext>
                </a:extLst>
              </p:cNvPr>
              <p:cNvSpPr/>
              <p:nvPr/>
            </p:nvSpPr>
            <p:spPr>
              <a:xfrm>
                <a:off x="6553199" y="4876801"/>
                <a:ext cx="1066801" cy="1066799"/>
              </a:xfrm>
              <a:prstGeom prst="ellipse">
                <a:avLst/>
              </a:prstGeom>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anchor="ctr"/>
              <a:lstStyle/>
              <a:p>
                <a:pPr algn="ctr" eaLnBrk="1" hangingPunct="1">
                  <a:defRPr/>
                </a:pPr>
                <a:endParaRPr lang="en-US">
                  <a:latin typeface="+mj-lt"/>
                </a:endParaRPr>
              </a:p>
            </p:txBody>
          </p:sp>
          <p:cxnSp>
            <p:nvCxnSpPr>
              <p:cNvPr id="68" name="Straight Connector 67">
                <a:extLst>
                  <a:ext uri="{FF2B5EF4-FFF2-40B4-BE49-F238E27FC236}">
                    <a16:creationId xmlns:a16="http://schemas.microsoft.com/office/drawing/2014/main" id="{61BF321C-0719-4D6A-BFD6-E2C1F0419CE9}"/>
                  </a:ext>
                </a:extLst>
              </p:cNvPr>
              <p:cNvCxnSpPr/>
              <p:nvPr/>
            </p:nvCxnSpPr>
            <p:spPr>
              <a:xfrm flipH="1" flipV="1">
                <a:off x="7066827" y="5401576"/>
                <a:ext cx="185508" cy="545242"/>
              </a:xfrm>
              <a:prstGeom prst="line">
                <a:avLst/>
              </a:prstGeom>
              <a:ln w="19050">
                <a:solidFill>
                  <a:schemeClr val="tx1"/>
                </a:solidFill>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14EAF41E-B722-4BD5-850C-1E018D99F73F}"/>
                  </a:ext>
                </a:extLst>
              </p:cNvPr>
              <p:cNvCxnSpPr/>
              <p:nvPr/>
            </p:nvCxnSpPr>
            <p:spPr>
              <a:xfrm flipH="1">
                <a:off x="7086152" y="5409149"/>
                <a:ext cx="382608" cy="0"/>
              </a:xfrm>
              <a:prstGeom prst="line">
                <a:avLst/>
              </a:prstGeom>
              <a:ln w="19050">
                <a:solidFill>
                  <a:schemeClr val="tx1"/>
                </a:solidFill>
                <a:headEnd type="arrow" w="med" len="med"/>
                <a:tailEnd type="none" w="med" len="med"/>
              </a:ln>
            </p:spPr>
            <p:style>
              <a:lnRef idx="1">
                <a:schemeClr val="dk1"/>
              </a:lnRef>
              <a:fillRef idx="0">
                <a:schemeClr val="dk1"/>
              </a:fillRef>
              <a:effectRef idx="0">
                <a:schemeClr val="dk1"/>
              </a:effectRef>
              <a:fontRef idx="minor">
                <a:schemeClr val="tx1"/>
              </a:fontRef>
            </p:style>
          </p:cxnSp>
        </p:grpSp>
      </p:grpSp>
      <p:cxnSp>
        <p:nvCxnSpPr>
          <p:cNvPr id="70" name="Straight Connector 69">
            <a:extLst>
              <a:ext uri="{FF2B5EF4-FFF2-40B4-BE49-F238E27FC236}">
                <a16:creationId xmlns:a16="http://schemas.microsoft.com/office/drawing/2014/main" id="{ED7B6F47-B6A7-4583-8942-EBC36218EBF5}"/>
              </a:ext>
            </a:extLst>
          </p:cNvPr>
          <p:cNvCxnSpPr/>
          <p:nvPr/>
        </p:nvCxnSpPr>
        <p:spPr>
          <a:xfrm>
            <a:off x="8603172" y="4863598"/>
            <a:ext cx="21336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9AB2E204-5CC4-4FEA-BF16-1B034376376A}"/>
              </a:ext>
            </a:extLst>
          </p:cNvPr>
          <p:cNvSpPr/>
          <p:nvPr/>
        </p:nvSpPr>
        <p:spPr>
          <a:xfrm>
            <a:off x="9365172" y="3796798"/>
            <a:ext cx="533400" cy="2286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400" dirty="0">
                <a:solidFill>
                  <a:srgbClr val="0000FF"/>
                </a:solidFill>
                <a:latin typeface="+mj-lt"/>
              </a:rPr>
              <a:t>3:00</a:t>
            </a:r>
          </a:p>
        </p:txBody>
      </p:sp>
      <p:sp>
        <p:nvSpPr>
          <p:cNvPr id="72" name="Rectangle 71">
            <a:extLst>
              <a:ext uri="{FF2B5EF4-FFF2-40B4-BE49-F238E27FC236}">
                <a16:creationId xmlns:a16="http://schemas.microsoft.com/office/drawing/2014/main" id="{D905F1FD-F32D-4EA0-AAA4-C9EF4B33CF13}"/>
              </a:ext>
            </a:extLst>
          </p:cNvPr>
          <p:cNvSpPr/>
          <p:nvPr/>
        </p:nvSpPr>
        <p:spPr>
          <a:xfrm>
            <a:off x="10008110" y="5701798"/>
            <a:ext cx="533400" cy="228600"/>
          </a:xfrm>
          <a:prstGeom prst="rect">
            <a:avLst/>
          </a:prstGeom>
          <a:gradFill flip="none" rotWithShape="1">
            <a:gsLst>
              <a:gs pos="0">
                <a:srgbClr val="0000FF">
                  <a:tint val="66000"/>
                  <a:satMod val="160000"/>
                </a:srgbClr>
              </a:gs>
              <a:gs pos="50000">
                <a:srgbClr val="0000FF">
                  <a:tint val="44500"/>
                  <a:satMod val="160000"/>
                </a:srgbClr>
              </a:gs>
              <a:gs pos="100000">
                <a:srgbClr val="0000FF">
                  <a:tint val="23500"/>
                  <a:satMod val="160000"/>
                </a:srgb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400" dirty="0">
                <a:solidFill>
                  <a:srgbClr val="0000FF"/>
                </a:solidFill>
                <a:latin typeface="+mj-lt"/>
              </a:rPr>
              <a:t>3:25</a:t>
            </a:r>
          </a:p>
        </p:txBody>
      </p:sp>
      <p:sp>
        <p:nvSpPr>
          <p:cNvPr id="73" name="Rectangle 72">
            <a:extLst>
              <a:ext uri="{FF2B5EF4-FFF2-40B4-BE49-F238E27FC236}">
                <a16:creationId xmlns:a16="http://schemas.microsoft.com/office/drawing/2014/main" id="{86E1981E-0944-4891-8ED9-89F90F42DD08}"/>
              </a:ext>
            </a:extLst>
          </p:cNvPr>
          <p:cNvSpPr/>
          <p:nvPr/>
        </p:nvSpPr>
        <p:spPr>
          <a:xfrm>
            <a:off x="8700010" y="5701798"/>
            <a:ext cx="533400" cy="228600"/>
          </a:xfrm>
          <a:prstGeom prst="rect">
            <a:avLst/>
          </a:prstGeom>
          <a:gradFill flip="none" rotWithShape="1">
            <a:gsLst>
              <a:gs pos="0">
                <a:schemeClr val="tx1">
                  <a:lumMod val="75000"/>
                  <a:lumOff val="25000"/>
                  <a:tint val="66000"/>
                  <a:satMod val="160000"/>
                </a:schemeClr>
              </a:gs>
              <a:gs pos="50000">
                <a:schemeClr val="tx1">
                  <a:lumMod val="75000"/>
                  <a:lumOff val="25000"/>
                  <a:tint val="44500"/>
                  <a:satMod val="160000"/>
                </a:schemeClr>
              </a:gs>
              <a:gs pos="100000">
                <a:schemeClr val="tx1">
                  <a:lumMod val="75000"/>
                  <a:lumOff val="25000"/>
                  <a:tint val="23500"/>
                  <a:satMod val="160000"/>
                </a:scheme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400" dirty="0">
                <a:solidFill>
                  <a:srgbClr val="0000FF"/>
                </a:solidFill>
                <a:latin typeface="+mj-lt"/>
              </a:rPr>
              <a:t>2:50</a:t>
            </a:r>
          </a:p>
        </p:txBody>
      </p:sp>
      <p:sp>
        <p:nvSpPr>
          <p:cNvPr id="74" name="TextBox 73">
            <a:extLst>
              <a:ext uri="{FF2B5EF4-FFF2-40B4-BE49-F238E27FC236}">
                <a16:creationId xmlns:a16="http://schemas.microsoft.com/office/drawing/2014/main" id="{2EC87998-4A0A-467B-BC2D-12A19443DBE3}"/>
              </a:ext>
            </a:extLst>
          </p:cNvPr>
          <p:cNvSpPr txBox="1">
            <a:spLocks noChangeArrowheads="1"/>
          </p:cNvSpPr>
          <p:nvPr/>
        </p:nvSpPr>
        <p:spPr bwMode="auto">
          <a:xfrm>
            <a:off x="7586736" y="3982445"/>
            <a:ext cx="144888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3"/>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3"/>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dirty="0">
                <a:solidFill>
                  <a:schemeClr val="tx1"/>
                </a:solidFill>
                <a:latin typeface="+mj-lt"/>
              </a:rPr>
              <a:t>Time server</a:t>
            </a:r>
          </a:p>
        </p:txBody>
      </p:sp>
      <p:cxnSp>
        <p:nvCxnSpPr>
          <p:cNvPr id="75" name="Straight Arrow Connector 74">
            <a:extLst>
              <a:ext uri="{FF2B5EF4-FFF2-40B4-BE49-F238E27FC236}">
                <a16:creationId xmlns:a16="http://schemas.microsoft.com/office/drawing/2014/main" id="{7EBA7A7A-4488-407C-A8AC-C6EE903F26FB}"/>
              </a:ext>
            </a:extLst>
          </p:cNvPr>
          <p:cNvCxnSpPr/>
          <p:nvPr/>
        </p:nvCxnSpPr>
        <p:spPr>
          <a:xfrm>
            <a:off x="8984172" y="4253998"/>
            <a:ext cx="304800" cy="228600"/>
          </a:xfrm>
          <a:prstGeom prst="straightConnector1">
            <a:avLst/>
          </a:prstGeom>
          <a:ln>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520ED523-DB7A-466B-A6ED-F917DECB7923}"/>
              </a:ext>
            </a:extLst>
          </p:cNvPr>
          <p:cNvSpPr/>
          <p:nvPr/>
        </p:nvSpPr>
        <p:spPr>
          <a:xfrm>
            <a:off x="9365172" y="3796798"/>
            <a:ext cx="533400" cy="2286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400" dirty="0">
                <a:solidFill>
                  <a:srgbClr val="0000FF"/>
                </a:solidFill>
                <a:latin typeface="+mj-lt"/>
              </a:rPr>
              <a:t>3:00</a:t>
            </a:r>
          </a:p>
        </p:txBody>
      </p:sp>
      <p:sp>
        <p:nvSpPr>
          <p:cNvPr id="77" name="Rectangle 76">
            <a:extLst>
              <a:ext uri="{FF2B5EF4-FFF2-40B4-BE49-F238E27FC236}">
                <a16:creationId xmlns:a16="http://schemas.microsoft.com/office/drawing/2014/main" id="{F6D74AA1-7E28-49BC-925A-4BB9FE1EDEC9}"/>
              </a:ext>
            </a:extLst>
          </p:cNvPr>
          <p:cNvSpPr/>
          <p:nvPr/>
        </p:nvSpPr>
        <p:spPr>
          <a:xfrm>
            <a:off x="9365172" y="3796798"/>
            <a:ext cx="533400" cy="2286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400" dirty="0">
                <a:solidFill>
                  <a:srgbClr val="0000FF"/>
                </a:solidFill>
                <a:latin typeface="+mj-lt"/>
              </a:rPr>
              <a:t>3:00</a:t>
            </a:r>
          </a:p>
        </p:txBody>
      </p:sp>
      <p:sp>
        <p:nvSpPr>
          <p:cNvPr id="78" name="Rectangle 77">
            <a:extLst>
              <a:ext uri="{FF2B5EF4-FFF2-40B4-BE49-F238E27FC236}">
                <a16:creationId xmlns:a16="http://schemas.microsoft.com/office/drawing/2014/main" id="{C80CDD76-D218-4740-BD4C-ED6564AF4611}"/>
              </a:ext>
            </a:extLst>
          </p:cNvPr>
          <p:cNvSpPr/>
          <p:nvPr/>
        </p:nvSpPr>
        <p:spPr>
          <a:xfrm>
            <a:off x="8222171" y="5435098"/>
            <a:ext cx="722815" cy="266700"/>
          </a:xfrm>
          <a:prstGeom prst="rect">
            <a:avLst/>
          </a:prstGeom>
          <a:gradFill flip="none" rotWithShape="1">
            <a:gsLst>
              <a:gs pos="0">
                <a:schemeClr val="tx1">
                  <a:lumMod val="75000"/>
                  <a:lumOff val="25000"/>
                  <a:tint val="66000"/>
                  <a:satMod val="160000"/>
                </a:schemeClr>
              </a:gs>
              <a:gs pos="50000">
                <a:schemeClr val="tx1">
                  <a:lumMod val="75000"/>
                  <a:lumOff val="25000"/>
                  <a:tint val="44500"/>
                  <a:satMod val="160000"/>
                </a:schemeClr>
              </a:gs>
              <a:gs pos="100000">
                <a:schemeClr val="tx1">
                  <a:lumMod val="75000"/>
                  <a:lumOff val="25000"/>
                  <a:tint val="23500"/>
                  <a:satMod val="160000"/>
                </a:scheme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600" dirty="0">
                <a:solidFill>
                  <a:srgbClr val="0000FF"/>
                </a:solidFill>
                <a:latin typeface="+mj-lt"/>
              </a:rPr>
              <a:t>-0:10</a:t>
            </a:r>
          </a:p>
        </p:txBody>
      </p:sp>
      <p:sp>
        <p:nvSpPr>
          <p:cNvPr id="79" name="Rectangle 78">
            <a:extLst>
              <a:ext uri="{FF2B5EF4-FFF2-40B4-BE49-F238E27FC236}">
                <a16:creationId xmlns:a16="http://schemas.microsoft.com/office/drawing/2014/main" id="{3F704327-4747-4D38-90C9-82237A2C3FEC}"/>
              </a:ext>
            </a:extLst>
          </p:cNvPr>
          <p:cNvSpPr/>
          <p:nvPr/>
        </p:nvSpPr>
        <p:spPr>
          <a:xfrm>
            <a:off x="10431971" y="5435098"/>
            <a:ext cx="722815" cy="266700"/>
          </a:xfrm>
          <a:prstGeom prst="rect">
            <a:avLst/>
          </a:prstGeom>
          <a:gradFill flip="none" rotWithShape="1">
            <a:gsLst>
              <a:gs pos="0">
                <a:srgbClr val="0000FF">
                  <a:tint val="66000"/>
                  <a:satMod val="160000"/>
                </a:srgbClr>
              </a:gs>
              <a:gs pos="50000">
                <a:srgbClr val="0000FF">
                  <a:tint val="44500"/>
                  <a:satMod val="160000"/>
                </a:srgbClr>
              </a:gs>
              <a:gs pos="100000">
                <a:srgbClr val="0000FF">
                  <a:tint val="23500"/>
                  <a:satMod val="160000"/>
                </a:srgb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600" dirty="0">
                <a:solidFill>
                  <a:srgbClr val="0000FF"/>
                </a:solidFill>
                <a:latin typeface="+mj-lt"/>
              </a:rPr>
              <a:t>+0:25</a:t>
            </a:r>
          </a:p>
        </p:txBody>
      </p:sp>
      <p:sp>
        <p:nvSpPr>
          <p:cNvPr id="80" name="Rectangle 79">
            <a:extLst>
              <a:ext uri="{FF2B5EF4-FFF2-40B4-BE49-F238E27FC236}">
                <a16:creationId xmlns:a16="http://schemas.microsoft.com/office/drawing/2014/main" id="{E52B331A-3D3C-4662-BD09-06EFE97CDA72}"/>
              </a:ext>
            </a:extLst>
          </p:cNvPr>
          <p:cNvSpPr/>
          <p:nvPr/>
        </p:nvSpPr>
        <p:spPr>
          <a:xfrm>
            <a:off x="10127171" y="3911098"/>
            <a:ext cx="722815" cy="2667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600" dirty="0">
                <a:solidFill>
                  <a:srgbClr val="0000FF"/>
                </a:solidFill>
                <a:latin typeface="+mj-lt"/>
              </a:rPr>
              <a:t>+0:00</a:t>
            </a:r>
          </a:p>
        </p:txBody>
      </p:sp>
      <p:sp>
        <p:nvSpPr>
          <p:cNvPr id="81" name="Rectangle 80">
            <a:extLst>
              <a:ext uri="{FF2B5EF4-FFF2-40B4-BE49-F238E27FC236}">
                <a16:creationId xmlns:a16="http://schemas.microsoft.com/office/drawing/2014/main" id="{A7E60282-7706-4784-A0D1-A4FD1D4C596D}"/>
              </a:ext>
            </a:extLst>
          </p:cNvPr>
          <p:cNvSpPr/>
          <p:nvPr/>
        </p:nvSpPr>
        <p:spPr>
          <a:xfrm>
            <a:off x="10812971" y="3911098"/>
            <a:ext cx="722815" cy="2667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600" dirty="0">
                <a:solidFill>
                  <a:srgbClr val="0000FF"/>
                </a:solidFill>
                <a:latin typeface="+mj-lt"/>
              </a:rPr>
              <a:t>+0:05</a:t>
            </a:r>
          </a:p>
        </p:txBody>
      </p:sp>
      <p:sp>
        <p:nvSpPr>
          <p:cNvPr id="82" name="Rectangle 81">
            <a:extLst>
              <a:ext uri="{FF2B5EF4-FFF2-40B4-BE49-F238E27FC236}">
                <a16:creationId xmlns:a16="http://schemas.microsoft.com/office/drawing/2014/main" id="{EA80BA9D-2BE0-4DE3-B132-9E7C535C9C1D}"/>
              </a:ext>
            </a:extLst>
          </p:cNvPr>
          <p:cNvSpPr/>
          <p:nvPr/>
        </p:nvSpPr>
        <p:spPr>
          <a:xfrm>
            <a:off x="10812971" y="4173036"/>
            <a:ext cx="722815" cy="266700"/>
          </a:xfrm>
          <a:prstGeom prst="rect">
            <a:avLst/>
          </a:prstGeom>
          <a:gradFill flip="none" rotWithShape="1">
            <a:gsLst>
              <a:gs pos="0">
                <a:schemeClr val="tx1">
                  <a:lumMod val="75000"/>
                  <a:lumOff val="25000"/>
                  <a:tint val="66000"/>
                  <a:satMod val="160000"/>
                </a:schemeClr>
              </a:gs>
              <a:gs pos="50000">
                <a:schemeClr val="tx1">
                  <a:lumMod val="75000"/>
                  <a:lumOff val="25000"/>
                  <a:tint val="44500"/>
                  <a:satMod val="160000"/>
                </a:schemeClr>
              </a:gs>
              <a:gs pos="100000">
                <a:schemeClr val="tx1">
                  <a:lumMod val="75000"/>
                  <a:lumOff val="25000"/>
                  <a:tint val="23500"/>
                  <a:satMod val="160000"/>
                </a:scheme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600" dirty="0">
                <a:solidFill>
                  <a:srgbClr val="0000FF"/>
                </a:solidFill>
                <a:latin typeface="+mj-lt"/>
              </a:rPr>
              <a:t>+0:15</a:t>
            </a:r>
          </a:p>
        </p:txBody>
      </p:sp>
      <p:sp>
        <p:nvSpPr>
          <p:cNvPr id="83" name="Rectangle 82">
            <a:extLst>
              <a:ext uri="{FF2B5EF4-FFF2-40B4-BE49-F238E27FC236}">
                <a16:creationId xmlns:a16="http://schemas.microsoft.com/office/drawing/2014/main" id="{ECC821F2-E5F5-4D46-A4C0-9DB18837D63A}"/>
              </a:ext>
            </a:extLst>
          </p:cNvPr>
          <p:cNvSpPr/>
          <p:nvPr/>
        </p:nvSpPr>
        <p:spPr>
          <a:xfrm>
            <a:off x="10812971" y="4465136"/>
            <a:ext cx="722815" cy="266700"/>
          </a:xfrm>
          <a:prstGeom prst="rect">
            <a:avLst/>
          </a:prstGeom>
          <a:gradFill flip="none" rotWithShape="1">
            <a:gsLst>
              <a:gs pos="0">
                <a:srgbClr val="0000FF">
                  <a:tint val="66000"/>
                  <a:satMod val="160000"/>
                </a:srgbClr>
              </a:gs>
              <a:gs pos="50000">
                <a:srgbClr val="0000FF">
                  <a:tint val="44500"/>
                  <a:satMod val="160000"/>
                </a:srgbClr>
              </a:gs>
              <a:gs pos="100000">
                <a:srgbClr val="0000FF">
                  <a:tint val="23500"/>
                  <a:satMod val="160000"/>
                </a:srgb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600" dirty="0">
                <a:solidFill>
                  <a:srgbClr val="0000FF"/>
                </a:solidFill>
                <a:latin typeface="+mj-lt"/>
              </a:rPr>
              <a:t>-0:20</a:t>
            </a:r>
          </a:p>
        </p:txBody>
      </p:sp>
      <p:sp>
        <p:nvSpPr>
          <p:cNvPr id="84" name="Rectangle 83">
            <a:extLst>
              <a:ext uri="{FF2B5EF4-FFF2-40B4-BE49-F238E27FC236}">
                <a16:creationId xmlns:a16="http://schemas.microsoft.com/office/drawing/2014/main" id="{AEBFA3F5-8C35-4B08-9879-E0A76D367237}"/>
              </a:ext>
            </a:extLst>
          </p:cNvPr>
          <p:cNvSpPr/>
          <p:nvPr/>
        </p:nvSpPr>
        <p:spPr>
          <a:xfrm>
            <a:off x="8657147" y="5701798"/>
            <a:ext cx="609600" cy="228600"/>
          </a:xfrm>
          <a:prstGeom prst="rect">
            <a:avLst/>
          </a:prstGeom>
          <a:gradFill flip="none" rotWithShape="1">
            <a:gsLst>
              <a:gs pos="0">
                <a:schemeClr val="tx1">
                  <a:lumMod val="75000"/>
                  <a:lumOff val="25000"/>
                  <a:tint val="66000"/>
                  <a:satMod val="160000"/>
                </a:schemeClr>
              </a:gs>
              <a:gs pos="50000">
                <a:schemeClr val="tx1">
                  <a:lumMod val="75000"/>
                  <a:lumOff val="25000"/>
                  <a:tint val="44500"/>
                  <a:satMod val="160000"/>
                </a:schemeClr>
              </a:gs>
              <a:gs pos="100000">
                <a:schemeClr val="tx1">
                  <a:lumMod val="75000"/>
                  <a:lumOff val="25000"/>
                  <a:tint val="23500"/>
                  <a:satMod val="160000"/>
                </a:scheme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400" b="1" dirty="0">
                <a:solidFill>
                  <a:srgbClr val="0000FF"/>
                </a:solidFill>
                <a:latin typeface="+mj-lt"/>
              </a:rPr>
              <a:t>3:05</a:t>
            </a:r>
          </a:p>
        </p:txBody>
      </p:sp>
      <p:sp>
        <p:nvSpPr>
          <p:cNvPr id="85" name="Rectangle 84">
            <a:extLst>
              <a:ext uri="{FF2B5EF4-FFF2-40B4-BE49-F238E27FC236}">
                <a16:creationId xmlns:a16="http://schemas.microsoft.com/office/drawing/2014/main" id="{D90D08B0-E8B4-485C-9458-14B451F305FE}"/>
              </a:ext>
            </a:extLst>
          </p:cNvPr>
          <p:cNvSpPr/>
          <p:nvPr/>
        </p:nvSpPr>
        <p:spPr>
          <a:xfrm>
            <a:off x="9974772" y="5701798"/>
            <a:ext cx="609600" cy="228600"/>
          </a:xfrm>
          <a:prstGeom prst="rect">
            <a:avLst/>
          </a:prstGeom>
          <a:gradFill flip="none" rotWithShape="1">
            <a:gsLst>
              <a:gs pos="0">
                <a:srgbClr val="0000FF">
                  <a:tint val="66000"/>
                  <a:satMod val="160000"/>
                </a:srgbClr>
              </a:gs>
              <a:gs pos="50000">
                <a:srgbClr val="0000FF">
                  <a:tint val="44500"/>
                  <a:satMod val="160000"/>
                </a:srgbClr>
              </a:gs>
              <a:gs pos="100000">
                <a:srgbClr val="0000FF">
                  <a:tint val="23500"/>
                  <a:satMod val="160000"/>
                </a:srgb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400" b="1" dirty="0">
                <a:solidFill>
                  <a:srgbClr val="0000FF"/>
                </a:solidFill>
                <a:latin typeface="+mj-lt"/>
              </a:rPr>
              <a:t>3:05</a:t>
            </a:r>
          </a:p>
        </p:txBody>
      </p:sp>
      <p:sp>
        <p:nvSpPr>
          <p:cNvPr id="86" name="Rectangle 85">
            <a:extLst>
              <a:ext uri="{FF2B5EF4-FFF2-40B4-BE49-F238E27FC236}">
                <a16:creationId xmlns:a16="http://schemas.microsoft.com/office/drawing/2014/main" id="{EF47530B-D530-4B2E-B866-3D4EDC4A0D89}"/>
              </a:ext>
            </a:extLst>
          </p:cNvPr>
          <p:cNvSpPr/>
          <p:nvPr/>
        </p:nvSpPr>
        <p:spPr>
          <a:xfrm>
            <a:off x="9342947" y="3796798"/>
            <a:ext cx="609600" cy="2286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400" b="1" dirty="0">
                <a:solidFill>
                  <a:srgbClr val="0000FF"/>
                </a:solidFill>
                <a:latin typeface="+mj-lt"/>
              </a:rPr>
              <a:t>3:05</a:t>
            </a:r>
          </a:p>
        </p:txBody>
      </p:sp>
    </p:spTree>
    <p:extLst>
      <p:ext uri="{BB962C8B-B14F-4D97-AF65-F5344CB8AC3E}">
        <p14:creationId xmlns:p14="http://schemas.microsoft.com/office/powerpoint/2010/main" val="837610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6"/>
                                        </p:tgtEl>
                                        <p:attrNameLst>
                                          <p:attrName>style.visibility</p:attrName>
                                        </p:attrNameLst>
                                      </p:cBhvr>
                                      <p:to>
                                        <p:strVal val="visible"/>
                                      </p:to>
                                    </p:set>
                                  </p:childTnLst>
                                </p:cTn>
                              </p:par>
                              <p:par>
                                <p:cTn id="63" presetID="56" presetClass="path" presetSubtype="0" accel="50000" decel="50000" fill="hold" grpId="1" nodeType="withEffect">
                                  <p:stCondLst>
                                    <p:cond delay="0"/>
                                  </p:stCondLst>
                                  <p:childTnLst>
                                    <p:animMotion origin="layout" path="M 5E-6 3.33333E-6 L -0.09348 0.20347 " pathEditMode="relative" rAng="0" ptsTypes="AA">
                                      <p:cBhvr>
                                        <p:cTn id="64" dur="2000" fill="hold"/>
                                        <p:tgtEl>
                                          <p:spTgt spid="76"/>
                                        </p:tgtEl>
                                        <p:attrNameLst>
                                          <p:attrName>ppt_x</p:attrName>
                                          <p:attrName>ppt_y</p:attrName>
                                        </p:attrNameLst>
                                      </p:cBhvr>
                                      <p:rCtr x="-4674" y="10162"/>
                                    </p:animMotion>
                                  </p:childTnLst>
                                </p:cTn>
                              </p:par>
                              <p:par>
                                <p:cTn id="65" presetID="1" presetClass="entr" presetSubtype="0" fill="hold" grpId="0" nodeType="withEffect">
                                  <p:stCondLst>
                                    <p:cond delay="0"/>
                                  </p:stCondLst>
                                  <p:childTnLst>
                                    <p:set>
                                      <p:cBhvr>
                                        <p:cTn id="66" dur="1" fill="hold">
                                          <p:stCondLst>
                                            <p:cond delay="0"/>
                                          </p:stCondLst>
                                        </p:cTn>
                                        <p:tgtEl>
                                          <p:spTgt spid="77"/>
                                        </p:tgtEl>
                                        <p:attrNameLst>
                                          <p:attrName>style.visibility</p:attrName>
                                        </p:attrNameLst>
                                      </p:cBhvr>
                                      <p:to>
                                        <p:strVal val="visible"/>
                                      </p:to>
                                    </p:set>
                                  </p:childTnLst>
                                </p:cTn>
                              </p:par>
                              <p:par>
                                <p:cTn id="67" presetID="56" presetClass="path" presetSubtype="0" accel="50000" decel="50000" fill="hold" grpId="1" nodeType="withEffect">
                                  <p:stCondLst>
                                    <p:cond delay="0"/>
                                  </p:stCondLst>
                                  <p:childTnLst>
                                    <p:animMotion origin="layout" path="M 5E-6 3.33333E-6 L 0.0931 0.20393 " pathEditMode="relative" rAng="0" ptsTypes="AA">
                                      <p:cBhvr>
                                        <p:cTn id="68" dur="2000" fill="hold"/>
                                        <p:tgtEl>
                                          <p:spTgt spid="77"/>
                                        </p:tgtEl>
                                        <p:attrNameLst>
                                          <p:attrName>ppt_x</p:attrName>
                                          <p:attrName>ppt_y</p:attrName>
                                        </p:attrNameLst>
                                      </p:cBhvr>
                                      <p:rCtr x="4648" y="10185"/>
                                    </p:animMotion>
                                  </p:childTnLst>
                                </p:cTn>
                              </p:par>
                              <p:par>
                                <p:cTn id="69" presetID="1" presetClass="entr" presetSubtype="0" fill="hold" grpId="0" nodeType="withEffect">
                                  <p:stCondLst>
                                    <p:cond delay="0"/>
                                  </p:stCondLst>
                                  <p:childTnLst>
                                    <p:set>
                                      <p:cBhvr>
                                        <p:cTn id="70" dur="1" fill="hold">
                                          <p:stCondLst>
                                            <p:cond delay="0"/>
                                          </p:stCondLst>
                                        </p:cTn>
                                        <p:tgtEl>
                                          <p:spTgt spid="8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9"/>
                                        </p:tgtEl>
                                        <p:attrNameLst>
                                          <p:attrName>style.visibility</p:attrName>
                                        </p:attrNameLst>
                                      </p:cBhvr>
                                      <p:to>
                                        <p:strVal val="visible"/>
                                      </p:to>
                                    </p:set>
                                  </p:childTnLst>
                                </p:cTn>
                              </p:par>
                              <p:par>
                                <p:cTn id="75" presetID="56" presetClass="path" presetSubtype="0" accel="50000" decel="50000" fill="hold" grpId="1" nodeType="withEffect">
                                  <p:stCondLst>
                                    <p:cond delay="0"/>
                                  </p:stCondLst>
                                  <p:childTnLst>
                                    <p:animMotion origin="layout" path="M 1.11022E-16 -1.11111E-6 L 0.15664 -0.18264 " pathEditMode="relative" rAng="0" ptsTypes="AA">
                                      <p:cBhvr>
                                        <p:cTn id="76" dur="2000" fill="hold"/>
                                        <p:tgtEl>
                                          <p:spTgt spid="78"/>
                                        </p:tgtEl>
                                        <p:attrNameLst>
                                          <p:attrName>ppt_x</p:attrName>
                                          <p:attrName>ppt_y</p:attrName>
                                        </p:attrNameLst>
                                      </p:cBhvr>
                                      <p:rCtr x="7826" y="-9144"/>
                                    </p:animMotion>
                                  </p:childTnLst>
                                </p:cTn>
                              </p:par>
                              <p:par>
                                <p:cTn id="77" presetID="56" presetClass="path" presetSubtype="0" accel="50000" decel="50000" fill="hold" grpId="1" nodeType="withEffect">
                                  <p:stCondLst>
                                    <p:cond delay="0"/>
                                  </p:stCondLst>
                                  <p:childTnLst>
                                    <p:animMotion origin="layout" path="M 0 -1.11111E-6 L -0.025 -0.14143 " pathEditMode="relative" rAng="0" ptsTypes="AA">
                                      <p:cBhvr>
                                        <p:cTn id="78" dur="2000" fill="hold"/>
                                        <p:tgtEl>
                                          <p:spTgt spid="79"/>
                                        </p:tgtEl>
                                        <p:attrNameLst>
                                          <p:attrName>ppt_x</p:attrName>
                                          <p:attrName>ppt_y</p:attrName>
                                        </p:attrNameLst>
                                      </p:cBhvr>
                                      <p:rCtr x="-1250" y="-7083"/>
                                    </p:animMotion>
                                  </p:childTnLst>
                                </p:cTn>
                              </p:par>
                            </p:childTnLst>
                          </p:cTn>
                        </p:par>
                        <p:par>
                          <p:cTn id="79" fill="hold">
                            <p:stCondLst>
                              <p:cond delay="2000"/>
                            </p:stCondLst>
                            <p:childTnLst>
                              <p:par>
                                <p:cTn id="80" presetID="1" presetClass="exit" presetSubtype="0" fill="hold" grpId="2" nodeType="afterEffect">
                                  <p:stCondLst>
                                    <p:cond delay="0"/>
                                  </p:stCondLst>
                                  <p:childTnLst>
                                    <p:set>
                                      <p:cBhvr>
                                        <p:cTn id="81" dur="1" fill="hold">
                                          <p:stCondLst>
                                            <p:cond delay="0"/>
                                          </p:stCondLst>
                                        </p:cTn>
                                        <p:tgtEl>
                                          <p:spTgt spid="77"/>
                                        </p:tgtEl>
                                        <p:attrNameLst>
                                          <p:attrName>style.visibility</p:attrName>
                                        </p:attrNameLst>
                                      </p:cBhvr>
                                      <p:to>
                                        <p:strVal val="hidden"/>
                                      </p:to>
                                    </p:set>
                                  </p:childTnLst>
                                </p:cTn>
                              </p:par>
                              <p:par>
                                <p:cTn id="82" presetID="1" presetClass="exit" presetSubtype="0" fill="hold" grpId="2" nodeType="withEffect">
                                  <p:stCondLst>
                                    <p:cond delay="0"/>
                                  </p:stCondLst>
                                  <p:childTnLst>
                                    <p:set>
                                      <p:cBhvr>
                                        <p:cTn id="83" dur="1" fill="hold">
                                          <p:stCondLst>
                                            <p:cond delay="0"/>
                                          </p:stCondLst>
                                        </p:cTn>
                                        <p:tgtEl>
                                          <p:spTgt spid="76"/>
                                        </p:tgtEl>
                                        <p:attrNameLst>
                                          <p:attrName>style.visibility</p:attrName>
                                        </p:attrNameLst>
                                      </p:cBhvr>
                                      <p:to>
                                        <p:strVal val="hidden"/>
                                      </p:to>
                                    </p:set>
                                  </p:childTnLst>
                                </p:cTn>
                              </p:par>
                              <p:par>
                                <p:cTn id="84" presetID="1" presetClass="entr" presetSubtype="0" fill="hold" grpId="0" nodeType="withEffect">
                                  <p:stCondLst>
                                    <p:cond delay="0"/>
                                  </p:stCondLst>
                                  <p:childTnLst>
                                    <p:set>
                                      <p:cBhvr>
                                        <p:cTn id="85" dur="1" fill="hold">
                                          <p:stCondLst>
                                            <p:cond delay="0"/>
                                          </p:stCondLst>
                                        </p:cTn>
                                        <p:tgtEl>
                                          <p:spTgt spid="81"/>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82"/>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83"/>
                                        </p:tgtEl>
                                        <p:attrNameLst>
                                          <p:attrName>style.visibility</p:attrName>
                                        </p:attrNameLst>
                                      </p:cBhvr>
                                      <p:to>
                                        <p:strVal val="visible"/>
                                      </p:to>
                                    </p:set>
                                  </p:childTnLst>
                                </p:cTn>
                              </p:par>
                              <p:par>
                                <p:cTn id="90" presetID="42" presetClass="path" presetSubtype="0" accel="50000" decel="50000" fill="hold" grpId="1" nodeType="withEffect">
                                  <p:stCondLst>
                                    <p:cond delay="0"/>
                                  </p:stCondLst>
                                  <p:childTnLst>
                                    <p:animMotion origin="layout" path="M 0 0.00556 L -0.04167 0.14134 " pathEditMode="relative" rAng="0" ptsTypes="AA">
                                      <p:cBhvr>
                                        <p:cTn id="91" dur="2000" fill="hold"/>
                                        <p:tgtEl>
                                          <p:spTgt spid="83"/>
                                        </p:tgtEl>
                                        <p:attrNameLst>
                                          <p:attrName>ppt_x</p:attrName>
                                          <p:attrName>ppt_y</p:attrName>
                                        </p:attrNameLst>
                                      </p:cBhvr>
                                      <p:rCtr x="-2083" y="6778"/>
                                    </p:animMotion>
                                  </p:childTnLst>
                                </p:cTn>
                              </p:par>
                              <p:par>
                                <p:cTn id="92" presetID="42" presetClass="path" presetSubtype="0" accel="50000" decel="50000" fill="hold" grpId="1" nodeType="withEffect">
                                  <p:stCondLst>
                                    <p:cond delay="0"/>
                                  </p:stCondLst>
                                  <p:childTnLst>
                                    <p:animMotion origin="layout" path="M 0 0.00556 L -0.2125 0.18403 " pathEditMode="relative" rAng="0" ptsTypes="AA">
                                      <p:cBhvr>
                                        <p:cTn id="93" dur="2000" fill="hold"/>
                                        <p:tgtEl>
                                          <p:spTgt spid="82"/>
                                        </p:tgtEl>
                                        <p:attrNameLst>
                                          <p:attrName>ppt_x</p:attrName>
                                          <p:attrName>ppt_y</p:attrName>
                                        </p:attrNameLst>
                                      </p:cBhvr>
                                      <p:rCtr x="-10312" y="8634"/>
                                    </p:animMotion>
                                  </p:childTnLst>
                                </p:cTn>
                              </p:par>
                              <p:par>
                                <p:cTn id="94" presetID="42" presetClass="path" presetSubtype="0" accel="50000" decel="50000" fill="hold" grpId="1" nodeType="withEffect">
                                  <p:stCondLst>
                                    <p:cond delay="0"/>
                                  </p:stCondLst>
                                  <p:childTnLst>
                                    <p:animMotion origin="layout" path="M 0 1.11111E-6 L -0.175 -0.0169 " pathEditMode="relative" rAng="0" ptsTypes="AA">
                                      <p:cBhvr>
                                        <p:cTn id="95" dur="2000" fill="hold"/>
                                        <p:tgtEl>
                                          <p:spTgt spid="81"/>
                                        </p:tgtEl>
                                        <p:attrNameLst>
                                          <p:attrName>ppt_x</p:attrName>
                                          <p:attrName>ppt_y</p:attrName>
                                        </p:attrNameLst>
                                      </p:cBhvr>
                                      <p:rCtr x="-8750" y="-856"/>
                                    </p:animMotion>
                                  </p:childTnLst>
                                </p:cTn>
                              </p:par>
                            </p:childTnLst>
                          </p:cTn>
                        </p:par>
                      </p:childTnLst>
                    </p:cTn>
                  </p:par>
                  <p:par>
                    <p:cTn id="96" fill="hold">
                      <p:stCondLst>
                        <p:cond delay="indefinite"/>
                      </p:stCondLst>
                      <p:childTnLst>
                        <p:par>
                          <p:cTn id="97" fill="hold">
                            <p:stCondLst>
                              <p:cond delay="0"/>
                            </p:stCondLst>
                            <p:childTnLst>
                              <p:par>
                                <p:cTn id="98" presetID="1" presetClass="exit" presetSubtype="0" fill="hold" grpId="2" nodeType="clickEffect">
                                  <p:stCondLst>
                                    <p:cond delay="0"/>
                                  </p:stCondLst>
                                  <p:childTnLst>
                                    <p:set>
                                      <p:cBhvr>
                                        <p:cTn id="99" dur="1" fill="hold">
                                          <p:stCondLst>
                                            <p:cond delay="0"/>
                                          </p:stCondLst>
                                        </p:cTn>
                                        <p:tgtEl>
                                          <p:spTgt spid="81"/>
                                        </p:tgtEl>
                                        <p:attrNameLst>
                                          <p:attrName>style.visibility</p:attrName>
                                        </p:attrNameLst>
                                      </p:cBhvr>
                                      <p:to>
                                        <p:strVal val="hidden"/>
                                      </p:to>
                                    </p:set>
                                  </p:childTnLst>
                                </p:cTn>
                              </p:par>
                              <p:par>
                                <p:cTn id="100" presetID="1" presetClass="exit" presetSubtype="0" fill="hold" grpId="2" nodeType="withEffect">
                                  <p:stCondLst>
                                    <p:cond delay="0"/>
                                  </p:stCondLst>
                                  <p:childTnLst>
                                    <p:set>
                                      <p:cBhvr>
                                        <p:cTn id="101" dur="1" fill="hold">
                                          <p:stCondLst>
                                            <p:cond delay="0"/>
                                          </p:stCondLst>
                                        </p:cTn>
                                        <p:tgtEl>
                                          <p:spTgt spid="82"/>
                                        </p:tgtEl>
                                        <p:attrNameLst>
                                          <p:attrName>style.visibility</p:attrName>
                                        </p:attrNameLst>
                                      </p:cBhvr>
                                      <p:to>
                                        <p:strVal val="hidden"/>
                                      </p:to>
                                    </p:set>
                                  </p:childTnLst>
                                </p:cTn>
                              </p:par>
                              <p:par>
                                <p:cTn id="102" presetID="1" presetClass="exit" presetSubtype="0" fill="hold" grpId="2" nodeType="withEffect">
                                  <p:stCondLst>
                                    <p:cond delay="0"/>
                                  </p:stCondLst>
                                  <p:childTnLst>
                                    <p:set>
                                      <p:cBhvr>
                                        <p:cTn id="103" dur="1" fill="hold">
                                          <p:stCondLst>
                                            <p:cond delay="0"/>
                                          </p:stCondLst>
                                        </p:cTn>
                                        <p:tgtEl>
                                          <p:spTgt spid="83"/>
                                        </p:tgtEl>
                                        <p:attrNameLst>
                                          <p:attrName>style.visibility</p:attrName>
                                        </p:attrNameLst>
                                      </p:cBhvr>
                                      <p:to>
                                        <p:strVal val="hidden"/>
                                      </p:to>
                                    </p:set>
                                  </p:childTnLst>
                                </p:cTn>
                              </p:par>
                              <p:par>
                                <p:cTn id="104" presetID="1" presetClass="entr" presetSubtype="0" fill="hold" grpId="0" nodeType="withEffect">
                                  <p:stCondLst>
                                    <p:cond delay="0"/>
                                  </p:stCondLst>
                                  <p:childTnLst>
                                    <p:set>
                                      <p:cBhvr>
                                        <p:cTn id="105" dur="1" fill="hold">
                                          <p:stCondLst>
                                            <p:cond delay="0"/>
                                          </p:stCondLst>
                                        </p:cTn>
                                        <p:tgtEl>
                                          <p:spTgt spid="84"/>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85"/>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86"/>
                                        </p:tgtEl>
                                        <p:attrNameLst>
                                          <p:attrName>style.visibility</p:attrName>
                                        </p:attrNameLst>
                                      </p:cBhvr>
                                      <p:to>
                                        <p:strVal val="visible"/>
                                      </p:to>
                                    </p:set>
                                  </p:childTnLst>
                                </p:cTn>
                              </p:par>
                              <p:par>
                                <p:cTn id="110" presetID="6" presetClass="emph" presetSubtype="0" fill="hold" grpId="1" nodeType="withEffect">
                                  <p:stCondLst>
                                    <p:cond delay="0"/>
                                  </p:stCondLst>
                                  <p:childTnLst>
                                    <p:animScale>
                                      <p:cBhvr>
                                        <p:cTn id="111" dur="2000" fill="hold"/>
                                        <p:tgtEl>
                                          <p:spTgt spid="85"/>
                                        </p:tgtEl>
                                      </p:cBhvr>
                                      <p:by x="150000" y="150000"/>
                                    </p:animScale>
                                  </p:childTnLst>
                                </p:cTn>
                              </p:par>
                              <p:par>
                                <p:cTn id="112" presetID="6" presetClass="emph" presetSubtype="0" fill="hold" grpId="1" nodeType="withEffect">
                                  <p:stCondLst>
                                    <p:cond delay="0"/>
                                  </p:stCondLst>
                                  <p:childTnLst>
                                    <p:animScale>
                                      <p:cBhvr>
                                        <p:cTn id="113" dur="2000" fill="hold"/>
                                        <p:tgtEl>
                                          <p:spTgt spid="84"/>
                                        </p:tgtEl>
                                      </p:cBhvr>
                                      <p:by x="150000" y="150000"/>
                                    </p:animScale>
                                  </p:childTnLst>
                                </p:cTn>
                              </p:par>
                              <p:par>
                                <p:cTn id="114" presetID="6" presetClass="emph" presetSubtype="0" fill="hold" grpId="1" nodeType="withEffect">
                                  <p:stCondLst>
                                    <p:cond delay="0"/>
                                  </p:stCondLst>
                                  <p:childTnLst>
                                    <p:animScale>
                                      <p:cBhvr>
                                        <p:cTn id="115" dur="2000" fill="hold"/>
                                        <p:tgtEl>
                                          <p:spTgt spid="86"/>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1" grpId="0" animBg="1"/>
      <p:bldP spid="72" grpId="0" animBg="1"/>
      <p:bldP spid="73" grpId="0" animBg="1"/>
      <p:bldP spid="74" grpId="0"/>
      <p:bldP spid="76" grpId="0" animBg="1"/>
      <p:bldP spid="76" grpId="1" animBg="1"/>
      <p:bldP spid="76" grpId="2" animBg="1"/>
      <p:bldP spid="77" grpId="0" animBg="1"/>
      <p:bldP spid="77" grpId="1" animBg="1"/>
      <p:bldP spid="77" grpId="2" animBg="1"/>
      <p:bldP spid="78" grpId="0" animBg="1"/>
      <p:bldP spid="78" grpId="1" animBg="1"/>
      <p:bldP spid="79" grpId="0" animBg="1"/>
      <p:bldP spid="79" grpId="1" animBg="1"/>
      <p:bldP spid="80" grpId="0" animBg="1"/>
      <p:bldP spid="81" grpId="0" animBg="1"/>
      <p:bldP spid="81" grpId="1" animBg="1"/>
      <p:bldP spid="81" grpId="2" animBg="1"/>
      <p:bldP spid="82" grpId="0" animBg="1"/>
      <p:bldP spid="82" grpId="1" animBg="1"/>
      <p:bldP spid="82" grpId="2" animBg="1"/>
      <p:bldP spid="83" grpId="0" animBg="1"/>
      <p:bldP spid="83" grpId="1" animBg="1"/>
      <p:bldP spid="83" grpId="2" animBg="1"/>
      <p:bldP spid="84" grpId="0" animBg="1"/>
      <p:bldP spid="84" grpId="1" animBg="1"/>
      <p:bldP spid="85" grpId="0" animBg="1"/>
      <p:bldP spid="85" grpId="1" animBg="1"/>
      <p:bldP spid="86" grpId="0" animBg="1"/>
      <p:bldP spid="86"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Network Time Protocol (NTP)</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altLang="en-US" dirty="0"/>
              <a:t>NTP is an Application layer protocol</a:t>
            </a:r>
          </a:p>
          <a:p>
            <a:pPr marL="542925" lvl="1" indent="-269875">
              <a:defRPr/>
            </a:pPr>
            <a:r>
              <a:rPr lang="en-US" altLang="en-US" dirty="0"/>
              <a:t>The NTP service is provided by a </a:t>
            </a:r>
            <a:r>
              <a:rPr lang="en-US" altLang="en-US" dirty="0">
                <a:solidFill>
                  <a:srgbClr val="1D6199"/>
                </a:solidFill>
              </a:rPr>
              <a:t>network of servers located across the Internet.</a:t>
            </a:r>
          </a:p>
          <a:p>
            <a:pPr marL="542925" lvl="1" indent="-269875">
              <a:defRPr/>
            </a:pPr>
            <a:r>
              <a:rPr lang="en-US" altLang="en-US" dirty="0">
                <a:solidFill>
                  <a:srgbClr val="1D6199"/>
                </a:solidFill>
              </a:rPr>
              <a:t>Uses standard UDP</a:t>
            </a:r>
            <a:r>
              <a:rPr lang="en-US" altLang="en-US" dirty="0">
                <a:solidFill>
                  <a:schemeClr val="accent6"/>
                </a:solidFill>
              </a:rPr>
              <a:t> </a:t>
            </a:r>
            <a:r>
              <a:rPr lang="en-US" altLang="en-US" dirty="0"/>
              <a:t>Internet transport protocol</a:t>
            </a:r>
          </a:p>
          <a:p>
            <a:pPr marL="542925" lvl="1" indent="-269875">
              <a:defRPr/>
            </a:pPr>
            <a:r>
              <a:rPr lang="en-US" altLang="en-US" dirty="0"/>
              <a:t>Adjust system clock as </a:t>
            </a:r>
            <a:r>
              <a:rPr lang="en-US" altLang="en-US" dirty="0">
                <a:solidFill>
                  <a:srgbClr val="1D6199"/>
                </a:solidFill>
              </a:rPr>
              <a:t>close to UTC </a:t>
            </a:r>
            <a:r>
              <a:rPr lang="en-US" altLang="en-US" dirty="0"/>
              <a:t>as possible over the Internet.</a:t>
            </a:r>
          </a:p>
          <a:p>
            <a:pPr marL="542925" lvl="1" indent="-269875">
              <a:defRPr/>
            </a:pPr>
            <a:r>
              <a:rPr lang="en-US" altLang="en-US" dirty="0"/>
              <a:t>Enable sufficiently </a:t>
            </a:r>
            <a:r>
              <a:rPr lang="en-US" altLang="en-US" dirty="0">
                <a:solidFill>
                  <a:srgbClr val="1D6199"/>
                </a:solidFill>
              </a:rPr>
              <a:t>frequently resynchronizations</a:t>
            </a:r>
          </a:p>
          <a:p>
            <a:pPr marL="542925" lvl="1" indent="-269875">
              <a:defRPr/>
            </a:pPr>
            <a:r>
              <a:rPr lang="en-US" altLang="en-US" dirty="0"/>
              <a:t>Primary servers are connected directly to a </a:t>
            </a:r>
            <a:r>
              <a:rPr lang="en-US" altLang="en-US" dirty="0">
                <a:solidFill>
                  <a:srgbClr val="1D6199"/>
                </a:solidFill>
              </a:rPr>
              <a:t>time source </a:t>
            </a:r>
            <a:r>
              <a:rPr lang="en-US" altLang="en-US" dirty="0"/>
              <a:t>(e.g. a radio clock receiving UTC, GPS) of clients and servers.</a:t>
            </a:r>
          </a:p>
          <a:p>
            <a:pPr marL="542925" lvl="1" indent="-269875">
              <a:defRPr/>
            </a:pPr>
            <a:r>
              <a:rPr lang="en-US" altLang="en-US" dirty="0"/>
              <a:t>The servers are connected in a </a:t>
            </a:r>
            <a:r>
              <a:rPr lang="en-US" altLang="en-US" dirty="0">
                <a:solidFill>
                  <a:srgbClr val="1D6199"/>
                </a:solidFill>
              </a:rPr>
              <a:t>logical hierarchy </a:t>
            </a:r>
            <a:r>
              <a:rPr lang="en-US" altLang="en-US" dirty="0"/>
              <a:t>called a synchronization subnet.</a:t>
            </a:r>
          </a:p>
        </p:txBody>
      </p:sp>
      <p:grpSp>
        <p:nvGrpSpPr>
          <p:cNvPr id="5" name="Group 4"/>
          <p:cNvGrpSpPr/>
          <p:nvPr/>
        </p:nvGrpSpPr>
        <p:grpSpPr>
          <a:xfrm>
            <a:off x="4078416" y="4460760"/>
            <a:ext cx="4035168" cy="2174119"/>
            <a:chOff x="3061980" y="2254906"/>
            <a:chExt cx="4472754" cy="2450449"/>
          </a:xfrm>
        </p:grpSpPr>
        <p:sp>
          <p:nvSpPr>
            <p:cNvPr id="88" name="Line 4"/>
            <p:cNvSpPr>
              <a:spLocks noChangeShapeType="1"/>
            </p:cNvSpPr>
            <p:nvPr/>
          </p:nvSpPr>
          <p:spPr bwMode="auto">
            <a:xfrm>
              <a:off x="3561890" y="3784601"/>
              <a:ext cx="3972844" cy="0"/>
            </a:xfrm>
            <a:prstGeom prst="line">
              <a:avLst/>
            </a:prstGeom>
            <a:noFill/>
            <a:ln w="25400">
              <a:solidFill>
                <a:schemeClr val="tx1"/>
              </a:solidFill>
              <a:round/>
              <a:headEnd/>
              <a:tailEnd type="stealth" w="lg" len="lg"/>
            </a:ln>
          </p:spPr>
          <p:txBody>
            <a:bodyPr/>
            <a:lstStyle/>
            <a:p>
              <a:pPr>
                <a:defRPr/>
              </a:pPr>
              <a:endParaRPr lang="en-US">
                <a:latin typeface="+mj-lt"/>
                <a:ea typeface="+mn-ea"/>
              </a:endParaRPr>
            </a:p>
          </p:txBody>
        </p:sp>
        <p:sp>
          <p:nvSpPr>
            <p:cNvPr id="89" name="Line 5"/>
            <p:cNvSpPr>
              <a:spLocks noChangeShapeType="1"/>
            </p:cNvSpPr>
            <p:nvPr/>
          </p:nvSpPr>
          <p:spPr bwMode="auto">
            <a:xfrm>
              <a:off x="3561890" y="2870201"/>
              <a:ext cx="3972844" cy="0"/>
            </a:xfrm>
            <a:prstGeom prst="line">
              <a:avLst/>
            </a:prstGeom>
            <a:noFill/>
            <a:ln w="25400">
              <a:solidFill>
                <a:schemeClr val="tx1"/>
              </a:solidFill>
              <a:round/>
              <a:headEnd/>
              <a:tailEnd type="stealth" w="lg" len="lg"/>
            </a:ln>
          </p:spPr>
          <p:txBody>
            <a:bodyPr/>
            <a:lstStyle/>
            <a:p>
              <a:pPr>
                <a:defRPr/>
              </a:pPr>
              <a:endParaRPr lang="en-US">
                <a:latin typeface="+mj-lt"/>
                <a:ea typeface="+mn-ea"/>
              </a:endParaRPr>
            </a:p>
          </p:txBody>
        </p:sp>
        <p:sp>
          <p:nvSpPr>
            <p:cNvPr id="90" name="Text Box 6"/>
            <p:cNvSpPr txBox="1">
              <a:spLocks noChangeArrowheads="1"/>
            </p:cNvSpPr>
            <p:nvPr/>
          </p:nvSpPr>
          <p:spPr bwMode="auto">
            <a:xfrm>
              <a:off x="3133724" y="2641601"/>
              <a:ext cx="242887" cy="461665"/>
            </a:xfrm>
            <a:prstGeom prst="rect">
              <a:avLst/>
            </a:prstGeom>
            <a:noFill/>
            <a:ln w="25400">
              <a:noFill/>
              <a:miter lim="800000"/>
              <a:headEnd/>
              <a:tailEnd/>
            </a:ln>
          </p:spPr>
          <p:txBody>
            <a:bodyPr wrap="squar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sz="2000" b="1" i="1" dirty="0">
                  <a:solidFill>
                    <a:srgbClr val="1D6199"/>
                  </a:solidFill>
                  <a:latin typeface="+mn-lt"/>
                  <a:ea typeface="+mn-ea"/>
                </a:rPr>
                <a:t>B</a:t>
              </a:r>
            </a:p>
          </p:txBody>
        </p:sp>
        <p:sp>
          <p:nvSpPr>
            <p:cNvPr id="91" name="Text Box 7"/>
            <p:cNvSpPr txBox="1">
              <a:spLocks noChangeArrowheads="1"/>
            </p:cNvSpPr>
            <p:nvPr/>
          </p:nvSpPr>
          <p:spPr bwMode="auto">
            <a:xfrm>
              <a:off x="3061980" y="3551239"/>
              <a:ext cx="390831" cy="520343"/>
            </a:xfrm>
            <a:prstGeom prst="rect">
              <a:avLst/>
            </a:prstGeom>
            <a:noFill/>
            <a:ln w="25400">
              <a:noFill/>
              <a:miter lim="800000"/>
              <a:headEnd/>
              <a:tailEnd/>
            </a:ln>
          </p:spPr>
          <p:txBody>
            <a:bodyPr wrap="squar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b="1" i="1" dirty="0">
                  <a:solidFill>
                    <a:srgbClr val="1D6199"/>
                  </a:solidFill>
                  <a:latin typeface="+mj-lt"/>
                </a:rPr>
                <a:t>A</a:t>
              </a:r>
              <a:endParaRPr lang="en-US" altLang="en-US" b="1" i="1" baseline="-25000" dirty="0">
                <a:solidFill>
                  <a:srgbClr val="1D6199"/>
                </a:solidFill>
                <a:latin typeface="+mj-lt"/>
              </a:endParaRPr>
            </a:p>
          </p:txBody>
        </p:sp>
        <p:sp>
          <p:nvSpPr>
            <p:cNvPr id="93" name="Line 9"/>
            <p:cNvSpPr>
              <a:spLocks noChangeShapeType="1"/>
            </p:cNvSpPr>
            <p:nvPr/>
          </p:nvSpPr>
          <p:spPr bwMode="auto">
            <a:xfrm flipV="1">
              <a:off x="3911600" y="2871789"/>
              <a:ext cx="685800" cy="914400"/>
            </a:xfrm>
            <a:prstGeom prst="line">
              <a:avLst/>
            </a:prstGeom>
            <a:noFill/>
            <a:ln w="31750">
              <a:solidFill>
                <a:schemeClr val="bg1">
                  <a:lumMod val="50000"/>
                </a:schemeClr>
              </a:solidFill>
              <a:prstDash val="dash"/>
              <a:round/>
              <a:headEnd/>
              <a:tailEnd type="stealth" w="lg" len="lg"/>
            </a:ln>
          </p:spPr>
          <p:txBody>
            <a:bodyPr/>
            <a:lstStyle/>
            <a:p>
              <a:pPr>
                <a:defRPr/>
              </a:pPr>
              <a:endParaRPr lang="en-US">
                <a:latin typeface="+mj-lt"/>
                <a:ea typeface="+mn-ea"/>
              </a:endParaRPr>
            </a:p>
          </p:txBody>
        </p:sp>
        <p:sp>
          <p:nvSpPr>
            <p:cNvPr id="94" name="Line 10"/>
            <p:cNvSpPr>
              <a:spLocks noChangeShapeType="1"/>
            </p:cNvSpPr>
            <p:nvPr/>
          </p:nvSpPr>
          <p:spPr bwMode="auto">
            <a:xfrm>
              <a:off x="5908675" y="2870201"/>
              <a:ext cx="685800" cy="914400"/>
            </a:xfrm>
            <a:prstGeom prst="line">
              <a:avLst/>
            </a:prstGeom>
            <a:noFill/>
            <a:ln w="31750">
              <a:solidFill>
                <a:schemeClr val="bg1">
                  <a:lumMod val="50000"/>
                </a:schemeClr>
              </a:solidFill>
              <a:prstDash val="dash"/>
              <a:round/>
              <a:headEnd/>
              <a:tailEnd type="stealth" w="lg" len="lg"/>
            </a:ln>
          </p:spPr>
          <p:txBody>
            <a:bodyPr/>
            <a:lstStyle/>
            <a:p>
              <a:pPr>
                <a:defRPr/>
              </a:pPr>
              <a:endParaRPr lang="en-US">
                <a:latin typeface="+mj-lt"/>
                <a:ea typeface="+mn-ea"/>
              </a:endParaRPr>
            </a:p>
          </p:txBody>
        </p:sp>
        <p:sp>
          <p:nvSpPr>
            <p:cNvPr id="95" name="Text Box 11"/>
            <p:cNvSpPr txBox="1">
              <a:spLocks noChangeArrowheads="1"/>
            </p:cNvSpPr>
            <p:nvPr/>
          </p:nvSpPr>
          <p:spPr bwMode="auto">
            <a:xfrm>
              <a:off x="3581978" y="3109914"/>
              <a:ext cx="503664" cy="40011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i="1" dirty="0" err="1">
                  <a:latin typeface="+mj-lt"/>
                </a:rPr>
                <a:t>req</a:t>
              </a:r>
              <a:endParaRPr lang="en-US" altLang="en-US" sz="2000" i="1" dirty="0">
                <a:latin typeface="+mj-lt"/>
              </a:endParaRPr>
            </a:p>
          </p:txBody>
        </p:sp>
        <p:sp>
          <p:nvSpPr>
            <p:cNvPr id="96" name="Text Box 12"/>
            <p:cNvSpPr txBox="1">
              <a:spLocks noChangeArrowheads="1"/>
            </p:cNvSpPr>
            <p:nvPr/>
          </p:nvSpPr>
          <p:spPr bwMode="auto">
            <a:xfrm>
              <a:off x="6288087" y="3109914"/>
              <a:ext cx="615874" cy="40011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i="1" dirty="0" err="1">
                  <a:latin typeface="+mj-lt"/>
                </a:rPr>
                <a:t>resp</a:t>
              </a:r>
              <a:endParaRPr lang="en-US" altLang="en-US" sz="2000" i="1" dirty="0">
                <a:latin typeface="+mj-lt"/>
              </a:endParaRPr>
            </a:p>
          </p:txBody>
        </p:sp>
        <p:sp>
          <p:nvSpPr>
            <p:cNvPr id="97" name="Text Box 13"/>
            <p:cNvSpPr txBox="1">
              <a:spLocks noChangeArrowheads="1"/>
            </p:cNvSpPr>
            <p:nvPr/>
          </p:nvSpPr>
          <p:spPr bwMode="auto">
            <a:xfrm>
              <a:off x="3452812" y="3800476"/>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a:latin typeface="+mj-lt"/>
                </a:rPr>
                <a:t>T</a:t>
              </a:r>
              <a:r>
                <a:rPr lang="en-US" altLang="en-US" sz="2800" baseline="-25000">
                  <a:latin typeface="+mj-lt"/>
                </a:rPr>
                <a:t>0</a:t>
              </a:r>
            </a:p>
          </p:txBody>
        </p:sp>
        <p:sp>
          <p:nvSpPr>
            <p:cNvPr id="98" name="Text Box 14"/>
            <p:cNvSpPr txBox="1">
              <a:spLocks noChangeArrowheads="1"/>
            </p:cNvSpPr>
            <p:nvPr/>
          </p:nvSpPr>
          <p:spPr bwMode="auto">
            <a:xfrm>
              <a:off x="6553200" y="3800476"/>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dirty="0">
                  <a:latin typeface="+mj-lt"/>
                </a:rPr>
                <a:t>T</a:t>
              </a:r>
              <a:r>
                <a:rPr lang="en-US" altLang="en-US" sz="2800" baseline="-25000" dirty="0">
                  <a:latin typeface="+mj-lt"/>
                </a:rPr>
                <a:t>3</a:t>
              </a:r>
            </a:p>
          </p:txBody>
        </p:sp>
        <p:grpSp>
          <p:nvGrpSpPr>
            <p:cNvPr id="101" name="Group 17"/>
            <p:cNvGrpSpPr>
              <a:grpSpLocks/>
            </p:cNvGrpSpPr>
            <p:nvPr/>
          </p:nvGrpSpPr>
          <p:grpSpPr bwMode="auto">
            <a:xfrm>
              <a:off x="3833810" y="3860804"/>
              <a:ext cx="762000" cy="844551"/>
              <a:chOff x="1920" y="2784"/>
              <a:chExt cx="480" cy="532"/>
            </a:xfrm>
          </p:grpSpPr>
          <p:sp>
            <p:nvSpPr>
              <p:cNvPr id="102" name="AutoShape 18"/>
              <p:cNvSpPr>
                <a:spLocks/>
              </p:cNvSpPr>
              <p:nvPr/>
            </p:nvSpPr>
            <p:spPr bwMode="auto">
              <a:xfrm rot="5400000">
                <a:off x="2088" y="2664"/>
                <a:ext cx="192" cy="432"/>
              </a:xfrm>
              <a:prstGeom prst="rightBrace">
                <a:avLst>
                  <a:gd name="adj1" fmla="val 18750"/>
                  <a:gd name="adj2" fmla="val 50000"/>
                </a:avLst>
              </a:prstGeom>
              <a:noFill/>
              <a:ln w="25400">
                <a:solidFill>
                  <a:schemeClr val="tx1"/>
                </a:solidFill>
                <a:round/>
                <a:headEnd/>
                <a:tailEnd type="none" w="lg" len="lg"/>
              </a:ln>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103" name="Text Box 19"/>
              <p:cNvSpPr txBox="1">
                <a:spLocks noChangeArrowheads="1"/>
              </p:cNvSpPr>
              <p:nvPr/>
            </p:nvSpPr>
            <p:spPr bwMode="auto">
              <a:xfrm>
                <a:off x="1920" y="2986"/>
                <a:ext cx="382" cy="33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l-GR" sz="2800" dirty="0">
                    <a:latin typeface="+mj-lt"/>
                  </a:rPr>
                  <a:t> Δ</a:t>
                </a:r>
                <a:r>
                  <a:rPr lang="en-IN" sz="2800" baseline="-25000" dirty="0">
                    <a:latin typeface="+mj-lt"/>
                  </a:rPr>
                  <a:t>1</a:t>
                </a:r>
                <a:endParaRPr lang="en-US" altLang="en-US" sz="2800" baseline="-25000" dirty="0">
                  <a:latin typeface="+mj-lt"/>
                </a:endParaRPr>
              </a:p>
            </p:txBody>
          </p:sp>
        </p:grpSp>
        <p:sp>
          <p:nvSpPr>
            <p:cNvPr id="105" name="AutoShape 21"/>
            <p:cNvSpPr>
              <a:spLocks/>
            </p:cNvSpPr>
            <p:nvPr/>
          </p:nvSpPr>
          <p:spPr bwMode="auto">
            <a:xfrm rot="5400000">
              <a:off x="6081709" y="3670299"/>
              <a:ext cx="304800" cy="685800"/>
            </a:xfrm>
            <a:prstGeom prst="rightBrace">
              <a:avLst>
                <a:gd name="adj1" fmla="val 18750"/>
                <a:gd name="adj2" fmla="val 50000"/>
              </a:avLst>
            </a:prstGeom>
            <a:noFill/>
            <a:ln w="25400">
              <a:solidFill>
                <a:schemeClr val="tx1"/>
              </a:solidFill>
              <a:round/>
              <a:headEnd/>
              <a:tailEnd type="none" w="lg" len="lg"/>
            </a:ln>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107" name="Line 23"/>
            <p:cNvSpPr>
              <a:spLocks noChangeShapeType="1"/>
            </p:cNvSpPr>
            <p:nvPr/>
          </p:nvSpPr>
          <p:spPr bwMode="auto">
            <a:xfrm flipV="1">
              <a:off x="4595812" y="2870201"/>
              <a:ext cx="0" cy="914400"/>
            </a:xfrm>
            <a:prstGeom prst="line">
              <a:avLst/>
            </a:prstGeom>
            <a:noFill/>
            <a:ln w="31750">
              <a:solidFill>
                <a:schemeClr val="tx1"/>
              </a:solidFill>
              <a:prstDash val="dash"/>
              <a:round/>
              <a:headEnd/>
              <a:tailEnd type="none" w="lg" len="lg"/>
            </a:ln>
          </p:spPr>
          <p:txBody>
            <a:bodyPr/>
            <a:lstStyle/>
            <a:p>
              <a:pPr>
                <a:defRPr/>
              </a:pPr>
              <a:endParaRPr lang="en-US">
                <a:latin typeface="+mj-lt"/>
                <a:ea typeface="+mn-ea"/>
              </a:endParaRPr>
            </a:p>
          </p:txBody>
        </p:sp>
        <p:sp>
          <p:nvSpPr>
            <p:cNvPr id="108" name="Line 24"/>
            <p:cNvSpPr>
              <a:spLocks noChangeShapeType="1"/>
            </p:cNvSpPr>
            <p:nvPr/>
          </p:nvSpPr>
          <p:spPr bwMode="auto">
            <a:xfrm flipV="1">
              <a:off x="5891212" y="2870201"/>
              <a:ext cx="0" cy="914400"/>
            </a:xfrm>
            <a:prstGeom prst="line">
              <a:avLst/>
            </a:prstGeom>
            <a:noFill/>
            <a:ln w="31750">
              <a:solidFill>
                <a:schemeClr val="tx1"/>
              </a:solidFill>
              <a:prstDash val="dash"/>
              <a:round/>
              <a:headEnd/>
              <a:tailEnd type="none" w="lg" len="lg"/>
            </a:ln>
          </p:spPr>
          <p:txBody>
            <a:bodyPr/>
            <a:lstStyle/>
            <a:p>
              <a:pPr>
                <a:defRPr/>
              </a:pPr>
              <a:endParaRPr lang="en-US">
                <a:latin typeface="+mj-lt"/>
                <a:ea typeface="+mn-ea"/>
              </a:endParaRPr>
            </a:p>
          </p:txBody>
        </p:sp>
        <p:sp>
          <p:nvSpPr>
            <p:cNvPr id="128" name="Text Box 13"/>
            <p:cNvSpPr txBox="1">
              <a:spLocks noChangeArrowheads="1"/>
            </p:cNvSpPr>
            <p:nvPr/>
          </p:nvSpPr>
          <p:spPr bwMode="auto">
            <a:xfrm>
              <a:off x="4194966" y="2254906"/>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dirty="0">
                  <a:latin typeface="+mj-lt"/>
                </a:rPr>
                <a:t>T</a:t>
              </a:r>
              <a:r>
                <a:rPr lang="en-US" altLang="en-US" sz="2800" baseline="-25000" dirty="0">
                  <a:latin typeface="+mj-lt"/>
                </a:rPr>
                <a:t>1</a:t>
              </a:r>
            </a:p>
          </p:txBody>
        </p:sp>
        <p:sp>
          <p:nvSpPr>
            <p:cNvPr id="129" name="Text Box 13"/>
            <p:cNvSpPr txBox="1">
              <a:spLocks noChangeArrowheads="1"/>
            </p:cNvSpPr>
            <p:nvPr/>
          </p:nvSpPr>
          <p:spPr bwMode="auto">
            <a:xfrm>
              <a:off x="5625927" y="2293802"/>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dirty="0">
                  <a:latin typeface="+mj-lt"/>
                </a:rPr>
                <a:t>T</a:t>
              </a:r>
              <a:r>
                <a:rPr lang="en-US" altLang="en-US" sz="2800" baseline="-25000" dirty="0">
                  <a:latin typeface="+mj-lt"/>
                </a:rPr>
                <a:t>2</a:t>
              </a:r>
            </a:p>
          </p:txBody>
        </p:sp>
        <p:sp>
          <p:nvSpPr>
            <p:cNvPr id="130" name="Text Box 19"/>
            <p:cNvSpPr txBox="1">
              <a:spLocks noChangeArrowheads="1"/>
            </p:cNvSpPr>
            <p:nvPr/>
          </p:nvSpPr>
          <p:spPr bwMode="auto">
            <a:xfrm>
              <a:off x="5871347" y="4160898"/>
              <a:ext cx="606256"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l-GR" sz="2800" dirty="0">
                  <a:latin typeface="+mj-lt"/>
                </a:rPr>
                <a:t> Δ</a:t>
              </a:r>
              <a:r>
                <a:rPr lang="en-IN" sz="2800" baseline="-25000" dirty="0">
                  <a:latin typeface="+mj-lt"/>
                </a:rPr>
                <a:t>2</a:t>
              </a:r>
              <a:endParaRPr lang="en-US" altLang="en-US" sz="2800" baseline="-25000" dirty="0">
                <a:latin typeface="+mj-lt"/>
              </a:endParaRPr>
            </a:p>
          </p:txBody>
        </p:sp>
      </p:grpSp>
    </p:spTree>
    <p:extLst>
      <p:ext uri="{BB962C8B-B14F-4D97-AF65-F5344CB8AC3E}">
        <p14:creationId xmlns:p14="http://schemas.microsoft.com/office/powerpoint/2010/main" val="3098638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Network Time Protocol (NTP)</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altLang="en-US" dirty="0"/>
              <a:t>NTP defines an architecture for a time service and a protocol to distribute time information over the Internet</a:t>
            </a:r>
          </a:p>
          <a:p>
            <a:r>
              <a:rPr lang="en-US" altLang="en-US" dirty="0"/>
              <a:t>In NTP, servers are connected in a logical hierarchy called </a:t>
            </a:r>
            <a:r>
              <a:rPr lang="en-US" altLang="en-US" i="1" dirty="0"/>
              <a:t>synchronization subnet</a:t>
            </a:r>
            <a:endParaRPr lang="en-US" altLang="en-US" dirty="0"/>
          </a:p>
          <a:p>
            <a:r>
              <a:rPr lang="en-US" altLang="en-US" dirty="0"/>
              <a:t>The levels of synchronization subnet is called </a:t>
            </a:r>
            <a:r>
              <a:rPr lang="en-US" altLang="en-US" i="1" dirty="0"/>
              <a:t>strata</a:t>
            </a:r>
          </a:p>
          <a:p>
            <a:pPr marL="714375" lvl="2" indent="-357188">
              <a:defRPr/>
            </a:pPr>
            <a:r>
              <a:rPr lang="en-US" altLang="en-US" sz="2400" dirty="0"/>
              <a:t>Stratum 1 servers have most </a:t>
            </a:r>
            <a:r>
              <a:rPr lang="en-US" altLang="en-US" sz="2400" dirty="0">
                <a:solidFill>
                  <a:srgbClr val="1D6199"/>
                </a:solidFill>
              </a:rPr>
              <a:t>accurate time information </a:t>
            </a:r>
            <a:r>
              <a:rPr lang="en-US" altLang="en-US" sz="2400" dirty="0"/>
              <a:t>(connected to a UTC receiver)</a:t>
            </a:r>
          </a:p>
          <a:p>
            <a:pPr marL="714375" lvl="2" indent="-357188">
              <a:defRPr/>
            </a:pPr>
            <a:r>
              <a:rPr lang="en-US" altLang="en-US" sz="2400" dirty="0"/>
              <a:t>Servers in each stratum act as </a:t>
            </a:r>
            <a:r>
              <a:rPr lang="en-US" altLang="en-US" sz="2400" dirty="0">
                <a:solidFill>
                  <a:srgbClr val="1D6199"/>
                </a:solidFill>
              </a:rPr>
              <a:t>time servers </a:t>
            </a:r>
            <a:r>
              <a:rPr lang="en-US" altLang="en-US" sz="2400" dirty="0"/>
              <a:t>to the servers in the lower stratum</a:t>
            </a:r>
          </a:p>
        </p:txBody>
      </p:sp>
    </p:spTree>
    <p:extLst>
      <p:ext uri="{BB962C8B-B14F-4D97-AF65-F5344CB8AC3E}">
        <p14:creationId xmlns:p14="http://schemas.microsoft.com/office/powerpoint/2010/main" val="3005272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Hierarchical organization of NTP Servers</a:t>
            </a:r>
          </a:p>
        </p:txBody>
      </p:sp>
      <p:sp>
        <p:nvSpPr>
          <p:cNvPr id="9" name="Freeform 8"/>
          <p:cNvSpPr/>
          <p:nvPr/>
        </p:nvSpPr>
        <p:spPr>
          <a:xfrm>
            <a:off x="3041738" y="1181114"/>
            <a:ext cx="9019083" cy="1008024"/>
          </a:xfrm>
          <a:custGeom>
            <a:avLst/>
            <a:gdLst>
              <a:gd name="connsiteX0" fmla="*/ 107887 w 647311"/>
              <a:gd name="connsiteY0" fmla="*/ 0 h 6205726"/>
              <a:gd name="connsiteX1" fmla="*/ 539424 w 647311"/>
              <a:gd name="connsiteY1" fmla="*/ 0 h 6205726"/>
              <a:gd name="connsiteX2" fmla="*/ 647311 w 647311"/>
              <a:gd name="connsiteY2" fmla="*/ 107887 h 6205726"/>
              <a:gd name="connsiteX3" fmla="*/ 647311 w 647311"/>
              <a:gd name="connsiteY3" fmla="*/ 6205726 h 6205726"/>
              <a:gd name="connsiteX4" fmla="*/ 647311 w 647311"/>
              <a:gd name="connsiteY4" fmla="*/ 6205726 h 6205726"/>
              <a:gd name="connsiteX5" fmla="*/ 0 w 647311"/>
              <a:gd name="connsiteY5" fmla="*/ 6205726 h 6205726"/>
              <a:gd name="connsiteX6" fmla="*/ 0 w 647311"/>
              <a:gd name="connsiteY6" fmla="*/ 6205726 h 6205726"/>
              <a:gd name="connsiteX7" fmla="*/ 0 w 647311"/>
              <a:gd name="connsiteY7" fmla="*/ 107887 h 6205726"/>
              <a:gd name="connsiteX8" fmla="*/ 107887 w 647311"/>
              <a:gd name="connsiteY8" fmla="*/ 0 h 620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311" h="6205726">
                <a:moveTo>
                  <a:pt x="647311" y="1034308"/>
                </a:moveTo>
                <a:lnTo>
                  <a:pt x="647311" y="5171418"/>
                </a:lnTo>
                <a:cubicBezTo>
                  <a:pt x="647311" y="5742644"/>
                  <a:pt x="642273" y="6205721"/>
                  <a:pt x="636057" y="6205721"/>
                </a:cubicBezTo>
                <a:lnTo>
                  <a:pt x="0" y="6205721"/>
                </a:lnTo>
                <a:lnTo>
                  <a:pt x="0" y="6205721"/>
                </a:lnTo>
                <a:lnTo>
                  <a:pt x="0" y="5"/>
                </a:lnTo>
                <a:lnTo>
                  <a:pt x="0" y="5"/>
                </a:lnTo>
                <a:lnTo>
                  <a:pt x="636057" y="5"/>
                </a:lnTo>
                <a:cubicBezTo>
                  <a:pt x="642273" y="5"/>
                  <a:pt x="647311" y="463082"/>
                  <a:pt x="647311" y="1034308"/>
                </a:cubicBezTo>
                <a:close/>
              </a:path>
            </a:pathLst>
          </a:custGeom>
          <a:solidFill>
            <a:schemeClr val="bg1">
              <a:lumMod val="85000"/>
            </a:schemeClr>
          </a:solidFill>
          <a:ln>
            <a:noFill/>
          </a:ln>
          <a:effectLst/>
          <a:scene3d>
            <a:camera prst="orthographicFront"/>
            <a:lightRig rig="flat" dir="t"/>
          </a:scene3d>
          <a:sp3d extrusionH="12700" prstMaterial="plastic"/>
        </p:spPr>
        <p:style>
          <a:lnRef idx="1">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2">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55424" rIns="279249" bIns="155425"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t>This stratum contains the </a:t>
            </a:r>
            <a:r>
              <a:rPr lang="en-US" sz="2400" i="1" kern="1200" dirty="0"/>
              <a:t>primary servers</a:t>
            </a:r>
            <a:r>
              <a:rPr lang="en-US" sz="2400" kern="1200" dirty="0"/>
              <a:t> that are directly connected to the UTC receivers</a:t>
            </a:r>
          </a:p>
        </p:txBody>
      </p:sp>
      <p:sp>
        <p:nvSpPr>
          <p:cNvPr id="11" name="Freeform 10"/>
          <p:cNvSpPr/>
          <p:nvPr/>
        </p:nvSpPr>
        <p:spPr>
          <a:xfrm>
            <a:off x="3041738" y="2526969"/>
            <a:ext cx="9019083" cy="728261"/>
          </a:xfrm>
          <a:custGeom>
            <a:avLst/>
            <a:gdLst>
              <a:gd name="connsiteX0" fmla="*/ 107887 w 647311"/>
              <a:gd name="connsiteY0" fmla="*/ 0 h 6205726"/>
              <a:gd name="connsiteX1" fmla="*/ 539424 w 647311"/>
              <a:gd name="connsiteY1" fmla="*/ 0 h 6205726"/>
              <a:gd name="connsiteX2" fmla="*/ 647311 w 647311"/>
              <a:gd name="connsiteY2" fmla="*/ 107887 h 6205726"/>
              <a:gd name="connsiteX3" fmla="*/ 647311 w 647311"/>
              <a:gd name="connsiteY3" fmla="*/ 6205726 h 6205726"/>
              <a:gd name="connsiteX4" fmla="*/ 647311 w 647311"/>
              <a:gd name="connsiteY4" fmla="*/ 6205726 h 6205726"/>
              <a:gd name="connsiteX5" fmla="*/ 0 w 647311"/>
              <a:gd name="connsiteY5" fmla="*/ 6205726 h 6205726"/>
              <a:gd name="connsiteX6" fmla="*/ 0 w 647311"/>
              <a:gd name="connsiteY6" fmla="*/ 6205726 h 6205726"/>
              <a:gd name="connsiteX7" fmla="*/ 0 w 647311"/>
              <a:gd name="connsiteY7" fmla="*/ 107887 h 6205726"/>
              <a:gd name="connsiteX8" fmla="*/ 107887 w 647311"/>
              <a:gd name="connsiteY8" fmla="*/ 0 h 620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311" h="6205726">
                <a:moveTo>
                  <a:pt x="647311" y="1034308"/>
                </a:moveTo>
                <a:lnTo>
                  <a:pt x="647311" y="5171418"/>
                </a:lnTo>
                <a:cubicBezTo>
                  <a:pt x="647311" y="5742644"/>
                  <a:pt x="642273" y="6205721"/>
                  <a:pt x="636057" y="6205721"/>
                </a:cubicBezTo>
                <a:lnTo>
                  <a:pt x="0" y="6205721"/>
                </a:lnTo>
                <a:lnTo>
                  <a:pt x="0" y="6205721"/>
                </a:lnTo>
                <a:lnTo>
                  <a:pt x="0" y="5"/>
                </a:lnTo>
                <a:lnTo>
                  <a:pt x="0" y="5"/>
                </a:lnTo>
                <a:lnTo>
                  <a:pt x="636057" y="5"/>
                </a:lnTo>
                <a:cubicBezTo>
                  <a:pt x="642273" y="5"/>
                  <a:pt x="647311" y="463082"/>
                  <a:pt x="647311" y="1034308"/>
                </a:cubicBezTo>
                <a:close/>
              </a:path>
            </a:pathLst>
          </a:custGeom>
          <a:solidFill>
            <a:schemeClr val="bg1">
              <a:lumMod val="85000"/>
            </a:schemeClr>
          </a:solidFill>
          <a:ln>
            <a:noFill/>
          </a:ln>
          <a:effectLst/>
        </p:spPr>
        <p:style>
          <a:lnRef idx="1">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2">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55424" rIns="279249" bIns="155425"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t>Stratum 2 are secondary servers that are synchronized directly with primary servers</a:t>
            </a:r>
          </a:p>
        </p:txBody>
      </p:sp>
      <p:sp>
        <p:nvSpPr>
          <p:cNvPr id="13" name="Freeform 12"/>
          <p:cNvSpPr/>
          <p:nvPr/>
        </p:nvSpPr>
        <p:spPr>
          <a:xfrm>
            <a:off x="3041738" y="3631146"/>
            <a:ext cx="9019083" cy="647312"/>
          </a:xfrm>
          <a:custGeom>
            <a:avLst/>
            <a:gdLst>
              <a:gd name="connsiteX0" fmla="*/ 107887 w 647311"/>
              <a:gd name="connsiteY0" fmla="*/ 0 h 6205726"/>
              <a:gd name="connsiteX1" fmla="*/ 539424 w 647311"/>
              <a:gd name="connsiteY1" fmla="*/ 0 h 6205726"/>
              <a:gd name="connsiteX2" fmla="*/ 647311 w 647311"/>
              <a:gd name="connsiteY2" fmla="*/ 107887 h 6205726"/>
              <a:gd name="connsiteX3" fmla="*/ 647311 w 647311"/>
              <a:gd name="connsiteY3" fmla="*/ 6205726 h 6205726"/>
              <a:gd name="connsiteX4" fmla="*/ 647311 w 647311"/>
              <a:gd name="connsiteY4" fmla="*/ 6205726 h 6205726"/>
              <a:gd name="connsiteX5" fmla="*/ 0 w 647311"/>
              <a:gd name="connsiteY5" fmla="*/ 6205726 h 6205726"/>
              <a:gd name="connsiteX6" fmla="*/ 0 w 647311"/>
              <a:gd name="connsiteY6" fmla="*/ 6205726 h 6205726"/>
              <a:gd name="connsiteX7" fmla="*/ 0 w 647311"/>
              <a:gd name="connsiteY7" fmla="*/ 107887 h 6205726"/>
              <a:gd name="connsiteX8" fmla="*/ 107887 w 647311"/>
              <a:gd name="connsiteY8" fmla="*/ 0 h 620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311" h="6205726">
                <a:moveTo>
                  <a:pt x="647311" y="1034308"/>
                </a:moveTo>
                <a:lnTo>
                  <a:pt x="647311" y="5171418"/>
                </a:lnTo>
                <a:cubicBezTo>
                  <a:pt x="647311" y="5742644"/>
                  <a:pt x="642273" y="6205721"/>
                  <a:pt x="636057" y="6205721"/>
                </a:cubicBezTo>
                <a:lnTo>
                  <a:pt x="0" y="6205721"/>
                </a:lnTo>
                <a:lnTo>
                  <a:pt x="0" y="6205721"/>
                </a:lnTo>
                <a:lnTo>
                  <a:pt x="0" y="5"/>
                </a:lnTo>
                <a:lnTo>
                  <a:pt x="0" y="5"/>
                </a:lnTo>
                <a:lnTo>
                  <a:pt x="636057" y="5"/>
                </a:lnTo>
                <a:cubicBezTo>
                  <a:pt x="642273" y="5"/>
                  <a:pt x="647311" y="463082"/>
                  <a:pt x="647311" y="1034308"/>
                </a:cubicBezTo>
                <a:close/>
              </a:path>
            </a:pathLst>
          </a:custGeom>
          <a:solidFill>
            <a:schemeClr val="bg1">
              <a:lumMod val="85000"/>
            </a:schemeClr>
          </a:solidFill>
          <a:ln>
            <a:noFill/>
          </a:ln>
          <a:effectLst/>
        </p:spPr>
        <p:style>
          <a:lnRef idx="1">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2">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55424" rIns="279249" bIns="155425"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t>Stratum 3 synchronizes with Stratum 2 servers</a:t>
            </a:r>
          </a:p>
        </p:txBody>
      </p:sp>
      <p:sp>
        <p:nvSpPr>
          <p:cNvPr id="15" name="Freeform 14"/>
          <p:cNvSpPr/>
          <p:nvPr/>
        </p:nvSpPr>
        <p:spPr>
          <a:xfrm>
            <a:off x="3041738" y="5086193"/>
            <a:ext cx="9019083" cy="762157"/>
          </a:xfrm>
          <a:custGeom>
            <a:avLst/>
            <a:gdLst>
              <a:gd name="connsiteX0" fmla="*/ 107887 w 647311"/>
              <a:gd name="connsiteY0" fmla="*/ 0 h 6205726"/>
              <a:gd name="connsiteX1" fmla="*/ 539424 w 647311"/>
              <a:gd name="connsiteY1" fmla="*/ 0 h 6205726"/>
              <a:gd name="connsiteX2" fmla="*/ 647311 w 647311"/>
              <a:gd name="connsiteY2" fmla="*/ 107887 h 6205726"/>
              <a:gd name="connsiteX3" fmla="*/ 647311 w 647311"/>
              <a:gd name="connsiteY3" fmla="*/ 6205726 h 6205726"/>
              <a:gd name="connsiteX4" fmla="*/ 647311 w 647311"/>
              <a:gd name="connsiteY4" fmla="*/ 6205726 h 6205726"/>
              <a:gd name="connsiteX5" fmla="*/ 0 w 647311"/>
              <a:gd name="connsiteY5" fmla="*/ 6205726 h 6205726"/>
              <a:gd name="connsiteX6" fmla="*/ 0 w 647311"/>
              <a:gd name="connsiteY6" fmla="*/ 6205726 h 6205726"/>
              <a:gd name="connsiteX7" fmla="*/ 0 w 647311"/>
              <a:gd name="connsiteY7" fmla="*/ 107887 h 6205726"/>
              <a:gd name="connsiteX8" fmla="*/ 107887 w 647311"/>
              <a:gd name="connsiteY8" fmla="*/ 0 h 6205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311" h="6205726">
                <a:moveTo>
                  <a:pt x="647311" y="1034308"/>
                </a:moveTo>
                <a:lnTo>
                  <a:pt x="647311" y="5171418"/>
                </a:lnTo>
                <a:cubicBezTo>
                  <a:pt x="647311" y="5742644"/>
                  <a:pt x="642273" y="6205721"/>
                  <a:pt x="636057" y="6205721"/>
                </a:cubicBezTo>
                <a:lnTo>
                  <a:pt x="0" y="6205721"/>
                </a:lnTo>
                <a:lnTo>
                  <a:pt x="0" y="6205721"/>
                </a:lnTo>
                <a:lnTo>
                  <a:pt x="0" y="5"/>
                </a:lnTo>
                <a:lnTo>
                  <a:pt x="0" y="5"/>
                </a:lnTo>
                <a:lnTo>
                  <a:pt x="636057" y="5"/>
                </a:lnTo>
                <a:cubicBezTo>
                  <a:pt x="642273" y="5"/>
                  <a:pt x="647311" y="463082"/>
                  <a:pt x="647311" y="1034308"/>
                </a:cubicBezTo>
                <a:close/>
              </a:path>
            </a:pathLst>
          </a:custGeom>
          <a:solidFill>
            <a:schemeClr val="bg1">
              <a:lumMod val="85000"/>
            </a:schemeClr>
          </a:solidFill>
          <a:ln>
            <a:noFill/>
          </a:ln>
          <a:effectLst/>
        </p:spPr>
        <p:style>
          <a:lnRef idx="1">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2">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55425" rIns="279249" bIns="155424"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t>End user computers synchronize with the servers in the upper layer stratum</a:t>
            </a:r>
          </a:p>
        </p:txBody>
      </p:sp>
      <p:grpSp>
        <p:nvGrpSpPr>
          <p:cNvPr id="17" name="Group 16"/>
          <p:cNvGrpSpPr/>
          <p:nvPr/>
        </p:nvGrpSpPr>
        <p:grpSpPr>
          <a:xfrm>
            <a:off x="1552543" y="1101405"/>
            <a:ext cx="1487926" cy="4746944"/>
            <a:chOff x="1552543" y="1101405"/>
            <a:chExt cx="1487926" cy="4746944"/>
          </a:xfrm>
        </p:grpSpPr>
        <p:sp>
          <p:nvSpPr>
            <p:cNvPr id="10" name="Freeform 9"/>
            <p:cNvSpPr/>
            <p:nvPr/>
          </p:nvSpPr>
          <p:spPr>
            <a:xfrm>
              <a:off x="1552543" y="1101405"/>
              <a:ext cx="1487926" cy="1182900"/>
            </a:xfrm>
            <a:custGeom>
              <a:avLst/>
              <a:gdLst>
                <a:gd name="connsiteX0" fmla="*/ 0 w 1487926"/>
                <a:gd name="connsiteY0" fmla="*/ 222915 h 1337465"/>
                <a:gd name="connsiteX1" fmla="*/ 222915 w 1487926"/>
                <a:gd name="connsiteY1" fmla="*/ 0 h 1337465"/>
                <a:gd name="connsiteX2" fmla="*/ 1265011 w 1487926"/>
                <a:gd name="connsiteY2" fmla="*/ 0 h 1337465"/>
                <a:gd name="connsiteX3" fmla="*/ 1487926 w 1487926"/>
                <a:gd name="connsiteY3" fmla="*/ 222915 h 1337465"/>
                <a:gd name="connsiteX4" fmla="*/ 1487926 w 1487926"/>
                <a:gd name="connsiteY4" fmla="*/ 1114550 h 1337465"/>
                <a:gd name="connsiteX5" fmla="*/ 1265011 w 1487926"/>
                <a:gd name="connsiteY5" fmla="*/ 1337465 h 1337465"/>
                <a:gd name="connsiteX6" fmla="*/ 222915 w 1487926"/>
                <a:gd name="connsiteY6" fmla="*/ 1337465 h 1337465"/>
                <a:gd name="connsiteX7" fmla="*/ 0 w 1487926"/>
                <a:gd name="connsiteY7" fmla="*/ 1114550 h 1337465"/>
                <a:gd name="connsiteX8" fmla="*/ 0 w 1487926"/>
                <a:gd name="connsiteY8" fmla="*/ 222915 h 1337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7926" h="1337465">
                  <a:moveTo>
                    <a:pt x="0" y="222915"/>
                  </a:moveTo>
                  <a:cubicBezTo>
                    <a:pt x="0" y="99802"/>
                    <a:pt x="99802" y="0"/>
                    <a:pt x="222915" y="0"/>
                  </a:cubicBezTo>
                  <a:lnTo>
                    <a:pt x="1265011" y="0"/>
                  </a:lnTo>
                  <a:cubicBezTo>
                    <a:pt x="1388124" y="0"/>
                    <a:pt x="1487926" y="99802"/>
                    <a:pt x="1487926" y="222915"/>
                  </a:cubicBezTo>
                  <a:lnTo>
                    <a:pt x="1487926" y="1114550"/>
                  </a:lnTo>
                  <a:cubicBezTo>
                    <a:pt x="1487926" y="1237663"/>
                    <a:pt x="1388124" y="1337465"/>
                    <a:pt x="1265011" y="1337465"/>
                  </a:cubicBezTo>
                  <a:lnTo>
                    <a:pt x="222915" y="1337465"/>
                  </a:lnTo>
                  <a:cubicBezTo>
                    <a:pt x="99802" y="1337465"/>
                    <a:pt x="0" y="1237663"/>
                    <a:pt x="0" y="1114550"/>
                  </a:cubicBezTo>
                  <a:lnTo>
                    <a:pt x="0" y="222915"/>
                  </a:lnTo>
                  <a:close/>
                </a:path>
              </a:pathLst>
            </a:custGeom>
            <a:solidFill>
              <a:srgbClr val="1D3064"/>
            </a:solidFill>
            <a:scene3d>
              <a:camera prst="orthographicFront"/>
              <a:lightRig rig="flat" dir="t"/>
            </a:scene3d>
            <a:sp3d prstMaterial="plastic">
              <a:bevelB w="88900" h="31750" prst="angle"/>
            </a:sp3d>
          </p:spPr>
          <p:style>
            <a:lnRef idx="0">
              <a:schemeClr val="lt1">
                <a:hueOff val="0"/>
                <a:satOff val="0"/>
                <a:lumOff val="0"/>
                <a:alphaOff val="0"/>
              </a:schemeClr>
            </a:lnRef>
            <a:fillRef idx="3">
              <a:scrgbClr r="0" g="0" b="0"/>
            </a:fillRef>
            <a:effectRef idx="2">
              <a:schemeClr val="accent2">
                <a:shade val="80000"/>
                <a:hueOff val="0"/>
                <a:satOff val="0"/>
                <a:lumOff val="0"/>
                <a:alphaOff val="0"/>
              </a:schemeClr>
            </a:effectRef>
            <a:fontRef idx="minor">
              <a:schemeClr val="lt1"/>
            </a:fontRef>
          </p:style>
          <p:txBody>
            <a:bodyPr spcFirstLastPara="0" vert="horz" wrap="square" lIns="133870" tIns="99580" rIns="133870" bIns="99580" numCol="1" spcCol="1270" anchor="ctr" anchorCtr="0">
              <a:noAutofit/>
            </a:bodyPr>
            <a:lstStyle/>
            <a:p>
              <a:pPr lvl="0" algn="ctr" defTabSz="800100">
                <a:lnSpc>
                  <a:spcPct val="90000"/>
                </a:lnSpc>
                <a:spcBef>
                  <a:spcPct val="0"/>
                </a:spcBef>
                <a:spcAft>
                  <a:spcPct val="35000"/>
                </a:spcAft>
              </a:pPr>
              <a:r>
                <a:rPr lang="en-US" sz="2400" kern="1200" dirty="0"/>
                <a:t>Stratum 1</a:t>
              </a:r>
            </a:p>
          </p:txBody>
        </p:sp>
        <p:sp>
          <p:nvSpPr>
            <p:cNvPr id="12" name="Freeform 11"/>
            <p:cNvSpPr/>
            <p:nvPr/>
          </p:nvSpPr>
          <p:spPr>
            <a:xfrm>
              <a:off x="1552543" y="2436548"/>
              <a:ext cx="1487926" cy="885343"/>
            </a:xfrm>
            <a:custGeom>
              <a:avLst/>
              <a:gdLst>
                <a:gd name="connsiteX0" fmla="*/ 0 w 1487926"/>
                <a:gd name="connsiteY0" fmla="*/ 134859 h 809138"/>
                <a:gd name="connsiteX1" fmla="*/ 134859 w 1487926"/>
                <a:gd name="connsiteY1" fmla="*/ 0 h 809138"/>
                <a:gd name="connsiteX2" fmla="*/ 1353067 w 1487926"/>
                <a:gd name="connsiteY2" fmla="*/ 0 h 809138"/>
                <a:gd name="connsiteX3" fmla="*/ 1487926 w 1487926"/>
                <a:gd name="connsiteY3" fmla="*/ 134859 h 809138"/>
                <a:gd name="connsiteX4" fmla="*/ 1487926 w 1487926"/>
                <a:gd name="connsiteY4" fmla="*/ 674279 h 809138"/>
                <a:gd name="connsiteX5" fmla="*/ 1353067 w 1487926"/>
                <a:gd name="connsiteY5" fmla="*/ 809138 h 809138"/>
                <a:gd name="connsiteX6" fmla="*/ 134859 w 1487926"/>
                <a:gd name="connsiteY6" fmla="*/ 809138 h 809138"/>
                <a:gd name="connsiteX7" fmla="*/ 0 w 1487926"/>
                <a:gd name="connsiteY7" fmla="*/ 674279 h 809138"/>
                <a:gd name="connsiteX8" fmla="*/ 0 w 1487926"/>
                <a:gd name="connsiteY8" fmla="*/ 134859 h 8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7926" h="809138">
                  <a:moveTo>
                    <a:pt x="0" y="134859"/>
                  </a:moveTo>
                  <a:cubicBezTo>
                    <a:pt x="0" y="60378"/>
                    <a:pt x="60378" y="0"/>
                    <a:pt x="134859" y="0"/>
                  </a:cubicBezTo>
                  <a:lnTo>
                    <a:pt x="1353067" y="0"/>
                  </a:lnTo>
                  <a:cubicBezTo>
                    <a:pt x="1427548" y="0"/>
                    <a:pt x="1487926" y="60378"/>
                    <a:pt x="1487926" y="134859"/>
                  </a:cubicBezTo>
                  <a:lnTo>
                    <a:pt x="1487926" y="674279"/>
                  </a:lnTo>
                  <a:cubicBezTo>
                    <a:pt x="1487926" y="748760"/>
                    <a:pt x="1427548" y="809138"/>
                    <a:pt x="1353067" y="809138"/>
                  </a:cubicBezTo>
                  <a:lnTo>
                    <a:pt x="134859" y="809138"/>
                  </a:lnTo>
                  <a:cubicBezTo>
                    <a:pt x="60378" y="809138"/>
                    <a:pt x="0" y="748760"/>
                    <a:pt x="0" y="674279"/>
                  </a:cubicBezTo>
                  <a:lnTo>
                    <a:pt x="0" y="134859"/>
                  </a:lnTo>
                  <a:close/>
                </a:path>
              </a:pathLst>
            </a:custGeom>
            <a:solidFill>
              <a:srgbClr val="1D3064"/>
            </a:solidFill>
            <a:scene3d>
              <a:camera prst="orthographicFront"/>
              <a:lightRig rig="flat" dir="t"/>
            </a:scene3d>
            <a:sp3d prstMaterial="plastic">
              <a:bevelB w="88900" h="31750" prst="angle"/>
            </a:sp3d>
          </p:spPr>
          <p:style>
            <a:lnRef idx="0">
              <a:schemeClr val="lt1">
                <a:hueOff val="0"/>
                <a:satOff val="0"/>
                <a:lumOff val="0"/>
                <a:alphaOff val="0"/>
              </a:schemeClr>
            </a:lnRef>
            <a:fillRef idx="3">
              <a:scrgbClr r="0" g="0" b="0"/>
            </a:fillRef>
            <a:effectRef idx="2">
              <a:schemeClr val="accent2">
                <a:shade val="80000"/>
                <a:hueOff val="96491"/>
                <a:satOff val="-14538"/>
                <a:lumOff val="11978"/>
                <a:alphaOff val="0"/>
              </a:schemeClr>
            </a:effectRef>
            <a:fontRef idx="minor">
              <a:schemeClr val="lt1"/>
            </a:fontRef>
          </p:style>
          <p:txBody>
            <a:bodyPr spcFirstLastPara="0" vert="horz" wrap="square" lIns="108079" tIns="73789" rIns="108079" bIns="73789" numCol="1" spcCol="1270" anchor="ctr" anchorCtr="0">
              <a:noAutofit/>
            </a:bodyPr>
            <a:lstStyle/>
            <a:p>
              <a:pPr lvl="0" algn="ctr" defTabSz="800100">
                <a:lnSpc>
                  <a:spcPct val="90000"/>
                </a:lnSpc>
                <a:spcBef>
                  <a:spcPct val="0"/>
                </a:spcBef>
                <a:spcAft>
                  <a:spcPct val="35000"/>
                </a:spcAft>
              </a:pPr>
              <a:r>
                <a:rPr lang="en-US" sz="2400" kern="1200" dirty="0"/>
                <a:t>Stratum 2</a:t>
              </a:r>
            </a:p>
          </p:txBody>
        </p:sp>
        <p:sp>
          <p:nvSpPr>
            <p:cNvPr id="14" name="Freeform 13"/>
            <p:cNvSpPr/>
            <p:nvPr/>
          </p:nvSpPr>
          <p:spPr>
            <a:xfrm>
              <a:off x="1552543" y="3550268"/>
              <a:ext cx="1487926" cy="809138"/>
            </a:xfrm>
            <a:custGeom>
              <a:avLst/>
              <a:gdLst>
                <a:gd name="connsiteX0" fmla="*/ 0 w 1487926"/>
                <a:gd name="connsiteY0" fmla="*/ 134859 h 809138"/>
                <a:gd name="connsiteX1" fmla="*/ 134859 w 1487926"/>
                <a:gd name="connsiteY1" fmla="*/ 0 h 809138"/>
                <a:gd name="connsiteX2" fmla="*/ 1353067 w 1487926"/>
                <a:gd name="connsiteY2" fmla="*/ 0 h 809138"/>
                <a:gd name="connsiteX3" fmla="*/ 1487926 w 1487926"/>
                <a:gd name="connsiteY3" fmla="*/ 134859 h 809138"/>
                <a:gd name="connsiteX4" fmla="*/ 1487926 w 1487926"/>
                <a:gd name="connsiteY4" fmla="*/ 674279 h 809138"/>
                <a:gd name="connsiteX5" fmla="*/ 1353067 w 1487926"/>
                <a:gd name="connsiteY5" fmla="*/ 809138 h 809138"/>
                <a:gd name="connsiteX6" fmla="*/ 134859 w 1487926"/>
                <a:gd name="connsiteY6" fmla="*/ 809138 h 809138"/>
                <a:gd name="connsiteX7" fmla="*/ 0 w 1487926"/>
                <a:gd name="connsiteY7" fmla="*/ 674279 h 809138"/>
                <a:gd name="connsiteX8" fmla="*/ 0 w 1487926"/>
                <a:gd name="connsiteY8" fmla="*/ 134859 h 8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7926" h="809138">
                  <a:moveTo>
                    <a:pt x="0" y="134859"/>
                  </a:moveTo>
                  <a:cubicBezTo>
                    <a:pt x="0" y="60378"/>
                    <a:pt x="60378" y="0"/>
                    <a:pt x="134859" y="0"/>
                  </a:cubicBezTo>
                  <a:lnTo>
                    <a:pt x="1353067" y="0"/>
                  </a:lnTo>
                  <a:cubicBezTo>
                    <a:pt x="1427548" y="0"/>
                    <a:pt x="1487926" y="60378"/>
                    <a:pt x="1487926" y="134859"/>
                  </a:cubicBezTo>
                  <a:lnTo>
                    <a:pt x="1487926" y="674279"/>
                  </a:lnTo>
                  <a:cubicBezTo>
                    <a:pt x="1487926" y="748760"/>
                    <a:pt x="1427548" y="809138"/>
                    <a:pt x="1353067" y="809138"/>
                  </a:cubicBezTo>
                  <a:lnTo>
                    <a:pt x="134859" y="809138"/>
                  </a:lnTo>
                  <a:cubicBezTo>
                    <a:pt x="60378" y="809138"/>
                    <a:pt x="0" y="748760"/>
                    <a:pt x="0" y="674279"/>
                  </a:cubicBezTo>
                  <a:lnTo>
                    <a:pt x="0" y="134859"/>
                  </a:lnTo>
                  <a:close/>
                </a:path>
              </a:pathLst>
            </a:custGeom>
            <a:solidFill>
              <a:srgbClr val="1D3064"/>
            </a:solidFill>
            <a:scene3d>
              <a:camera prst="orthographicFront"/>
              <a:lightRig rig="flat" dir="t"/>
            </a:scene3d>
            <a:sp3d prstMaterial="plastic">
              <a:bevelB w="88900" h="31750" prst="angle"/>
            </a:sp3d>
          </p:spPr>
          <p:style>
            <a:lnRef idx="0">
              <a:schemeClr val="lt1">
                <a:hueOff val="0"/>
                <a:satOff val="0"/>
                <a:lumOff val="0"/>
                <a:alphaOff val="0"/>
              </a:schemeClr>
            </a:lnRef>
            <a:fillRef idx="3">
              <a:scrgbClr r="0" g="0" b="0"/>
            </a:fillRef>
            <a:effectRef idx="2">
              <a:schemeClr val="accent2">
                <a:shade val="80000"/>
                <a:hueOff val="192983"/>
                <a:satOff val="-29077"/>
                <a:lumOff val="23955"/>
                <a:alphaOff val="0"/>
              </a:schemeClr>
            </a:effectRef>
            <a:fontRef idx="minor">
              <a:schemeClr val="lt1"/>
            </a:fontRef>
          </p:style>
          <p:txBody>
            <a:bodyPr spcFirstLastPara="0" vert="horz" wrap="square" lIns="108079" tIns="73789" rIns="108079" bIns="73789" numCol="1" spcCol="1270" anchor="ctr" anchorCtr="0">
              <a:noAutofit/>
            </a:bodyPr>
            <a:lstStyle/>
            <a:p>
              <a:pPr lvl="0" algn="ctr" defTabSz="800100">
                <a:lnSpc>
                  <a:spcPct val="90000"/>
                </a:lnSpc>
                <a:spcBef>
                  <a:spcPct val="0"/>
                </a:spcBef>
                <a:spcAft>
                  <a:spcPct val="35000"/>
                </a:spcAft>
              </a:pPr>
              <a:r>
                <a:rPr lang="en-US" sz="2400" kern="1200" dirty="0"/>
                <a:t>Stratum 3</a:t>
              </a:r>
            </a:p>
          </p:txBody>
        </p:sp>
        <p:sp>
          <p:nvSpPr>
            <p:cNvPr id="16" name="Freeform 15"/>
            <p:cNvSpPr/>
            <p:nvPr/>
          </p:nvSpPr>
          <p:spPr>
            <a:xfrm>
              <a:off x="1552543" y="5039211"/>
              <a:ext cx="1487926" cy="809138"/>
            </a:xfrm>
            <a:custGeom>
              <a:avLst/>
              <a:gdLst>
                <a:gd name="connsiteX0" fmla="*/ 0 w 1487926"/>
                <a:gd name="connsiteY0" fmla="*/ 134859 h 809138"/>
                <a:gd name="connsiteX1" fmla="*/ 134859 w 1487926"/>
                <a:gd name="connsiteY1" fmla="*/ 0 h 809138"/>
                <a:gd name="connsiteX2" fmla="*/ 1353067 w 1487926"/>
                <a:gd name="connsiteY2" fmla="*/ 0 h 809138"/>
                <a:gd name="connsiteX3" fmla="*/ 1487926 w 1487926"/>
                <a:gd name="connsiteY3" fmla="*/ 134859 h 809138"/>
                <a:gd name="connsiteX4" fmla="*/ 1487926 w 1487926"/>
                <a:gd name="connsiteY4" fmla="*/ 674279 h 809138"/>
                <a:gd name="connsiteX5" fmla="*/ 1353067 w 1487926"/>
                <a:gd name="connsiteY5" fmla="*/ 809138 h 809138"/>
                <a:gd name="connsiteX6" fmla="*/ 134859 w 1487926"/>
                <a:gd name="connsiteY6" fmla="*/ 809138 h 809138"/>
                <a:gd name="connsiteX7" fmla="*/ 0 w 1487926"/>
                <a:gd name="connsiteY7" fmla="*/ 674279 h 809138"/>
                <a:gd name="connsiteX8" fmla="*/ 0 w 1487926"/>
                <a:gd name="connsiteY8" fmla="*/ 134859 h 8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7926" h="809138">
                  <a:moveTo>
                    <a:pt x="0" y="134859"/>
                  </a:moveTo>
                  <a:cubicBezTo>
                    <a:pt x="0" y="60378"/>
                    <a:pt x="60378" y="0"/>
                    <a:pt x="134859" y="0"/>
                  </a:cubicBezTo>
                  <a:lnTo>
                    <a:pt x="1353067" y="0"/>
                  </a:lnTo>
                  <a:cubicBezTo>
                    <a:pt x="1427548" y="0"/>
                    <a:pt x="1487926" y="60378"/>
                    <a:pt x="1487926" y="134859"/>
                  </a:cubicBezTo>
                  <a:lnTo>
                    <a:pt x="1487926" y="674279"/>
                  </a:lnTo>
                  <a:cubicBezTo>
                    <a:pt x="1487926" y="748760"/>
                    <a:pt x="1427548" y="809138"/>
                    <a:pt x="1353067" y="809138"/>
                  </a:cubicBezTo>
                  <a:lnTo>
                    <a:pt x="134859" y="809138"/>
                  </a:lnTo>
                  <a:cubicBezTo>
                    <a:pt x="60378" y="809138"/>
                    <a:pt x="0" y="748760"/>
                    <a:pt x="0" y="674279"/>
                  </a:cubicBezTo>
                  <a:lnTo>
                    <a:pt x="0" y="134859"/>
                  </a:lnTo>
                  <a:close/>
                </a:path>
              </a:pathLst>
            </a:custGeom>
            <a:solidFill>
              <a:srgbClr val="1D3064"/>
            </a:solidFill>
            <a:scene3d>
              <a:camera prst="orthographicFront"/>
              <a:lightRig rig="flat" dir="t"/>
            </a:scene3d>
            <a:sp3d prstMaterial="plastic">
              <a:bevelB w="88900" h="31750" prst="angle"/>
            </a:sp3d>
          </p:spPr>
          <p:style>
            <a:lnRef idx="0">
              <a:schemeClr val="lt1">
                <a:hueOff val="0"/>
                <a:satOff val="0"/>
                <a:lumOff val="0"/>
                <a:alphaOff val="0"/>
              </a:schemeClr>
            </a:lnRef>
            <a:fillRef idx="3">
              <a:scrgbClr r="0" g="0" b="0"/>
            </a:fillRef>
            <a:effectRef idx="2">
              <a:schemeClr val="accent2">
                <a:shade val="80000"/>
                <a:hueOff val="289474"/>
                <a:satOff val="-43615"/>
                <a:lumOff val="35933"/>
                <a:alphaOff val="0"/>
              </a:schemeClr>
            </a:effectRef>
            <a:fontRef idx="minor">
              <a:schemeClr val="lt1"/>
            </a:fontRef>
          </p:style>
          <p:txBody>
            <a:bodyPr spcFirstLastPara="0" vert="horz" wrap="square" lIns="108079" tIns="73789" rIns="108079" bIns="73789" numCol="1" spcCol="1270" anchor="ctr" anchorCtr="0">
              <a:noAutofit/>
            </a:bodyPr>
            <a:lstStyle/>
            <a:p>
              <a:pPr lvl="0" algn="ctr" defTabSz="800100">
                <a:lnSpc>
                  <a:spcPct val="90000"/>
                </a:lnSpc>
                <a:spcBef>
                  <a:spcPct val="0"/>
                </a:spcBef>
                <a:spcAft>
                  <a:spcPct val="35000"/>
                </a:spcAft>
              </a:pPr>
              <a:r>
                <a:rPr lang="en-US" sz="2400" kern="1200" dirty="0"/>
                <a:t>Last stratum</a:t>
              </a:r>
            </a:p>
          </p:txBody>
        </p:sp>
      </p:grpSp>
      <p:grpSp>
        <p:nvGrpSpPr>
          <p:cNvPr id="18" name="Group 17"/>
          <p:cNvGrpSpPr/>
          <p:nvPr/>
        </p:nvGrpSpPr>
        <p:grpSpPr>
          <a:xfrm>
            <a:off x="354758" y="1276350"/>
            <a:ext cx="1064454" cy="4572000"/>
            <a:chOff x="354758" y="1276350"/>
            <a:chExt cx="1064454" cy="4572000"/>
          </a:xfrm>
        </p:grpSpPr>
        <p:sp>
          <p:nvSpPr>
            <p:cNvPr id="5" name="Down Arrow 4">
              <a:extLst>
                <a:ext uri="{FF2B5EF4-FFF2-40B4-BE49-F238E27FC236}">
                  <a16:creationId xmlns:a16="http://schemas.microsoft.com/office/drawing/2014/main" id="{1883CB04-15AD-4FA2-8F64-98D78D7A209C}"/>
                </a:ext>
              </a:extLst>
            </p:cNvPr>
            <p:cNvSpPr/>
            <p:nvPr/>
          </p:nvSpPr>
          <p:spPr>
            <a:xfrm rot="10800000">
              <a:off x="885811" y="1276350"/>
              <a:ext cx="533401" cy="4572000"/>
            </a:xfrm>
            <a:prstGeom prst="downArrow">
              <a:avLst>
                <a:gd name="adj1" fmla="val 50000"/>
                <a:gd name="adj2" fmla="val 125181"/>
              </a:avLst>
            </a:prstGeom>
            <a:solidFill>
              <a:schemeClr val="accent6"/>
            </a:solidFill>
          </p:spPr>
          <p:style>
            <a:lnRef idx="0">
              <a:schemeClr val="accent4"/>
            </a:lnRef>
            <a:fillRef idx="3">
              <a:schemeClr val="accent4"/>
            </a:fillRef>
            <a:effectRef idx="3">
              <a:schemeClr val="accent4"/>
            </a:effectRef>
            <a:fontRef idx="minor">
              <a:schemeClr val="lt1"/>
            </a:fontRef>
          </p:style>
          <p:txBody>
            <a:bodyPr anchor="ctr"/>
            <a:lstStyle/>
            <a:p>
              <a:pPr algn="ctr" eaLnBrk="1" hangingPunct="1">
                <a:defRPr/>
              </a:pPr>
              <a:endParaRPr lang="en-US" sz="2400">
                <a:solidFill>
                  <a:schemeClr val="accent6"/>
                </a:solidFill>
              </a:endParaRPr>
            </a:p>
          </p:txBody>
        </p:sp>
        <p:sp>
          <p:nvSpPr>
            <p:cNvPr id="6" name="TextBox 5">
              <a:extLst>
                <a:ext uri="{FF2B5EF4-FFF2-40B4-BE49-F238E27FC236}">
                  <a16:creationId xmlns:a16="http://schemas.microsoft.com/office/drawing/2014/main" id="{0E82833F-59ED-4260-9984-30F87F3A02E9}"/>
                </a:ext>
              </a:extLst>
            </p:cNvPr>
            <p:cNvSpPr txBox="1"/>
            <p:nvPr/>
          </p:nvSpPr>
          <p:spPr>
            <a:xfrm rot="16200000">
              <a:off x="-770443" y="3427894"/>
              <a:ext cx="2712068" cy="461665"/>
            </a:xfrm>
            <a:prstGeom prst="rect">
              <a:avLst/>
            </a:prstGeom>
            <a:noFill/>
          </p:spPr>
          <p:txBody>
            <a:bodyPr wrap="square">
              <a:spAutoFit/>
            </a:bodyPr>
            <a:lstStyle/>
            <a:p>
              <a:pPr eaLnBrk="1" hangingPunct="1">
                <a:defRPr/>
              </a:pPr>
              <a:r>
                <a:rPr lang="en-US" sz="2400" b="1" dirty="0">
                  <a:ln w="1905"/>
                  <a:solidFill>
                    <a:srgbClr val="1D6199"/>
                  </a:solidFill>
                  <a:effectLst>
                    <a:innerShdw blurRad="69850" dist="43180" dir="5400000">
                      <a:srgbClr val="000000">
                        <a:alpha val="65000"/>
                      </a:srgbClr>
                    </a:innerShdw>
                  </a:effectLst>
                  <a:latin typeface="+mn-lt"/>
                  <a:cs typeface="Arial" charset="0"/>
                </a:rPr>
                <a:t>More accurate time</a:t>
              </a:r>
            </a:p>
          </p:txBody>
        </p:sp>
      </p:grpSp>
      <p:sp>
        <p:nvSpPr>
          <p:cNvPr id="7" name="Striped Right Arrow 6">
            <a:extLst>
              <a:ext uri="{FF2B5EF4-FFF2-40B4-BE49-F238E27FC236}">
                <a16:creationId xmlns:a16="http://schemas.microsoft.com/office/drawing/2014/main" id="{80513B1B-6FFC-47D4-AFEB-3A5FFAD7B161}"/>
              </a:ext>
            </a:extLst>
          </p:cNvPr>
          <p:cNvSpPr/>
          <p:nvPr/>
        </p:nvSpPr>
        <p:spPr>
          <a:xfrm rot="5400000">
            <a:off x="4714917" y="4362371"/>
            <a:ext cx="838043" cy="609600"/>
          </a:xfrm>
          <a:prstGeom prst="stripedRightArrow">
            <a:avLst/>
          </a:prstGeom>
          <a:solidFill>
            <a:schemeClr val="bg1">
              <a:lumMod val="85000"/>
            </a:schemeClr>
          </a:solidFill>
          <a:ln>
            <a:noFill/>
          </a:ln>
          <a:effectLst/>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sz="2400"/>
          </a:p>
        </p:txBody>
      </p:sp>
    </p:spTree>
    <p:extLst>
      <p:ext uri="{BB962C8B-B14F-4D97-AF65-F5344CB8AC3E}">
        <p14:creationId xmlns:p14="http://schemas.microsoft.com/office/powerpoint/2010/main" val="2860733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up)">
                                      <p:cBhvr>
                                        <p:cTn id="24" dur="500"/>
                                        <p:tgtEl>
                                          <p:spTgt spid="7"/>
                                        </p:tgtEl>
                                      </p:cBhvr>
                                    </p:animEffec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down)">
                                      <p:cBhvr>
                                        <p:cTn id="3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Network Time Protocol (NTP)</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95251" y="716151"/>
            <a:ext cx="11798353" cy="5505742"/>
          </a:xfrm>
        </p:spPr>
        <p:txBody>
          <a:bodyPr/>
          <a:lstStyle/>
          <a:p>
            <a:r>
              <a:rPr lang="en-US" altLang="en-US" dirty="0"/>
              <a:t>Let’s consider the following example with 2 machines A and B:</a:t>
            </a:r>
          </a:p>
          <a:p>
            <a:pPr marL="542925" lvl="1" indent="-269875">
              <a:spcBef>
                <a:spcPts val="1000"/>
              </a:spcBef>
              <a:defRPr/>
            </a:pPr>
            <a:r>
              <a:rPr lang="en-US" altLang="en-US" dirty="0"/>
              <a:t>First, A sends a request timestamped with value T₀ to B.</a:t>
            </a:r>
          </a:p>
          <a:p>
            <a:pPr marL="542925" lvl="1" indent="-269875">
              <a:spcBef>
                <a:spcPts val="1000"/>
              </a:spcBef>
              <a:defRPr/>
            </a:pPr>
            <a:r>
              <a:rPr lang="en-US" altLang="en-US" dirty="0"/>
              <a:t>B, as the message arrives, records the time of receipt T₁ from its own local clock and responses with a message timestamped with T₂, piggybacking the previously recorded value T₁. </a:t>
            </a:r>
          </a:p>
          <a:p>
            <a:pPr marL="542925" lvl="1" indent="-269875">
              <a:spcBef>
                <a:spcPts val="1000"/>
              </a:spcBef>
              <a:defRPr/>
            </a:pPr>
            <a:r>
              <a:rPr lang="en-US" altLang="en-US" dirty="0"/>
              <a:t>Lastly, A, upon receiving the response from B, records the arrival time T₃. </a:t>
            </a:r>
          </a:p>
          <a:p>
            <a:pPr marL="542925" lvl="1" indent="-269875">
              <a:spcBef>
                <a:spcPts val="1000"/>
              </a:spcBef>
              <a:defRPr/>
            </a:pPr>
            <a:r>
              <a:rPr lang="en-US" altLang="en-US" dirty="0"/>
              <a:t>To account for the time delay in delivering messages, we calculate Δ₁ = T₁-T₀, Δ₂ = T₃-T₂. </a:t>
            </a:r>
          </a:p>
          <a:p>
            <a:pPr marL="542925" lvl="1" indent="-269875">
              <a:spcBef>
                <a:spcPts val="1000"/>
              </a:spcBef>
              <a:defRPr/>
            </a:pPr>
            <a:r>
              <a:rPr lang="en-US" altLang="en-US" dirty="0"/>
              <a:t>Now, an estimated offset of A relative to B is:</a:t>
            </a:r>
          </a:p>
          <a:p>
            <a:pPr marL="542925" lvl="1" indent="-269875">
              <a:spcBef>
                <a:spcPts val="1000"/>
              </a:spcBef>
              <a:defRPr/>
            </a:pPr>
            <a:r>
              <a:rPr lang="en-US" altLang="en-US" dirty="0"/>
              <a:t>Based on </a:t>
            </a:r>
            <a:r>
              <a:rPr lang="en-US" altLang="en-US" b="1" dirty="0"/>
              <a:t>t</a:t>
            </a:r>
            <a:r>
              <a:rPr lang="en-US" altLang="en-US" dirty="0"/>
              <a:t>, we can either slow down the clock of A or fasten it so that the two machines can be synchronized with each other.</a:t>
            </a:r>
          </a:p>
          <a:p>
            <a:pPr marL="542925" lvl="1" indent="-269875">
              <a:spcBef>
                <a:spcPts val="1000"/>
              </a:spcBef>
              <a:defRPr/>
            </a:pPr>
            <a:endParaRPr lang="en-US" altLang="en-US" dirty="0"/>
          </a:p>
          <a:p>
            <a:pPr marL="714375" lvl="2" indent="-357188">
              <a:defRPr/>
            </a:pPr>
            <a:endParaRPr lang="en-US" altLang="en-US" sz="2400" dirty="0"/>
          </a:p>
          <a:p>
            <a:pPr marL="357187" lvl="2" indent="0">
              <a:buNone/>
              <a:defRPr/>
            </a:pPr>
            <a:endParaRPr lang="en-US" altLang="en-US" sz="2400" dirty="0"/>
          </a:p>
          <a:p>
            <a:pPr marL="714375" lvl="2" indent="-357188">
              <a:defRPr/>
            </a:pPr>
            <a:endParaRPr lang="en-US" altLang="en-US" sz="2400" dirty="0"/>
          </a:p>
        </p:txBody>
      </p:sp>
      <p:sp>
        <p:nvSpPr>
          <p:cNvPr id="131" name="Content Placeholder 2">
            <a:extLst>
              <a:ext uri="{FF2B5EF4-FFF2-40B4-BE49-F238E27FC236}">
                <a16:creationId xmlns:a16="http://schemas.microsoft.com/office/drawing/2014/main" id="{139A428D-8F15-4206-B337-FA27C005FA71}"/>
              </a:ext>
            </a:extLst>
          </p:cNvPr>
          <p:cNvSpPr txBox="1">
            <a:spLocks/>
          </p:cNvSpPr>
          <p:nvPr/>
        </p:nvSpPr>
        <p:spPr>
          <a:xfrm>
            <a:off x="95251" y="1601326"/>
            <a:ext cx="6959416" cy="485268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ebdings" panose="05030102010509060703"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en-US" sz="2400" dirty="0"/>
          </a:p>
        </p:txBody>
      </p:sp>
      <mc:AlternateContent xmlns:mc="http://schemas.openxmlformats.org/markup-compatibility/2006" xmlns:a14="http://schemas.microsoft.com/office/drawing/2010/main">
        <mc:Choice Requires="a14">
          <p:sp>
            <p:nvSpPr>
              <p:cNvPr id="4" name="TextBox 3"/>
              <p:cNvSpPr txBox="1"/>
              <p:nvPr/>
            </p:nvSpPr>
            <p:spPr>
              <a:xfrm>
                <a:off x="537414" y="5620639"/>
                <a:ext cx="6361165" cy="83337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sz="2800" b="1" i="1" smtClean="0">
                          <a:solidFill>
                            <a:srgbClr val="1D6199"/>
                          </a:solidFill>
                          <a:latin typeface="Cambria Math" panose="02040503050406030204" pitchFamily="18" charset="0"/>
                          <a:ea typeface="Cambria Math" panose="02040503050406030204" pitchFamily="18" charset="0"/>
                        </a:rPr>
                        <m:t>𝑻𝒊𝒎𝒆</m:t>
                      </m:r>
                      <m:r>
                        <a:rPr lang="en-IN" sz="2800" b="1" i="1" smtClean="0">
                          <a:solidFill>
                            <a:srgbClr val="1D6199"/>
                          </a:solidFill>
                          <a:latin typeface="Cambria Math" panose="02040503050406030204" pitchFamily="18" charset="0"/>
                          <a:ea typeface="Cambria Math" panose="02040503050406030204" pitchFamily="18" charset="0"/>
                        </a:rPr>
                        <m:t> </m:t>
                      </m:r>
                      <m:r>
                        <a:rPr lang="en-IN" sz="2800" b="1" i="1" smtClean="0">
                          <a:solidFill>
                            <a:srgbClr val="1D6199"/>
                          </a:solidFill>
                          <a:latin typeface="Cambria Math" panose="02040503050406030204" pitchFamily="18" charset="0"/>
                          <a:ea typeface="Cambria Math" panose="02040503050406030204" pitchFamily="18" charset="0"/>
                        </a:rPr>
                        <m:t>𝒐𝒇𝒇𝒔𝒆𝒕</m:t>
                      </m:r>
                      <m:r>
                        <a:rPr lang="en-IN" sz="2800" b="1" i="1" smtClean="0">
                          <a:solidFill>
                            <a:srgbClr val="1D6199"/>
                          </a:solidFill>
                          <a:latin typeface="Cambria Math" panose="02040503050406030204" pitchFamily="18" charset="0"/>
                          <a:ea typeface="Cambria Math" panose="02040503050406030204" pitchFamily="18" charset="0"/>
                        </a:rPr>
                        <m:t>:</m:t>
                      </m:r>
                      <m:r>
                        <a:rPr lang="en-IN" sz="2800" b="1" i="1" smtClean="0">
                          <a:solidFill>
                            <a:srgbClr val="1D6199"/>
                          </a:solidFill>
                          <a:latin typeface="Cambria Math" panose="02040503050406030204" pitchFamily="18" charset="0"/>
                          <a:ea typeface="Cambria Math" panose="02040503050406030204" pitchFamily="18" charset="0"/>
                        </a:rPr>
                        <m:t>𝒕</m:t>
                      </m:r>
                      <m:r>
                        <a:rPr lang="en-IN" sz="2800" b="1" i="1" smtClean="0">
                          <a:solidFill>
                            <a:srgbClr val="1D3064"/>
                          </a:solidFill>
                          <a:latin typeface="Cambria Math" panose="02040503050406030204" pitchFamily="18" charset="0"/>
                          <a:ea typeface="Cambria Math" panose="02040503050406030204" pitchFamily="18" charset="0"/>
                        </a:rPr>
                        <m:t>=</m:t>
                      </m:r>
                      <m:f>
                        <m:fPr>
                          <m:ctrlPr>
                            <a:rPr lang="en-IN" sz="2800" b="1" i="1" smtClean="0">
                              <a:solidFill>
                                <a:srgbClr val="1D3064"/>
                              </a:solidFill>
                              <a:latin typeface="Cambria Math" panose="02040503050406030204" pitchFamily="18" charset="0"/>
                              <a:ea typeface="Cambria Math" panose="02040503050406030204" pitchFamily="18" charset="0"/>
                            </a:rPr>
                          </m:ctrlPr>
                        </m:fPr>
                        <m:num>
                          <m:d>
                            <m:dPr>
                              <m:ctrlPr>
                                <a:rPr lang="en-IN" sz="2800" b="1" i="1">
                                  <a:solidFill>
                                    <a:srgbClr val="1D3064"/>
                                  </a:solidFill>
                                  <a:latin typeface="Cambria Math" panose="02040503050406030204" pitchFamily="18" charset="0"/>
                                  <a:ea typeface="Cambria Math" panose="02040503050406030204" pitchFamily="18" charset="0"/>
                                </a:rPr>
                              </m:ctrlPr>
                            </m:dPr>
                            <m:e>
                              <m:r>
                                <a:rPr lang="en-IN" sz="2800" b="1" i="1">
                                  <a:solidFill>
                                    <a:srgbClr val="1D3064"/>
                                  </a:solidFill>
                                  <a:latin typeface="Cambria Math" panose="02040503050406030204" pitchFamily="18" charset="0"/>
                                  <a:ea typeface="Cambria Math" panose="02040503050406030204" pitchFamily="18" charset="0"/>
                                </a:rPr>
                                <m:t>𝑻</m:t>
                              </m:r>
                              <m:r>
                                <a:rPr lang="en-IN" sz="2800" b="1" i="1" baseline="-25000">
                                  <a:solidFill>
                                    <a:srgbClr val="1D3064"/>
                                  </a:solidFill>
                                  <a:latin typeface="Cambria Math" panose="02040503050406030204" pitchFamily="18" charset="0"/>
                                  <a:ea typeface="Cambria Math" panose="02040503050406030204" pitchFamily="18" charset="0"/>
                                </a:rPr>
                                <m:t>𝟏</m:t>
                              </m:r>
                              <m:r>
                                <a:rPr lang="en-IN" sz="2800" b="1" i="1">
                                  <a:solidFill>
                                    <a:srgbClr val="1D3064"/>
                                  </a:solidFill>
                                  <a:latin typeface="Cambria Math" panose="02040503050406030204" pitchFamily="18" charset="0"/>
                                  <a:ea typeface="Cambria Math" panose="02040503050406030204" pitchFamily="18" charset="0"/>
                                </a:rPr>
                                <m:t>−</m:t>
                              </m:r>
                              <m:r>
                                <a:rPr lang="en-IN" sz="2800" b="1" i="1">
                                  <a:solidFill>
                                    <a:srgbClr val="1D3064"/>
                                  </a:solidFill>
                                  <a:latin typeface="Cambria Math" panose="02040503050406030204" pitchFamily="18" charset="0"/>
                                  <a:ea typeface="Cambria Math" panose="02040503050406030204" pitchFamily="18" charset="0"/>
                                </a:rPr>
                                <m:t>𝑻</m:t>
                              </m:r>
                              <m:r>
                                <a:rPr lang="en-IN" sz="2800" b="1" i="1" baseline="-25000">
                                  <a:solidFill>
                                    <a:srgbClr val="1D3064"/>
                                  </a:solidFill>
                                  <a:latin typeface="Cambria Math" panose="02040503050406030204" pitchFamily="18" charset="0"/>
                                  <a:ea typeface="Cambria Math" panose="02040503050406030204" pitchFamily="18" charset="0"/>
                                </a:rPr>
                                <m:t>𝟎</m:t>
                              </m:r>
                            </m:e>
                          </m:d>
                          <m:r>
                            <a:rPr lang="en-IN" sz="2800" b="1" i="1">
                              <a:solidFill>
                                <a:srgbClr val="1D3064"/>
                              </a:solidFill>
                              <a:latin typeface="Cambria Math" panose="02040503050406030204" pitchFamily="18" charset="0"/>
                              <a:ea typeface="Cambria Math" panose="02040503050406030204" pitchFamily="18" charset="0"/>
                            </a:rPr>
                            <m:t>+(</m:t>
                          </m:r>
                          <m:r>
                            <a:rPr lang="en-IN" sz="2800" b="1" i="1">
                              <a:solidFill>
                                <a:srgbClr val="1D3064"/>
                              </a:solidFill>
                              <a:latin typeface="Cambria Math" panose="02040503050406030204" pitchFamily="18" charset="0"/>
                              <a:ea typeface="Cambria Math" panose="02040503050406030204" pitchFamily="18" charset="0"/>
                            </a:rPr>
                            <m:t>𝑻</m:t>
                          </m:r>
                          <m:r>
                            <a:rPr lang="en-IN" sz="2800" b="1" i="1" baseline="-25000" smtClean="0">
                              <a:solidFill>
                                <a:srgbClr val="1D3064"/>
                              </a:solidFill>
                              <a:latin typeface="Cambria Math" panose="02040503050406030204" pitchFamily="18" charset="0"/>
                              <a:ea typeface="Cambria Math" panose="02040503050406030204" pitchFamily="18" charset="0"/>
                            </a:rPr>
                            <m:t>𝟐</m:t>
                          </m:r>
                          <m:r>
                            <a:rPr lang="en-IN" sz="2800" b="1" i="1">
                              <a:solidFill>
                                <a:srgbClr val="1D3064"/>
                              </a:solidFill>
                              <a:latin typeface="Cambria Math" panose="02040503050406030204" pitchFamily="18" charset="0"/>
                              <a:ea typeface="Cambria Math" panose="02040503050406030204" pitchFamily="18" charset="0"/>
                            </a:rPr>
                            <m:t>−</m:t>
                          </m:r>
                          <m:r>
                            <a:rPr lang="en-IN" sz="2800" b="1" i="1">
                              <a:solidFill>
                                <a:srgbClr val="1D3064"/>
                              </a:solidFill>
                              <a:latin typeface="Cambria Math" panose="02040503050406030204" pitchFamily="18" charset="0"/>
                              <a:ea typeface="Cambria Math" panose="02040503050406030204" pitchFamily="18" charset="0"/>
                            </a:rPr>
                            <m:t>𝑻</m:t>
                          </m:r>
                          <m:r>
                            <a:rPr lang="en-IN" sz="2800" b="1" i="1" baseline="-25000" smtClean="0">
                              <a:solidFill>
                                <a:srgbClr val="1D3064"/>
                              </a:solidFill>
                              <a:latin typeface="Cambria Math" panose="02040503050406030204" pitchFamily="18" charset="0"/>
                              <a:ea typeface="Cambria Math" panose="02040503050406030204" pitchFamily="18" charset="0"/>
                            </a:rPr>
                            <m:t>𝟑</m:t>
                          </m:r>
                          <m:r>
                            <a:rPr lang="en-IN" sz="2800" b="1" i="1">
                              <a:solidFill>
                                <a:srgbClr val="1D3064"/>
                              </a:solidFill>
                              <a:latin typeface="Cambria Math" panose="02040503050406030204" pitchFamily="18" charset="0"/>
                              <a:ea typeface="Cambria Math" panose="02040503050406030204" pitchFamily="18" charset="0"/>
                            </a:rPr>
                            <m:t>)</m:t>
                          </m:r>
                          <m:r>
                            <m:rPr>
                              <m:nor/>
                            </m:rPr>
                            <a:rPr lang="en-IN" sz="2800" b="0" i="0" dirty="0">
                              <a:solidFill>
                                <a:srgbClr val="1D3064"/>
                              </a:solidFill>
                              <a:latin typeface="+mj-lt"/>
                            </a:rPr>
                            <m:t> </m:t>
                          </m:r>
                        </m:num>
                        <m:den>
                          <m:r>
                            <a:rPr lang="en-IN" sz="2800" b="1" i="1" smtClean="0">
                              <a:solidFill>
                                <a:srgbClr val="1D3064"/>
                              </a:solidFill>
                              <a:latin typeface="Cambria Math" panose="02040503050406030204" pitchFamily="18" charset="0"/>
                              <a:ea typeface="Cambria Math" panose="02040503050406030204" pitchFamily="18" charset="0"/>
                            </a:rPr>
                            <m:t>𝟐</m:t>
                          </m:r>
                        </m:den>
                      </m:f>
                    </m:oMath>
                  </m:oMathPara>
                </a14:m>
                <a:endParaRPr lang="en-IN" sz="2800" b="1" baseline="-25000" dirty="0">
                  <a:solidFill>
                    <a:srgbClr val="1D3064"/>
                  </a:solidFill>
                  <a:latin typeface="+mj-lt"/>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537414" y="5620639"/>
                <a:ext cx="6361165" cy="83337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557851" y="4873295"/>
                <a:ext cx="6591484" cy="430887"/>
              </a:xfrm>
              <a:prstGeom prst="rect">
                <a:avLst/>
              </a:prstGeom>
              <a:noFill/>
            </p:spPr>
            <p:txBody>
              <a:bodyPr wrap="none" lIns="0" tIns="0" rIns="0" bIns="0" rtlCol="0">
                <a:spAutoFit/>
              </a:bodyPr>
              <a:lstStyle/>
              <a:p>
                <a:r>
                  <a:rPr lang="en-IN" sz="2800" b="1" dirty="0">
                    <a:solidFill>
                      <a:srgbClr val="1D6199"/>
                    </a:solidFill>
                    <a:ea typeface="Cambria Math" panose="02040503050406030204" pitchFamily="18" charset="0"/>
                  </a:rPr>
                  <a:t>Roundtrip Delay: </a:t>
                </a:r>
                <a14:m>
                  <m:oMath xmlns:m="http://schemas.openxmlformats.org/officeDocument/2006/math">
                    <m:r>
                      <a:rPr lang="en-IN" sz="2800" b="1" i="1" smtClean="0">
                        <a:solidFill>
                          <a:srgbClr val="1D6199"/>
                        </a:solidFill>
                        <a:latin typeface="Cambria Math" panose="02040503050406030204" pitchFamily="18" charset="0"/>
                        <a:ea typeface="Cambria Math" panose="02040503050406030204" pitchFamily="18" charset="0"/>
                      </a:rPr>
                      <m:t>𝒅</m:t>
                    </m:r>
                    <m:r>
                      <a:rPr lang="en-IN" sz="2800" i="1" smtClean="0">
                        <a:latin typeface="Cambria Math" panose="02040503050406030204" pitchFamily="18" charset="0"/>
                        <a:ea typeface="Cambria Math" panose="02040503050406030204" pitchFamily="18" charset="0"/>
                      </a:rPr>
                      <m:t>=</m:t>
                    </m:r>
                    <m:d>
                      <m:dPr>
                        <m:ctrlPr>
                          <a:rPr lang="en-IN" sz="2800" b="1" i="1">
                            <a:latin typeface="Cambria Math" panose="02040503050406030204" pitchFamily="18" charset="0"/>
                            <a:ea typeface="Cambria Math" panose="02040503050406030204" pitchFamily="18" charset="0"/>
                          </a:rPr>
                        </m:ctrlPr>
                      </m:dPr>
                      <m:e>
                        <m:r>
                          <a:rPr lang="en-IN" sz="2800" b="1" i="1">
                            <a:latin typeface="Cambria Math" panose="02040503050406030204" pitchFamily="18" charset="0"/>
                            <a:ea typeface="Cambria Math" panose="02040503050406030204" pitchFamily="18" charset="0"/>
                          </a:rPr>
                          <m:t>𝑻</m:t>
                        </m:r>
                        <m:r>
                          <a:rPr lang="en-IN" sz="2800" b="1" i="1" baseline="-25000" smtClean="0">
                            <a:latin typeface="Cambria Math" panose="02040503050406030204" pitchFamily="18" charset="0"/>
                            <a:ea typeface="Cambria Math" panose="02040503050406030204" pitchFamily="18" charset="0"/>
                          </a:rPr>
                          <m:t>𝟑</m:t>
                        </m:r>
                        <m:r>
                          <a:rPr lang="en-IN" sz="2800" b="1" i="1">
                            <a:latin typeface="Cambria Math" panose="02040503050406030204" pitchFamily="18" charset="0"/>
                            <a:ea typeface="Cambria Math" panose="02040503050406030204" pitchFamily="18" charset="0"/>
                          </a:rPr>
                          <m:t>−</m:t>
                        </m:r>
                        <m:r>
                          <a:rPr lang="en-IN" sz="2800" b="1" i="1">
                            <a:latin typeface="Cambria Math" panose="02040503050406030204" pitchFamily="18" charset="0"/>
                            <a:ea typeface="Cambria Math" panose="02040503050406030204" pitchFamily="18" charset="0"/>
                          </a:rPr>
                          <m:t>𝑻</m:t>
                        </m:r>
                        <m:r>
                          <a:rPr lang="en-IN" sz="2800" b="1" i="1" baseline="-25000">
                            <a:latin typeface="Cambria Math" panose="02040503050406030204" pitchFamily="18" charset="0"/>
                            <a:ea typeface="Cambria Math" panose="02040503050406030204" pitchFamily="18" charset="0"/>
                          </a:rPr>
                          <m:t>𝟎</m:t>
                        </m:r>
                      </m:e>
                    </m:d>
                    <m:r>
                      <a:rPr lang="en-IN" sz="2800" b="1" i="1">
                        <a:latin typeface="Cambria Math" panose="02040503050406030204" pitchFamily="18" charset="0"/>
                        <a:ea typeface="Cambria Math" panose="02040503050406030204" pitchFamily="18" charset="0"/>
                      </a:rPr>
                      <m:t>−(</m:t>
                    </m:r>
                    <m:r>
                      <a:rPr lang="en-IN" sz="2800" b="1" i="1">
                        <a:latin typeface="Cambria Math" panose="02040503050406030204" pitchFamily="18" charset="0"/>
                        <a:ea typeface="Cambria Math" panose="02040503050406030204" pitchFamily="18" charset="0"/>
                      </a:rPr>
                      <m:t>𝑻</m:t>
                    </m:r>
                    <m:r>
                      <a:rPr lang="en-IN" sz="2800" b="1" i="1" baseline="-25000" smtClean="0">
                        <a:latin typeface="Cambria Math" panose="02040503050406030204" pitchFamily="18" charset="0"/>
                        <a:ea typeface="Cambria Math" panose="02040503050406030204" pitchFamily="18" charset="0"/>
                      </a:rPr>
                      <m:t>𝟐</m:t>
                    </m:r>
                    <m:r>
                      <a:rPr lang="en-IN" sz="2800" b="1" i="1">
                        <a:latin typeface="Cambria Math" panose="02040503050406030204" pitchFamily="18" charset="0"/>
                        <a:ea typeface="Cambria Math" panose="02040503050406030204" pitchFamily="18" charset="0"/>
                      </a:rPr>
                      <m:t>−</m:t>
                    </m:r>
                    <m:r>
                      <a:rPr lang="en-IN" sz="2800" b="1" i="1">
                        <a:latin typeface="Cambria Math" panose="02040503050406030204" pitchFamily="18" charset="0"/>
                        <a:ea typeface="Cambria Math" panose="02040503050406030204" pitchFamily="18" charset="0"/>
                      </a:rPr>
                      <m:t>𝑻</m:t>
                    </m:r>
                    <m:r>
                      <a:rPr lang="en-IN" sz="2800" b="1" i="1" baseline="-25000" smtClean="0">
                        <a:latin typeface="Cambria Math" panose="02040503050406030204" pitchFamily="18" charset="0"/>
                        <a:ea typeface="Cambria Math" panose="02040503050406030204" pitchFamily="18" charset="0"/>
                      </a:rPr>
                      <m:t>𝟏</m:t>
                    </m:r>
                    <m:r>
                      <a:rPr lang="en-IN" sz="2800" b="1" i="1">
                        <a:latin typeface="Cambria Math" panose="02040503050406030204" pitchFamily="18" charset="0"/>
                        <a:ea typeface="Cambria Math" panose="02040503050406030204" pitchFamily="18" charset="0"/>
                      </a:rPr>
                      <m:t>)</m:t>
                    </m:r>
                    <m:r>
                      <m:rPr>
                        <m:nor/>
                      </m:rPr>
                      <a:rPr lang="en-IN" sz="2800" b="0" i="0" dirty="0"/>
                      <m:t> </m:t>
                    </m:r>
                  </m:oMath>
                </a14:m>
                <a:endParaRPr lang="en-IN" sz="2800" baseline="-25000" dirty="0">
                  <a:latin typeface="+mj-lt"/>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557851" y="4873295"/>
                <a:ext cx="6591484" cy="430887"/>
              </a:xfrm>
              <a:prstGeom prst="rect">
                <a:avLst/>
              </a:prstGeom>
              <a:blipFill>
                <a:blip r:embed="rId3"/>
                <a:stretch>
                  <a:fillRect l="-3330" t="-25352" b="-49296"/>
                </a:stretch>
              </a:blipFill>
            </p:spPr>
            <p:txBody>
              <a:bodyPr/>
              <a:lstStyle/>
              <a:p>
                <a:r>
                  <a:rPr lang="en-IN">
                    <a:noFill/>
                  </a:rPr>
                  <a:t> </a:t>
                </a:r>
              </a:p>
            </p:txBody>
          </p:sp>
        </mc:Fallback>
      </mc:AlternateContent>
      <p:grpSp>
        <p:nvGrpSpPr>
          <p:cNvPr id="7" name="Group 6"/>
          <p:cNvGrpSpPr/>
          <p:nvPr/>
        </p:nvGrpSpPr>
        <p:grpSpPr>
          <a:xfrm>
            <a:off x="7390036" y="4388488"/>
            <a:ext cx="4264550" cy="2170573"/>
            <a:chOff x="7054667" y="3449176"/>
            <a:chExt cx="4661083" cy="2450449"/>
          </a:xfrm>
        </p:grpSpPr>
        <p:grpSp>
          <p:nvGrpSpPr>
            <p:cNvPr id="5" name="Group 4"/>
            <p:cNvGrpSpPr/>
            <p:nvPr/>
          </p:nvGrpSpPr>
          <p:grpSpPr>
            <a:xfrm>
              <a:off x="7090597" y="3449176"/>
              <a:ext cx="4472754" cy="2450449"/>
              <a:chOff x="3061980" y="2254906"/>
              <a:chExt cx="4472754" cy="2450449"/>
            </a:xfrm>
          </p:grpSpPr>
          <p:sp>
            <p:nvSpPr>
              <p:cNvPr id="88" name="Line 4"/>
              <p:cNvSpPr>
                <a:spLocks noChangeShapeType="1"/>
              </p:cNvSpPr>
              <p:nvPr/>
            </p:nvSpPr>
            <p:spPr bwMode="auto">
              <a:xfrm>
                <a:off x="3561890" y="3784601"/>
                <a:ext cx="3972844" cy="0"/>
              </a:xfrm>
              <a:prstGeom prst="line">
                <a:avLst/>
              </a:prstGeom>
              <a:noFill/>
              <a:ln w="25400">
                <a:solidFill>
                  <a:schemeClr val="tx1"/>
                </a:solidFill>
                <a:round/>
                <a:headEnd/>
                <a:tailEnd type="stealth" w="lg" len="lg"/>
              </a:ln>
            </p:spPr>
            <p:txBody>
              <a:bodyPr/>
              <a:lstStyle/>
              <a:p>
                <a:pPr>
                  <a:defRPr/>
                </a:pPr>
                <a:endParaRPr lang="en-US">
                  <a:latin typeface="+mj-lt"/>
                  <a:ea typeface="+mn-ea"/>
                </a:endParaRPr>
              </a:p>
            </p:txBody>
          </p:sp>
          <p:sp>
            <p:nvSpPr>
              <p:cNvPr id="89" name="Line 5"/>
              <p:cNvSpPr>
                <a:spLocks noChangeShapeType="1"/>
              </p:cNvSpPr>
              <p:nvPr/>
            </p:nvSpPr>
            <p:spPr bwMode="auto">
              <a:xfrm>
                <a:off x="3561890" y="2870201"/>
                <a:ext cx="3972844" cy="0"/>
              </a:xfrm>
              <a:prstGeom prst="line">
                <a:avLst/>
              </a:prstGeom>
              <a:noFill/>
              <a:ln w="25400">
                <a:solidFill>
                  <a:schemeClr val="tx1"/>
                </a:solidFill>
                <a:round/>
                <a:headEnd/>
                <a:tailEnd type="stealth" w="lg" len="lg"/>
              </a:ln>
            </p:spPr>
            <p:txBody>
              <a:bodyPr/>
              <a:lstStyle/>
              <a:p>
                <a:pPr>
                  <a:defRPr/>
                </a:pPr>
                <a:endParaRPr lang="en-US">
                  <a:latin typeface="+mj-lt"/>
                  <a:ea typeface="+mn-ea"/>
                </a:endParaRPr>
              </a:p>
            </p:txBody>
          </p:sp>
          <p:sp>
            <p:nvSpPr>
              <p:cNvPr id="90" name="Text Box 6"/>
              <p:cNvSpPr txBox="1">
                <a:spLocks noChangeArrowheads="1"/>
              </p:cNvSpPr>
              <p:nvPr/>
            </p:nvSpPr>
            <p:spPr bwMode="auto">
              <a:xfrm>
                <a:off x="3133724" y="2641601"/>
                <a:ext cx="242887" cy="461665"/>
              </a:xfrm>
              <a:prstGeom prst="rect">
                <a:avLst/>
              </a:prstGeom>
              <a:noFill/>
              <a:ln w="25400">
                <a:noFill/>
                <a:miter lim="800000"/>
                <a:headEnd/>
                <a:tailEnd/>
              </a:ln>
            </p:spPr>
            <p:txBody>
              <a:bodyPr wrap="squar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b="1" i="1" dirty="0">
                    <a:solidFill>
                      <a:schemeClr val="accent6"/>
                    </a:solidFill>
                    <a:latin typeface="+mj-lt"/>
                  </a:rPr>
                  <a:t>B</a:t>
                </a:r>
                <a:endParaRPr lang="en-US" altLang="en-US" b="1" i="1" baseline="-25000" dirty="0">
                  <a:solidFill>
                    <a:schemeClr val="accent6"/>
                  </a:solidFill>
                  <a:latin typeface="+mj-lt"/>
                </a:endParaRPr>
              </a:p>
            </p:txBody>
          </p:sp>
          <p:sp>
            <p:nvSpPr>
              <p:cNvPr id="91" name="Text Box 7"/>
              <p:cNvSpPr txBox="1">
                <a:spLocks noChangeArrowheads="1"/>
              </p:cNvSpPr>
              <p:nvPr/>
            </p:nvSpPr>
            <p:spPr bwMode="auto">
              <a:xfrm>
                <a:off x="3061980" y="3551239"/>
                <a:ext cx="390831" cy="461665"/>
              </a:xfrm>
              <a:prstGeom prst="rect">
                <a:avLst/>
              </a:prstGeom>
              <a:noFill/>
              <a:ln w="25400">
                <a:noFill/>
                <a:miter lim="800000"/>
                <a:headEnd/>
                <a:tailEnd/>
              </a:ln>
            </p:spPr>
            <p:txBody>
              <a:bodyPr wrap="squar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algn="r"/>
                <a:r>
                  <a:rPr lang="en-US" altLang="en-US" b="1" i="1" dirty="0">
                    <a:solidFill>
                      <a:schemeClr val="accent6"/>
                    </a:solidFill>
                    <a:latin typeface="+mj-lt"/>
                  </a:rPr>
                  <a:t>A</a:t>
                </a:r>
                <a:endParaRPr lang="en-US" altLang="en-US" b="1" i="1" baseline="-25000" dirty="0">
                  <a:solidFill>
                    <a:schemeClr val="accent6"/>
                  </a:solidFill>
                  <a:latin typeface="+mj-lt"/>
                </a:endParaRPr>
              </a:p>
            </p:txBody>
          </p:sp>
          <p:sp>
            <p:nvSpPr>
              <p:cNvPr id="93" name="Line 9"/>
              <p:cNvSpPr>
                <a:spLocks noChangeShapeType="1"/>
              </p:cNvSpPr>
              <p:nvPr/>
            </p:nvSpPr>
            <p:spPr bwMode="auto">
              <a:xfrm flipV="1">
                <a:off x="3911600" y="2871789"/>
                <a:ext cx="685800" cy="914400"/>
              </a:xfrm>
              <a:prstGeom prst="line">
                <a:avLst/>
              </a:prstGeom>
              <a:noFill/>
              <a:ln w="31750">
                <a:solidFill>
                  <a:schemeClr val="bg1">
                    <a:lumMod val="50000"/>
                  </a:schemeClr>
                </a:solidFill>
                <a:prstDash val="dash"/>
                <a:round/>
                <a:headEnd/>
                <a:tailEnd type="stealth" w="lg" len="lg"/>
              </a:ln>
            </p:spPr>
            <p:txBody>
              <a:bodyPr/>
              <a:lstStyle/>
              <a:p>
                <a:pPr>
                  <a:defRPr/>
                </a:pPr>
                <a:endParaRPr lang="en-US">
                  <a:latin typeface="+mj-lt"/>
                  <a:ea typeface="+mn-ea"/>
                </a:endParaRPr>
              </a:p>
            </p:txBody>
          </p:sp>
          <p:sp>
            <p:nvSpPr>
              <p:cNvPr id="94" name="Line 10"/>
              <p:cNvSpPr>
                <a:spLocks noChangeShapeType="1"/>
              </p:cNvSpPr>
              <p:nvPr/>
            </p:nvSpPr>
            <p:spPr bwMode="auto">
              <a:xfrm>
                <a:off x="5908675" y="2870201"/>
                <a:ext cx="685800" cy="914400"/>
              </a:xfrm>
              <a:prstGeom prst="line">
                <a:avLst/>
              </a:prstGeom>
              <a:noFill/>
              <a:ln w="31750">
                <a:solidFill>
                  <a:schemeClr val="bg1">
                    <a:lumMod val="50000"/>
                  </a:schemeClr>
                </a:solidFill>
                <a:prstDash val="dash"/>
                <a:round/>
                <a:headEnd/>
                <a:tailEnd type="stealth" w="lg" len="lg"/>
              </a:ln>
            </p:spPr>
            <p:txBody>
              <a:bodyPr/>
              <a:lstStyle/>
              <a:p>
                <a:pPr>
                  <a:defRPr/>
                </a:pPr>
                <a:endParaRPr lang="en-US">
                  <a:latin typeface="+mj-lt"/>
                  <a:ea typeface="+mn-ea"/>
                </a:endParaRPr>
              </a:p>
            </p:txBody>
          </p:sp>
          <p:sp>
            <p:nvSpPr>
              <p:cNvPr id="95" name="Text Box 11"/>
              <p:cNvSpPr txBox="1">
                <a:spLocks noChangeArrowheads="1"/>
              </p:cNvSpPr>
              <p:nvPr/>
            </p:nvSpPr>
            <p:spPr bwMode="auto">
              <a:xfrm>
                <a:off x="3581978" y="3109914"/>
                <a:ext cx="503664" cy="40011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i="1" dirty="0" err="1">
                    <a:latin typeface="+mj-lt"/>
                  </a:rPr>
                  <a:t>req</a:t>
                </a:r>
                <a:endParaRPr lang="en-US" altLang="en-US" sz="2000" i="1" dirty="0">
                  <a:latin typeface="+mj-lt"/>
                </a:endParaRPr>
              </a:p>
            </p:txBody>
          </p:sp>
          <p:sp>
            <p:nvSpPr>
              <p:cNvPr id="96" name="Text Box 12"/>
              <p:cNvSpPr txBox="1">
                <a:spLocks noChangeArrowheads="1"/>
              </p:cNvSpPr>
              <p:nvPr/>
            </p:nvSpPr>
            <p:spPr bwMode="auto">
              <a:xfrm>
                <a:off x="6288087" y="3109914"/>
                <a:ext cx="615874" cy="40011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000" i="1" dirty="0" err="1">
                    <a:latin typeface="+mj-lt"/>
                  </a:rPr>
                  <a:t>resp</a:t>
                </a:r>
                <a:endParaRPr lang="en-US" altLang="en-US" sz="2000" i="1" dirty="0">
                  <a:latin typeface="+mj-lt"/>
                </a:endParaRPr>
              </a:p>
            </p:txBody>
          </p:sp>
          <p:sp>
            <p:nvSpPr>
              <p:cNvPr id="97" name="Text Box 13"/>
              <p:cNvSpPr txBox="1">
                <a:spLocks noChangeArrowheads="1"/>
              </p:cNvSpPr>
              <p:nvPr/>
            </p:nvSpPr>
            <p:spPr bwMode="auto">
              <a:xfrm>
                <a:off x="3452812" y="3800476"/>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a:latin typeface="+mj-lt"/>
                  </a:rPr>
                  <a:t>T</a:t>
                </a:r>
                <a:r>
                  <a:rPr lang="en-US" altLang="en-US" sz="2800" baseline="-25000">
                    <a:latin typeface="+mj-lt"/>
                  </a:rPr>
                  <a:t>0</a:t>
                </a:r>
              </a:p>
            </p:txBody>
          </p:sp>
          <p:sp>
            <p:nvSpPr>
              <p:cNvPr id="98" name="Text Box 14"/>
              <p:cNvSpPr txBox="1">
                <a:spLocks noChangeArrowheads="1"/>
              </p:cNvSpPr>
              <p:nvPr/>
            </p:nvSpPr>
            <p:spPr bwMode="auto">
              <a:xfrm>
                <a:off x="6553200" y="3800476"/>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dirty="0">
                    <a:latin typeface="+mj-lt"/>
                  </a:rPr>
                  <a:t>T</a:t>
                </a:r>
                <a:r>
                  <a:rPr lang="en-US" altLang="en-US" sz="2800" baseline="-25000" dirty="0">
                    <a:latin typeface="+mj-lt"/>
                  </a:rPr>
                  <a:t>3</a:t>
                </a:r>
              </a:p>
            </p:txBody>
          </p:sp>
          <p:grpSp>
            <p:nvGrpSpPr>
              <p:cNvPr id="101" name="Group 17"/>
              <p:cNvGrpSpPr>
                <a:grpSpLocks/>
              </p:cNvGrpSpPr>
              <p:nvPr/>
            </p:nvGrpSpPr>
            <p:grpSpPr bwMode="auto">
              <a:xfrm>
                <a:off x="3833810" y="3860804"/>
                <a:ext cx="762000" cy="844551"/>
                <a:chOff x="1920" y="2784"/>
                <a:chExt cx="480" cy="532"/>
              </a:xfrm>
            </p:grpSpPr>
            <p:sp>
              <p:nvSpPr>
                <p:cNvPr id="102" name="AutoShape 18"/>
                <p:cNvSpPr>
                  <a:spLocks/>
                </p:cNvSpPr>
                <p:nvPr/>
              </p:nvSpPr>
              <p:spPr bwMode="auto">
                <a:xfrm rot="5400000">
                  <a:off x="2088" y="2664"/>
                  <a:ext cx="192" cy="432"/>
                </a:xfrm>
                <a:prstGeom prst="rightBrace">
                  <a:avLst>
                    <a:gd name="adj1" fmla="val 18750"/>
                    <a:gd name="adj2" fmla="val 50000"/>
                  </a:avLst>
                </a:prstGeom>
                <a:noFill/>
                <a:ln w="25400">
                  <a:solidFill>
                    <a:schemeClr val="tx1"/>
                  </a:solidFill>
                  <a:round/>
                  <a:headEnd/>
                  <a:tailEnd type="none" w="lg" len="lg"/>
                </a:ln>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103" name="Text Box 19"/>
                <p:cNvSpPr txBox="1">
                  <a:spLocks noChangeArrowheads="1"/>
                </p:cNvSpPr>
                <p:nvPr/>
              </p:nvSpPr>
              <p:spPr bwMode="auto">
                <a:xfrm>
                  <a:off x="1920" y="2986"/>
                  <a:ext cx="382" cy="33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l-GR" sz="2800" dirty="0">
                      <a:latin typeface="+mj-lt"/>
                    </a:rPr>
                    <a:t> Δ</a:t>
                  </a:r>
                  <a:r>
                    <a:rPr lang="en-IN" sz="2800" baseline="-25000" dirty="0">
                      <a:latin typeface="+mj-lt"/>
                    </a:rPr>
                    <a:t>1</a:t>
                  </a:r>
                  <a:endParaRPr lang="en-US" altLang="en-US" sz="2800" baseline="-25000" dirty="0">
                    <a:latin typeface="+mj-lt"/>
                  </a:endParaRPr>
                </a:p>
              </p:txBody>
            </p:sp>
          </p:grpSp>
          <p:sp>
            <p:nvSpPr>
              <p:cNvPr id="105" name="AutoShape 21"/>
              <p:cNvSpPr>
                <a:spLocks/>
              </p:cNvSpPr>
              <p:nvPr/>
            </p:nvSpPr>
            <p:spPr bwMode="auto">
              <a:xfrm rot="5400000">
                <a:off x="6081709" y="3670299"/>
                <a:ext cx="304800" cy="685800"/>
              </a:xfrm>
              <a:prstGeom prst="rightBrace">
                <a:avLst>
                  <a:gd name="adj1" fmla="val 18750"/>
                  <a:gd name="adj2" fmla="val 50000"/>
                </a:avLst>
              </a:prstGeom>
              <a:noFill/>
              <a:ln w="25400">
                <a:solidFill>
                  <a:schemeClr val="tx1"/>
                </a:solidFill>
                <a:round/>
                <a:headEnd/>
                <a:tailEnd type="none" w="lg" len="lg"/>
              </a:ln>
            </p:spPr>
            <p:txBody>
              <a:bodyPr wrap="none" anchor="ct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pPr eaLnBrk="1" hangingPunct="1"/>
                <a:endParaRPr lang="en-US" altLang="en-US">
                  <a:latin typeface="+mj-lt"/>
                </a:endParaRPr>
              </a:p>
            </p:txBody>
          </p:sp>
          <p:sp>
            <p:nvSpPr>
              <p:cNvPr id="107" name="Line 23"/>
              <p:cNvSpPr>
                <a:spLocks noChangeShapeType="1"/>
              </p:cNvSpPr>
              <p:nvPr/>
            </p:nvSpPr>
            <p:spPr bwMode="auto">
              <a:xfrm flipV="1">
                <a:off x="4595812" y="2870201"/>
                <a:ext cx="0" cy="914400"/>
              </a:xfrm>
              <a:prstGeom prst="line">
                <a:avLst/>
              </a:prstGeom>
              <a:noFill/>
              <a:ln w="31750">
                <a:solidFill>
                  <a:schemeClr val="tx1"/>
                </a:solidFill>
                <a:prstDash val="dash"/>
                <a:round/>
                <a:headEnd/>
                <a:tailEnd type="none" w="lg" len="lg"/>
              </a:ln>
            </p:spPr>
            <p:txBody>
              <a:bodyPr/>
              <a:lstStyle/>
              <a:p>
                <a:pPr>
                  <a:defRPr/>
                </a:pPr>
                <a:endParaRPr lang="en-US">
                  <a:latin typeface="+mj-lt"/>
                  <a:ea typeface="+mn-ea"/>
                </a:endParaRPr>
              </a:p>
            </p:txBody>
          </p:sp>
          <p:sp>
            <p:nvSpPr>
              <p:cNvPr id="108" name="Line 24"/>
              <p:cNvSpPr>
                <a:spLocks noChangeShapeType="1"/>
              </p:cNvSpPr>
              <p:nvPr/>
            </p:nvSpPr>
            <p:spPr bwMode="auto">
              <a:xfrm flipV="1">
                <a:off x="5891212" y="2870201"/>
                <a:ext cx="0" cy="914400"/>
              </a:xfrm>
              <a:prstGeom prst="line">
                <a:avLst/>
              </a:prstGeom>
              <a:noFill/>
              <a:ln w="31750">
                <a:solidFill>
                  <a:schemeClr val="tx1"/>
                </a:solidFill>
                <a:prstDash val="dash"/>
                <a:round/>
                <a:headEnd/>
                <a:tailEnd type="none" w="lg" len="lg"/>
              </a:ln>
            </p:spPr>
            <p:txBody>
              <a:bodyPr/>
              <a:lstStyle/>
              <a:p>
                <a:pPr>
                  <a:defRPr/>
                </a:pPr>
                <a:endParaRPr lang="en-US">
                  <a:latin typeface="+mj-lt"/>
                  <a:ea typeface="+mn-ea"/>
                </a:endParaRPr>
              </a:p>
            </p:txBody>
          </p:sp>
          <p:sp>
            <p:nvSpPr>
              <p:cNvPr id="128" name="Text Box 13"/>
              <p:cNvSpPr txBox="1">
                <a:spLocks noChangeArrowheads="1"/>
              </p:cNvSpPr>
              <p:nvPr/>
            </p:nvSpPr>
            <p:spPr bwMode="auto">
              <a:xfrm>
                <a:off x="4194966" y="2254906"/>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dirty="0">
                    <a:latin typeface="+mj-lt"/>
                  </a:rPr>
                  <a:t>T</a:t>
                </a:r>
                <a:r>
                  <a:rPr lang="en-US" altLang="en-US" sz="2800" baseline="-25000" dirty="0">
                    <a:latin typeface="+mj-lt"/>
                  </a:rPr>
                  <a:t>1</a:t>
                </a:r>
              </a:p>
            </p:txBody>
          </p:sp>
          <p:sp>
            <p:nvSpPr>
              <p:cNvPr id="129" name="Text Box 13"/>
              <p:cNvSpPr txBox="1">
                <a:spLocks noChangeArrowheads="1"/>
              </p:cNvSpPr>
              <p:nvPr/>
            </p:nvSpPr>
            <p:spPr bwMode="auto">
              <a:xfrm>
                <a:off x="5625927" y="2293802"/>
                <a:ext cx="490840"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n-US" altLang="en-US" sz="2800" dirty="0">
                    <a:latin typeface="+mj-lt"/>
                  </a:rPr>
                  <a:t>T</a:t>
                </a:r>
                <a:r>
                  <a:rPr lang="en-US" altLang="en-US" sz="2800" baseline="-25000" dirty="0">
                    <a:latin typeface="+mj-lt"/>
                  </a:rPr>
                  <a:t>2</a:t>
                </a:r>
              </a:p>
            </p:txBody>
          </p:sp>
          <p:sp>
            <p:nvSpPr>
              <p:cNvPr id="130" name="Text Box 19"/>
              <p:cNvSpPr txBox="1">
                <a:spLocks noChangeArrowheads="1"/>
              </p:cNvSpPr>
              <p:nvPr/>
            </p:nvSpPr>
            <p:spPr bwMode="auto">
              <a:xfrm>
                <a:off x="5871347" y="4160898"/>
                <a:ext cx="606256" cy="523220"/>
              </a:xfrm>
              <a:prstGeom prst="rect">
                <a:avLst/>
              </a:prstGeom>
              <a:noFill/>
              <a:ln w="25400">
                <a:noFill/>
                <a:miter lim="800000"/>
                <a:headEnd/>
                <a:tailEnd type="none" w="lg" len="lg"/>
              </a:ln>
            </p:spPr>
            <p:txBody>
              <a:bodyPr wrap="none">
                <a:spAutoFit/>
              </a:bodyPr>
              <a:lstStyle>
                <a:lvl1pPr eaLnBrk="0" hangingPunct="0">
                  <a:defRPr sz="2400">
                    <a:solidFill>
                      <a:schemeClr val="tx1"/>
                    </a:solidFill>
                    <a:latin typeface="Comic Sans MS" panose="030F0702030302020204" pitchFamily="66" charset="0"/>
                    <a:ea typeface="ＭＳ Ｐゴシック" charset="-128"/>
                  </a:defRPr>
                </a:lvl1pPr>
                <a:lvl2pPr marL="37931725" indent="-37474525" eaLnBrk="0" hangingPunct="0">
                  <a:defRPr sz="2400">
                    <a:solidFill>
                      <a:schemeClr val="tx1"/>
                    </a:solidFill>
                    <a:latin typeface="Comic Sans MS" panose="030F0702030302020204" pitchFamily="66" charset="0"/>
                    <a:ea typeface="ＭＳ Ｐゴシック" charset="-128"/>
                  </a:defRPr>
                </a:lvl2pPr>
                <a:lvl3pPr eaLnBrk="0" hangingPunct="0">
                  <a:defRPr sz="2400">
                    <a:solidFill>
                      <a:schemeClr val="tx1"/>
                    </a:solidFill>
                    <a:latin typeface="Comic Sans MS" panose="030F0702030302020204" pitchFamily="66" charset="0"/>
                    <a:ea typeface="ＭＳ Ｐゴシック" charset="-128"/>
                  </a:defRPr>
                </a:lvl3pPr>
                <a:lvl4pPr eaLnBrk="0" hangingPunct="0">
                  <a:defRPr sz="2400">
                    <a:solidFill>
                      <a:schemeClr val="tx1"/>
                    </a:solidFill>
                    <a:latin typeface="Comic Sans MS" panose="030F0702030302020204" pitchFamily="66" charset="0"/>
                    <a:ea typeface="ＭＳ Ｐゴシック" charset="-128"/>
                  </a:defRPr>
                </a:lvl4pPr>
                <a:lvl5pPr eaLnBrk="0" hangingPunct="0">
                  <a:defRPr sz="2400">
                    <a:solidFill>
                      <a:schemeClr val="tx1"/>
                    </a:solidFill>
                    <a:latin typeface="Comic Sans MS" panose="030F0702030302020204" pitchFamily="66" charset="0"/>
                    <a:ea typeface="ＭＳ Ｐゴシック" charset="-128"/>
                  </a:defRPr>
                </a:lvl5pPr>
                <a:lvl6pPr marL="4572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6pPr>
                <a:lvl7pPr marL="9144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7pPr>
                <a:lvl8pPr marL="13716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8pPr>
                <a:lvl9pPr marL="1828800" eaLnBrk="0" fontAlgn="base" hangingPunct="0">
                  <a:spcBef>
                    <a:spcPct val="0"/>
                  </a:spcBef>
                  <a:spcAft>
                    <a:spcPct val="0"/>
                  </a:spcAft>
                  <a:defRPr sz="2400">
                    <a:solidFill>
                      <a:schemeClr val="tx1"/>
                    </a:solidFill>
                    <a:latin typeface="Comic Sans MS" panose="030F0702030302020204" pitchFamily="66" charset="0"/>
                    <a:ea typeface="ＭＳ Ｐゴシック" charset="-128"/>
                  </a:defRPr>
                </a:lvl9pPr>
              </a:lstStyle>
              <a:p>
                <a:r>
                  <a:rPr lang="el-GR" sz="2800" dirty="0">
                    <a:latin typeface="+mj-lt"/>
                  </a:rPr>
                  <a:t> Δ</a:t>
                </a:r>
                <a:r>
                  <a:rPr lang="en-IN" sz="2800" baseline="-25000" dirty="0">
                    <a:latin typeface="+mj-lt"/>
                  </a:rPr>
                  <a:t>2</a:t>
                </a:r>
                <a:endParaRPr lang="en-US" altLang="en-US" sz="2800" baseline="-25000" dirty="0">
                  <a:latin typeface="+mj-lt"/>
                </a:endParaRPr>
              </a:p>
            </p:txBody>
          </p:sp>
        </p:grpSp>
        <p:sp>
          <p:nvSpPr>
            <p:cNvPr id="6" name="Rounded Rectangle 5"/>
            <p:cNvSpPr/>
            <p:nvPr/>
          </p:nvSpPr>
          <p:spPr>
            <a:xfrm>
              <a:off x="7054667" y="3488072"/>
              <a:ext cx="4661083" cy="2390316"/>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mj-lt"/>
              </a:endParaRPr>
            </a:p>
          </p:txBody>
        </p:sp>
      </p:grpSp>
    </p:spTree>
    <p:extLst>
      <p:ext uri="{BB962C8B-B14F-4D97-AF65-F5344CB8AC3E}">
        <p14:creationId xmlns:p14="http://schemas.microsoft.com/office/powerpoint/2010/main" val="3729639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1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3DC79-8B12-49B2-D869-87FFD698F001}"/>
              </a:ext>
            </a:extLst>
          </p:cNvPr>
          <p:cNvSpPr>
            <a:spLocks noGrp="1"/>
          </p:cNvSpPr>
          <p:nvPr>
            <p:ph type="title"/>
          </p:nvPr>
        </p:nvSpPr>
        <p:spPr/>
        <p:txBody>
          <a:bodyPr>
            <a:normAutofit/>
          </a:bodyPr>
          <a:lstStyle/>
          <a:p>
            <a:pPr>
              <a:spcBef>
                <a:spcPts val="1000"/>
              </a:spcBef>
              <a:buClr>
                <a:srgbClr val="1D6199"/>
              </a:buClr>
              <a:defRPr/>
            </a:pPr>
            <a:r>
              <a:rPr lang="en-IN" sz="6000" dirty="0"/>
              <a:t>Logical Clocks</a:t>
            </a:r>
          </a:p>
        </p:txBody>
      </p:sp>
      <p:sp>
        <p:nvSpPr>
          <p:cNvPr id="3" name="Text Placeholder 2">
            <a:extLst>
              <a:ext uri="{FF2B5EF4-FFF2-40B4-BE49-F238E27FC236}">
                <a16:creationId xmlns:a16="http://schemas.microsoft.com/office/drawing/2014/main" id="{7336A222-FE8E-8548-6B81-0F4C891F3E0A}"/>
              </a:ext>
            </a:extLst>
          </p:cNvPr>
          <p:cNvSpPr>
            <a:spLocks noGrp="1"/>
          </p:cNvSpPr>
          <p:nvPr>
            <p:ph type="body" idx="1"/>
          </p:nvPr>
        </p:nvSpPr>
        <p:spPr/>
        <p:txBody>
          <a:bodyPr/>
          <a:lstStyle/>
          <a:p>
            <a:r>
              <a:rPr lang="en-US" dirty="0"/>
              <a:t>Section - 3</a:t>
            </a:r>
            <a:endParaRPr lang="en-IN" dirty="0"/>
          </a:p>
        </p:txBody>
      </p:sp>
    </p:spTree>
    <p:extLst>
      <p:ext uri="{BB962C8B-B14F-4D97-AF65-F5344CB8AC3E}">
        <p14:creationId xmlns:p14="http://schemas.microsoft.com/office/powerpoint/2010/main" val="30628080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Logical Clocks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50256" y="711201"/>
            <a:ext cx="11891487" cy="5520423"/>
          </a:xfrm>
        </p:spPr>
        <p:txBody>
          <a:bodyPr/>
          <a:lstStyle/>
          <a:p>
            <a:r>
              <a:rPr lang="en-US" altLang="en-US" dirty="0"/>
              <a:t>If two machines do not interact, there is no need to synchronize them.</a:t>
            </a:r>
          </a:p>
          <a:p>
            <a:pPr marL="714375" lvl="2" indent="-357188">
              <a:defRPr/>
            </a:pPr>
            <a:r>
              <a:rPr lang="en-US" altLang="en-US" sz="2400" dirty="0"/>
              <a:t>What usually matters is that processes agree on the order in which events occur rather than the time at which they occurred</a:t>
            </a:r>
          </a:p>
          <a:p>
            <a:r>
              <a:rPr lang="en-US" altLang="en-US" dirty="0"/>
              <a:t>Many times, it is sufficient if processes agree on the order in which the events have occurred in a DS</a:t>
            </a:r>
          </a:p>
          <a:p>
            <a:pPr marL="714375" lvl="2" indent="-357188">
              <a:defRPr/>
            </a:pPr>
            <a:r>
              <a:rPr lang="en-US" altLang="en-US" sz="2400" dirty="0"/>
              <a:t>For example, for a distributed make utility, it is sufficient to know if an input file was modified before or after its object file</a:t>
            </a:r>
          </a:p>
          <a:p>
            <a:pPr marL="265113" lvl="2" indent="-265113">
              <a:spcBef>
                <a:spcPts val="1000"/>
              </a:spcBef>
              <a:buFont typeface="Webdings" panose="05030102010509060703" pitchFamily="18" charset="2"/>
              <a:buChar char=""/>
              <a:defRPr/>
            </a:pPr>
            <a:r>
              <a:rPr lang="en-US" altLang="en-US" sz="2400" dirty="0"/>
              <a:t>Logical clocks are used to define an order of events without measuring the physical time at which the events occurred</a:t>
            </a:r>
          </a:p>
          <a:p>
            <a:pPr marL="265113" lvl="2" indent="-265113">
              <a:spcBef>
                <a:spcPts val="1000"/>
              </a:spcBef>
              <a:buFont typeface="Webdings" panose="05030102010509060703" pitchFamily="18" charset="2"/>
              <a:buChar char=""/>
              <a:defRPr/>
            </a:pPr>
            <a:r>
              <a:rPr lang="en-US" altLang="en-US" sz="2400" dirty="0"/>
              <a:t>Two types of logical clocks:</a:t>
            </a:r>
          </a:p>
          <a:p>
            <a:pPr marL="814387" lvl="2" indent="-457200">
              <a:buFont typeface="+mj-lt"/>
              <a:buAutoNum type="arabicPeriod"/>
              <a:defRPr/>
            </a:pPr>
            <a:r>
              <a:rPr lang="en-US" altLang="en-US" sz="2400" dirty="0" err="1">
                <a:solidFill>
                  <a:srgbClr val="1D6199"/>
                </a:solidFill>
              </a:rPr>
              <a:t>Lamport’s</a:t>
            </a:r>
            <a:r>
              <a:rPr lang="en-US" altLang="en-US" sz="2400" dirty="0">
                <a:solidFill>
                  <a:srgbClr val="1D6199"/>
                </a:solidFill>
              </a:rPr>
              <a:t> Logical Clock (or simply, </a:t>
            </a:r>
            <a:r>
              <a:rPr lang="en-US" altLang="en-US" sz="2400" dirty="0" err="1">
                <a:solidFill>
                  <a:srgbClr val="1D6199"/>
                </a:solidFill>
              </a:rPr>
              <a:t>Lamport’s</a:t>
            </a:r>
            <a:r>
              <a:rPr lang="en-US" altLang="en-US" sz="2400" dirty="0">
                <a:solidFill>
                  <a:srgbClr val="1D6199"/>
                </a:solidFill>
              </a:rPr>
              <a:t> Clock)</a:t>
            </a:r>
          </a:p>
          <a:p>
            <a:pPr marL="814387" lvl="2" indent="-457200">
              <a:buFont typeface="+mj-lt"/>
              <a:buAutoNum type="arabicPeriod"/>
              <a:defRPr/>
            </a:pPr>
            <a:r>
              <a:rPr lang="en-US" altLang="en-US" sz="2400" dirty="0">
                <a:solidFill>
                  <a:srgbClr val="1D6199"/>
                </a:solidFill>
              </a:rPr>
              <a:t>Vector Clock</a:t>
            </a:r>
          </a:p>
        </p:txBody>
      </p:sp>
    </p:spTree>
    <p:extLst>
      <p:ext uri="{BB962C8B-B14F-4D97-AF65-F5344CB8AC3E}">
        <p14:creationId xmlns:p14="http://schemas.microsoft.com/office/powerpoint/2010/main" val="1849723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err="1"/>
              <a:t>Lamport’s</a:t>
            </a:r>
            <a:r>
              <a:rPr lang="en-US" dirty="0"/>
              <a:t> Logical Clock</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altLang="en-US" dirty="0" err="1"/>
              <a:t>Lamport</a:t>
            </a:r>
            <a:r>
              <a:rPr lang="en-US" altLang="en-US" dirty="0"/>
              <a:t> advocated maintaining logical clocks at the processes to keep track of the order of events</a:t>
            </a:r>
          </a:p>
          <a:p>
            <a:r>
              <a:rPr lang="en-US" altLang="en-US" dirty="0"/>
              <a:t>To synchronize logical clocks, </a:t>
            </a:r>
            <a:r>
              <a:rPr lang="en-US" altLang="en-US" dirty="0" err="1"/>
              <a:t>Lamport</a:t>
            </a:r>
            <a:r>
              <a:rPr lang="en-US" altLang="en-US" dirty="0"/>
              <a:t> defined a relation called </a:t>
            </a:r>
            <a:r>
              <a:rPr lang="en-US" altLang="en-US" b="1" dirty="0">
                <a:solidFill>
                  <a:srgbClr val="1D6199"/>
                </a:solidFill>
              </a:rPr>
              <a:t>“happened-before”</a:t>
            </a:r>
          </a:p>
          <a:p>
            <a:r>
              <a:rPr lang="en-US" altLang="en-US" dirty="0"/>
              <a:t>The expression </a:t>
            </a:r>
            <a:r>
              <a:rPr lang="en-US" altLang="en-US" b="1" dirty="0"/>
              <a:t>a</a:t>
            </a:r>
            <a:r>
              <a:rPr lang="en-US" b="1" dirty="0">
                <a:sym typeface="Wingdings" pitchFamily="2" charset="2"/>
              </a:rPr>
              <a:t> </a:t>
            </a:r>
            <a:r>
              <a:rPr lang="en-US" altLang="en-US" b="1" dirty="0"/>
              <a:t> b </a:t>
            </a:r>
            <a:r>
              <a:rPr lang="en-US" altLang="en-US" dirty="0"/>
              <a:t>(reads as “a happened before b”) means that all entities in a DS agree that event a occurred before event b</a:t>
            </a:r>
          </a:p>
        </p:txBody>
      </p:sp>
    </p:spTree>
    <p:extLst>
      <p:ext uri="{BB962C8B-B14F-4D97-AF65-F5344CB8AC3E}">
        <p14:creationId xmlns:p14="http://schemas.microsoft.com/office/powerpoint/2010/main" val="3448290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The Happened-before Relation</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altLang="en-US" dirty="0"/>
              <a:t>The happened-before relation can be observed directly in two situations:</a:t>
            </a:r>
          </a:p>
          <a:p>
            <a:pPr marL="914400" lvl="1" indent="-457200">
              <a:lnSpc>
                <a:spcPct val="100000"/>
              </a:lnSpc>
              <a:spcBef>
                <a:spcPts val="600"/>
              </a:spcBef>
              <a:spcAft>
                <a:spcPts val="600"/>
              </a:spcAft>
              <a:buFontTx/>
              <a:buAutoNum type="arabicPeriod"/>
            </a:pPr>
            <a:r>
              <a:rPr lang="en-US" altLang="en-US" sz="2400" dirty="0">
                <a:latin typeface="+mj-lt"/>
                <a:ea typeface="Arial" panose="020B0604020202020204" pitchFamily="34" charset="0"/>
              </a:rPr>
              <a:t>If </a:t>
            </a:r>
            <a:r>
              <a:rPr lang="en-US" altLang="en-US" sz="2400" b="1" dirty="0">
                <a:solidFill>
                  <a:srgbClr val="1D6199"/>
                </a:solidFill>
                <a:latin typeface="+mj-lt"/>
                <a:ea typeface="MS PGothic" panose="020B0600070205080204" pitchFamily="34" charset="-128"/>
              </a:rPr>
              <a:t>a</a:t>
            </a:r>
            <a:r>
              <a:rPr lang="en-US" altLang="en-US" sz="2400" dirty="0">
                <a:solidFill>
                  <a:srgbClr val="1D6199"/>
                </a:solidFill>
                <a:latin typeface="+mj-lt"/>
                <a:ea typeface="Arial" panose="020B0604020202020204" pitchFamily="34" charset="0"/>
              </a:rPr>
              <a:t> and </a:t>
            </a:r>
            <a:r>
              <a:rPr lang="en-US" altLang="en-US" sz="2400" b="1" dirty="0">
                <a:solidFill>
                  <a:srgbClr val="1D6199"/>
                </a:solidFill>
                <a:latin typeface="+mj-lt"/>
                <a:ea typeface="MS PGothic" panose="020B0600070205080204" pitchFamily="34" charset="-128"/>
              </a:rPr>
              <a:t>b</a:t>
            </a:r>
            <a:r>
              <a:rPr lang="en-US" altLang="en-US" sz="2400" dirty="0">
                <a:solidFill>
                  <a:srgbClr val="1D6199"/>
                </a:solidFill>
                <a:latin typeface="+mj-lt"/>
                <a:ea typeface="Arial" panose="020B0604020202020204" pitchFamily="34" charset="0"/>
              </a:rPr>
              <a:t> are events in the same process</a:t>
            </a:r>
            <a:r>
              <a:rPr lang="en-US" altLang="en-US" sz="2400" dirty="0">
                <a:latin typeface="+mj-lt"/>
                <a:ea typeface="Arial" panose="020B0604020202020204" pitchFamily="34" charset="0"/>
              </a:rPr>
              <a:t>, and </a:t>
            </a:r>
            <a:r>
              <a:rPr lang="en-US" altLang="en-US" sz="2400" b="1" dirty="0">
                <a:latin typeface="+mj-lt"/>
                <a:ea typeface="MS PGothic" panose="020B0600070205080204" pitchFamily="34" charset="-128"/>
              </a:rPr>
              <a:t>a</a:t>
            </a:r>
            <a:r>
              <a:rPr lang="en-US" altLang="en-US" sz="2400" dirty="0">
                <a:latin typeface="+mj-lt"/>
                <a:ea typeface="Arial" panose="020B0604020202020204" pitchFamily="34" charset="0"/>
              </a:rPr>
              <a:t> occurs before </a:t>
            </a:r>
            <a:r>
              <a:rPr lang="en-US" altLang="en-US" sz="2400" b="1" dirty="0">
                <a:latin typeface="+mj-lt"/>
                <a:ea typeface="MS PGothic" panose="020B0600070205080204" pitchFamily="34" charset="-128"/>
              </a:rPr>
              <a:t>b</a:t>
            </a:r>
            <a:r>
              <a:rPr lang="en-US" altLang="en-US" sz="2400" dirty="0">
                <a:latin typeface="+mj-lt"/>
                <a:ea typeface="Arial" panose="020B0604020202020204" pitchFamily="34" charset="0"/>
              </a:rPr>
              <a:t>, then </a:t>
            </a:r>
            <a:r>
              <a:rPr lang="en-US" altLang="en-US" sz="2400" b="1" dirty="0" err="1">
                <a:latin typeface="+mj-lt"/>
                <a:ea typeface="MS PGothic" panose="020B0600070205080204" pitchFamily="34" charset="-128"/>
              </a:rPr>
              <a:t>a</a:t>
            </a:r>
            <a:r>
              <a:rPr lang="en-US" altLang="en-US" sz="2400" b="1" dirty="0" err="1">
                <a:latin typeface="+mj-lt"/>
                <a:ea typeface="MS PGothic" panose="020B0600070205080204" pitchFamily="34" charset="-128"/>
                <a:sym typeface="Wingdings" panose="05000000000000000000" pitchFamily="2" charset="2"/>
              </a:rPr>
              <a:t>b</a:t>
            </a:r>
            <a:r>
              <a:rPr lang="en-US" altLang="en-US" sz="2400" dirty="0">
                <a:latin typeface="+mj-lt"/>
                <a:ea typeface="Arial" panose="020B0604020202020204" pitchFamily="34" charset="0"/>
                <a:sym typeface="Wingdings" panose="05000000000000000000" pitchFamily="2" charset="2"/>
              </a:rPr>
              <a:t> is true</a:t>
            </a:r>
          </a:p>
          <a:p>
            <a:pPr marL="914400" lvl="1" indent="-457200">
              <a:lnSpc>
                <a:spcPct val="100000"/>
              </a:lnSpc>
              <a:spcBef>
                <a:spcPts val="600"/>
              </a:spcBef>
              <a:spcAft>
                <a:spcPts val="600"/>
              </a:spcAft>
              <a:buFontTx/>
              <a:buAutoNum type="arabicPeriod"/>
            </a:pPr>
            <a:r>
              <a:rPr lang="en-US" altLang="en-US" sz="2400" dirty="0">
                <a:latin typeface="+mj-lt"/>
                <a:ea typeface="Arial" panose="020B0604020202020204" pitchFamily="34" charset="0"/>
                <a:sym typeface="Wingdings" panose="05000000000000000000" pitchFamily="2" charset="2"/>
              </a:rPr>
              <a:t>If </a:t>
            </a:r>
            <a:r>
              <a:rPr lang="en-US" altLang="en-US" sz="2400" b="1" dirty="0">
                <a:solidFill>
                  <a:srgbClr val="1D6199"/>
                </a:solidFill>
                <a:latin typeface="+mj-lt"/>
                <a:ea typeface="MS PGothic" panose="020B0600070205080204" pitchFamily="34" charset="-128"/>
                <a:sym typeface="Wingdings" panose="05000000000000000000" pitchFamily="2" charset="2"/>
              </a:rPr>
              <a:t>a</a:t>
            </a:r>
            <a:r>
              <a:rPr lang="en-US" altLang="en-US" sz="2400" dirty="0">
                <a:solidFill>
                  <a:srgbClr val="1D6199"/>
                </a:solidFill>
                <a:latin typeface="+mj-lt"/>
                <a:ea typeface="Arial" panose="020B0604020202020204" pitchFamily="34" charset="0"/>
                <a:sym typeface="Wingdings" panose="05000000000000000000" pitchFamily="2" charset="2"/>
              </a:rPr>
              <a:t> is an event of message </a:t>
            </a:r>
            <a:r>
              <a:rPr lang="en-US" altLang="en-US" sz="2400" b="1" dirty="0">
                <a:solidFill>
                  <a:srgbClr val="1D6199"/>
                </a:solidFill>
                <a:latin typeface="+mj-lt"/>
                <a:ea typeface="MS PGothic" panose="020B0600070205080204" pitchFamily="34" charset="-128"/>
                <a:sym typeface="Wingdings" panose="05000000000000000000" pitchFamily="2" charset="2"/>
              </a:rPr>
              <a:t>m</a:t>
            </a:r>
            <a:r>
              <a:rPr lang="en-US" altLang="en-US" sz="2400" dirty="0">
                <a:solidFill>
                  <a:srgbClr val="1D6199"/>
                </a:solidFill>
                <a:latin typeface="+mj-lt"/>
                <a:ea typeface="Arial" panose="020B0604020202020204" pitchFamily="34" charset="0"/>
                <a:sym typeface="Wingdings" panose="05000000000000000000" pitchFamily="2" charset="2"/>
              </a:rPr>
              <a:t> being sent </a:t>
            </a:r>
            <a:r>
              <a:rPr lang="en-US" altLang="en-US" sz="2400" dirty="0">
                <a:latin typeface="+mj-lt"/>
                <a:ea typeface="Arial" panose="020B0604020202020204" pitchFamily="34" charset="0"/>
                <a:sym typeface="Wingdings" panose="05000000000000000000" pitchFamily="2" charset="2"/>
              </a:rPr>
              <a:t>by a process, and </a:t>
            </a:r>
            <a:r>
              <a:rPr lang="en-US" altLang="en-US" sz="2400" b="1" dirty="0">
                <a:latin typeface="+mj-lt"/>
                <a:ea typeface="MS PGothic" panose="020B0600070205080204" pitchFamily="34" charset="-128"/>
                <a:sym typeface="Wingdings" panose="05000000000000000000" pitchFamily="2" charset="2"/>
              </a:rPr>
              <a:t>b</a:t>
            </a:r>
            <a:r>
              <a:rPr lang="en-US" altLang="en-US" sz="2400" dirty="0">
                <a:latin typeface="+mj-lt"/>
                <a:ea typeface="Arial" panose="020B0604020202020204" pitchFamily="34" charset="0"/>
                <a:sym typeface="Wingdings" panose="05000000000000000000" pitchFamily="2" charset="2"/>
              </a:rPr>
              <a:t> is the event of </a:t>
            </a:r>
            <a:r>
              <a:rPr lang="en-US" altLang="en-US" sz="2400" b="1" dirty="0">
                <a:latin typeface="+mj-lt"/>
                <a:ea typeface="MS PGothic" panose="020B0600070205080204" pitchFamily="34" charset="-128"/>
                <a:sym typeface="Wingdings" panose="05000000000000000000" pitchFamily="2" charset="2"/>
              </a:rPr>
              <a:t>m </a:t>
            </a:r>
            <a:r>
              <a:rPr lang="en-US" altLang="en-US" sz="2400" dirty="0">
                <a:latin typeface="+mj-lt"/>
                <a:ea typeface="MS PGothic" panose="020B0600070205080204" pitchFamily="34" charset="-128"/>
                <a:sym typeface="Wingdings" panose="05000000000000000000" pitchFamily="2" charset="2"/>
              </a:rPr>
              <a:t>(i.e., the same message) </a:t>
            </a:r>
            <a:r>
              <a:rPr lang="en-US" altLang="en-US" sz="2400" dirty="0">
                <a:latin typeface="+mj-lt"/>
                <a:ea typeface="Arial" panose="020B0604020202020204" pitchFamily="34" charset="0"/>
                <a:sym typeface="Wingdings" panose="05000000000000000000" pitchFamily="2" charset="2"/>
              </a:rPr>
              <a:t>being received by another process, then </a:t>
            </a:r>
            <a:r>
              <a:rPr lang="en-US" altLang="en-US" sz="2400" b="1" dirty="0" err="1">
                <a:latin typeface="+mj-lt"/>
                <a:ea typeface="MS PGothic" panose="020B0600070205080204" pitchFamily="34" charset="-128"/>
                <a:sym typeface="Wingdings" panose="05000000000000000000" pitchFamily="2" charset="2"/>
              </a:rPr>
              <a:t>ab</a:t>
            </a:r>
            <a:r>
              <a:rPr lang="en-US" altLang="en-US" sz="2400" dirty="0">
                <a:latin typeface="+mj-lt"/>
                <a:ea typeface="Arial" panose="020B0604020202020204" pitchFamily="34" charset="0"/>
                <a:sym typeface="Wingdings" panose="05000000000000000000" pitchFamily="2" charset="2"/>
              </a:rPr>
              <a:t> is true</a:t>
            </a:r>
          </a:p>
          <a:p>
            <a:pPr marL="265113" lvl="1" indent="-265113">
              <a:spcBef>
                <a:spcPts val="1000"/>
              </a:spcBef>
              <a:spcAft>
                <a:spcPts val="600"/>
              </a:spcAft>
              <a:buFont typeface="Webdings" panose="05030102010509060703" pitchFamily="18" charset="2"/>
              <a:buChar char=""/>
            </a:pPr>
            <a:r>
              <a:rPr lang="en-US" altLang="en-US" sz="2400" dirty="0">
                <a:sym typeface="Wingdings" panose="05000000000000000000" pitchFamily="2" charset="2"/>
              </a:rPr>
              <a:t>The happened-before relation is transitive</a:t>
            </a:r>
          </a:p>
          <a:p>
            <a:pPr marL="714375" lvl="2" indent="-357188">
              <a:spcAft>
                <a:spcPts val="600"/>
              </a:spcAft>
              <a:defRPr/>
            </a:pPr>
            <a:r>
              <a:rPr lang="en-US" altLang="en-US" sz="2400" dirty="0">
                <a:sym typeface="Wingdings" panose="05000000000000000000" pitchFamily="2" charset="2"/>
              </a:rPr>
              <a:t>If </a:t>
            </a:r>
            <a:r>
              <a:rPr lang="en-US" altLang="en-US" sz="2400" dirty="0" err="1">
                <a:sym typeface="Wingdings" panose="05000000000000000000" pitchFamily="2" charset="2"/>
              </a:rPr>
              <a:t>ab</a:t>
            </a:r>
            <a:r>
              <a:rPr lang="en-US" altLang="en-US" sz="2400" dirty="0">
                <a:sym typeface="Wingdings" panose="05000000000000000000" pitchFamily="2" charset="2"/>
              </a:rPr>
              <a:t> and </a:t>
            </a:r>
            <a:r>
              <a:rPr lang="en-US" altLang="en-US" sz="2400" dirty="0" err="1">
                <a:sym typeface="Wingdings" panose="05000000000000000000" pitchFamily="2" charset="2"/>
              </a:rPr>
              <a:t>bc</a:t>
            </a:r>
            <a:r>
              <a:rPr lang="en-US" altLang="en-US" sz="2400" dirty="0">
                <a:sym typeface="Wingdings" panose="05000000000000000000" pitchFamily="2" charset="2"/>
              </a:rPr>
              <a:t>, then </a:t>
            </a:r>
            <a:r>
              <a:rPr lang="en-US" altLang="en-US" sz="2400" dirty="0" err="1">
                <a:sym typeface="Wingdings" panose="05000000000000000000" pitchFamily="2" charset="2"/>
              </a:rPr>
              <a:t>ac</a:t>
            </a:r>
            <a:endParaRPr lang="en-US" altLang="en-US" sz="2400" dirty="0">
              <a:sym typeface="Wingdings" panose="05000000000000000000" pitchFamily="2" charset="2"/>
            </a:endParaRPr>
          </a:p>
          <a:p>
            <a:endParaRPr lang="en-US" altLang="en-US" dirty="0"/>
          </a:p>
        </p:txBody>
      </p:sp>
    </p:spTree>
    <p:extLst>
      <p:ext uri="{BB962C8B-B14F-4D97-AF65-F5344CB8AC3E}">
        <p14:creationId xmlns:p14="http://schemas.microsoft.com/office/powerpoint/2010/main" val="1870072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Properties of Logical Clock</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marL="0" indent="0">
              <a:buNone/>
            </a:pPr>
            <a:r>
              <a:rPr lang="en-US" altLang="en-US" b="1" dirty="0">
                <a:solidFill>
                  <a:srgbClr val="1D6199"/>
                </a:solidFill>
              </a:rPr>
              <a:t>From the happened-before relation, we can infer that:</a:t>
            </a:r>
          </a:p>
          <a:p>
            <a:pPr marL="265113" lvl="2" indent="-265113">
              <a:spcBef>
                <a:spcPts val="1000"/>
              </a:spcBef>
              <a:buFont typeface="Webdings" panose="05030102010509060703" pitchFamily="18" charset="2"/>
              <a:buChar char=""/>
              <a:defRPr/>
            </a:pPr>
            <a:r>
              <a:rPr lang="en-US" altLang="en-US" sz="2400" dirty="0"/>
              <a:t>If </a:t>
            </a:r>
            <a:r>
              <a:rPr lang="en-US" altLang="en-US" sz="2400" dirty="0">
                <a:solidFill>
                  <a:srgbClr val="1D6199"/>
                </a:solidFill>
              </a:rPr>
              <a:t>two events a and b occur within the same process </a:t>
            </a:r>
            <a:r>
              <a:rPr lang="en-US" altLang="en-US" sz="2400" dirty="0"/>
              <a:t>and a</a:t>
            </a:r>
            <a:r>
              <a:rPr lang="en-US" altLang="en-US" sz="2400" b="1" dirty="0">
                <a:ea typeface="MS PGothic" panose="020B0600070205080204" pitchFamily="34" charset="-128"/>
                <a:sym typeface="Wingdings" panose="05000000000000000000" pitchFamily="2" charset="2"/>
              </a:rPr>
              <a:t>  </a:t>
            </a:r>
            <a:r>
              <a:rPr lang="en-US" altLang="en-US" sz="2400" dirty="0"/>
              <a:t>b, then C(a) and C(b) are assigned time values such that C(a) &lt; C(b)</a:t>
            </a:r>
          </a:p>
          <a:p>
            <a:pPr marL="265113" lvl="2" indent="-265113">
              <a:spcBef>
                <a:spcPts val="1000"/>
              </a:spcBef>
              <a:buFont typeface="Webdings" panose="05030102010509060703" pitchFamily="18" charset="2"/>
              <a:buChar char=""/>
              <a:defRPr/>
            </a:pPr>
            <a:r>
              <a:rPr lang="en-US" altLang="en-US" sz="2400" dirty="0"/>
              <a:t>If </a:t>
            </a:r>
            <a:r>
              <a:rPr lang="en-US" altLang="en-US" sz="2400" dirty="0">
                <a:solidFill>
                  <a:srgbClr val="1D6199"/>
                </a:solidFill>
              </a:rPr>
              <a:t>a is the event of sending message m </a:t>
            </a:r>
            <a:r>
              <a:rPr lang="en-US" altLang="en-US" sz="2400" dirty="0"/>
              <a:t>from one process (say P1), and b is the event of receiving m (i.e., the same message) at another process (say, P2), then: </a:t>
            </a:r>
          </a:p>
          <a:p>
            <a:pPr marL="714375" lvl="2" indent="-357188">
              <a:defRPr/>
            </a:pPr>
            <a:r>
              <a:rPr lang="en-US" altLang="en-US" sz="2400" dirty="0"/>
              <a:t>The time values C1(a) and C2(b) are assigned in a way such that the two processes agree that C1(a) &lt; C2(b)</a:t>
            </a:r>
          </a:p>
          <a:p>
            <a:r>
              <a:rPr lang="en-US" altLang="en-US" dirty="0"/>
              <a:t>The clock time C must always go forward (increasing), and never backward (decreasing)</a:t>
            </a:r>
          </a:p>
        </p:txBody>
      </p:sp>
    </p:spTree>
    <p:extLst>
      <p:ext uri="{BB962C8B-B14F-4D97-AF65-F5344CB8AC3E}">
        <p14:creationId xmlns:p14="http://schemas.microsoft.com/office/powerpoint/2010/main" val="57066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Synchronizing Logical Clocks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4"/>
            <a:ext cx="7879345" cy="5590565"/>
          </a:xfrm>
        </p:spPr>
        <p:txBody>
          <a:bodyPr/>
          <a:lstStyle/>
          <a:p>
            <a:pPr marL="265113" lvl="2" indent="-265113">
              <a:spcBef>
                <a:spcPts val="1000"/>
              </a:spcBef>
              <a:buFont typeface="Webdings" panose="05030102010509060703" pitchFamily="18" charset="2"/>
              <a:buChar char=""/>
              <a:defRPr/>
            </a:pPr>
            <a:r>
              <a:rPr lang="en-US" altLang="en-US" sz="2400" dirty="0"/>
              <a:t>Three processes P1, P2 and P3 running at different rates</a:t>
            </a:r>
          </a:p>
          <a:p>
            <a:pPr marL="265113" lvl="2" indent="-265113">
              <a:spcBef>
                <a:spcPts val="1000"/>
              </a:spcBef>
              <a:buFont typeface="Webdings" panose="05030102010509060703" pitchFamily="18" charset="2"/>
              <a:buChar char=""/>
              <a:defRPr/>
            </a:pPr>
            <a:r>
              <a:rPr lang="en-US" altLang="en-US" sz="2400" dirty="0"/>
              <a:t>If the processes communicate between each other, there might be discrepancies in agreeing on the event ordering</a:t>
            </a:r>
          </a:p>
          <a:p>
            <a:pPr marL="714375" lvl="2" indent="-357188">
              <a:defRPr/>
            </a:pPr>
            <a:r>
              <a:rPr lang="en-US" altLang="en-US" sz="2400" dirty="0"/>
              <a:t>Ordering of sending and receiving messages </a:t>
            </a:r>
            <a:r>
              <a:rPr lang="en-US" altLang="en-US" sz="2400" dirty="0">
                <a:solidFill>
                  <a:srgbClr val="1D6199"/>
                </a:solidFill>
              </a:rPr>
              <a:t>m1 and m2 are correct</a:t>
            </a:r>
          </a:p>
          <a:p>
            <a:pPr marL="714375" lvl="2" indent="-357188">
              <a:defRPr/>
            </a:pPr>
            <a:r>
              <a:rPr lang="en-US" altLang="en-US" sz="2400" dirty="0"/>
              <a:t>However, </a:t>
            </a:r>
            <a:r>
              <a:rPr lang="en-US" altLang="en-US" sz="2400" dirty="0">
                <a:solidFill>
                  <a:srgbClr val="1D6199"/>
                </a:solidFill>
              </a:rPr>
              <a:t>m3 and m4 violate the happened-before </a:t>
            </a:r>
            <a:r>
              <a:rPr lang="en-US" altLang="en-US" sz="2400" dirty="0"/>
              <a:t>relationship</a:t>
            </a:r>
          </a:p>
        </p:txBody>
      </p:sp>
      <p:grpSp>
        <p:nvGrpSpPr>
          <p:cNvPr id="100" name="Group 99"/>
          <p:cNvGrpSpPr/>
          <p:nvPr/>
        </p:nvGrpSpPr>
        <p:grpSpPr>
          <a:xfrm>
            <a:off x="8482013" y="1604962"/>
            <a:ext cx="3200400" cy="3886200"/>
            <a:chOff x="8482013" y="1604962"/>
            <a:chExt cx="3200400" cy="3886200"/>
          </a:xfrm>
        </p:grpSpPr>
        <p:sp>
          <p:nvSpPr>
            <p:cNvPr id="52" name="Rectangle 51">
              <a:extLst>
                <a:ext uri="{FF2B5EF4-FFF2-40B4-BE49-F238E27FC236}">
                  <a16:creationId xmlns:a16="http://schemas.microsoft.com/office/drawing/2014/main" id="{5A8CE045-0195-4A40-9B57-134CD7A469AE}"/>
                </a:ext>
              </a:extLst>
            </p:cNvPr>
            <p:cNvSpPr/>
            <p:nvPr/>
          </p:nvSpPr>
          <p:spPr>
            <a:xfrm>
              <a:off x="8558213" y="2138362"/>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0</a:t>
              </a:r>
            </a:p>
          </p:txBody>
        </p:sp>
        <p:sp>
          <p:nvSpPr>
            <p:cNvPr id="53" name="Rectangle 52">
              <a:extLst>
                <a:ext uri="{FF2B5EF4-FFF2-40B4-BE49-F238E27FC236}">
                  <a16:creationId xmlns:a16="http://schemas.microsoft.com/office/drawing/2014/main" id="{3BA8B18F-F220-4BF8-ACD2-86A6C848CD93}"/>
                </a:ext>
              </a:extLst>
            </p:cNvPr>
            <p:cNvSpPr/>
            <p:nvPr/>
          </p:nvSpPr>
          <p:spPr>
            <a:xfrm>
              <a:off x="8558213" y="2443162"/>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6</a:t>
              </a:r>
            </a:p>
          </p:txBody>
        </p:sp>
        <p:sp>
          <p:nvSpPr>
            <p:cNvPr id="54" name="Rectangle 53">
              <a:extLst>
                <a:ext uri="{FF2B5EF4-FFF2-40B4-BE49-F238E27FC236}">
                  <a16:creationId xmlns:a16="http://schemas.microsoft.com/office/drawing/2014/main" id="{6A76996B-608D-404E-8FFC-3085CF1FDE2D}"/>
                </a:ext>
              </a:extLst>
            </p:cNvPr>
            <p:cNvSpPr/>
            <p:nvPr/>
          </p:nvSpPr>
          <p:spPr>
            <a:xfrm>
              <a:off x="8558213" y="2747962"/>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12</a:t>
              </a:r>
            </a:p>
          </p:txBody>
        </p:sp>
        <p:sp>
          <p:nvSpPr>
            <p:cNvPr id="55" name="Rectangle 54">
              <a:extLst>
                <a:ext uri="{FF2B5EF4-FFF2-40B4-BE49-F238E27FC236}">
                  <a16:creationId xmlns:a16="http://schemas.microsoft.com/office/drawing/2014/main" id="{2C9E2749-28F8-4A81-9F5C-D274262AC202}"/>
                </a:ext>
              </a:extLst>
            </p:cNvPr>
            <p:cNvSpPr/>
            <p:nvPr/>
          </p:nvSpPr>
          <p:spPr>
            <a:xfrm>
              <a:off x="8558213" y="3052762"/>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18</a:t>
              </a:r>
            </a:p>
          </p:txBody>
        </p:sp>
        <p:sp>
          <p:nvSpPr>
            <p:cNvPr id="56" name="Rectangle 55">
              <a:extLst>
                <a:ext uri="{FF2B5EF4-FFF2-40B4-BE49-F238E27FC236}">
                  <a16:creationId xmlns:a16="http://schemas.microsoft.com/office/drawing/2014/main" id="{031B153A-BC60-4759-B54A-8E8819B3B80F}"/>
                </a:ext>
              </a:extLst>
            </p:cNvPr>
            <p:cNvSpPr/>
            <p:nvPr/>
          </p:nvSpPr>
          <p:spPr>
            <a:xfrm>
              <a:off x="8558213" y="3357562"/>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24</a:t>
              </a:r>
            </a:p>
          </p:txBody>
        </p:sp>
        <p:sp>
          <p:nvSpPr>
            <p:cNvPr id="57" name="Rectangle 56">
              <a:extLst>
                <a:ext uri="{FF2B5EF4-FFF2-40B4-BE49-F238E27FC236}">
                  <a16:creationId xmlns:a16="http://schemas.microsoft.com/office/drawing/2014/main" id="{2AA54272-C725-4E00-AC86-9D7B7FD2D72D}"/>
                </a:ext>
              </a:extLst>
            </p:cNvPr>
            <p:cNvSpPr/>
            <p:nvPr/>
          </p:nvSpPr>
          <p:spPr>
            <a:xfrm>
              <a:off x="8558213" y="3662362"/>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30</a:t>
              </a:r>
            </a:p>
          </p:txBody>
        </p:sp>
        <p:sp>
          <p:nvSpPr>
            <p:cNvPr id="58" name="Rectangle 57">
              <a:extLst>
                <a:ext uri="{FF2B5EF4-FFF2-40B4-BE49-F238E27FC236}">
                  <a16:creationId xmlns:a16="http://schemas.microsoft.com/office/drawing/2014/main" id="{0B783FB2-B915-4D16-901E-6E145CE4F23A}"/>
                </a:ext>
              </a:extLst>
            </p:cNvPr>
            <p:cNvSpPr/>
            <p:nvPr/>
          </p:nvSpPr>
          <p:spPr>
            <a:xfrm>
              <a:off x="8558213" y="3967162"/>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36</a:t>
              </a:r>
            </a:p>
          </p:txBody>
        </p:sp>
        <p:sp>
          <p:nvSpPr>
            <p:cNvPr id="59" name="Rectangle 58">
              <a:extLst>
                <a:ext uri="{FF2B5EF4-FFF2-40B4-BE49-F238E27FC236}">
                  <a16:creationId xmlns:a16="http://schemas.microsoft.com/office/drawing/2014/main" id="{D23E359E-60B5-4188-A606-89F6543AD43C}"/>
                </a:ext>
              </a:extLst>
            </p:cNvPr>
            <p:cNvSpPr/>
            <p:nvPr/>
          </p:nvSpPr>
          <p:spPr>
            <a:xfrm>
              <a:off x="8558213" y="4271962"/>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42</a:t>
              </a:r>
            </a:p>
          </p:txBody>
        </p:sp>
        <p:sp>
          <p:nvSpPr>
            <p:cNvPr id="60" name="Rectangle 59">
              <a:extLst>
                <a:ext uri="{FF2B5EF4-FFF2-40B4-BE49-F238E27FC236}">
                  <a16:creationId xmlns:a16="http://schemas.microsoft.com/office/drawing/2014/main" id="{507452C4-B8F2-4C79-A364-02D8A3EAFDCF}"/>
                </a:ext>
              </a:extLst>
            </p:cNvPr>
            <p:cNvSpPr/>
            <p:nvPr/>
          </p:nvSpPr>
          <p:spPr>
            <a:xfrm>
              <a:off x="8558213" y="4576762"/>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48</a:t>
              </a:r>
            </a:p>
          </p:txBody>
        </p:sp>
        <p:sp>
          <p:nvSpPr>
            <p:cNvPr id="61" name="Rectangle 60">
              <a:extLst>
                <a:ext uri="{FF2B5EF4-FFF2-40B4-BE49-F238E27FC236}">
                  <a16:creationId xmlns:a16="http://schemas.microsoft.com/office/drawing/2014/main" id="{C0C4013B-705A-4CAE-A62C-908BCF337633}"/>
                </a:ext>
              </a:extLst>
            </p:cNvPr>
            <p:cNvSpPr/>
            <p:nvPr/>
          </p:nvSpPr>
          <p:spPr>
            <a:xfrm>
              <a:off x="8558213" y="4881562"/>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54</a:t>
              </a:r>
            </a:p>
          </p:txBody>
        </p:sp>
        <p:sp>
          <p:nvSpPr>
            <p:cNvPr id="62" name="Rectangle 61">
              <a:extLst>
                <a:ext uri="{FF2B5EF4-FFF2-40B4-BE49-F238E27FC236}">
                  <a16:creationId xmlns:a16="http://schemas.microsoft.com/office/drawing/2014/main" id="{5056E560-155B-4701-9E36-BA523FE388EF}"/>
                </a:ext>
              </a:extLst>
            </p:cNvPr>
            <p:cNvSpPr/>
            <p:nvPr/>
          </p:nvSpPr>
          <p:spPr>
            <a:xfrm>
              <a:off x="8558213" y="5186362"/>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60</a:t>
              </a:r>
            </a:p>
          </p:txBody>
        </p:sp>
        <p:sp>
          <p:nvSpPr>
            <p:cNvPr id="63" name="Rectangle 62">
              <a:extLst>
                <a:ext uri="{FF2B5EF4-FFF2-40B4-BE49-F238E27FC236}">
                  <a16:creationId xmlns:a16="http://schemas.microsoft.com/office/drawing/2014/main" id="{ACC844C0-2868-4832-BCDF-D2E114A1FA1D}"/>
                </a:ext>
              </a:extLst>
            </p:cNvPr>
            <p:cNvSpPr/>
            <p:nvPr/>
          </p:nvSpPr>
          <p:spPr>
            <a:xfrm>
              <a:off x="9853613" y="2138362"/>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latin typeface="+mj-lt"/>
                </a:rPr>
                <a:t>0</a:t>
              </a:r>
            </a:p>
          </p:txBody>
        </p:sp>
        <p:sp>
          <p:nvSpPr>
            <p:cNvPr id="64" name="Rectangle 63">
              <a:extLst>
                <a:ext uri="{FF2B5EF4-FFF2-40B4-BE49-F238E27FC236}">
                  <a16:creationId xmlns:a16="http://schemas.microsoft.com/office/drawing/2014/main" id="{50DF99E4-3911-424A-86F6-CCED2C284801}"/>
                </a:ext>
              </a:extLst>
            </p:cNvPr>
            <p:cNvSpPr/>
            <p:nvPr/>
          </p:nvSpPr>
          <p:spPr>
            <a:xfrm>
              <a:off x="9853613" y="2443162"/>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latin typeface="+mj-lt"/>
                </a:rPr>
                <a:t>8</a:t>
              </a:r>
            </a:p>
          </p:txBody>
        </p:sp>
        <p:sp>
          <p:nvSpPr>
            <p:cNvPr id="65" name="Rectangle 64">
              <a:extLst>
                <a:ext uri="{FF2B5EF4-FFF2-40B4-BE49-F238E27FC236}">
                  <a16:creationId xmlns:a16="http://schemas.microsoft.com/office/drawing/2014/main" id="{49D6CB2F-A44D-41AD-808B-2F52DE023E1B}"/>
                </a:ext>
              </a:extLst>
            </p:cNvPr>
            <p:cNvSpPr/>
            <p:nvPr/>
          </p:nvSpPr>
          <p:spPr>
            <a:xfrm>
              <a:off x="9853613" y="2747962"/>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latin typeface="+mj-lt"/>
                </a:rPr>
                <a:t>16</a:t>
              </a:r>
            </a:p>
          </p:txBody>
        </p:sp>
        <p:sp>
          <p:nvSpPr>
            <p:cNvPr id="66" name="Rectangle 65">
              <a:extLst>
                <a:ext uri="{FF2B5EF4-FFF2-40B4-BE49-F238E27FC236}">
                  <a16:creationId xmlns:a16="http://schemas.microsoft.com/office/drawing/2014/main" id="{F3FEFDCA-E534-4E2E-A227-1ACCF0635FBE}"/>
                </a:ext>
              </a:extLst>
            </p:cNvPr>
            <p:cNvSpPr/>
            <p:nvPr/>
          </p:nvSpPr>
          <p:spPr>
            <a:xfrm>
              <a:off x="9853613" y="3052762"/>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latin typeface="+mj-lt"/>
                </a:rPr>
                <a:t>24</a:t>
              </a:r>
            </a:p>
          </p:txBody>
        </p:sp>
        <p:sp>
          <p:nvSpPr>
            <p:cNvPr id="67" name="Rectangle 66">
              <a:extLst>
                <a:ext uri="{FF2B5EF4-FFF2-40B4-BE49-F238E27FC236}">
                  <a16:creationId xmlns:a16="http://schemas.microsoft.com/office/drawing/2014/main" id="{10312B9A-0560-47B5-9A35-B110A4D98316}"/>
                </a:ext>
              </a:extLst>
            </p:cNvPr>
            <p:cNvSpPr/>
            <p:nvPr/>
          </p:nvSpPr>
          <p:spPr>
            <a:xfrm>
              <a:off x="9853613" y="3357562"/>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latin typeface="+mj-lt"/>
                </a:rPr>
                <a:t>32</a:t>
              </a:r>
            </a:p>
          </p:txBody>
        </p:sp>
        <p:sp>
          <p:nvSpPr>
            <p:cNvPr id="68" name="Rectangle 67">
              <a:extLst>
                <a:ext uri="{FF2B5EF4-FFF2-40B4-BE49-F238E27FC236}">
                  <a16:creationId xmlns:a16="http://schemas.microsoft.com/office/drawing/2014/main" id="{2E7F1CD3-FF5E-4BB0-91F1-F01B9B9766DA}"/>
                </a:ext>
              </a:extLst>
            </p:cNvPr>
            <p:cNvSpPr/>
            <p:nvPr/>
          </p:nvSpPr>
          <p:spPr>
            <a:xfrm>
              <a:off x="9853613" y="3662362"/>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latin typeface="+mj-lt"/>
                </a:rPr>
                <a:t>40</a:t>
              </a:r>
            </a:p>
          </p:txBody>
        </p:sp>
        <p:sp>
          <p:nvSpPr>
            <p:cNvPr id="69" name="Rectangle 68">
              <a:extLst>
                <a:ext uri="{FF2B5EF4-FFF2-40B4-BE49-F238E27FC236}">
                  <a16:creationId xmlns:a16="http://schemas.microsoft.com/office/drawing/2014/main" id="{0801FE69-CE44-4497-A3FC-D8286EBDDC9D}"/>
                </a:ext>
              </a:extLst>
            </p:cNvPr>
            <p:cNvSpPr/>
            <p:nvPr/>
          </p:nvSpPr>
          <p:spPr>
            <a:xfrm>
              <a:off x="9853613" y="3967162"/>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latin typeface="+mj-lt"/>
                </a:rPr>
                <a:t>48</a:t>
              </a:r>
            </a:p>
          </p:txBody>
        </p:sp>
        <p:sp>
          <p:nvSpPr>
            <p:cNvPr id="70" name="Rectangle 69">
              <a:extLst>
                <a:ext uri="{FF2B5EF4-FFF2-40B4-BE49-F238E27FC236}">
                  <a16:creationId xmlns:a16="http://schemas.microsoft.com/office/drawing/2014/main" id="{5755EF12-43EB-4411-B5BB-559AFBD50BB5}"/>
                </a:ext>
              </a:extLst>
            </p:cNvPr>
            <p:cNvSpPr/>
            <p:nvPr/>
          </p:nvSpPr>
          <p:spPr>
            <a:xfrm>
              <a:off x="9853613" y="4271962"/>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latin typeface="+mj-lt"/>
                </a:rPr>
                <a:t>56</a:t>
              </a:r>
            </a:p>
          </p:txBody>
        </p:sp>
        <p:sp>
          <p:nvSpPr>
            <p:cNvPr id="71" name="Rectangle 70">
              <a:extLst>
                <a:ext uri="{FF2B5EF4-FFF2-40B4-BE49-F238E27FC236}">
                  <a16:creationId xmlns:a16="http://schemas.microsoft.com/office/drawing/2014/main" id="{514E16CA-47A8-4AC1-A313-69A53BE86446}"/>
                </a:ext>
              </a:extLst>
            </p:cNvPr>
            <p:cNvSpPr/>
            <p:nvPr/>
          </p:nvSpPr>
          <p:spPr>
            <a:xfrm>
              <a:off x="9853613" y="4576762"/>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latin typeface="+mj-lt"/>
                </a:rPr>
                <a:t>64</a:t>
              </a:r>
            </a:p>
          </p:txBody>
        </p:sp>
        <p:sp>
          <p:nvSpPr>
            <p:cNvPr id="72" name="Rectangle 71">
              <a:extLst>
                <a:ext uri="{FF2B5EF4-FFF2-40B4-BE49-F238E27FC236}">
                  <a16:creationId xmlns:a16="http://schemas.microsoft.com/office/drawing/2014/main" id="{4721AFF1-690D-46C1-AE72-FEA9DD3B75C0}"/>
                </a:ext>
              </a:extLst>
            </p:cNvPr>
            <p:cNvSpPr/>
            <p:nvPr/>
          </p:nvSpPr>
          <p:spPr>
            <a:xfrm>
              <a:off x="9853613" y="4881562"/>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latin typeface="+mj-lt"/>
                </a:rPr>
                <a:t>72</a:t>
              </a:r>
            </a:p>
          </p:txBody>
        </p:sp>
        <p:sp>
          <p:nvSpPr>
            <p:cNvPr id="73" name="Rectangle 72">
              <a:extLst>
                <a:ext uri="{FF2B5EF4-FFF2-40B4-BE49-F238E27FC236}">
                  <a16:creationId xmlns:a16="http://schemas.microsoft.com/office/drawing/2014/main" id="{EE0E6B47-15B5-41B8-AD56-30436D94101F}"/>
                </a:ext>
              </a:extLst>
            </p:cNvPr>
            <p:cNvSpPr/>
            <p:nvPr/>
          </p:nvSpPr>
          <p:spPr>
            <a:xfrm>
              <a:off x="9853613" y="5186362"/>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latin typeface="+mj-lt"/>
                </a:rPr>
                <a:t>80</a:t>
              </a:r>
            </a:p>
          </p:txBody>
        </p:sp>
        <p:sp>
          <p:nvSpPr>
            <p:cNvPr id="74" name="Rectangle 73">
              <a:extLst>
                <a:ext uri="{FF2B5EF4-FFF2-40B4-BE49-F238E27FC236}">
                  <a16:creationId xmlns:a16="http://schemas.microsoft.com/office/drawing/2014/main" id="{7FADD38E-4FF9-4294-BB09-37185CFB09B7}"/>
                </a:ext>
              </a:extLst>
            </p:cNvPr>
            <p:cNvSpPr/>
            <p:nvPr/>
          </p:nvSpPr>
          <p:spPr>
            <a:xfrm>
              <a:off x="11072813" y="2138362"/>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0</a:t>
              </a:r>
            </a:p>
          </p:txBody>
        </p:sp>
        <p:sp>
          <p:nvSpPr>
            <p:cNvPr id="75" name="Rectangle 74">
              <a:extLst>
                <a:ext uri="{FF2B5EF4-FFF2-40B4-BE49-F238E27FC236}">
                  <a16:creationId xmlns:a16="http://schemas.microsoft.com/office/drawing/2014/main" id="{98AA0933-F412-4441-9CED-4E7DDEBB82C7}"/>
                </a:ext>
              </a:extLst>
            </p:cNvPr>
            <p:cNvSpPr/>
            <p:nvPr/>
          </p:nvSpPr>
          <p:spPr>
            <a:xfrm>
              <a:off x="11072813" y="2443162"/>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10</a:t>
              </a:r>
            </a:p>
          </p:txBody>
        </p:sp>
        <p:sp>
          <p:nvSpPr>
            <p:cNvPr id="76" name="Rectangle 75">
              <a:extLst>
                <a:ext uri="{FF2B5EF4-FFF2-40B4-BE49-F238E27FC236}">
                  <a16:creationId xmlns:a16="http://schemas.microsoft.com/office/drawing/2014/main" id="{9F020D9C-2643-4670-BA59-075102B89054}"/>
                </a:ext>
              </a:extLst>
            </p:cNvPr>
            <p:cNvSpPr/>
            <p:nvPr/>
          </p:nvSpPr>
          <p:spPr>
            <a:xfrm>
              <a:off x="11072813" y="2747962"/>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20</a:t>
              </a:r>
            </a:p>
          </p:txBody>
        </p:sp>
        <p:sp>
          <p:nvSpPr>
            <p:cNvPr id="77" name="Rectangle 76">
              <a:extLst>
                <a:ext uri="{FF2B5EF4-FFF2-40B4-BE49-F238E27FC236}">
                  <a16:creationId xmlns:a16="http://schemas.microsoft.com/office/drawing/2014/main" id="{F7227237-D863-4BE5-9AE9-4E9A9C649482}"/>
                </a:ext>
              </a:extLst>
            </p:cNvPr>
            <p:cNvSpPr/>
            <p:nvPr/>
          </p:nvSpPr>
          <p:spPr>
            <a:xfrm>
              <a:off x="11072813" y="3052762"/>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30</a:t>
              </a:r>
            </a:p>
          </p:txBody>
        </p:sp>
        <p:sp>
          <p:nvSpPr>
            <p:cNvPr id="78" name="Rectangle 77">
              <a:extLst>
                <a:ext uri="{FF2B5EF4-FFF2-40B4-BE49-F238E27FC236}">
                  <a16:creationId xmlns:a16="http://schemas.microsoft.com/office/drawing/2014/main" id="{05AF7B61-FABD-4F2C-BBB9-8507BE9DC4AB}"/>
                </a:ext>
              </a:extLst>
            </p:cNvPr>
            <p:cNvSpPr/>
            <p:nvPr/>
          </p:nvSpPr>
          <p:spPr>
            <a:xfrm>
              <a:off x="11072813" y="3357562"/>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40</a:t>
              </a:r>
            </a:p>
          </p:txBody>
        </p:sp>
        <p:sp>
          <p:nvSpPr>
            <p:cNvPr id="79" name="Rectangle 78">
              <a:extLst>
                <a:ext uri="{FF2B5EF4-FFF2-40B4-BE49-F238E27FC236}">
                  <a16:creationId xmlns:a16="http://schemas.microsoft.com/office/drawing/2014/main" id="{54879D59-BBF0-4A64-8D85-92D1C8368FCA}"/>
                </a:ext>
              </a:extLst>
            </p:cNvPr>
            <p:cNvSpPr/>
            <p:nvPr/>
          </p:nvSpPr>
          <p:spPr>
            <a:xfrm>
              <a:off x="11072813" y="3662362"/>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50</a:t>
              </a:r>
            </a:p>
          </p:txBody>
        </p:sp>
        <p:sp>
          <p:nvSpPr>
            <p:cNvPr id="80" name="Rectangle 79">
              <a:extLst>
                <a:ext uri="{FF2B5EF4-FFF2-40B4-BE49-F238E27FC236}">
                  <a16:creationId xmlns:a16="http://schemas.microsoft.com/office/drawing/2014/main" id="{3295491D-6571-4AD9-B24A-AA400EE2F042}"/>
                </a:ext>
              </a:extLst>
            </p:cNvPr>
            <p:cNvSpPr/>
            <p:nvPr/>
          </p:nvSpPr>
          <p:spPr>
            <a:xfrm>
              <a:off x="11072813" y="3967162"/>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60</a:t>
              </a:r>
            </a:p>
          </p:txBody>
        </p:sp>
        <p:sp>
          <p:nvSpPr>
            <p:cNvPr id="81" name="Rectangle 80">
              <a:extLst>
                <a:ext uri="{FF2B5EF4-FFF2-40B4-BE49-F238E27FC236}">
                  <a16:creationId xmlns:a16="http://schemas.microsoft.com/office/drawing/2014/main" id="{22B829B4-67A0-426A-BA21-062C808AEC3A}"/>
                </a:ext>
              </a:extLst>
            </p:cNvPr>
            <p:cNvSpPr/>
            <p:nvPr/>
          </p:nvSpPr>
          <p:spPr>
            <a:xfrm>
              <a:off x="11072813" y="4271962"/>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70</a:t>
              </a:r>
            </a:p>
          </p:txBody>
        </p:sp>
        <p:sp>
          <p:nvSpPr>
            <p:cNvPr id="82" name="Rectangle 81">
              <a:extLst>
                <a:ext uri="{FF2B5EF4-FFF2-40B4-BE49-F238E27FC236}">
                  <a16:creationId xmlns:a16="http://schemas.microsoft.com/office/drawing/2014/main" id="{DB27B993-8F90-43D9-9273-646C8D0B98F6}"/>
                </a:ext>
              </a:extLst>
            </p:cNvPr>
            <p:cNvSpPr/>
            <p:nvPr/>
          </p:nvSpPr>
          <p:spPr>
            <a:xfrm>
              <a:off x="11072813" y="4576762"/>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80</a:t>
              </a:r>
            </a:p>
          </p:txBody>
        </p:sp>
        <p:sp>
          <p:nvSpPr>
            <p:cNvPr id="83" name="Rectangle 82">
              <a:extLst>
                <a:ext uri="{FF2B5EF4-FFF2-40B4-BE49-F238E27FC236}">
                  <a16:creationId xmlns:a16="http://schemas.microsoft.com/office/drawing/2014/main" id="{EF7FE815-38BF-4143-8BD7-E608DAA3CAD6}"/>
                </a:ext>
              </a:extLst>
            </p:cNvPr>
            <p:cNvSpPr/>
            <p:nvPr/>
          </p:nvSpPr>
          <p:spPr>
            <a:xfrm>
              <a:off x="11072813" y="4881562"/>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90</a:t>
              </a:r>
            </a:p>
          </p:txBody>
        </p:sp>
        <p:sp>
          <p:nvSpPr>
            <p:cNvPr id="84" name="Rectangle 83">
              <a:extLst>
                <a:ext uri="{FF2B5EF4-FFF2-40B4-BE49-F238E27FC236}">
                  <a16:creationId xmlns:a16="http://schemas.microsoft.com/office/drawing/2014/main" id="{7D1C69EC-3F4D-4DF0-A204-8A5A5DCADA13}"/>
                </a:ext>
              </a:extLst>
            </p:cNvPr>
            <p:cNvSpPr/>
            <p:nvPr/>
          </p:nvSpPr>
          <p:spPr>
            <a:xfrm>
              <a:off x="11072813" y="5186362"/>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latin typeface="+mj-lt"/>
                </a:rPr>
                <a:t>100</a:t>
              </a:r>
            </a:p>
          </p:txBody>
        </p:sp>
        <p:sp>
          <p:nvSpPr>
            <p:cNvPr id="85" name="Rectangle 84">
              <a:extLst>
                <a:ext uri="{FF2B5EF4-FFF2-40B4-BE49-F238E27FC236}">
                  <a16:creationId xmlns:a16="http://schemas.microsoft.com/office/drawing/2014/main" id="{97EC2AC9-4AE6-4BA1-BDF8-ACDFBB24AEE1}"/>
                </a:ext>
              </a:extLst>
            </p:cNvPr>
            <p:cNvSpPr/>
            <p:nvPr/>
          </p:nvSpPr>
          <p:spPr>
            <a:xfrm>
              <a:off x="8482013" y="1604962"/>
              <a:ext cx="685800" cy="38100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r>
                <a:rPr lang="en-US" sz="2000" b="1" dirty="0">
                  <a:latin typeface="+mj-lt"/>
                  <a:cs typeface="Courier New" pitchFamily="49" charset="0"/>
                </a:rPr>
                <a:t>P1</a:t>
              </a:r>
            </a:p>
          </p:txBody>
        </p:sp>
        <p:sp>
          <p:nvSpPr>
            <p:cNvPr id="86" name="Rectangle 85">
              <a:extLst>
                <a:ext uri="{FF2B5EF4-FFF2-40B4-BE49-F238E27FC236}">
                  <a16:creationId xmlns:a16="http://schemas.microsoft.com/office/drawing/2014/main" id="{ADEE8114-7A28-4C6B-8709-1FCB51722A3B}"/>
                </a:ext>
              </a:extLst>
            </p:cNvPr>
            <p:cNvSpPr/>
            <p:nvPr/>
          </p:nvSpPr>
          <p:spPr>
            <a:xfrm>
              <a:off x="9777413" y="1604962"/>
              <a:ext cx="685800" cy="38100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r>
                <a:rPr lang="en-US" sz="2000" b="1" dirty="0">
                  <a:latin typeface="+mj-lt"/>
                  <a:cs typeface="Courier New" pitchFamily="49" charset="0"/>
                </a:rPr>
                <a:t>P2</a:t>
              </a:r>
            </a:p>
          </p:txBody>
        </p:sp>
        <p:sp>
          <p:nvSpPr>
            <p:cNvPr id="87" name="Rectangle 86">
              <a:extLst>
                <a:ext uri="{FF2B5EF4-FFF2-40B4-BE49-F238E27FC236}">
                  <a16:creationId xmlns:a16="http://schemas.microsoft.com/office/drawing/2014/main" id="{1ADFA54C-5094-4334-BA4A-DF34C562B7A8}"/>
                </a:ext>
              </a:extLst>
            </p:cNvPr>
            <p:cNvSpPr/>
            <p:nvPr/>
          </p:nvSpPr>
          <p:spPr>
            <a:xfrm>
              <a:off x="10996613" y="1604962"/>
              <a:ext cx="685800" cy="38100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r>
                <a:rPr lang="en-US" sz="2000" b="1" dirty="0">
                  <a:latin typeface="+mj-lt"/>
                  <a:cs typeface="Courier New" pitchFamily="49" charset="0"/>
                </a:rPr>
                <a:t>P3</a:t>
              </a:r>
            </a:p>
          </p:txBody>
        </p:sp>
      </p:grpSp>
      <p:cxnSp>
        <p:nvCxnSpPr>
          <p:cNvPr id="88" name="Straight Arrow Connector 87">
            <a:extLst>
              <a:ext uri="{FF2B5EF4-FFF2-40B4-BE49-F238E27FC236}">
                <a16:creationId xmlns:a16="http://schemas.microsoft.com/office/drawing/2014/main" id="{91F95E71-2ACB-4F6A-A8C0-442F1299E408}"/>
              </a:ext>
            </a:extLst>
          </p:cNvPr>
          <p:cNvCxnSpPr/>
          <p:nvPr/>
        </p:nvCxnSpPr>
        <p:spPr>
          <a:xfrm>
            <a:off x="9091613" y="2595562"/>
            <a:ext cx="762000" cy="304800"/>
          </a:xfrm>
          <a:prstGeom prst="straightConnector1">
            <a:avLst/>
          </a:prstGeom>
          <a:ln w="28575">
            <a:solidFill>
              <a:schemeClr val="bg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1312AA66-DE1F-46C9-8ACC-A726926EF330}"/>
              </a:ext>
            </a:extLst>
          </p:cNvPr>
          <p:cNvSpPr txBox="1">
            <a:spLocks noChangeArrowheads="1"/>
          </p:cNvSpPr>
          <p:nvPr/>
        </p:nvSpPr>
        <p:spPr bwMode="auto">
          <a:xfrm>
            <a:off x="9244013" y="2366962"/>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dirty="0">
                <a:solidFill>
                  <a:schemeClr val="tx1"/>
                </a:solidFill>
                <a:latin typeface="+mj-lt"/>
                <a:cs typeface="Courier New" panose="02070309020205020404" pitchFamily="49" charset="0"/>
              </a:rPr>
              <a:t>m1</a:t>
            </a:r>
          </a:p>
        </p:txBody>
      </p:sp>
      <p:cxnSp>
        <p:nvCxnSpPr>
          <p:cNvPr id="90" name="Straight Arrow Connector 89">
            <a:extLst>
              <a:ext uri="{FF2B5EF4-FFF2-40B4-BE49-F238E27FC236}">
                <a16:creationId xmlns:a16="http://schemas.microsoft.com/office/drawing/2014/main" id="{F8926C90-7D1E-4553-819D-18D75FDCA5DF}"/>
              </a:ext>
            </a:extLst>
          </p:cNvPr>
          <p:cNvCxnSpPr/>
          <p:nvPr/>
        </p:nvCxnSpPr>
        <p:spPr>
          <a:xfrm>
            <a:off x="10387013" y="3205162"/>
            <a:ext cx="685800" cy="304800"/>
          </a:xfrm>
          <a:prstGeom prst="straightConnector1">
            <a:avLst/>
          </a:prstGeom>
          <a:ln w="28575">
            <a:solidFill>
              <a:schemeClr val="accent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60629D47-537E-49EA-9B2E-B68DEA049729}"/>
              </a:ext>
            </a:extLst>
          </p:cNvPr>
          <p:cNvSpPr txBox="1">
            <a:spLocks noChangeArrowheads="1"/>
          </p:cNvSpPr>
          <p:nvPr/>
        </p:nvSpPr>
        <p:spPr bwMode="auto">
          <a:xfrm>
            <a:off x="10539413" y="2976562"/>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dirty="0">
                <a:solidFill>
                  <a:schemeClr val="tx1"/>
                </a:solidFill>
                <a:latin typeface="+mj-lt"/>
                <a:cs typeface="Courier New" panose="02070309020205020404" pitchFamily="49" charset="0"/>
              </a:rPr>
              <a:t>m2</a:t>
            </a:r>
          </a:p>
        </p:txBody>
      </p:sp>
      <p:cxnSp>
        <p:nvCxnSpPr>
          <p:cNvPr id="92" name="Straight Arrow Connector 91">
            <a:extLst>
              <a:ext uri="{FF2B5EF4-FFF2-40B4-BE49-F238E27FC236}">
                <a16:creationId xmlns:a16="http://schemas.microsoft.com/office/drawing/2014/main" id="{0FA7FB14-15D4-4211-AB39-CA9CFBE63300}"/>
              </a:ext>
            </a:extLst>
          </p:cNvPr>
          <p:cNvCxnSpPr/>
          <p:nvPr/>
        </p:nvCxnSpPr>
        <p:spPr>
          <a:xfrm flipH="1">
            <a:off x="10387013" y="4119562"/>
            <a:ext cx="685800" cy="30480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B73780FB-46C3-4918-BAD2-8A364309586E}"/>
              </a:ext>
            </a:extLst>
          </p:cNvPr>
          <p:cNvSpPr txBox="1">
            <a:spLocks noChangeArrowheads="1"/>
          </p:cNvSpPr>
          <p:nvPr/>
        </p:nvSpPr>
        <p:spPr bwMode="auto">
          <a:xfrm>
            <a:off x="10463213" y="3890962"/>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dirty="0">
                <a:solidFill>
                  <a:schemeClr val="tx1"/>
                </a:solidFill>
                <a:latin typeface="+mj-lt"/>
                <a:cs typeface="Courier New" panose="02070309020205020404" pitchFamily="49" charset="0"/>
              </a:rPr>
              <a:t>m3</a:t>
            </a:r>
          </a:p>
        </p:txBody>
      </p:sp>
      <p:cxnSp>
        <p:nvCxnSpPr>
          <p:cNvPr id="94" name="Straight Arrow Connector 93">
            <a:extLst>
              <a:ext uri="{FF2B5EF4-FFF2-40B4-BE49-F238E27FC236}">
                <a16:creationId xmlns:a16="http://schemas.microsoft.com/office/drawing/2014/main" id="{CA393E43-2948-4032-AB3E-C527750EC0A9}"/>
              </a:ext>
            </a:extLst>
          </p:cNvPr>
          <p:cNvCxnSpPr/>
          <p:nvPr/>
        </p:nvCxnSpPr>
        <p:spPr>
          <a:xfrm flipH="1">
            <a:off x="9091613" y="4729162"/>
            <a:ext cx="762000" cy="304800"/>
          </a:xfrm>
          <a:prstGeom prst="straightConnector1">
            <a:avLst/>
          </a:prstGeom>
          <a:ln w="28575">
            <a:solidFill>
              <a:schemeClr val="accent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2BA4F651-BB95-4F68-A662-56D580B485B5}"/>
              </a:ext>
            </a:extLst>
          </p:cNvPr>
          <p:cNvSpPr txBox="1">
            <a:spLocks noChangeArrowheads="1"/>
          </p:cNvSpPr>
          <p:nvPr/>
        </p:nvSpPr>
        <p:spPr bwMode="auto">
          <a:xfrm>
            <a:off x="9244013" y="4471986"/>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dirty="0">
                <a:solidFill>
                  <a:schemeClr val="tx1"/>
                </a:solidFill>
                <a:latin typeface="+mj-lt"/>
                <a:cs typeface="Courier New" panose="02070309020205020404" pitchFamily="49" charset="0"/>
              </a:rPr>
              <a:t>m4</a:t>
            </a:r>
          </a:p>
        </p:txBody>
      </p:sp>
      <p:pic>
        <p:nvPicPr>
          <p:cNvPr id="96" name="Picture 2" descr="C:\Users\vkolar\AppData\Local\Microsoft\Windows\Temporary Internet Files\Content.IE5\E2H73JIM\MC900432530[1].png">
            <a:extLst>
              <a:ext uri="{FF2B5EF4-FFF2-40B4-BE49-F238E27FC236}">
                <a16:creationId xmlns:a16="http://schemas.microsoft.com/office/drawing/2014/main" id="{DA9CD44C-71A8-4157-9541-FD829EE580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1148" y="2048591"/>
            <a:ext cx="556871" cy="38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 name="Picture 2" descr="C:\Users\vkolar\AppData\Local\Microsoft\Windows\Temporary Internet Files\Content.IE5\E2H73JIM\MC900432530[1].png">
            <a:extLst>
              <a:ext uri="{FF2B5EF4-FFF2-40B4-BE49-F238E27FC236}">
                <a16:creationId xmlns:a16="http://schemas.microsoft.com/office/drawing/2014/main" id="{29D7ECF6-6F9D-4F15-BD96-AF4FA14AB0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98137" y="2595562"/>
            <a:ext cx="551017" cy="381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 name="Rectangle 97">
            <a:extLst>
              <a:ext uri="{FF2B5EF4-FFF2-40B4-BE49-F238E27FC236}">
                <a16:creationId xmlns:a16="http://schemas.microsoft.com/office/drawing/2014/main" id="{95A27D73-1C1C-42C7-ADB0-8A6841E26657}"/>
              </a:ext>
            </a:extLst>
          </p:cNvPr>
          <p:cNvSpPr/>
          <p:nvPr/>
        </p:nvSpPr>
        <p:spPr>
          <a:xfrm>
            <a:off x="10453995" y="3424235"/>
            <a:ext cx="466419" cy="707886"/>
          </a:xfrm>
          <a:prstGeom prst="rect">
            <a:avLst/>
          </a:prstGeom>
          <a:noFill/>
        </p:spPr>
        <p:txBody>
          <a:bodyPr>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eaLnBrk="1" hangingPunct="1">
              <a:defRPr/>
            </a:pPr>
            <a:r>
              <a:rPr lang="en-US" sz="4000" b="1" dirty="0">
                <a:ln w="11430"/>
                <a:solidFill>
                  <a:srgbClr val="FF0000"/>
                </a:solidFill>
                <a:effectLst>
                  <a:outerShdw blurRad="50800" dist="39000" dir="5460000" algn="tl">
                    <a:srgbClr val="000000">
                      <a:alpha val="38000"/>
                    </a:srgbClr>
                  </a:outerShdw>
                </a:effectLst>
                <a:latin typeface="+mj-lt"/>
                <a:ea typeface="+mn-ea"/>
              </a:rPr>
              <a:t>x</a:t>
            </a:r>
          </a:p>
        </p:txBody>
      </p:sp>
      <p:sp>
        <p:nvSpPr>
          <p:cNvPr id="99" name="Rectangle 98">
            <a:extLst>
              <a:ext uri="{FF2B5EF4-FFF2-40B4-BE49-F238E27FC236}">
                <a16:creationId xmlns:a16="http://schemas.microsoft.com/office/drawing/2014/main" id="{B8507399-491F-4254-9367-1B9DB04A3679}"/>
              </a:ext>
            </a:extLst>
          </p:cNvPr>
          <p:cNvSpPr/>
          <p:nvPr/>
        </p:nvSpPr>
        <p:spPr>
          <a:xfrm>
            <a:off x="9234795" y="3958648"/>
            <a:ext cx="466419" cy="707886"/>
          </a:xfrm>
          <a:prstGeom prst="rect">
            <a:avLst/>
          </a:prstGeom>
          <a:noFill/>
        </p:spPr>
        <p:txBody>
          <a:bodyPr>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eaLnBrk="1" hangingPunct="1">
              <a:defRPr/>
            </a:pPr>
            <a:r>
              <a:rPr lang="en-US" sz="4000" b="1" dirty="0">
                <a:ln w="11430"/>
                <a:solidFill>
                  <a:srgbClr val="FF0000"/>
                </a:solidFill>
                <a:effectLst>
                  <a:outerShdw blurRad="50800" dist="39000" dir="5460000" algn="tl">
                    <a:srgbClr val="000000">
                      <a:alpha val="38000"/>
                    </a:srgbClr>
                  </a:outerShdw>
                </a:effectLst>
                <a:latin typeface="+mj-lt"/>
                <a:ea typeface="+mn-ea"/>
              </a:rPr>
              <a:t>x</a:t>
            </a:r>
          </a:p>
        </p:txBody>
      </p:sp>
    </p:spTree>
    <p:extLst>
      <p:ext uri="{BB962C8B-B14F-4D97-AF65-F5344CB8AC3E}">
        <p14:creationId xmlns:p14="http://schemas.microsoft.com/office/powerpoint/2010/main" val="2529079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2" end="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P spid="91" grpId="0"/>
      <p:bldP spid="93" grpId="0"/>
      <p:bldP spid="9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err="1"/>
              <a:t>Lamport’s</a:t>
            </a:r>
            <a:r>
              <a:rPr lang="en-US" dirty="0"/>
              <a:t> Clock Algorithm</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4"/>
            <a:ext cx="7455483" cy="5590565"/>
          </a:xfrm>
        </p:spPr>
        <p:txBody>
          <a:bodyPr/>
          <a:lstStyle/>
          <a:p>
            <a:pPr marL="265113" lvl="2" indent="-265113">
              <a:spcBef>
                <a:spcPts val="1000"/>
              </a:spcBef>
              <a:buFont typeface="Webdings" panose="05030102010509060703" pitchFamily="18" charset="2"/>
              <a:buChar char=""/>
              <a:defRPr/>
            </a:pPr>
            <a:r>
              <a:rPr lang="en-US" altLang="en-US" sz="2400" dirty="0"/>
              <a:t>When a message is being sent:</a:t>
            </a:r>
          </a:p>
          <a:p>
            <a:pPr marL="714375" lvl="2" indent="-357188">
              <a:defRPr/>
            </a:pPr>
            <a:r>
              <a:rPr lang="en-US" altLang="en-US" sz="2400" dirty="0"/>
              <a:t>Each message carries a timestamp according to the sender’s logical clock</a:t>
            </a:r>
          </a:p>
          <a:p>
            <a:pPr marL="265113" lvl="2" indent="-265113">
              <a:spcBef>
                <a:spcPts val="1000"/>
              </a:spcBef>
              <a:buFont typeface="Webdings" panose="05030102010509060703" pitchFamily="18" charset="2"/>
              <a:buChar char=""/>
              <a:defRPr/>
            </a:pPr>
            <a:r>
              <a:rPr lang="en-US" altLang="en-US" sz="2400" dirty="0"/>
              <a:t>When a message is received:</a:t>
            </a:r>
          </a:p>
          <a:p>
            <a:pPr marL="714375" lvl="2" indent="-357188">
              <a:defRPr/>
            </a:pPr>
            <a:r>
              <a:rPr lang="en-US" altLang="en-US" sz="2400" dirty="0"/>
              <a:t>If the receiver logical clock is less than the message sending time in the packet, then adjust the receiver’s clock such that: </a:t>
            </a:r>
          </a:p>
          <a:p>
            <a:pPr marL="357187" lvl="2" indent="0">
              <a:buNone/>
              <a:defRPr/>
            </a:pPr>
            <a:r>
              <a:rPr lang="en-US" altLang="en-US" sz="2400" dirty="0"/>
              <a:t>     </a:t>
            </a:r>
            <a:r>
              <a:rPr lang="en-US" altLang="en-US" sz="2400" b="1" dirty="0" err="1">
                <a:solidFill>
                  <a:srgbClr val="1D6199"/>
                </a:solidFill>
              </a:rPr>
              <a:t>currentTime</a:t>
            </a:r>
            <a:r>
              <a:rPr lang="en-US" altLang="en-US" sz="2400" b="1" dirty="0">
                <a:solidFill>
                  <a:srgbClr val="1D6199"/>
                </a:solidFill>
              </a:rPr>
              <a:t> = timestamp + 1</a:t>
            </a:r>
          </a:p>
        </p:txBody>
      </p:sp>
      <p:sp>
        <p:nvSpPr>
          <p:cNvPr id="101" name="Rectangle 100">
            <a:extLst>
              <a:ext uri="{FF2B5EF4-FFF2-40B4-BE49-F238E27FC236}">
                <a16:creationId xmlns:a16="http://schemas.microsoft.com/office/drawing/2014/main" id="{257166B3-CBF4-45FB-8560-7462BA4E38C3}"/>
              </a:ext>
            </a:extLst>
          </p:cNvPr>
          <p:cNvSpPr/>
          <p:nvPr/>
        </p:nvSpPr>
        <p:spPr>
          <a:xfrm>
            <a:off x="8234360" y="21383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0</a:t>
            </a:r>
          </a:p>
        </p:txBody>
      </p:sp>
      <p:sp>
        <p:nvSpPr>
          <p:cNvPr id="102" name="Rectangle 101">
            <a:extLst>
              <a:ext uri="{FF2B5EF4-FFF2-40B4-BE49-F238E27FC236}">
                <a16:creationId xmlns:a16="http://schemas.microsoft.com/office/drawing/2014/main" id="{C0BC40B8-0EFB-473C-A4CE-2549277A78A0}"/>
              </a:ext>
            </a:extLst>
          </p:cNvPr>
          <p:cNvSpPr/>
          <p:nvPr/>
        </p:nvSpPr>
        <p:spPr>
          <a:xfrm>
            <a:off x="8234360" y="24431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6</a:t>
            </a:r>
          </a:p>
        </p:txBody>
      </p:sp>
      <p:sp>
        <p:nvSpPr>
          <p:cNvPr id="103" name="Rectangle 102">
            <a:extLst>
              <a:ext uri="{FF2B5EF4-FFF2-40B4-BE49-F238E27FC236}">
                <a16:creationId xmlns:a16="http://schemas.microsoft.com/office/drawing/2014/main" id="{C3B75833-5FB6-4748-B234-AF1FF38CEB90}"/>
              </a:ext>
            </a:extLst>
          </p:cNvPr>
          <p:cNvSpPr/>
          <p:nvPr/>
        </p:nvSpPr>
        <p:spPr>
          <a:xfrm>
            <a:off x="8234360" y="27479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12</a:t>
            </a:r>
          </a:p>
        </p:txBody>
      </p:sp>
      <p:sp>
        <p:nvSpPr>
          <p:cNvPr id="104" name="Rectangle 103">
            <a:extLst>
              <a:ext uri="{FF2B5EF4-FFF2-40B4-BE49-F238E27FC236}">
                <a16:creationId xmlns:a16="http://schemas.microsoft.com/office/drawing/2014/main" id="{CD9E7C55-9718-4EA7-BBB0-AAFFCB7ED8C6}"/>
              </a:ext>
            </a:extLst>
          </p:cNvPr>
          <p:cNvSpPr/>
          <p:nvPr/>
        </p:nvSpPr>
        <p:spPr>
          <a:xfrm>
            <a:off x="8234360" y="30527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18</a:t>
            </a:r>
          </a:p>
        </p:txBody>
      </p:sp>
      <p:sp>
        <p:nvSpPr>
          <p:cNvPr id="105" name="Rectangle 104">
            <a:extLst>
              <a:ext uri="{FF2B5EF4-FFF2-40B4-BE49-F238E27FC236}">
                <a16:creationId xmlns:a16="http://schemas.microsoft.com/office/drawing/2014/main" id="{069950E4-BD8D-4D4E-9B35-5B5850CAEA03}"/>
              </a:ext>
            </a:extLst>
          </p:cNvPr>
          <p:cNvSpPr/>
          <p:nvPr/>
        </p:nvSpPr>
        <p:spPr>
          <a:xfrm>
            <a:off x="8234360" y="33575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24</a:t>
            </a:r>
          </a:p>
        </p:txBody>
      </p:sp>
      <p:sp>
        <p:nvSpPr>
          <p:cNvPr id="106" name="Rectangle 105">
            <a:extLst>
              <a:ext uri="{FF2B5EF4-FFF2-40B4-BE49-F238E27FC236}">
                <a16:creationId xmlns:a16="http://schemas.microsoft.com/office/drawing/2014/main" id="{7677054E-C786-4196-BEBB-9D272F8117B7}"/>
              </a:ext>
            </a:extLst>
          </p:cNvPr>
          <p:cNvSpPr/>
          <p:nvPr/>
        </p:nvSpPr>
        <p:spPr>
          <a:xfrm>
            <a:off x="8234360" y="36623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30</a:t>
            </a:r>
          </a:p>
        </p:txBody>
      </p:sp>
      <p:sp>
        <p:nvSpPr>
          <p:cNvPr id="107" name="Rectangle 106">
            <a:extLst>
              <a:ext uri="{FF2B5EF4-FFF2-40B4-BE49-F238E27FC236}">
                <a16:creationId xmlns:a16="http://schemas.microsoft.com/office/drawing/2014/main" id="{8D970894-0532-486A-A5E3-2662CE25E8AA}"/>
              </a:ext>
            </a:extLst>
          </p:cNvPr>
          <p:cNvSpPr/>
          <p:nvPr/>
        </p:nvSpPr>
        <p:spPr>
          <a:xfrm>
            <a:off x="8234360" y="39671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36</a:t>
            </a:r>
          </a:p>
        </p:txBody>
      </p:sp>
      <p:sp>
        <p:nvSpPr>
          <p:cNvPr id="108" name="Rectangle 107">
            <a:extLst>
              <a:ext uri="{FF2B5EF4-FFF2-40B4-BE49-F238E27FC236}">
                <a16:creationId xmlns:a16="http://schemas.microsoft.com/office/drawing/2014/main" id="{7CF987EA-039A-4EC7-8689-02D3989EA943}"/>
              </a:ext>
            </a:extLst>
          </p:cNvPr>
          <p:cNvSpPr/>
          <p:nvPr/>
        </p:nvSpPr>
        <p:spPr>
          <a:xfrm>
            <a:off x="8234360" y="42719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42</a:t>
            </a:r>
          </a:p>
        </p:txBody>
      </p:sp>
      <p:sp>
        <p:nvSpPr>
          <p:cNvPr id="109" name="Rectangle 108">
            <a:extLst>
              <a:ext uri="{FF2B5EF4-FFF2-40B4-BE49-F238E27FC236}">
                <a16:creationId xmlns:a16="http://schemas.microsoft.com/office/drawing/2014/main" id="{ABD4C6D9-FF81-4BF3-B9B5-B07ABC1FCF99}"/>
              </a:ext>
            </a:extLst>
          </p:cNvPr>
          <p:cNvSpPr/>
          <p:nvPr/>
        </p:nvSpPr>
        <p:spPr>
          <a:xfrm>
            <a:off x="8234360" y="45767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48</a:t>
            </a:r>
          </a:p>
        </p:txBody>
      </p:sp>
      <p:sp>
        <p:nvSpPr>
          <p:cNvPr id="110" name="Rectangle 109">
            <a:extLst>
              <a:ext uri="{FF2B5EF4-FFF2-40B4-BE49-F238E27FC236}">
                <a16:creationId xmlns:a16="http://schemas.microsoft.com/office/drawing/2014/main" id="{8FA45FCF-B728-4559-B93C-D4787FE20DF4}"/>
              </a:ext>
            </a:extLst>
          </p:cNvPr>
          <p:cNvSpPr/>
          <p:nvPr/>
        </p:nvSpPr>
        <p:spPr>
          <a:xfrm>
            <a:off x="8234360" y="48815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54</a:t>
            </a:r>
          </a:p>
        </p:txBody>
      </p:sp>
      <p:sp>
        <p:nvSpPr>
          <p:cNvPr id="111" name="Rectangle 110">
            <a:extLst>
              <a:ext uri="{FF2B5EF4-FFF2-40B4-BE49-F238E27FC236}">
                <a16:creationId xmlns:a16="http://schemas.microsoft.com/office/drawing/2014/main" id="{66D7C333-D608-4AC5-8C30-72AFF717D9FC}"/>
              </a:ext>
            </a:extLst>
          </p:cNvPr>
          <p:cNvSpPr/>
          <p:nvPr/>
        </p:nvSpPr>
        <p:spPr>
          <a:xfrm>
            <a:off x="8234360" y="51863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60</a:t>
            </a:r>
          </a:p>
        </p:txBody>
      </p:sp>
      <p:sp>
        <p:nvSpPr>
          <p:cNvPr id="112" name="Rectangle 111">
            <a:extLst>
              <a:ext uri="{FF2B5EF4-FFF2-40B4-BE49-F238E27FC236}">
                <a16:creationId xmlns:a16="http://schemas.microsoft.com/office/drawing/2014/main" id="{99D863F4-5E8C-4A5C-8B41-2EAAAFAC77CB}"/>
              </a:ext>
            </a:extLst>
          </p:cNvPr>
          <p:cNvSpPr/>
          <p:nvPr/>
        </p:nvSpPr>
        <p:spPr>
          <a:xfrm>
            <a:off x="9834563" y="21383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0</a:t>
            </a:r>
          </a:p>
        </p:txBody>
      </p:sp>
      <p:sp>
        <p:nvSpPr>
          <p:cNvPr id="113" name="Rectangle 112">
            <a:extLst>
              <a:ext uri="{FF2B5EF4-FFF2-40B4-BE49-F238E27FC236}">
                <a16:creationId xmlns:a16="http://schemas.microsoft.com/office/drawing/2014/main" id="{63F73279-98DB-485B-BB69-1D15559AA068}"/>
              </a:ext>
            </a:extLst>
          </p:cNvPr>
          <p:cNvSpPr/>
          <p:nvPr/>
        </p:nvSpPr>
        <p:spPr>
          <a:xfrm>
            <a:off x="9834563" y="24431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8</a:t>
            </a:r>
          </a:p>
        </p:txBody>
      </p:sp>
      <p:sp>
        <p:nvSpPr>
          <p:cNvPr id="114" name="Rectangle 113">
            <a:extLst>
              <a:ext uri="{FF2B5EF4-FFF2-40B4-BE49-F238E27FC236}">
                <a16:creationId xmlns:a16="http://schemas.microsoft.com/office/drawing/2014/main" id="{7A31FAAB-3A9B-42E8-B761-1AB4E0F8DEEE}"/>
              </a:ext>
            </a:extLst>
          </p:cNvPr>
          <p:cNvSpPr/>
          <p:nvPr/>
        </p:nvSpPr>
        <p:spPr>
          <a:xfrm>
            <a:off x="9834563" y="27479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16</a:t>
            </a:r>
          </a:p>
        </p:txBody>
      </p:sp>
      <p:sp>
        <p:nvSpPr>
          <p:cNvPr id="115" name="Rectangle 114">
            <a:extLst>
              <a:ext uri="{FF2B5EF4-FFF2-40B4-BE49-F238E27FC236}">
                <a16:creationId xmlns:a16="http://schemas.microsoft.com/office/drawing/2014/main" id="{0EF00AD4-6BFE-4213-89CD-30D267F04FEB}"/>
              </a:ext>
            </a:extLst>
          </p:cNvPr>
          <p:cNvSpPr/>
          <p:nvPr/>
        </p:nvSpPr>
        <p:spPr>
          <a:xfrm>
            <a:off x="9834563" y="30527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24</a:t>
            </a:r>
          </a:p>
        </p:txBody>
      </p:sp>
      <p:sp>
        <p:nvSpPr>
          <p:cNvPr id="116" name="Rectangle 115">
            <a:extLst>
              <a:ext uri="{FF2B5EF4-FFF2-40B4-BE49-F238E27FC236}">
                <a16:creationId xmlns:a16="http://schemas.microsoft.com/office/drawing/2014/main" id="{7C20B232-6253-432E-9C2E-244ED59E87C9}"/>
              </a:ext>
            </a:extLst>
          </p:cNvPr>
          <p:cNvSpPr/>
          <p:nvPr/>
        </p:nvSpPr>
        <p:spPr>
          <a:xfrm>
            <a:off x="9834563" y="33575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32</a:t>
            </a:r>
          </a:p>
        </p:txBody>
      </p:sp>
      <p:sp>
        <p:nvSpPr>
          <p:cNvPr id="117" name="Rectangle 116">
            <a:extLst>
              <a:ext uri="{FF2B5EF4-FFF2-40B4-BE49-F238E27FC236}">
                <a16:creationId xmlns:a16="http://schemas.microsoft.com/office/drawing/2014/main" id="{5C0E37BA-1750-45C8-9AD6-AD3215254869}"/>
              </a:ext>
            </a:extLst>
          </p:cNvPr>
          <p:cNvSpPr/>
          <p:nvPr/>
        </p:nvSpPr>
        <p:spPr>
          <a:xfrm>
            <a:off x="9834563" y="36623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40</a:t>
            </a:r>
          </a:p>
        </p:txBody>
      </p:sp>
      <p:sp>
        <p:nvSpPr>
          <p:cNvPr id="118" name="Rectangle 117">
            <a:extLst>
              <a:ext uri="{FF2B5EF4-FFF2-40B4-BE49-F238E27FC236}">
                <a16:creationId xmlns:a16="http://schemas.microsoft.com/office/drawing/2014/main" id="{06E34D10-F288-4206-A5AE-54232F8A84B6}"/>
              </a:ext>
            </a:extLst>
          </p:cNvPr>
          <p:cNvSpPr/>
          <p:nvPr/>
        </p:nvSpPr>
        <p:spPr>
          <a:xfrm>
            <a:off x="9834563" y="39671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48</a:t>
            </a:r>
          </a:p>
        </p:txBody>
      </p:sp>
      <p:sp>
        <p:nvSpPr>
          <p:cNvPr id="119" name="Rectangle 118">
            <a:extLst>
              <a:ext uri="{FF2B5EF4-FFF2-40B4-BE49-F238E27FC236}">
                <a16:creationId xmlns:a16="http://schemas.microsoft.com/office/drawing/2014/main" id="{FDF7ABB1-BD7A-4E23-9A3B-273277B3181F}"/>
              </a:ext>
            </a:extLst>
          </p:cNvPr>
          <p:cNvSpPr/>
          <p:nvPr/>
        </p:nvSpPr>
        <p:spPr>
          <a:xfrm>
            <a:off x="9834563" y="42719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56</a:t>
            </a:r>
          </a:p>
        </p:txBody>
      </p:sp>
      <p:sp>
        <p:nvSpPr>
          <p:cNvPr id="120" name="Rectangle 119">
            <a:extLst>
              <a:ext uri="{FF2B5EF4-FFF2-40B4-BE49-F238E27FC236}">
                <a16:creationId xmlns:a16="http://schemas.microsoft.com/office/drawing/2014/main" id="{630F9A8C-999C-4CB8-BBFD-DC739CFCF75F}"/>
              </a:ext>
            </a:extLst>
          </p:cNvPr>
          <p:cNvSpPr/>
          <p:nvPr/>
        </p:nvSpPr>
        <p:spPr>
          <a:xfrm>
            <a:off x="9834563" y="45767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64</a:t>
            </a:r>
          </a:p>
        </p:txBody>
      </p:sp>
      <p:sp>
        <p:nvSpPr>
          <p:cNvPr id="121" name="Rectangle 120">
            <a:extLst>
              <a:ext uri="{FF2B5EF4-FFF2-40B4-BE49-F238E27FC236}">
                <a16:creationId xmlns:a16="http://schemas.microsoft.com/office/drawing/2014/main" id="{8A8BCB24-631B-4A3D-9587-26E99220CC9E}"/>
              </a:ext>
            </a:extLst>
          </p:cNvPr>
          <p:cNvSpPr/>
          <p:nvPr/>
        </p:nvSpPr>
        <p:spPr>
          <a:xfrm>
            <a:off x="9834563" y="48815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72</a:t>
            </a:r>
          </a:p>
        </p:txBody>
      </p:sp>
      <p:sp>
        <p:nvSpPr>
          <p:cNvPr id="122" name="Rectangle 121">
            <a:extLst>
              <a:ext uri="{FF2B5EF4-FFF2-40B4-BE49-F238E27FC236}">
                <a16:creationId xmlns:a16="http://schemas.microsoft.com/office/drawing/2014/main" id="{257F1913-2880-4DF5-9FCD-18A1D31574E3}"/>
              </a:ext>
            </a:extLst>
          </p:cNvPr>
          <p:cNvSpPr/>
          <p:nvPr/>
        </p:nvSpPr>
        <p:spPr>
          <a:xfrm>
            <a:off x="9834563" y="51863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80</a:t>
            </a:r>
          </a:p>
        </p:txBody>
      </p:sp>
      <p:sp>
        <p:nvSpPr>
          <p:cNvPr id="123" name="Rectangle 122">
            <a:extLst>
              <a:ext uri="{FF2B5EF4-FFF2-40B4-BE49-F238E27FC236}">
                <a16:creationId xmlns:a16="http://schemas.microsoft.com/office/drawing/2014/main" id="{369CDF29-B4EC-4F13-8ECA-DA5947638C29}"/>
              </a:ext>
            </a:extLst>
          </p:cNvPr>
          <p:cNvSpPr/>
          <p:nvPr/>
        </p:nvSpPr>
        <p:spPr>
          <a:xfrm>
            <a:off x="11449055" y="2138363"/>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0</a:t>
            </a:r>
          </a:p>
        </p:txBody>
      </p:sp>
      <p:sp>
        <p:nvSpPr>
          <p:cNvPr id="124" name="Rectangle 123">
            <a:extLst>
              <a:ext uri="{FF2B5EF4-FFF2-40B4-BE49-F238E27FC236}">
                <a16:creationId xmlns:a16="http://schemas.microsoft.com/office/drawing/2014/main" id="{C55D6FFA-CDC2-45F8-8A2A-2BAF67C209EE}"/>
              </a:ext>
            </a:extLst>
          </p:cNvPr>
          <p:cNvSpPr/>
          <p:nvPr/>
        </p:nvSpPr>
        <p:spPr>
          <a:xfrm>
            <a:off x="11449055" y="2443163"/>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10</a:t>
            </a:r>
          </a:p>
        </p:txBody>
      </p:sp>
      <p:sp>
        <p:nvSpPr>
          <p:cNvPr id="125" name="Rectangle 124">
            <a:extLst>
              <a:ext uri="{FF2B5EF4-FFF2-40B4-BE49-F238E27FC236}">
                <a16:creationId xmlns:a16="http://schemas.microsoft.com/office/drawing/2014/main" id="{76E32D92-2D6A-408D-A5DA-F6A718067ED2}"/>
              </a:ext>
            </a:extLst>
          </p:cNvPr>
          <p:cNvSpPr/>
          <p:nvPr/>
        </p:nvSpPr>
        <p:spPr>
          <a:xfrm>
            <a:off x="11449055" y="2747963"/>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20</a:t>
            </a:r>
          </a:p>
        </p:txBody>
      </p:sp>
      <p:sp>
        <p:nvSpPr>
          <p:cNvPr id="126" name="Rectangle 125">
            <a:extLst>
              <a:ext uri="{FF2B5EF4-FFF2-40B4-BE49-F238E27FC236}">
                <a16:creationId xmlns:a16="http://schemas.microsoft.com/office/drawing/2014/main" id="{27D31B17-9E1A-450E-AD84-6156F490CBA6}"/>
              </a:ext>
            </a:extLst>
          </p:cNvPr>
          <p:cNvSpPr/>
          <p:nvPr/>
        </p:nvSpPr>
        <p:spPr>
          <a:xfrm>
            <a:off x="11449055" y="3052763"/>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30</a:t>
            </a:r>
          </a:p>
        </p:txBody>
      </p:sp>
      <p:sp>
        <p:nvSpPr>
          <p:cNvPr id="127" name="Rectangle 126">
            <a:extLst>
              <a:ext uri="{FF2B5EF4-FFF2-40B4-BE49-F238E27FC236}">
                <a16:creationId xmlns:a16="http://schemas.microsoft.com/office/drawing/2014/main" id="{5FFB6062-5B2A-473C-A1A6-27ECFB48C07F}"/>
              </a:ext>
            </a:extLst>
          </p:cNvPr>
          <p:cNvSpPr/>
          <p:nvPr/>
        </p:nvSpPr>
        <p:spPr>
          <a:xfrm>
            <a:off x="11449055" y="3357563"/>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40</a:t>
            </a:r>
          </a:p>
        </p:txBody>
      </p:sp>
      <p:sp>
        <p:nvSpPr>
          <p:cNvPr id="128" name="Rectangle 127">
            <a:extLst>
              <a:ext uri="{FF2B5EF4-FFF2-40B4-BE49-F238E27FC236}">
                <a16:creationId xmlns:a16="http://schemas.microsoft.com/office/drawing/2014/main" id="{E1CC5D34-3C72-4278-8184-307E6FA71730}"/>
              </a:ext>
            </a:extLst>
          </p:cNvPr>
          <p:cNvSpPr/>
          <p:nvPr/>
        </p:nvSpPr>
        <p:spPr>
          <a:xfrm>
            <a:off x="11449055" y="3662363"/>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50</a:t>
            </a:r>
          </a:p>
        </p:txBody>
      </p:sp>
      <p:sp>
        <p:nvSpPr>
          <p:cNvPr id="129" name="Rectangle 128">
            <a:extLst>
              <a:ext uri="{FF2B5EF4-FFF2-40B4-BE49-F238E27FC236}">
                <a16:creationId xmlns:a16="http://schemas.microsoft.com/office/drawing/2014/main" id="{163F0979-4D66-44CC-81EF-02B1C746F1DD}"/>
              </a:ext>
            </a:extLst>
          </p:cNvPr>
          <p:cNvSpPr/>
          <p:nvPr/>
        </p:nvSpPr>
        <p:spPr>
          <a:xfrm>
            <a:off x="11449055" y="3967163"/>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60</a:t>
            </a:r>
          </a:p>
        </p:txBody>
      </p:sp>
      <p:sp>
        <p:nvSpPr>
          <p:cNvPr id="130" name="Rectangle 129">
            <a:extLst>
              <a:ext uri="{FF2B5EF4-FFF2-40B4-BE49-F238E27FC236}">
                <a16:creationId xmlns:a16="http://schemas.microsoft.com/office/drawing/2014/main" id="{1EE4651C-1923-47EF-86B2-48EA2DC17E8D}"/>
              </a:ext>
            </a:extLst>
          </p:cNvPr>
          <p:cNvSpPr/>
          <p:nvPr/>
        </p:nvSpPr>
        <p:spPr>
          <a:xfrm>
            <a:off x="11449055" y="4271963"/>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70</a:t>
            </a:r>
          </a:p>
        </p:txBody>
      </p:sp>
      <p:sp>
        <p:nvSpPr>
          <p:cNvPr id="131" name="Rectangle 130">
            <a:extLst>
              <a:ext uri="{FF2B5EF4-FFF2-40B4-BE49-F238E27FC236}">
                <a16:creationId xmlns:a16="http://schemas.microsoft.com/office/drawing/2014/main" id="{8112539B-EDE6-4E8A-826D-5295816CAF3C}"/>
              </a:ext>
            </a:extLst>
          </p:cNvPr>
          <p:cNvSpPr/>
          <p:nvPr/>
        </p:nvSpPr>
        <p:spPr>
          <a:xfrm>
            <a:off x="11449055" y="4576763"/>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80</a:t>
            </a:r>
          </a:p>
        </p:txBody>
      </p:sp>
      <p:sp>
        <p:nvSpPr>
          <p:cNvPr id="132" name="Rectangle 131">
            <a:extLst>
              <a:ext uri="{FF2B5EF4-FFF2-40B4-BE49-F238E27FC236}">
                <a16:creationId xmlns:a16="http://schemas.microsoft.com/office/drawing/2014/main" id="{0B6B00ED-7C29-402A-A964-BD931EA257A4}"/>
              </a:ext>
            </a:extLst>
          </p:cNvPr>
          <p:cNvSpPr/>
          <p:nvPr/>
        </p:nvSpPr>
        <p:spPr>
          <a:xfrm>
            <a:off x="11449055" y="4881563"/>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90</a:t>
            </a:r>
          </a:p>
        </p:txBody>
      </p:sp>
      <p:sp>
        <p:nvSpPr>
          <p:cNvPr id="133" name="Rectangle 132">
            <a:extLst>
              <a:ext uri="{FF2B5EF4-FFF2-40B4-BE49-F238E27FC236}">
                <a16:creationId xmlns:a16="http://schemas.microsoft.com/office/drawing/2014/main" id="{25037CA9-DBAD-42CE-8B37-4C5C14FA43B9}"/>
              </a:ext>
            </a:extLst>
          </p:cNvPr>
          <p:cNvSpPr/>
          <p:nvPr/>
        </p:nvSpPr>
        <p:spPr>
          <a:xfrm>
            <a:off x="11449055" y="5186363"/>
            <a:ext cx="533400" cy="304800"/>
          </a:xfrm>
          <a:prstGeom prst="rect">
            <a:avLst/>
          </a:prstGeom>
          <a:solidFill>
            <a:srgbClr val="00B05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100</a:t>
            </a:r>
          </a:p>
        </p:txBody>
      </p:sp>
      <p:sp>
        <p:nvSpPr>
          <p:cNvPr id="134" name="Rectangle 133">
            <a:extLst>
              <a:ext uri="{FF2B5EF4-FFF2-40B4-BE49-F238E27FC236}">
                <a16:creationId xmlns:a16="http://schemas.microsoft.com/office/drawing/2014/main" id="{11C465F7-C6C3-4EF3-B885-79C1F3DAA928}"/>
              </a:ext>
            </a:extLst>
          </p:cNvPr>
          <p:cNvSpPr/>
          <p:nvPr/>
        </p:nvSpPr>
        <p:spPr>
          <a:xfrm>
            <a:off x="8158160" y="1604963"/>
            <a:ext cx="685800" cy="38100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r>
              <a:rPr lang="en-US" b="1" dirty="0"/>
              <a:t>P1</a:t>
            </a:r>
          </a:p>
        </p:txBody>
      </p:sp>
      <p:sp>
        <p:nvSpPr>
          <p:cNvPr id="135" name="Rectangle 134">
            <a:extLst>
              <a:ext uri="{FF2B5EF4-FFF2-40B4-BE49-F238E27FC236}">
                <a16:creationId xmlns:a16="http://schemas.microsoft.com/office/drawing/2014/main" id="{18AC9B8E-61E2-4FC5-99AD-32C93BA73B25}"/>
              </a:ext>
            </a:extLst>
          </p:cNvPr>
          <p:cNvSpPr/>
          <p:nvPr/>
        </p:nvSpPr>
        <p:spPr>
          <a:xfrm>
            <a:off x="9758363" y="1604963"/>
            <a:ext cx="685800" cy="38100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r>
              <a:rPr lang="en-US" b="1" dirty="0"/>
              <a:t>P2</a:t>
            </a:r>
          </a:p>
        </p:txBody>
      </p:sp>
      <p:sp>
        <p:nvSpPr>
          <p:cNvPr id="136" name="Rectangle 135">
            <a:extLst>
              <a:ext uri="{FF2B5EF4-FFF2-40B4-BE49-F238E27FC236}">
                <a16:creationId xmlns:a16="http://schemas.microsoft.com/office/drawing/2014/main" id="{4FC9C0C6-425D-4B05-B0C0-6E08FFE59569}"/>
              </a:ext>
            </a:extLst>
          </p:cNvPr>
          <p:cNvSpPr/>
          <p:nvPr/>
        </p:nvSpPr>
        <p:spPr>
          <a:xfrm>
            <a:off x="11372855" y="1604963"/>
            <a:ext cx="685800" cy="38100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r>
              <a:rPr lang="en-US" b="1" dirty="0"/>
              <a:t>P3</a:t>
            </a:r>
          </a:p>
        </p:txBody>
      </p:sp>
      <p:cxnSp>
        <p:nvCxnSpPr>
          <p:cNvPr id="137" name="Straight Arrow Connector 136">
            <a:extLst>
              <a:ext uri="{FF2B5EF4-FFF2-40B4-BE49-F238E27FC236}">
                <a16:creationId xmlns:a16="http://schemas.microsoft.com/office/drawing/2014/main" id="{7D3807C8-81D5-4D3C-854C-43F39FDE7003}"/>
              </a:ext>
            </a:extLst>
          </p:cNvPr>
          <p:cNvCxnSpPr>
            <a:stCxn id="129" idx="1"/>
          </p:cNvCxnSpPr>
          <p:nvPr/>
        </p:nvCxnSpPr>
        <p:spPr>
          <a:xfrm flipH="1">
            <a:off x="10367963" y="4119563"/>
            <a:ext cx="1081092" cy="30480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38" name="TextBox 137">
            <a:extLst>
              <a:ext uri="{FF2B5EF4-FFF2-40B4-BE49-F238E27FC236}">
                <a16:creationId xmlns:a16="http://schemas.microsoft.com/office/drawing/2014/main" id="{E7914AEB-C417-4F5F-A6EB-E868BA9257EE}"/>
              </a:ext>
            </a:extLst>
          </p:cNvPr>
          <p:cNvSpPr txBox="1"/>
          <p:nvPr/>
        </p:nvSpPr>
        <p:spPr>
          <a:xfrm>
            <a:off x="10487029" y="3736976"/>
            <a:ext cx="757233" cy="338554"/>
          </a:xfrm>
          <a:prstGeom prst="rect">
            <a:avLst/>
          </a:prstGeom>
          <a:solidFill>
            <a:schemeClr val="accent6"/>
          </a:solidFill>
          <a:ln>
            <a:noFill/>
          </a:ln>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pPr eaLnBrk="1" hangingPunct="1">
              <a:defRPr/>
            </a:pPr>
            <a:r>
              <a:rPr lang="en-US" sz="1600" b="1" dirty="0">
                <a:solidFill>
                  <a:schemeClr val="bg1"/>
                </a:solidFill>
              </a:rPr>
              <a:t>m3:60</a:t>
            </a:r>
          </a:p>
        </p:txBody>
      </p:sp>
      <p:cxnSp>
        <p:nvCxnSpPr>
          <p:cNvPr id="139" name="Straight Arrow Connector 138">
            <a:extLst>
              <a:ext uri="{FF2B5EF4-FFF2-40B4-BE49-F238E27FC236}">
                <a16:creationId xmlns:a16="http://schemas.microsoft.com/office/drawing/2014/main" id="{94266BB4-9EE4-4408-A564-B2AFD0593F4A}"/>
              </a:ext>
            </a:extLst>
          </p:cNvPr>
          <p:cNvCxnSpPr>
            <a:endCxn id="146" idx="3"/>
          </p:cNvCxnSpPr>
          <p:nvPr/>
        </p:nvCxnSpPr>
        <p:spPr>
          <a:xfrm flipH="1">
            <a:off x="8767760" y="4729163"/>
            <a:ext cx="1066803" cy="304800"/>
          </a:xfrm>
          <a:prstGeom prst="straightConnector1">
            <a:avLst/>
          </a:prstGeom>
          <a:ln w="28575">
            <a:solidFill>
              <a:schemeClr val="accent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40" name="Rectangle 139">
            <a:extLst>
              <a:ext uri="{FF2B5EF4-FFF2-40B4-BE49-F238E27FC236}">
                <a16:creationId xmlns:a16="http://schemas.microsoft.com/office/drawing/2014/main" id="{9DF9676E-9B2E-4B44-8436-2121FF4F4B5A}"/>
              </a:ext>
            </a:extLst>
          </p:cNvPr>
          <p:cNvSpPr/>
          <p:nvPr/>
        </p:nvSpPr>
        <p:spPr>
          <a:xfrm>
            <a:off x="9834563" y="42719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61</a:t>
            </a:r>
          </a:p>
        </p:txBody>
      </p:sp>
      <p:sp>
        <p:nvSpPr>
          <p:cNvPr id="141" name="TextBox 140">
            <a:extLst>
              <a:ext uri="{FF2B5EF4-FFF2-40B4-BE49-F238E27FC236}">
                <a16:creationId xmlns:a16="http://schemas.microsoft.com/office/drawing/2014/main" id="{86B0E829-D00C-4406-8A55-73CEBD433F32}"/>
              </a:ext>
            </a:extLst>
          </p:cNvPr>
          <p:cNvSpPr txBox="1"/>
          <p:nvPr/>
        </p:nvSpPr>
        <p:spPr>
          <a:xfrm>
            <a:off x="8958260" y="4344988"/>
            <a:ext cx="757233" cy="338554"/>
          </a:xfrm>
          <a:prstGeom prst="rect">
            <a:avLst/>
          </a:prstGeom>
          <a:solidFill>
            <a:schemeClr val="accent6"/>
          </a:solidFill>
          <a:ln>
            <a:noFill/>
          </a:ln>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pPr eaLnBrk="1" hangingPunct="1">
              <a:defRPr/>
            </a:pPr>
            <a:r>
              <a:rPr lang="en-US" sz="1600" b="1" dirty="0">
                <a:solidFill>
                  <a:schemeClr val="bg1"/>
                </a:solidFill>
              </a:rPr>
              <a:t>m4:69</a:t>
            </a:r>
          </a:p>
        </p:txBody>
      </p:sp>
      <p:sp>
        <p:nvSpPr>
          <p:cNvPr id="142" name="Rectangle 141">
            <a:extLst>
              <a:ext uri="{FF2B5EF4-FFF2-40B4-BE49-F238E27FC236}">
                <a16:creationId xmlns:a16="http://schemas.microsoft.com/office/drawing/2014/main" id="{42612789-FDB1-4560-9260-8D03884FDAA3}"/>
              </a:ext>
            </a:extLst>
          </p:cNvPr>
          <p:cNvSpPr/>
          <p:nvPr/>
        </p:nvSpPr>
        <p:spPr>
          <a:xfrm>
            <a:off x="8234360" y="48815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54</a:t>
            </a:r>
          </a:p>
        </p:txBody>
      </p:sp>
      <p:sp>
        <p:nvSpPr>
          <p:cNvPr id="143" name="Rectangle 142">
            <a:extLst>
              <a:ext uri="{FF2B5EF4-FFF2-40B4-BE49-F238E27FC236}">
                <a16:creationId xmlns:a16="http://schemas.microsoft.com/office/drawing/2014/main" id="{4B71E542-30C3-499C-B797-504752E5B360}"/>
              </a:ext>
            </a:extLst>
          </p:cNvPr>
          <p:cNvSpPr/>
          <p:nvPr/>
        </p:nvSpPr>
        <p:spPr>
          <a:xfrm>
            <a:off x="9834563" y="45767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69</a:t>
            </a:r>
          </a:p>
        </p:txBody>
      </p:sp>
      <p:sp>
        <p:nvSpPr>
          <p:cNvPr id="144" name="Rectangle 143">
            <a:extLst>
              <a:ext uri="{FF2B5EF4-FFF2-40B4-BE49-F238E27FC236}">
                <a16:creationId xmlns:a16="http://schemas.microsoft.com/office/drawing/2014/main" id="{F13F0460-BE52-4D57-95F8-32F69EDF0657}"/>
              </a:ext>
            </a:extLst>
          </p:cNvPr>
          <p:cNvSpPr/>
          <p:nvPr/>
        </p:nvSpPr>
        <p:spPr>
          <a:xfrm>
            <a:off x="9834563" y="48815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77</a:t>
            </a:r>
          </a:p>
        </p:txBody>
      </p:sp>
      <p:sp>
        <p:nvSpPr>
          <p:cNvPr id="145" name="Rectangle 144">
            <a:extLst>
              <a:ext uri="{FF2B5EF4-FFF2-40B4-BE49-F238E27FC236}">
                <a16:creationId xmlns:a16="http://schemas.microsoft.com/office/drawing/2014/main" id="{DBE4CE3F-901D-4D49-9FE9-E0D36306A6AE}"/>
              </a:ext>
            </a:extLst>
          </p:cNvPr>
          <p:cNvSpPr/>
          <p:nvPr/>
        </p:nvSpPr>
        <p:spPr>
          <a:xfrm>
            <a:off x="9834563" y="5186363"/>
            <a:ext cx="533400" cy="30480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solidFill>
                  <a:schemeClr val="tx1"/>
                </a:solidFill>
              </a:rPr>
              <a:t>85</a:t>
            </a:r>
          </a:p>
        </p:txBody>
      </p:sp>
      <p:sp>
        <p:nvSpPr>
          <p:cNvPr id="146" name="Rectangle 145">
            <a:extLst>
              <a:ext uri="{FF2B5EF4-FFF2-40B4-BE49-F238E27FC236}">
                <a16:creationId xmlns:a16="http://schemas.microsoft.com/office/drawing/2014/main" id="{C0C50A94-0423-471C-8218-70EAD39F9E4C}"/>
              </a:ext>
            </a:extLst>
          </p:cNvPr>
          <p:cNvSpPr/>
          <p:nvPr/>
        </p:nvSpPr>
        <p:spPr>
          <a:xfrm>
            <a:off x="8234360" y="48815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70</a:t>
            </a:r>
          </a:p>
        </p:txBody>
      </p:sp>
      <p:sp>
        <p:nvSpPr>
          <p:cNvPr id="147" name="Rectangle 146">
            <a:extLst>
              <a:ext uri="{FF2B5EF4-FFF2-40B4-BE49-F238E27FC236}">
                <a16:creationId xmlns:a16="http://schemas.microsoft.com/office/drawing/2014/main" id="{6DF990A0-6E9A-404D-BA74-014BAEFEAB85}"/>
              </a:ext>
            </a:extLst>
          </p:cNvPr>
          <p:cNvSpPr/>
          <p:nvPr/>
        </p:nvSpPr>
        <p:spPr>
          <a:xfrm>
            <a:off x="8234360" y="5186363"/>
            <a:ext cx="533400" cy="304800"/>
          </a:xfrm>
          <a:prstGeom prst="rect">
            <a:avLst/>
          </a:prstGeom>
          <a:solidFill>
            <a:srgbClr val="1D3064"/>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r>
              <a:rPr lang="en-US" sz="1600" dirty="0"/>
              <a:t>76</a:t>
            </a:r>
          </a:p>
        </p:txBody>
      </p:sp>
    </p:spTree>
    <p:extLst>
      <p:ext uri="{BB962C8B-B14F-4D97-AF65-F5344CB8AC3E}">
        <p14:creationId xmlns:p14="http://schemas.microsoft.com/office/powerpoint/2010/main" val="4259057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0"/>
                                  </p:iterate>
                                  <p:childTnLst>
                                    <p:set>
                                      <p:cBhvr>
                                        <p:cTn id="22" dur="1" fill="hold">
                                          <p:stCondLst>
                                            <p:cond delay="0"/>
                                          </p:stCondLst>
                                        </p:cTn>
                                        <p:tgtEl>
                                          <p:spTgt spid="140"/>
                                        </p:tgtEl>
                                        <p:attrNameLst>
                                          <p:attrName>style.visibility</p:attrName>
                                        </p:attrNameLst>
                                      </p:cBhvr>
                                      <p:to>
                                        <p:strVal val="visible"/>
                                      </p:to>
                                    </p:set>
                                  </p:childTnLst>
                                </p:cTn>
                              </p:par>
                            </p:childTnLst>
                          </p:cTn>
                        </p:par>
                        <p:par>
                          <p:cTn id="23" fill="hold">
                            <p:stCondLst>
                              <p:cond delay="0"/>
                            </p:stCondLst>
                            <p:childTnLst>
                              <p:par>
                                <p:cTn id="24" presetID="8" presetClass="emph" presetSubtype="0" fill="hold" nodeType="afterEffect">
                                  <p:stCondLst>
                                    <p:cond delay="0"/>
                                  </p:stCondLst>
                                  <p:iterate type="lt">
                                    <p:tmPct val="0"/>
                                  </p:iterate>
                                  <p:childTnLst>
                                    <p:animRot by="21600000">
                                      <p:cBhvr>
                                        <p:cTn id="25" dur="1000" fill="hold"/>
                                        <p:tgtEl>
                                          <p:spTgt spid="140"/>
                                        </p:tgtEl>
                                        <p:attrNameLst>
                                          <p:attrName>r</p:attrName>
                                        </p:attrNameLst>
                                      </p:cBhvr>
                                    </p:animRo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43"/>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44"/>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145"/>
                                        </p:tgtEl>
                                        <p:attrNameLst>
                                          <p:attrName>style.visibility</p:attrName>
                                        </p:attrNameLst>
                                      </p:cBhvr>
                                      <p:to>
                                        <p:strVal val="visible"/>
                                      </p:to>
                                    </p:set>
                                  </p:childTnLst>
                                </p:cTn>
                              </p:par>
                              <p:par>
                                <p:cTn id="34" presetID="8" presetClass="emph" presetSubtype="0" fill="hold" nodeType="withEffect">
                                  <p:stCondLst>
                                    <p:cond delay="0"/>
                                  </p:stCondLst>
                                  <p:childTnLst>
                                    <p:animRot by="21600000">
                                      <p:cBhvr>
                                        <p:cTn id="35" dur="1000" fill="hold"/>
                                        <p:tgtEl>
                                          <p:spTgt spid="143"/>
                                        </p:tgtEl>
                                        <p:attrNameLst>
                                          <p:attrName>r</p:attrName>
                                        </p:attrNameLst>
                                      </p:cBhvr>
                                    </p:animRot>
                                  </p:childTnLst>
                                </p:cTn>
                              </p:par>
                              <p:par>
                                <p:cTn id="36" presetID="8" presetClass="emph" presetSubtype="0" fill="hold" nodeType="withEffect">
                                  <p:stCondLst>
                                    <p:cond delay="0"/>
                                  </p:stCondLst>
                                  <p:childTnLst>
                                    <p:animRot by="21600000">
                                      <p:cBhvr>
                                        <p:cTn id="37" dur="1000" fill="hold"/>
                                        <p:tgtEl>
                                          <p:spTgt spid="144"/>
                                        </p:tgtEl>
                                        <p:attrNameLst>
                                          <p:attrName>r</p:attrName>
                                        </p:attrNameLst>
                                      </p:cBhvr>
                                    </p:animRot>
                                  </p:childTnLst>
                                </p:cTn>
                              </p:par>
                              <p:par>
                                <p:cTn id="38" presetID="8" presetClass="emph" presetSubtype="0" fill="hold" nodeType="withEffect">
                                  <p:stCondLst>
                                    <p:cond delay="0"/>
                                  </p:stCondLst>
                                  <p:childTnLst>
                                    <p:animRot by="21600000">
                                      <p:cBhvr>
                                        <p:cTn id="39" dur="1000" fill="hold"/>
                                        <p:tgtEl>
                                          <p:spTgt spid="145"/>
                                        </p:tgtEl>
                                        <p:attrNameLst>
                                          <p:attrName>r</p:attrName>
                                        </p:attrNameLst>
                                      </p:cBhvr>
                                    </p:animRo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41"/>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139"/>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146"/>
                                        </p:tgtEl>
                                        <p:attrNameLst>
                                          <p:attrName>style.visibility</p:attrName>
                                        </p:attrNameLst>
                                      </p:cBhvr>
                                      <p:to>
                                        <p:strVal val="visible"/>
                                      </p:to>
                                    </p:set>
                                  </p:childTnLst>
                                </p:cTn>
                              </p:par>
                              <p:par>
                                <p:cTn id="50" presetID="8" presetClass="emph" presetSubtype="0" fill="hold" nodeType="withEffect">
                                  <p:stCondLst>
                                    <p:cond delay="0"/>
                                  </p:stCondLst>
                                  <p:childTnLst>
                                    <p:animRot by="21600000">
                                      <p:cBhvr>
                                        <p:cTn id="51" dur="1000" fill="hold"/>
                                        <p:tgtEl>
                                          <p:spTgt spid="146"/>
                                        </p:tgtEl>
                                        <p:attrNameLst>
                                          <p:attrName>r</p:attrName>
                                        </p:attrNameLst>
                                      </p:cBhvr>
                                    </p:animRo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47"/>
                                        </p:tgtEl>
                                        <p:attrNameLst>
                                          <p:attrName>style.visibility</p:attrName>
                                        </p:attrNameLst>
                                      </p:cBhvr>
                                      <p:to>
                                        <p:strVal val="visible"/>
                                      </p:to>
                                    </p:set>
                                  </p:childTnLst>
                                </p:cTn>
                              </p:par>
                              <p:par>
                                <p:cTn id="56" presetID="8" presetClass="emph" presetSubtype="0" fill="hold" nodeType="withEffect">
                                  <p:stCondLst>
                                    <p:cond delay="0"/>
                                  </p:stCondLst>
                                  <p:childTnLst>
                                    <p:animRot by="21600000">
                                      <p:cBhvr>
                                        <p:cTn id="57" dur="1000" fill="hold"/>
                                        <p:tgtEl>
                                          <p:spTgt spid="14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Implementation of </a:t>
            </a:r>
            <a:r>
              <a:rPr lang="en-US" dirty="0" err="1"/>
              <a:t>Lamport’s</a:t>
            </a:r>
            <a:r>
              <a:rPr lang="en-US" dirty="0"/>
              <a:t> Clock</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altLang="en-US" dirty="0"/>
              <a:t>Each process Pi maintains a local counter Ci and adjusts this counter according to the following rules:</a:t>
            </a:r>
          </a:p>
          <a:p>
            <a:pPr marL="457200" indent="-457200">
              <a:buFont typeface="+mj-lt"/>
              <a:buAutoNum type="arabicPeriod"/>
            </a:pPr>
            <a:r>
              <a:rPr lang="en-US" altLang="en-US" dirty="0"/>
              <a:t>For any two successive events that take place within Pi, </a:t>
            </a:r>
            <a:r>
              <a:rPr lang="en-US" altLang="en-US" dirty="0">
                <a:solidFill>
                  <a:srgbClr val="1D6199"/>
                </a:solidFill>
              </a:rPr>
              <a:t>Ci is incremented by 1</a:t>
            </a:r>
          </a:p>
          <a:p>
            <a:pPr marL="457200" indent="-457200">
              <a:buFont typeface="+mj-lt"/>
              <a:buAutoNum type="arabicPeriod"/>
            </a:pPr>
            <a:r>
              <a:rPr lang="en-US" altLang="en-US" dirty="0"/>
              <a:t>Each time a message m is sent by process Pi , m is assigned a </a:t>
            </a:r>
            <a:r>
              <a:rPr lang="en-US" altLang="en-US" dirty="0">
                <a:solidFill>
                  <a:srgbClr val="1D6199"/>
                </a:solidFill>
              </a:rPr>
              <a:t>timestamp </a:t>
            </a:r>
            <a:r>
              <a:rPr lang="en-US" altLang="en-US" dirty="0" err="1">
                <a:solidFill>
                  <a:srgbClr val="1D6199"/>
                </a:solidFill>
              </a:rPr>
              <a:t>ts</a:t>
            </a:r>
            <a:r>
              <a:rPr lang="en-US" altLang="en-US" dirty="0">
                <a:solidFill>
                  <a:srgbClr val="1D6199"/>
                </a:solidFill>
              </a:rPr>
              <a:t>(m) = Ci</a:t>
            </a:r>
          </a:p>
          <a:p>
            <a:pPr marL="457200" indent="-457200">
              <a:buFont typeface="+mj-lt"/>
              <a:buAutoNum type="arabicPeriod"/>
            </a:pPr>
            <a:r>
              <a:rPr lang="en-US" altLang="en-US" dirty="0"/>
              <a:t>Whenever a message m is received by a process Pj, Pj adjusts its local counter </a:t>
            </a:r>
            <a:r>
              <a:rPr lang="en-US" altLang="en-US" dirty="0" err="1">
                <a:solidFill>
                  <a:srgbClr val="1D6199"/>
                </a:solidFill>
              </a:rPr>
              <a:t>Cj</a:t>
            </a:r>
            <a:r>
              <a:rPr lang="en-US" altLang="en-US" dirty="0">
                <a:solidFill>
                  <a:srgbClr val="1D6199"/>
                </a:solidFill>
              </a:rPr>
              <a:t> to max(</a:t>
            </a:r>
            <a:r>
              <a:rPr lang="en-US" altLang="en-US" dirty="0" err="1">
                <a:solidFill>
                  <a:srgbClr val="1D6199"/>
                </a:solidFill>
              </a:rPr>
              <a:t>Cj</a:t>
            </a:r>
            <a:r>
              <a:rPr lang="en-US" altLang="en-US" dirty="0">
                <a:solidFill>
                  <a:srgbClr val="1D6199"/>
                </a:solidFill>
              </a:rPr>
              <a:t>, </a:t>
            </a:r>
            <a:r>
              <a:rPr lang="en-US" altLang="en-US" dirty="0" err="1">
                <a:solidFill>
                  <a:srgbClr val="1D6199"/>
                </a:solidFill>
              </a:rPr>
              <a:t>ts</a:t>
            </a:r>
            <a:r>
              <a:rPr lang="en-US" altLang="en-US" dirty="0">
                <a:solidFill>
                  <a:srgbClr val="1D6199"/>
                </a:solidFill>
              </a:rPr>
              <a:t>(m)) + 1</a:t>
            </a:r>
          </a:p>
        </p:txBody>
      </p:sp>
    </p:spTree>
    <p:extLst>
      <p:ext uri="{BB962C8B-B14F-4D97-AF65-F5344CB8AC3E}">
        <p14:creationId xmlns:p14="http://schemas.microsoft.com/office/powerpoint/2010/main" val="1428045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Implementation of </a:t>
            </a:r>
            <a:r>
              <a:rPr lang="en-US" dirty="0" err="1"/>
              <a:t>Lamport’s</a:t>
            </a:r>
            <a:r>
              <a:rPr lang="en-US" dirty="0"/>
              <a:t> Clock</a:t>
            </a:r>
          </a:p>
        </p:txBody>
      </p:sp>
      <p:sp>
        <p:nvSpPr>
          <p:cNvPr id="6" name="Content Placeholder 2">
            <a:extLst>
              <a:ext uri="{FF2B5EF4-FFF2-40B4-BE49-F238E27FC236}">
                <a16:creationId xmlns:a16="http://schemas.microsoft.com/office/drawing/2014/main" id="{1D349684-43F6-4169-B04D-12F906A5E277}"/>
              </a:ext>
            </a:extLst>
          </p:cNvPr>
          <p:cNvSpPr>
            <a:spLocks noGrp="1"/>
          </p:cNvSpPr>
          <p:nvPr>
            <p:ph idx="1"/>
          </p:nvPr>
        </p:nvSpPr>
        <p:spPr>
          <a:xfrm>
            <a:off x="0" y="758665"/>
            <a:ext cx="12015788" cy="2768759"/>
          </a:xfrm>
        </p:spPr>
        <p:txBody>
          <a:bodyPr/>
          <a:lstStyle/>
          <a:p>
            <a:pPr>
              <a:defRPr/>
            </a:pPr>
            <a:r>
              <a:rPr lang="en-US" sz="2400" dirty="0">
                <a:latin typeface="+mj-lt"/>
              </a:rPr>
              <a:t>Each process </a:t>
            </a:r>
            <a:r>
              <a:rPr lang="en-US" sz="2400" dirty="0">
                <a:latin typeface="+mj-lt"/>
                <a:cs typeface="Courier New" pitchFamily="49" charset="0"/>
              </a:rPr>
              <a:t>P</a:t>
            </a:r>
            <a:r>
              <a:rPr lang="en-US" sz="2400" baseline="-25000" dirty="0">
                <a:latin typeface="+mj-lt"/>
                <a:cs typeface="Courier New" pitchFamily="49" charset="0"/>
              </a:rPr>
              <a:t>i</a:t>
            </a:r>
            <a:r>
              <a:rPr lang="en-US" sz="2400" dirty="0">
                <a:latin typeface="+mj-lt"/>
              </a:rPr>
              <a:t> maintains a local counter </a:t>
            </a:r>
            <a:r>
              <a:rPr lang="en-US" sz="2400" dirty="0" err="1">
                <a:latin typeface="+mj-lt"/>
                <a:cs typeface="Courier New" pitchFamily="49" charset="0"/>
              </a:rPr>
              <a:t>C</a:t>
            </a:r>
            <a:r>
              <a:rPr lang="en-US" sz="2400" baseline="-25000" dirty="0" err="1">
                <a:latin typeface="+mj-lt"/>
                <a:cs typeface="Courier New" pitchFamily="49" charset="0"/>
              </a:rPr>
              <a:t>i</a:t>
            </a:r>
            <a:r>
              <a:rPr lang="en-US" sz="2400" dirty="0">
                <a:latin typeface="+mj-lt"/>
              </a:rPr>
              <a:t> and adjusts this counter according to the following rules:</a:t>
            </a:r>
          </a:p>
          <a:p>
            <a:pPr lvl="4">
              <a:defRPr/>
            </a:pPr>
            <a:endParaRPr lang="en-US" sz="1050" dirty="0">
              <a:latin typeface="+mj-lt"/>
            </a:endParaRPr>
          </a:p>
          <a:p>
            <a:pPr marL="914400" lvl="1" indent="-457200">
              <a:spcBef>
                <a:spcPts val="600"/>
              </a:spcBef>
              <a:spcAft>
                <a:spcPts val="600"/>
              </a:spcAft>
              <a:buFontTx/>
              <a:buAutoNum type="arabicPeriod"/>
              <a:defRPr/>
            </a:pPr>
            <a:r>
              <a:rPr lang="en-US" sz="2400" dirty="0">
                <a:latin typeface="+mj-lt"/>
              </a:rPr>
              <a:t>For any two successive events that take place within </a:t>
            </a:r>
            <a:r>
              <a:rPr lang="en-US" sz="2400" dirty="0">
                <a:latin typeface="+mj-lt"/>
                <a:cs typeface="Courier New" pitchFamily="49" charset="0"/>
              </a:rPr>
              <a:t>P</a:t>
            </a:r>
            <a:r>
              <a:rPr lang="en-US" sz="2400" baseline="-25000" dirty="0">
                <a:latin typeface="+mj-lt"/>
                <a:cs typeface="Courier New" pitchFamily="49" charset="0"/>
              </a:rPr>
              <a:t>i</a:t>
            </a:r>
            <a:r>
              <a:rPr lang="en-US" sz="2400" dirty="0">
                <a:latin typeface="+mj-lt"/>
              </a:rPr>
              <a:t>, </a:t>
            </a:r>
            <a:r>
              <a:rPr lang="en-US" sz="2400" dirty="0" err="1">
                <a:latin typeface="+mj-lt"/>
                <a:cs typeface="Courier New" pitchFamily="49" charset="0"/>
              </a:rPr>
              <a:t>C</a:t>
            </a:r>
            <a:r>
              <a:rPr lang="en-US" sz="2400" baseline="-25000" dirty="0" err="1">
                <a:latin typeface="+mj-lt"/>
                <a:cs typeface="Courier New" pitchFamily="49" charset="0"/>
              </a:rPr>
              <a:t>i</a:t>
            </a:r>
            <a:r>
              <a:rPr lang="en-US" sz="2400" dirty="0">
                <a:latin typeface="+mj-lt"/>
              </a:rPr>
              <a:t> is </a:t>
            </a:r>
            <a:r>
              <a:rPr lang="en-US" sz="2400" dirty="0">
                <a:solidFill>
                  <a:srgbClr val="1D6199"/>
                </a:solidFill>
                <a:latin typeface="+mj-lt"/>
              </a:rPr>
              <a:t>incremented by </a:t>
            </a:r>
            <a:r>
              <a:rPr lang="en-US" sz="2400" dirty="0">
                <a:solidFill>
                  <a:srgbClr val="1D6199"/>
                </a:solidFill>
                <a:latin typeface="+mj-lt"/>
                <a:cs typeface="Courier New" pitchFamily="49" charset="0"/>
              </a:rPr>
              <a:t>1</a:t>
            </a:r>
          </a:p>
          <a:p>
            <a:pPr marL="914400" lvl="1" indent="-457200">
              <a:spcBef>
                <a:spcPts val="600"/>
              </a:spcBef>
              <a:spcAft>
                <a:spcPts val="600"/>
              </a:spcAft>
              <a:buFontTx/>
              <a:buAutoNum type="arabicPeriod"/>
              <a:defRPr/>
            </a:pPr>
            <a:r>
              <a:rPr lang="en-US" sz="2400" dirty="0">
                <a:latin typeface="+mj-lt"/>
              </a:rPr>
              <a:t>Each time a message </a:t>
            </a:r>
            <a:r>
              <a:rPr lang="en-US" sz="2400" dirty="0">
                <a:latin typeface="+mj-lt"/>
                <a:cs typeface="Courier New" pitchFamily="49" charset="0"/>
              </a:rPr>
              <a:t>m</a:t>
            </a:r>
            <a:r>
              <a:rPr lang="en-US" sz="2400" dirty="0">
                <a:latin typeface="+mj-lt"/>
              </a:rPr>
              <a:t> is sent by process </a:t>
            </a:r>
            <a:r>
              <a:rPr lang="en-US" sz="2400" dirty="0">
                <a:latin typeface="+mj-lt"/>
                <a:cs typeface="Courier New" pitchFamily="49" charset="0"/>
              </a:rPr>
              <a:t>P</a:t>
            </a:r>
            <a:r>
              <a:rPr lang="en-US" sz="2400" baseline="-25000" dirty="0">
                <a:latin typeface="+mj-lt"/>
                <a:cs typeface="Courier New" pitchFamily="49" charset="0"/>
              </a:rPr>
              <a:t>i</a:t>
            </a:r>
            <a:r>
              <a:rPr lang="en-US" sz="2400" dirty="0">
                <a:latin typeface="+mj-lt"/>
              </a:rPr>
              <a:t> , </a:t>
            </a:r>
            <a:r>
              <a:rPr lang="en-US" sz="2400" dirty="0">
                <a:latin typeface="+mj-lt"/>
                <a:cs typeface="Courier New" pitchFamily="49" charset="0"/>
              </a:rPr>
              <a:t>m</a:t>
            </a:r>
            <a:r>
              <a:rPr lang="en-US" sz="2400" dirty="0">
                <a:latin typeface="+mj-lt"/>
              </a:rPr>
              <a:t> is assigned a </a:t>
            </a:r>
            <a:r>
              <a:rPr lang="en-US" sz="2400" dirty="0">
                <a:solidFill>
                  <a:srgbClr val="1D6199"/>
                </a:solidFill>
                <a:latin typeface="+mj-lt"/>
              </a:rPr>
              <a:t>timestamp </a:t>
            </a:r>
            <a:r>
              <a:rPr lang="en-US" sz="2400" dirty="0" err="1">
                <a:solidFill>
                  <a:srgbClr val="1D6199"/>
                </a:solidFill>
                <a:latin typeface="+mj-lt"/>
              </a:rPr>
              <a:t>ts</a:t>
            </a:r>
            <a:r>
              <a:rPr lang="en-US" sz="2400" dirty="0">
                <a:solidFill>
                  <a:srgbClr val="1D6199"/>
                </a:solidFill>
                <a:latin typeface="+mj-lt"/>
              </a:rPr>
              <a:t>(m) = </a:t>
            </a:r>
            <a:r>
              <a:rPr lang="en-US" sz="2400" dirty="0" err="1">
                <a:solidFill>
                  <a:srgbClr val="1D6199"/>
                </a:solidFill>
                <a:latin typeface="+mj-lt"/>
              </a:rPr>
              <a:t>Ci</a:t>
            </a:r>
            <a:endParaRPr lang="en-US" sz="2400" dirty="0">
              <a:solidFill>
                <a:srgbClr val="1D6199"/>
              </a:solidFill>
              <a:latin typeface="+mj-lt"/>
            </a:endParaRPr>
          </a:p>
          <a:p>
            <a:pPr marL="914400" lvl="1" indent="-457200">
              <a:spcBef>
                <a:spcPts val="600"/>
              </a:spcBef>
              <a:spcAft>
                <a:spcPts val="600"/>
              </a:spcAft>
              <a:buFontTx/>
              <a:buAutoNum type="arabicPeriod"/>
              <a:defRPr/>
            </a:pPr>
            <a:r>
              <a:rPr lang="en-US" sz="2400" dirty="0">
                <a:latin typeface="+mj-lt"/>
              </a:rPr>
              <a:t>Whenever a message </a:t>
            </a:r>
            <a:r>
              <a:rPr lang="en-US" sz="2400" dirty="0">
                <a:latin typeface="+mj-lt"/>
                <a:cs typeface="Courier New" pitchFamily="49" charset="0"/>
              </a:rPr>
              <a:t>m</a:t>
            </a:r>
            <a:r>
              <a:rPr lang="en-US" sz="2400" dirty="0">
                <a:latin typeface="+mj-lt"/>
              </a:rPr>
              <a:t> is received by a process </a:t>
            </a:r>
            <a:r>
              <a:rPr lang="en-US" sz="2400" dirty="0">
                <a:latin typeface="+mj-lt"/>
                <a:cs typeface="Courier New" pitchFamily="49" charset="0"/>
              </a:rPr>
              <a:t>P</a:t>
            </a:r>
            <a:r>
              <a:rPr lang="en-US" sz="2400" baseline="-25000" dirty="0">
                <a:latin typeface="+mj-lt"/>
                <a:cs typeface="Courier New" pitchFamily="49" charset="0"/>
              </a:rPr>
              <a:t>j</a:t>
            </a:r>
            <a:r>
              <a:rPr lang="en-US" sz="2400" dirty="0">
                <a:latin typeface="+mj-lt"/>
              </a:rPr>
              <a:t>, </a:t>
            </a:r>
            <a:r>
              <a:rPr lang="en-US" sz="2400" dirty="0">
                <a:latin typeface="+mj-lt"/>
                <a:cs typeface="Courier New" pitchFamily="49" charset="0"/>
              </a:rPr>
              <a:t>P</a:t>
            </a:r>
            <a:r>
              <a:rPr lang="en-US" sz="2400" baseline="-25000" dirty="0">
                <a:latin typeface="+mj-lt"/>
                <a:cs typeface="Courier New" pitchFamily="49" charset="0"/>
              </a:rPr>
              <a:t>j</a:t>
            </a:r>
            <a:r>
              <a:rPr lang="en-US" sz="2400" dirty="0">
                <a:latin typeface="+mj-lt"/>
              </a:rPr>
              <a:t> adjusts its local counter </a:t>
            </a:r>
            <a:r>
              <a:rPr lang="en-US" sz="2400" dirty="0" err="1">
                <a:latin typeface="+mj-lt"/>
                <a:cs typeface="Courier New" pitchFamily="49" charset="0"/>
              </a:rPr>
              <a:t>C</a:t>
            </a:r>
            <a:r>
              <a:rPr lang="en-US" sz="2400" baseline="-25000" dirty="0" err="1">
                <a:latin typeface="+mj-lt"/>
                <a:cs typeface="Courier New" pitchFamily="49" charset="0"/>
              </a:rPr>
              <a:t>j</a:t>
            </a:r>
            <a:r>
              <a:rPr lang="en-US" sz="2400" dirty="0">
                <a:latin typeface="+mj-lt"/>
              </a:rPr>
              <a:t> to </a:t>
            </a:r>
            <a:r>
              <a:rPr lang="en-US" sz="2400" dirty="0">
                <a:solidFill>
                  <a:srgbClr val="1D6199"/>
                </a:solidFill>
                <a:latin typeface="+mj-lt"/>
              </a:rPr>
              <a:t>max(</a:t>
            </a:r>
            <a:r>
              <a:rPr lang="en-US" sz="2400" dirty="0" err="1">
                <a:solidFill>
                  <a:srgbClr val="1D6199"/>
                </a:solidFill>
                <a:latin typeface="+mj-lt"/>
              </a:rPr>
              <a:t>Cj</a:t>
            </a:r>
            <a:r>
              <a:rPr lang="en-US" sz="2400" dirty="0">
                <a:solidFill>
                  <a:srgbClr val="1D6199"/>
                </a:solidFill>
                <a:latin typeface="+mj-lt"/>
              </a:rPr>
              <a:t>, </a:t>
            </a:r>
            <a:r>
              <a:rPr lang="en-US" sz="2400" dirty="0" err="1">
                <a:solidFill>
                  <a:srgbClr val="1D6199"/>
                </a:solidFill>
                <a:latin typeface="+mj-lt"/>
              </a:rPr>
              <a:t>ts</a:t>
            </a:r>
            <a:r>
              <a:rPr lang="en-US" sz="2400" dirty="0">
                <a:solidFill>
                  <a:srgbClr val="1D6199"/>
                </a:solidFill>
                <a:latin typeface="+mj-lt"/>
              </a:rPr>
              <a:t>(m)) + 1</a:t>
            </a:r>
          </a:p>
          <a:p>
            <a:pPr lvl="4">
              <a:defRPr/>
            </a:pPr>
            <a:endParaRPr lang="en-US" sz="100" dirty="0"/>
          </a:p>
        </p:txBody>
      </p:sp>
      <p:cxnSp>
        <p:nvCxnSpPr>
          <p:cNvPr id="7" name="Straight Connector 6">
            <a:extLst>
              <a:ext uri="{FF2B5EF4-FFF2-40B4-BE49-F238E27FC236}">
                <a16:creationId xmlns:a16="http://schemas.microsoft.com/office/drawing/2014/main" id="{E486B5FF-1E3A-4457-8237-B444A6F0EDEC}"/>
              </a:ext>
            </a:extLst>
          </p:cNvPr>
          <p:cNvCxnSpPr/>
          <p:nvPr/>
        </p:nvCxnSpPr>
        <p:spPr>
          <a:xfrm>
            <a:off x="3352800" y="4648200"/>
            <a:ext cx="5334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C1C03-B8ED-4198-A2C2-E03E4D225F28}"/>
              </a:ext>
            </a:extLst>
          </p:cNvPr>
          <p:cNvCxnSpPr/>
          <p:nvPr/>
        </p:nvCxnSpPr>
        <p:spPr>
          <a:xfrm>
            <a:off x="3352800" y="5387976"/>
            <a:ext cx="5334000" cy="22225"/>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C193513-DAF1-4B5A-9C28-193CE0A33280}"/>
              </a:ext>
            </a:extLst>
          </p:cNvPr>
          <p:cNvCxnSpPr/>
          <p:nvPr/>
        </p:nvCxnSpPr>
        <p:spPr>
          <a:xfrm>
            <a:off x="3352800" y="6096000"/>
            <a:ext cx="5334000" cy="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FAC92BD-3108-464A-A7C7-EA0E4AAB7170}"/>
              </a:ext>
            </a:extLst>
          </p:cNvPr>
          <p:cNvSpPr txBox="1">
            <a:spLocks noChangeArrowheads="1"/>
          </p:cNvSpPr>
          <p:nvPr/>
        </p:nvSpPr>
        <p:spPr bwMode="auto">
          <a:xfrm>
            <a:off x="2743196" y="4473575"/>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dirty="0">
                <a:solidFill>
                  <a:schemeClr val="tx1"/>
                </a:solidFill>
                <a:latin typeface="+mj-lt"/>
              </a:rPr>
              <a:t>P</a:t>
            </a:r>
            <a:r>
              <a:rPr lang="en-US" altLang="en-US" sz="2000" b="1" baseline="-25000" dirty="0">
                <a:solidFill>
                  <a:schemeClr val="tx1"/>
                </a:solidFill>
                <a:latin typeface="+mj-lt"/>
              </a:rPr>
              <a:t>0</a:t>
            </a:r>
            <a:endParaRPr lang="en-US" altLang="en-US" sz="2000" b="1" dirty="0">
              <a:solidFill>
                <a:schemeClr val="tx1"/>
              </a:solidFill>
              <a:latin typeface="+mj-lt"/>
            </a:endParaRPr>
          </a:p>
        </p:txBody>
      </p:sp>
      <p:sp>
        <p:nvSpPr>
          <p:cNvPr id="11" name="TextBox 10">
            <a:extLst>
              <a:ext uri="{FF2B5EF4-FFF2-40B4-BE49-F238E27FC236}">
                <a16:creationId xmlns:a16="http://schemas.microsoft.com/office/drawing/2014/main" id="{045BD154-22EB-438F-9161-86A513F43C99}"/>
              </a:ext>
            </a:extLst>
          </p:cNvPr>
          <p:cNvSpPr txBox="1">
            <a:spLocks noChangeArrowheads="1"/>
          </p:cNvSpPr>
          <p:nvPr/>
        </p:nvSpPr>
        <p:spPr bwMode="auto">
          <a:xfrm>
            <a:off x="2743196" y="5213350"/>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dirty="0">
                <a:solidFill>
                  <a:schemeClr val="accent6"/>
                </a:solidFill>
                <a:latin typeface="+mj-lt"/>
              </a:rPr>
              <a:t>P</a:t>
            </a:r>
            <a:r>
              <a:rPr lang="en-US" altLang="en-US" sz="2000" b="1" baseline="-25000" dirty="0">
                <a:solidFill>
                  <a:schemeClr val="accent6"/>
                </a:solidFill>
                <a:latin typeface="+mj-lt"/>
              </a:rPr>
              <a:t>1</a:t>
            </a:r>
            <a:endParaRPr lang="en-US" altLang="en-US" sz="2000" b="1" dirty="0">
              <a:solidFill>
                <a:schemeClr val="accent6"/>
              </a:solidFill>
              <a:latin typeface="+mj-lt"/>
            </a:endParaRPr>
          </a:p>
        </p:txBody>
      </p:sp>
      <p:sp>
        <p:nvSpPr>
          <p:cNvPr id="12" name="TextBox 11">
            <a:extLst>
              <a:ext uri="{FF2B5EF4-FFF2-40B4-BE49-F238E27FC236}">
                <a16:creationId xmlns:a16="http://schemas.microsoft.com/office/drawing/2014/main" id="{C559791C-ADFF-42A4-B3C1-F238523602CE}"/>
              </a:ext>
            </a:extLst>
          </p:cNvPr>
          <p:cNvSpPr txBox="1">
            <a:spLocks noChangeArrowheads="1"/>
          </p:cNvSpPr>
          <p:nvPr/>
        </p:nvSpPr>
        <p:spPr bwMode="auto">
          <a:xfrm>
            <a:off x="2743196" y="5910264"/>
            <a:ext cx="533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b="1">
                <a:solidFill>
                  <a:srgbClr val="1D3064"/>
                </a:solidFill>
                <a:latin typeface="+mj-lt"/>
              </a:rPr>
              <a:t>P</a:t>
            </a:r>
            <a:r>
              <a:rPr lang="en-US" altLang="en-US" sz="2000" b="1" baseline="-25000">
                <a:solidFill>
                  <a:srgbClr val="1D3064"/>
                </a:solidFill>
                <a:latin typeface="+mj-lt"/>
              </a:rPr>
              <a:t>2</a:t>
            </a:r>
            <a:endParaRPr lang="en-US" altLang="en-US" sz="2000" b="1">
              <a:solidFill>
                <a:srgbClr val="1D3064"/>
              </a:solidFill>
              <a:latin typeface="+mj-lt"/>
            </a:endParaRPr>
          </a:p>
        </p:txBody>
      </p:sp>
      <p:sp>
        <p:nvSpPr>
          <p:cNvPr id="13" name="TextBox 12">
            <a:extLst>
              <a:ext uri="{FF2B5EF4-FFF2-40B4-BE49-F238E27FC236}">
                <a16:creationId xmlns:a16="http://schemas.microsoft.com/office/drawing/2014/main" id="{9D4F5438-63B1-4785-8857-4049998358F6}"/>
              </a:ext>
            </a:extLst>
          </p:cNvPr>
          <p:cNvSpPr txBox="1">
            <a:spLocks noChangeArrowheads="1"/>
          </p:cNvSpPr>
          <p:nvPr/>
        </p:nvSpPr>
        <p:spPr bwMode="auto">
          <a:xfrm>
            <a:off x="6019800" y="4275139"/>
            <a:ext cx="1295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solidFill>
                  <a:schemeClr val="tx1"/>
                </a:solidFill>
                <a:latin typeface="+mj-lt"/>
              </a:rPr>
              <a:t>C</a:t>
            </a:r>
            <a:r>
              <a:rPr lang="en-US" altLang="en-US" sz="2000" baseline="-25000">
                <a:solidFill>
                  <a:schemeClr val="tx1"/>
                </a:solidFill>
                <a:latin typeface="+mj-lt"/>
              </a:rPr>
              <a:t>0</a:t>
            </a:r>
            <a:r>
              <a:rPr lang="en-US" altLang="en-US" sz="2000">
                <a:solidFill>
                  <a:schemeClr val="tx1"/>
                </a:solidFill>
                <a:latin typeface="+mj-lt"/>
              </a:rPr>
              <a:t>=1</a:t>
            </a:r>
            <a:endParaRPr lang="en-US" altLang="en-US" sz="2000" baseline="-25000">
              <a:solidFill>
                <a:schemeClr val="tx1"/>
              </a:solidFill>
              <a:latin typeface="+mj-lt"/>
            </a:endParaRPr>
          </a:p>
        </p:txBody>
      </p:sp>
      <p:cxnSp>
        <p:nvCxnSpPr>
          <p:cNvPr id="14" name="Straight Connector 13">
            <a:extLst>
              <a:ext uri="{FF2B5EF4-FFF2-40B4-BE49-F238E27FC236}">
                <a16:creationId xmlns:a16="http://schemas.microsoft.com/office/drawing/2014/main" id="{F61D3D12-2B6F-4CE5-97A3-51F0D6D9D752}"/>
              </a:ext>
            </a:extLst>
          </p:cNvPr>
          <p:cNvCxnSpPr/>
          <p:nvPr/>
        </p:nvCxnSpPr>
        <p:spPr>
          <a:xfrm>
            <a:off x="6019800" y="4572000"/>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357FD7E-12F7-4D3B-A499-BFA6AF489191}"/>
              </a:ext>
            </a:extLst>
          </p:cNvPr>
          <p:cNvSpPr txBox="1">
            <a:spLocks noChangeArrowheads="1"/>
          </p:cNvSpPr>
          <p:nvPr/>
        </p:nvSpPr>
        <p:spPr bwMode="auto">
          <a:xfrm>
            <a:off x="7772400" y="4275139"/>
            <a:ext cx="1295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solidFill>
                  <a:schemeClr val="tx1"/>
                </a:solidFill>
                <a:latin typeface="+mj-lt"/>
              </a:rPr>
              <a:t>C</a:t>
            </a:r>
            <a:r>
              <a:rPr lang="en-US" altLang="en-US" sz="2000" baseline="-25000">
                <a:solidFill>
                  <a:schemeClr val="tx1"/>
                </a:solidFill>
                <a:latin typeface="+mj-lt"/>
              </a:rPr>
              <a:t>0</a:t>
            </a:r>
            <a:r>
              <a:rPr lang="en-US" altLang="en-US" sz="2000">
                <a:solidFill>
                  <a:schemeClr val="tx1"/>
                </a:solidFill>
                <a:latin typeface="+mj-lt"/>
              </a:rPr>
              <a:t>=2</a:t>
            </a:r>
            <a:endParaRPr lang="en-US" altLang="en-US" sz="2000" baseline="-25000">
              <a:solidFill>
                <a:schemeClr val="tx1"/>
              </a:solidFill>
              <a:latin typeface="+mj-lt"/>
            </a:endParaRPr>
          </a:p>
        </p:txBody>
      </p:sp>
      <p:cxnSp>
        <p:nvCxnSpPr>
          <p:cNvPr id="16" name="Straight Connector 15">
            <a:extLst>
              <a:ext uri="{FF2B5EF4-FFF2-40B4-BE49-F238E27FC236}">
                <a16:creationId xmlns:a16="http://schemas.microsoft.com/office/drawing/2014/main" id="{354C9656-54ED-4F6F-9D42-BF731A210FC5}"/>
              </a:ext>
            </a:extLst>
          </p:cNvPr>
          <p:cNvCxnSpPr/>
          <p:nvPr/>
        </p:nvCxnSpPr>
        <p:spPr>
          <a:xfrm>
            <a:off x="7772400" y="4572000"/>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C30247-0F6A-4A6C-86A1-3F45DE5ED0D5}"/>
              </a:ext>
            </a:extLst>
          </p:cNvPr>
          <p:cNvCxnSpPr/>
          <p:nvPr/>
        </p:nvCxnSpPr>
        <p:spPr>
          <a:xfrm>
            <a:off x="7772400" y="4648200"/>
            <a:ext cx="533400" cy="762000"/>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B3141DC-F0B5-4E70-AE0C-85AB6F56A0F8}"/>
              </a:ext>
            </a:extLst>
          </p:cNvPr>
          <p:cNvSpPr txBox="1">
            <a:spLocks noChangeArrowheads="1"/>
          </p:cNvSpPr>
          <p:nvPr/>
        </p:nvSpPr>
        <p:spPr bwMode="auto">
          <a:xfrm>
            <a:off x="3352800" y="4267200"/>
            <a:ext cx="1295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solidFill>
                  <a:schemeClr val="tx1"/>
                </a:solidFill>
                <a:latin typeface="+mj-lt"/>
              </a:rPr>
              <a:t>C</a:t>
            </a:r>
            <a:r>
              <a:rPr lang="en-US" altLang="en-US" sz="2000" baseline="-25000">
                <a:solidFill>
                  <a:schemeClr val="tx1"/>
                </a:solidFill>
                <a:latin typeface="+mj-lt"/>
              </a:rPr>
              <a:t>0</a:t>
            </a:r>
            <a:r>
              <a:rPr lang="en-US" altLang="en-US" sz="2000">
                <a:solidFill>
                  <a:schemeClr val="tx1"/>
                </a:solidFill>
                <a:latin typeface="+mj-lt"/>
              </a:rPr>
              <a:t>=0</a:t>
            </a:r>
            <a:endParaRPr lang="en-US" altLang="en-US" sz="2000" baseline="-25000">
              <a:solidFill>
                <a:schemeClr val="tx1"/>
              </a:solidFill>
              <a:latin typeface="+mj-lt"/>
            </a:endParaRPr>
          </a:p>
        </p:txBody>
      </p:sp>
      <p:sp>
        <p:nvSpPr>
          <p:cNvPr id="19" name="TextBox 18">
            <a:extLst>
              <a:ext uri="{FF2B5EF4-FFF2-40B4-BE49-F238E27FC236}">
                <a16:creationId xmlns:a16="http://schemas.microsoft.com/office/drawing/2014/main" id="{D0FB7320-4A08-4C5F-B5FB-2C61D9E6AC8F}"/>
              </a:ext>
            </a:extLst>
          </p:cNvPr>
          <p:cNvSpPr txBox="1">
            <a:spLocks noChangeArrowheads="1"/>
          </p:cNvSpPr>
          <p:nvPr/>
        </p:nvSpPr>
        <p:spPr bwMode="auto">
          <a:xfrm>
            <a:off x="3352800" y="5006975"/>
            <a:ext cx="1295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accent6"/>
                </a:solidFill>
                <a:latin typeface="+mj-lt"/>
              </a:rPr>
              <a:t>C</a:t>
            </a:r>
            <a:r>
              <a:rPr lang="en-US" altLang="en-US" sz="2000" baseline="-25000" dirty="0">
                <a:solidFill>
                  <a:schemeClr val="accent6"/>
                </a:solidFill>
                <a:latin typeface="+mj-lt"/>
              </a:rPr>
              <a:t>1</a:t>
            </a:r>
            <a:r>
              <a:rPr lang="en-US" altLang="en-US" sz="2000" dirty="0">
                <a:solidFill>
                  <a:schemeClr val="accent6"/>
                </a:solidFill>
                <a:latin typeface="+mj-lt"/>
              </a:rPr>
              <a:t>=0</a:t>
            </a:r>
            <a:endParaRPr lang="en-US" altLang="en-US" sz="2000" baseline="-25000" dirty="0">
              <a:solidFill>
                <a:schemeClr val="accent6"/>
              </a:solidFill>
              <a:latin typeface="+mj-lt"/>
            </a:endParaRPr>
          </a:p>
        </p:txBody>
      </p:sp>
      <p:sp>
        <p:nvSpPr>
          <p:cNvPr id="20" name="TextBox 19">
            <a:extLst>
              <a:ext uri="{FF2B5EF4-FFF2-40B4-BE49-F238E27FC236}">
                <a16:creationId xmlns:a16="http://schemas.microsoft.com/office/drawing/2014/main" id="{3B485C4B-0F4B-4934-AA08-89AF52F20F6C}"/>
              </a:ext>
            </a:extLst>
          </p:cNvPr>
          <p:cNvSpPr txBox="1">
            <a:spLocks noChangeArrowheads="1"/>
          </p:cNvSpPr>
          <p:nvPr/>
        </p:nvSpPr>
        <p:spPr bwMode="auto">
          <a:xfrm>
            <a:off x="3352800" y="5722939"/>
            <a:ext cx="1295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solidFill>
                  <a:srgbClr val="1D3064"/>
                </a:solidFill>
                <a:latin typeface="+mj-lt"/>
              </a:rPr>
              <a:t>C</a:t>
            </a:r>
            <a:r>
              <a:rPr lang="en-US" altLang="en-US" sz="2000" baseline="-25000">
                <a:solidFill>
                  <a:srgbClr val="1D3064"/>
                </a:solidFill>
                <a:latin typeface="+mj-lt"/>
              </a:rPr>
              <a:t>2</a:t>
            </a:r>
            <a:r>
              <a:rPr lang="en-US" altLang="en-US" sz="2000">
                <a:solidFill>
                  <a:srgbClr val="1D3064"/>
                </a:solidFill>
                <a:latin typeface="+mj-lt"/>
              </a:rPr>
              <a:t>=0</a:t>
            </a:r>
            <a:endParaRPr lang="en-US" altLang="en-US" sz="2000" baseline="-25000">
              <a:solidFill>
                <a:srgbClr val="1D3064"/>
              </a:solidFill>
              <a:latin typeface="+mj-lt"/>
            </a:endParaRPr>
          </a:p>
        </p:txBody>
      </p:sp>
      <p:cxnSp>
        <p:nvCxnSpPr>
          <p:cNvPr id="21" name="Straight Connector 20">
            <a:extLst>
              <a:ext uri="{FF2B5EF4-FFF2-40B4-BE49-F238E27FC236}">
                <a16:creationId xmlns:a16="http://schemas.microsoft.com/office/drawing/2014/main" id="{2B03E915-3A8D-44FC-B0DF-F00CF7412821}"/>
              </a:ext>
            </a:extLst>
          </p:cNvPr>
          <p:cNvCxnSpPr/>
          <p:nvPr/>
        </p:nvCxnSpPr>
        <p:spPr>
          <a:xfrm>
            <a:off x="3352800" y="4572000"/>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B9B03B2-A242-42CF-BA69-A491EFCFA507}"/>
              </a:ext>
            </a:extLst>
          </p:cNvPr>
          <p:cNvCxnSpPr/>
          <p:nvPr/>
        </p:nvCxnSpPr>
        <p:spPr>
          <a:xfrm>
            <a:off x="3352800" y="5311775"/>
            <a:ext cx="0" cy="1524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A9E9EDD-78B2-46DC-9186-E5452E359E7C}"/>
              </a:ext>
            </a:extLst>
          </p:cNvPr>
          <p:cNvCxnSpPr/>
          <p:nvPr/>
        </p:nvCxnSpPr>
        <p:spPr>
          <a:xfrm>
            <a:off x="3352800" y="6019800"/>
            <a:ext cx="0" cy="15240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A37DE59-964D-4828-96BE-8F240D972583}"/>
              </a:ext>
            </a:extLst>
          </p:cNvPr>
          <p:cNvCxnSpPr/>
          <p:nvPr/>
        </p:nvCxnSpPr>
        <p:spPr>
          <a:xfrm>
            <a:off x="8305800" y="5334000"/>
            <a:ext cx="0" cy="1524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FC903E4E-B9EC-44D9-8D43-69CE5E031903}"/>
              </a:ext>
            </a:extLst>
          </p:cNvPr>
          <p:cNvSpPr/>
          <p:nvPr/>
        </p:nvSpPr>
        <p:spPr>
          <a:xfrm>
            <a:off x="7229479" y="4843464"/>
            <a:ext cx="609594" cy="400110"/>
          </a:xfrm>
          <a:prstGeom prst="rect">
            <a:avLst/>
          </a:prstGeom>
          <a:solidFill>
            <a:srgbClr val="1D3064"/>
          </a:solidFill>
          <a:ln>
            <a:noFill/>
          </a:ln>
        </p:spPr>
        <p:style>
          <a:lnRef idx="2">
            <a:schemeClr val="accent6"/>
          </a:lnRef>
          <a:fillRef idx="1">
            <a:schemeClr val="lt1"/>
          </a:fillRef>
          <a:effectRef idx="0">
            <a:schemeClr val="accent6"/>
          </a:effectRef>
          <a:fontRef idx="minor">
            <a:schemeClr val="dk1"/>
          </a:fontRef>
        </p:style>
        <p:txBody>
          <a:bodyPr wrap="square">
            <a:spAutoFit/>
          </a:bodyPr>
          <a:lstStyle/>
          <a:p>
            <a:pPr eaLnBrk="1" hangingPunct="1">
              <a:defRPr/>
            </a:pPr>
            <a:r>
              <a:rPr lang="en-US" sz="2000" b="1" dirty="0">
                <a:solidFill>
                  <a:schemeClr val="bg1"/>
                </a:solidFill>
                <a:latin typeface="+mj-lt"/>
              </a:rPr>
              <a:t>m</a:t>
            </a:r>
            <a:r>
              <a:rPr lang="en-US" sz="2000" b="1" dirty="0">
                <a:solidFill>
                  <a:schemeClr val="bg1"/>
                </a:solidFill>
                <a:latin typeface="+mj-lt"/>
                <a:sym typeface="Wingdings" pitchFamily="2" charset="2"/>
              </a:rPr>
              <a:t>:</a:t>
            </a:r>
            <a:r>
              <a:rPr lang="en-US" sz="2000" b="1" dirty="0">
                <a:solidFill>
                  <a:schemeClr val="bg1"/>
                </a:solidFill>
                <a:latin typeface="+mj-lt"/>
              </a:rPr>
              <a:t>2</a:t>
            </a:r>
            <a:r>
              <a:rPr lang="en-US" sz="2000" b="1" dirty="0">
                <a:solidFill>
                  <a:schemeClr val="bg1"/>
                </a:solidFill>
                <a:latin typeface="+mj-lt"/>
                <a:cs typeface="Courier New" pitchFamily="49" charset="0"/>
              </a:rPr>
              <a:t> </a:t>
            </a:r>
            <a:endParaRPr lang="en-US" sz="2000" b="1" dirty="0">
              <a:solidFill>
                <a:schemeClr val="bg1"/>
              </a:solidFill>
              <a:latin typeface="+mj-lt"/>
            </a:endParaRPr>
          </a:p>
        </p:txBody>
      </p:sp>
      <p:sp>
        <p:nvSpPr>
          <p:cNvPr id="26" name="TextBox 25">
            <a:extLst>
              <a:ext uri="{FF2B5EF4-FFF2-40B4-BE49-F238E27FC236}">
                <a16:creationId xmlns:a16="http://schemas.microsoft.com/office/drawing/2014/main" id="{3935867A-4889-403C-AE3B-4F363DCD77F2}"/>
              </a:ext>
            </a:extLst>
          </p:cNvPr>
          <p:cNvSpPr txBox="1">
            <a:spLocks noChangeArrowheads="1"/>
          </p:cNvSpPr>
          <p:nvPr/>
        </p:nvSpPr>
        <p:spPr bwMode="auto">
          <a:xfrm>
            <a:off x="8229600" y="5029200"/>
            <a:ext cx="91440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accent6"/>
                </a:solidFill>
                <a:latin typeface="+mj-lt"/>
              </a:rPr>
              <a:t>C</a:t>
            </a:r>
            <a:r>
              <a:rPr lang="en-US" altLang="en-US" sz="2000" baseline="-25000" dirty="0">
                <a:solidFill>
                  <a:schemeClr val="accent6"/>
                </a:solidFill>
                <a:latin typeface="+mj-lt"/>
              </a:rPr>
              <a:t>1</a:t>
            </a:r>
            <a:r>
              <a:rPr lang="en-US" altLang="en-US" sz="2000" dirty="0">
                <a:solidFill>
                  <a:schemeClr val="accent6"/>
                </a:solidFill>
                <a:latin typeface="+mj-lt"/>
              </a:rPr>
              <a:t>=3</a:t>
            </a:r>
            <a:endParaRPr lang="en-US" altLang="en-US" sz="2000" baseline="-25000" dirty="0">
              <a:solidFill>
                <a:schemeClr val="accent6"/>
              </a:solidFill>
              <a:latin typeface="+mj-lt"/>
            </a:endParaRPr>
          </a:p>
        </p:txBody>
      </p:sp>
    </p:spTree>
    <p:extLst>
      <p:ext uri="{BB962C8B-B14F-4D97-AF65-F5344CB8AC3E}">
        <p14:creationId xmlns:p14="http://schemas.microsoft.com/office/powerpoint/2010/main" val="1690470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xEl>
                                              <p:pRg st="3" end="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
                                            <p:txEl>
                                              <p:pRg st="4" end="4"/>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5" grpId="0"/>
      <p:bldP spid="18" grpId="0"/>
      <p:bldP spid="19" grpId="0"/>
      <p:bldP spid="20" grpId="0"/>
      <p:bldP spid="25" grpId="0" animBg="1"/>
      <p:bldP spid="2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Vector Clocks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marL="265113" lvl="1" indent="-265113">
              <a:lnSpc>
                <a:spcPct val="100000"/>
              </a:lnSpc>
              <a:spcBef>
                <a:spcPts val="600"/>
              </a:spcBef>
              <a:spcAft>
                <a:spcPts val="600"/>
              </a:spcAft>
              <a:buFont typeface="Webdings" panose="05030102010509060703" pitchFamily="18" charset="2"/>
              <a:buChar char=""/>
            </a:pPr>
            <a:r>
              <a:rPr lang="en-US" altLang="en-US" sz="2400" dirty="0">
                <a:latin typeface="+mj-lt"/>
              </a:rPr>
              <a:t>Vector clock was proposed to overcome the limitation of </a:t>
            </a:r>
            <a:r>
              <a:rPr lang="en-US" altLang="en-US" sz="2400" dirty="0" err="1">
                <a:latin typeface="+mj-lt"/>
              </a:rPr>
              <a:t>Lamport</a:t>
            </a:r>
            <a:r>
              <a:rPr lang="ja-JP" altLang="en-US" sz="2400" dirty="0">
                <a:latin typeface="+mj-lt"/>
              </a:rPr>
              <a:t>’</a:t>
            </a:r>
            <a:r>
              <a:rPr lang="en-US" altLang="ja-JP" sz="2400" dirty="0">
                <a:latin typeface="+mj-lt"/>
              </a:rPr>
              <a:t>s clock</a:t>
            </a:r>
            <a:endParaRPr lang="en-US" altLang="ja-JP" sz="2400" dirty="0">
              <a:latin typeface="+mj-lt"/>
              <a:sym typeface="Wingdings" panose="05000000000000000000" pitchFamily="2" charset="2"/>
            </a:endParaRPr>
          </a:p>
          <a:p>
            <a:pPr marL="688975" lvl="2" indent="-290513">
              <a:lnSpc>
                <a:spcPct val="100000"/>
              </a:lnSpc>
              <a:spcBef>
                <a:spcPts val="600"/>
              </a:spcBef>
              <a:spcAft>
                <a:spcPts val="600"/>
              </a:spcAft>
            </a:pPr>
            <a:r>
              <a:rPr lang="en-US" altLang="en-US" sz="2400" dirty="0">
                <a:latin typeface="+mj-lt"/>
                <a:ea typeface="Arial" panose="020B0604020202020204" pitchFamily="34" charset="0"/>
              </a:rPr>
              <a:t>The property of </a:t>
            </a:r>
            <a:r>
              <a:rPr lang="en-US" altLang="en-US" sz="2400" i="1" dirty="0">
                <a:latin typeface="+mj-lt"/>
                <a:ea typeface="Arial" panose="020B0604020202020204" pitchFamily="34" charset="0"/>
              </a:rPr>
              <a:t>inferring</a:t>
            </a:r>
            <a:r>
              <a:rPr lang="en-US" altLang="en-US" sz="2400" dirty="0">
                <a:latin typeface="+mj-lt"/>
                <a:ea typeface="Arial" panose="020B0604020202020204" pitchFamily="34" charset="0"/>
              </a:rPr>
              <a:t> that </a:t>
            </a:r>
            <a:r>
              <a:rPr lang="en-US" altLang="en-US" sz="2400" b="1" dirty="0">
                <a:latin typeface="+mj-lt"/>
                <a:ea typeface="Arial" panose="020B0604020202020204" pitchFamily="34" charset="0"/>
                <a:cs typeface="Courier New" panose="02070309020205020404" pitchFamily="49" charset="0"/>
                <a:sym typeface="Wingdings" panose="05000000000000000000" pitchFamily="2" charset="2"/>
              </a:rPr>
              <a:t>a</a:t>
            </a:r>
            <a:r>
              <a:rPr lang="en-US" altLang="en-US" sz="2400" dirty="0">
                <a:latin typeface="+mj-lt"/>
                <a:ea typeface="Arial" panose="020B0604020202020204" pitchFamily="34" charset="0"/>
              </a:rPr>
              <a:t> occurred before </a:t>
            </a:r>
            <a:r>
              <a:rPr lang="en-US" altLang="en-US" sz="2400" b="1" dirty="0">
                <a:latin typeface="+mj-lt"/>
                <a:ea typeface="Arial" panose="020B0604020202020204" pitchFamily="34" charset="0"/>
                <a:cs typeface="Courier New" panose="02070309020205020404" pitchFamily="49" charset="0"/>
                <a:sym typeface="Wingdings" panose="05000000000000000000" pitchFamily="2" charset="2"/>
              </a:rPr>
              <a:t>b</a:t>
            </a:r>
            <a:r>
              <a:rPr lang="en-US" altLang="en-US" sz="2400" dirty="0">
                <a:latin typeface="+mj-lt"/>
                <a:ea typeface="Arial" panose="020B0604020202020204" pitchFamily="34" charset="0"/>
              </a:rPr>
              <a:t> is known as the </a:t>
            </a:r>
            <a:r>
              <a:rPr lang="en-US" altLang="en-US" sz="2400" dirty="0">
                <a:solidFill>
                  <a:srgbClr val="1D6199"/>
                </a:solidFill>
                <a:latin typeface="+mj-lt"/>
                <a:ea typeface="Arial" panose="020B0604020202020204" pitchFamily="34" charset="0"/>
              </a:rPr>
              <a:t>causality property</a:t>
            </a:r>
            <a:endParaRPr lang="en-US" altLang="en-US" sz="2400" dirty="0">
              <a:solidFill>
                <a:srgbClr val="1D6199"/>
              </a:solidFill>
              <a:latin typeface="+mj-lt"/>
              <a:ea typeface="Arial" panose="020B0604020202020204" pitchFamily="34" charset="0"/>
              <a:sym typeface="Wingdings" panose="05000000000000000000" pitchFamily="2" charset="2"/>
            </a:endParaRPr>
          </a:p>
          <a:p>
            <a:pPr>
              <a:lnSpc>
                <a:spcPct val="100000"/>
              </a:lnSpc>
              <a:spcBef>
                <a:spcPts val="600"/>
              </a:spcBef>
              <a:spcAft>
                <a:spcPts val="600"/>
              </a:spcAft>
            </a:pPr>
            <a:r>
              <a:rPr lang="en-US" altLang="en-US" dirty="0">
                <a:latin typeface="+mj-lt"/>
              </a:rPr>
              <a:t>A vector clock for a system of </a:t>
            </a:r>
            <a:r>
              <a:rPr lang="en-US" altLang="en-US" b="1" dirty="0">
                <a:latin typeface="+mj-lt"/>
                <a:cs typeface="Courier New" panose="02070309020205020404" pitchFamily="49" charset="0"/>
                <a:sym typeface="Wingdings" panose="05000000000000000000" pitchFamily="2" charset="2"/>
              </a:rPr>
              <a:t>N</a:t>
            </a:r>
            <a:r>
              <a:rPr lang="en-US" altLang="en-US" dirty="0">
                <a:latin typeface="+mj-lt"/>
              </a:rPr>
              <a:t> processes is an array of </a:t>
            </a:r>
            <a:r>
              <a:rPr lang="en-US" altLang="en-US" b="1" dirty="0">
                <a:latin typeface="+mj-lt"/>
                <a:cs typeface="Courier New" panose="02070309020205020404" pitchFamily="49" charset="0"/>
                <a:sym typeface="Wingdings" panose="05000000000000000000" pitchFamily="2" charset="2"/>
              </a:rPr>
              <a:t>N</a:t>
            </a:r>
            <a:r>
              <a:rPr lang="en-US" altLang="en-US" dirty="0">
                <a:latin typeface="+mj-lt"/>
              </a:rPr>
              <a:t> integers</a:t>
            </a:r>
            <a:endParaRPr lang="en-US" altLang="en-US" sz="2400" dirty="0">
              <a:latin typeface="+mj-lt"/>
              <a:ea typeface="Arial" panose="020B0604020202020204" pitchFamily="34" charset="0"/>
            </a:endParaRPr>
          </a:p>
          <a:p>
            <a:pPr>
              <a:lnSpc>
                <a:spcPct val="100000"/>
              </a:lnSpc>
              <a:spcBef>
                <a:spcPts val="600"/>
              </a:spcBef>
              <a:spcAft>
                <a:spcPts val="600"/>
              </a:spcAft>
            </a:pPr>
            <a:r>
              <a:rPr lang="en-US" altLang="en-US" dirty="0">
                <a:latin typeface="+mj-lt"/>
              </a:rPr>
              <a:t>Every process </a:t>
            </a:r>
            <a:r>
              <a:rPr lang="en-US" altLang="en-US" b="1" dirty="0">
                <a:latin typeface="+mj-lt"/>
                <a:cs typeface="Courier New" panose="02070309020205020404" pitchFamily="49" charset="0"/>
                <a:sym typeface="Wingdings" panose="05000000000000000000" pitchFamily="2" charset="2"/>
              </a:rPr>
              <a:t>P</a:t>
            </a:r>
            <a:r>
              <a:rPr lang="en-US" altLang="en-US" b="1" baseline="-25000" dirty="0">
                <a:latin typeface="+mj-lt"/>
                <a:cs typeface="Courier New" panose="02070309020205020404" pitchFamily="49" charset="0"/>
                <a:sym typeface="Wingdings" panose="05000000000000000000" pitchFamily="2" charset="2"/>
              </a:rPr>
              <a:t>i</a:t>
            </a:r>
            <a:r>
              <a:rPr lang="en-US" altLang="en-US" dirty="0">
                <a:latin typeface="+mj-lt"/>
              </a:rPr>
              <a:t> stores its own vector clock </a:t>
            </a:r>
            <a:r>
              <a:rPr lang="en-US" altLang="en-US" b="1" dirty="0">
                <a:latin typeface="+mj-lt"/>
                <a:cs typeface="Courier New" panose="02070309020205020404" pitchFamily="49" charset="0"/>
                <a:sym typeface="Wingdings" panose="05000000000000000000" pitchFamily="2" charset="2"/>
              </a:rPr>
              <a:t>VC</a:t>
            </a:r>
            <a:r>
              <a:rPr lang="en-US" altLang="en-US" b="1" baseline="-25000" dirty="0">
                <a:latin typeface="+mj-lt"/>
                <a:cs typeface="Courier New" panose="02070309020205020404" pitchFamily="49" charset="0"/>
                <a:sym typeface="Wingdings" panose="05000000000000000000" pitchFamily="2" charset="2"/>
              </a:rPr>
              <a:t>i</a:t>
            </a:r>
          </a:p>
          <a:p>
            <a:pPr marL="688975" lvl="2" indent="-290513">
              <a:lnSpc>
                <a:spcPct val="100000"/>
              </a:lnSpc>
              <a:spcBef>
                <a:spcPts val="600"/>
              </a:spcBef>
              <a:spcAft>
                <a:spcPts val="600"/>
              </a:spcAft>
            </a:pPr>
            <a:r>
              <a:rPr lang="en-US" altLang="en-US" sz="2400" dirty="0" err="1">
                <a:latin typeface="+mj-lt"/>
                <a:ea typeface="Arial" panose="020B0604020202020204" pitchFamily="34" charset="0"/>
              </a:rPr>
              <a:t>Lamport</a:t>
            </a:r>
            <a:r>
              <a:rPr lang="ja-JP" altLang="en-US" sz="2400" dirty="0">
                <a:latin typeface="+mj-lt"/>
                <a:ea typeface="Arial" panose="020B0604020202020204" pitchFamily="34" charset="0"/>
              </a:rPr>
              <a:t>’</a:t>
            </a:r>
            <a:r>
              <a:rPr lang="en-US" altLang="ja-JP" sz="2400" dirty="0">
                <a:latin typeface="+mj-lt"/>
                <a:ea typeface="Arial" panose="020B0604020202020204" pitchFamily="34" charset="0"/>
              </a:rPr>
              <a:t>s time values for events are stored in </a:t>
            </a:r>
            <a:r>
              <a:rPr lang="en-US" altLang="ja-JP" sz="2400" dirty="0">
                <a:latin typeface="+mj-lt"/>
                <a:ea typeface="Arial" panose="020B0604020202020204" pitchFamily="34" charset="0"/>
                <a:sym typeface="Wingdings" panose="05000000000000000000" pitchFamily="2" charset="2"/>
              </a:rPr>
              <a:t>VC</a:t>
            </a:r>
            <a:r>
              <a:rPr lang="en-US" altLang="ja-JP" sz="2400" baseline="-25000" dirty="0">
                <a:latin typeface="+mj-lt"/>
                <a:ea typeface="Arial" panose="020B0604020202020204" pitchFamily="34" charset="0"/>
                <a:sym typeface="Wingdings" panose="05000000000000000000" pitchFamily="2" charset="2"/>
              </a:rPr>
              <a:t>i</a:t>
            </a:r>
          </a:p>
          <a:p>
            <a:pPr marL="688975" lvl="2" indent="-290513">
              <a:lnSpc>
                <a:spcPct val="100000"/>
              </a:lnSpc>
              <a:spcBef>
                <a:spcPts val="600"/>
              </a:spcBef>
              <a:spcAft>
                <a:spcPts val="600"/>
              </a:spcAft>
            </a:pPr>
            <a:r>
              <a:rPr lang="en-US" altLang="en-US" sz="2400" dirty="0">
                <a:latin typeface="+mj-lt"/>
                <a:ea typeface="Arial" panose="020B0604020202020204" pitchFamily="34" charset="0"/>
                <a:sym typeface="Wingdings" panose="05000000000000000000" pitchFamily="2" charset="2"/>
              </a:rPr>
              <a:t>VC</a:t>
            </a:r>
            <a:r>
              <a:rPr lang="en-US" altLang="en-US" sz="2400" baseline="-25000" dirty="0">
                <a:latin typeface="+mj-lt"/>
                <a:ea typeface="Arial" panose="020B0604020202020204" pitchFamily="34" charset="0"/>
                <a:sym typeface="Wingdings" panose="05000000000000000000" pitchFamily="2" charset="2"/>
              </a:rPr>
              <a:t>i</a:t>
            </a:r>
            <a:r>
              <a:rPr lang="en-US" altLang="en-US" sz="2400" dirty="0">
                <a:latin typeface="+mj-lt"/>
                <a:ea typeface="Arial" panose="020B0604020202020204" pitchFamily="34" charset="0"/>
                <a:sym typeface="Wingdings" panose="05000000000000000000" pitchFamily="2" charset="2"/>
              </a:rPr>
              <a:t> (a) </a:t>
            </a:r>
            <a:r>
              <a:rPr lang="en-US" altLang="en-US" sz="2400" dirty="0">
                <a:latin typeface="+mj-lt"/>
                <a:ea typeface="Arial" panose="020B0604020202020204" pitchFamily="34" charset="0"/>
              </a:rPr>
              <a:t>is assigned to an event </a:t>
            </a:r>
            <a:r>
              <a:rPr lang="en-US" altLang="en-US" sz="2400" dirty="0">
                <a:latin typeface="+mj-lt"/>
                <a:ea typeface="Arial" panose="020B0604020202020204" pitchFamily="34" charset="0"/>
                <a:sym typeface="Wingdings" panose="05000000000000000000" pitchFamily="2" charset="2"/>
              </a:rPr>
              <a:t>a</a:t>
            </a:r>
            <a:endParaRPr lang="en-US" altLang="en-US" sz="2400" dirty="0">
              <a:latin typeface="+mj-lt"/>
              <a:ea typeface="Arial" panose="020B0604020202020204" pitchFamily="34" charset="0"/>
              <a:cs typeface="Courier New" panose="02070309020205020404" pitchFamily="49" charset="0"/>
              <a:sym typeface="Wingdings" panose="05000000000000000000" pitchFamily="2" charset="2"/>
            </a:endParaRPr>
          </a:p>
          <a:p>
            <a:pPr>
              <a:lnSpc>
                <a:spcPct val="100000"/>
              </a:lnSpc>
              <a:spcBef>
                <a:spcPts val="600"/>
              </a:spcBef>
              <a:spcAft>
                <a:spcPts val="600"/>
              </a:spcAft>
            </a:pPr>
            <a:r>
              <a:rPr lang="en-US" altLang="en-US" dirty="0">
                <a:solidFill>
                  <a:srgbClr val="1D6199"/>
                </a:solidFill>
                <a:latin typeface="+mj-lt"/>
              </a:rPr>
              <a:t>If </a:t>
            </a:r>
            <a:r>
              <a:rPr lang="en-US" altLang="en-US" b="1" dirty="0" err="1">
                <a:solidFill>
                  <a:srgbClr val="1D6199"/>
                </a:solidFill>
                <a:latin typeface="+mj-lt"/>
                <a:cs typeface="Courier New" panose="02070309020205020404" pitchFamily="49" charset="0"/>
                <a:sym typeface="Wingdings" panose="05000000000000000000" pitchFamily="2" charset="2"/>
              </a:rPr>
              <a:t>VC</a:t>
            </a:r>
            <a:r>
              <a:rPr lang="en-US" altLang="en-US" b="1" baseline="-25000" dirty="0" err="1">
                <a:solidFill>
                  <a:srgbClr val="1D6199"/>
                </a:solidFill>
                <a:latin typeface="+mj-lt"/>
                <a:cs typeface="Courier New" panose="02070309020205020404" pitchFamily="49" charset="0"/>
                <a:sym typeface="Wingdings" panose="05000000000000000000" pitchFamily="2" charset="2"/>
              </a:rPr>
              <a:t>i</a:t>
            </a:r>
            <a:r>
              <a:rPr lang="en-US" altLang="en-US" b="1" dirty="0">
                <a:solidFill>
                  <a:srgbClr val="1D6199"/>
                </a:solidFill>
                <a:latin typeface="+mj-lt"/>
                <a:cs typeface="Courier New" panose="02070309020205020404" pitchFamily="49" charset="0"/>
                <a:sym typeface="Wingdings" panose="05000000000000000000" pitchFamily="2" charset="2"/>
              </a:rPr>
              <a:t>(a) &lt; </a:t>
            </a:r>
            <a:r>
              <a:rPr lang="en-US" altLang="en-US" b="1" dirty="0" err="1">
                <a:solidFill>
                  <a:srgbClr val="1D6199"/>
                </a:solidFill>
                <a:latin typeface="+mj-lt"/>
                <a:cs typeface="Courier New" panose="02070309020205020404" pitchFamily="49" charset="0"/>
                <a:sym typeface="Wingdings" panose="05000000000000000000" pitchFamily="2" charset="2"/>
              </a:rPr>
              <a:t>VC</a:t>
            </a:r>
            <a:r>
              <a:rPr lang="en-US" altLang="en-US" b="1" baseline="-25000" dirty="0" err="1">
                <a:solidFill>
                  <a:srgbClr val="1D6199"/>
                </a:solidFill>
                <a:latin typeface="+mj-lt"/>
                <a:cs typeface="Courier New" panose="02070309020205020404" pitchFamily="49" charset="0"/>
                <a:sym typeface="Wingdings" panose="05000000000000000000" pitchFamily="2" charset="2"/>
              </a:rPr>
              <a:t>i</a:t>
            </a:r>
            <a:r>
              <a:rPr lang="en-US" altLang="en-US" b="1" dirty="0">
                <a:solidFill>
                  <a:srgbClr val="1D6199"/>
                </a:solidFill>
                <a:latin typeface="+mj-lt"/>
                <a:cs typeface="Courier New" panose="02070309020205020404" pitchFamily="49" charset="0"/>
                <a:sym typeface="Wingdings" panose="05000000000000000000" pitchFamily="2" charset="2"/>
              </a:rPr>
              <a:t>(b)</a:t>
            </a:r>
            <a:r>
              <a:rPr lang="en-US" altLang="en-US" dirty="0">
                <a:latin typeface="+mj-lt"/>
                <a:cs typeface="Courier New" panose="02070309020205020404" pitchFamily="49" charset="0"/>
                <a:sym typeface="Wingdings" panose="05000000000000000000" pitchFamily="2" charset="2"/>
              </a:rPr>
              <a:t>,</a:t>
            </a:r>
            <a:r>
              <a:rPr lang="en-US" altLang="en-US" dirty="0">
                <a:latin typeface="+mj-lt"/>
                <a:sym typeface="Wingdings" panose="05000000000000000000" pitchFamily="2" charset="2"/>
              </a:rPr>
              <a:t> </a:t>
            </a:r>
            <a:r>
              <a:rPr lang="en-US" altLang="en-US" dirty="0">
                <a:latin typeface="+mj-lt"/>
              </a:rPr>
              <a:t>then we can infer that </a:t>
            </a:r>
            <a:r>
              <a:rPr lang="en-US" altLang="en-US" b="1" dirty="0" err="1">
                <a:latin typeface="+mj-lt"/>
                <a:cs typeface="Courier New" panose="02070309020205020404" pitchFamily="49" charset="0"/>
                <a:sym typeface="Wingdings" panose="05000000000000000000" pitchFamily="2" charset="2"/>
              </a:rPr>
              <a:t>ab</a:t>
            </a:r>
            <a:r>
              <a:rPr lang="en-US" altLang="en-US" b="1" dirty="0">
                <a:latin typeface="+mj-lt"/>
                <a:cs typeface="Courier New" panose="02070309020205020404" pitchFamily="49" charset="0"/>
                <a:sym typeface="Wingdings" panose="05000000000000000000" pitchFamily="2" charset="2"/>
              </a:rPr>
              <a:t> </a:t>
            </a:r>
            <a:r>
              <a:rPr lang="en-US" altLang="en-US" dirty="0">
                <a:latin typeface="+mj-lt"/>
                <a:cs typeface="Courier New" panose="02070309020205020404" pitchFamily="49" charset="0"/>
                <a:sym typeface="Wingdings" panose="05000000000000000000" pitchFamily="2" charset="2"/>
              </a:rPr>
              <a:t>(or more precisely, that event </a:t>
            </a:r>
            <a:r>
              <a:rPr lang="en-US" altLang="en-US" b="1" dirty="0">
                <a:latin typeface="+mj-lt"/>
                <a:cs typeface="Courier New" panose="02070309020205020404" pitchFamily="49" charset="0"/>
                <a:sym typeface="Wingdings" panose="05000000000000000000" pitchFamily="2" charset="2"/>
              </a:rPr>
              <a:t>a</a:t>
            </a:r>
            <a:r>
              <a:rPr lang="en-US" altLang="en-US" dirty="0">
                <a:latin typeface="+mj-lt"/>
                <a:cs typeface="Courier New" panose="02070309020205020404" pitchFamily="49" charset="0"/>
                <a:sym typeface="Wingdings" panose="05000000000000000000" pitchFamily="2" charset="2"/>
              </a:rPr>
              <a:t> </a:t>
            </a:r>
            <a:r>
              <a:rPr lang="en-US" altLang="en-US" i="1" dirty="0">
                <a:latin typeface="+mj-lt"/>
                <a:cs typeface="Courier New" panose="02070309020205020404" pitchFamily="49" charset="0"/>
                <a:sym typeface="Wingdings" panose="05000000000000000000" pitchFamily="2" charset="2"/>
              </a:rPr>
              <a:t>causally</a:t>
            </a:r>
            <a:r>
              <a:rPr lang="en-US" altLang="en-US" dirty="0">
                <a:latin typeface="+mj-lt"/>
                <a:cs typeface="Courier New" panose="02070309020205020404" pitchFamily="49" charset="0"/>
                <a:sym typeface="Wingdings" panose="05000000000000000000" pitchFamily="2" charset="2"/>
              </a:rPr>
              <a:t> preceded event </a:t>
            </a:r>
            <a:r>
              <a:rPr lang="en-US" altLang="en-US" b="1" dirty="0">
                <a:latin typeface="+mj-lt"/>
                <a:cs typeface="Courier New" panose="02070309020205020404" pitchFamily="49" charset="0"/>
                <a:sym typeface="Wingdings" panose="05000000000000000000" pitchFamily="2" charset="2"/>
              </a:rPr>
              <a:t>b</a:t>
            </a:r>
            <a:r>
              <a:rPr lang="en-US" altLang="en-US" dirty="0">
                <a:latin typeface="+mj-lt"/>
                <a:cs typeface="Courier New" panose="02070309020205020404" pitchFamily="49" charset="0"/>
                <a:sym typeface="Wingdings" panose="05000000000000000000" pitchFamily="2" charset="2"/>
              </a:rPr>
              <a:t>)</a:t>
            </a:r>
            <a:endParaRPr lang="en-US" altLang="en-US" b="1" dirty="0">
              <a:latin typeface="+mj-lt"/>
            </a:endParaRPr>
          </a:p>
          <a:p>
            <a:endParaRPr lang="en-US" altLang="en-US" dirty="0"/>
          </a:p>
        </p:txBody>
      </p:sp>
    </p:spTree>
    <p:extLst>
      <p:ext uri="{BB962C8B-B14F-4D97-AF65-F5344CB8AC3E}">
        <p14:creationId xmlns:p14="http://schemas.microsoft.com/office/powerpoint/2010/main" val="3650217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Updating Vector Clocks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a:lnSpc>
                <a:spcPct val="100000"/>
              </a:lnSpc>
              <a:spcBef>
                <a:spcPts val="600"/>
              </a:spcBef>
              <a:spcAft>
                <a:spcPts val="600"/>
              </a:spcAft>
            </a:pPr>
            <a:r>
              <a:rPr lang="en-US" altLang="en-US" dirty="0">
                <a:latin typeface="+mj-lt"/>
              </a:rPr>
              <a:t>Vector clocks are constructed as follows:</a:t>
            </a:r>
          </a:p>
          <a:p>
            <a:pPr marL="914400" lvl="1">
              <a:lnSpc>
                <a:spcPct val="100000"/>
              </a:lnSpc>
              <a:spcBef>
                <a:spcPts val="600"/>
              </a:spcBef>
              <a:spcAft>
                <a:spcPts val="600"/>
              </a:spcAft>
              <a:buFontTx/>
              <a:buAutoNum type="arabicPeriod"/>
            </a:pPr>
            <a:r>
              <a:rPr lang="en-US" altLang="en-US" sz="2400" dirty="0">
                <a:latin typeface="+mj-lt"/>
                <a:ea typeface="Arial" panose="020B0604020202020204" pitchFamily="34" charset="0"/>
              </a:rPr>
              <a:t> </a:t>
            </a:r>
            <a:r>
              <a:rPr lang="en-US" altLang="en-US" sz="2400" b="1" dirty="0">
                <a:latin typeface="+mj-lt"/>
                <a:ea typeface="MS PGothic" panose="020B0600070205080204" pitchFamily="34" charset="-128"/>
                <a:sym typeface="Wingdings" panose="05000000000000000000" pitchFamily="2" charset="2"/>
              </a:rPr>
              <a:t>VC</a:t>
            </a:r>
            <a:r>
              <a:rPr lang="en-US" altLang="en-US" sz="2400" b="1" baseline="-25000" dirty="0">
                <a:latin typeface="+mj-lt"/>
                <a:ea typeface="MS PGothic" panose="020B0600070205080204" pitchFamily="34" charset="-128"/>
                <a:sym typeface="Wingdings" panose="05000000000000000000" pitchFamily="2" charset="2"/>
              </a:rPr>
              <a:t>i</a:t>
            </a:r>
            <a:r>
              <a:rPr lang="en-US" altLang="en-US" sz="2400" b="1" dirty="0">
                <a:latin typeface="+mj-lt"/>
                <a:ea typeface="MS PGothic" panose="020B0600070205080204" pitchFamily="34" charset="-128"/>
                <a:sym typeface="Wingdings" panose="05000000000000000000" pitchFamily="2" charset="2"/>
              </a:rPr>
              <a:t>[</a:t>
            </a:r>
            <a:r>
              <a:rPr lang="en-US" altLang="en-US" sz="2400" b="1" dirty="0" err="1">
                <a:latin typeface="+mj-lt"/>
                <a:ea typeface="MS PGothic" panose="020B0600070205080204" pitchFamily="34" charset="-128"/>
                <a:sym typeface="Wingdings" panose="05000000000000000000" pitchFamily="2" charset="2"/>
              </a:rPr>
              <a:t>i</a:t>
            </a:r>
            <a:r>
              <a:rPr lang="en-US" altLang="en-US" sz="2400" b="1" dirty="0">
                <a:latin typeface="+mj-lt"/>
                <a:ea typeface="MS PGothic" panose="020B0600070205080204" pitchFamily="34" charset="-128"/>
                <a:sym typeface="Wingdings" panose="05000000000000000000" pitchFamily="2" charset="2"/>
              </a:rPr>
              <a:t>]</a:t>
            </a:r>
            <a:r>
              <a:rPr lang="en-US" altLang="en-US" sz="2400" dirty="0">
                <a:latin typeface="+mj-lt"/>
                <a:ea typeface="MS PGothic" panose="020B0600070205080204" pitchFamily="34" charset="-128"/>
                <a:sym typeface="Wingdings" panose="05000000000000000000" pitchFamily="2" charset="2"/>
              </a:rPr>
              <a:t> </a:t>
            </a:r>
            <a:r>
              <a:rPr lang="en-US" altLang="en-US" sz="2400" dirty="0">
                <a:latin typeface="+mj-lt"/>
                <a:ea typeface="Arial" panose="020B0604020202020204" pitchFamily="34" charset="0"/>
              </a:rPr>
              <a:t>is the number of events that have occurred at process </a:t>
            </a:r>
            <a:r>
              <a:rPr lang="en-US" altLang="en-US" sz="2400" b="1" dirty="0">
                <a:latin typeface="+mj-lt"/>
                <a:ea typeface="MS PGothic" panose="020B0600070205080204" pitchFamily="34" charset="-128"/>
                <a:sym typeface="Wingdings" panose="05000000000000000000" pitchFamily="2" charset="2"/>
              </a:rPr>
              <a:t>P</a:t>
            </a:r>
            <a:r>
              <a:rPr lang="en-US" altLang="en-US" sz="2400" b="1" baseline="-25000" dirty="0">
                <a:latin typeface="+mj-lt"/>
                <a:ea typeface="MS PGothic" panose="020B0600070205080204" pitchFamily="34" charset="-128"/>
                <a:sym typeface="Wingdings" panose="05000000000000000000" pitchFamily="2" charset="2"/>
              </a:rPr>
              <a:t>i</a:t>
            </a:r>
            <a:r>
              <a:rPr lang="en-US" altLang="en-US" sz="2400" dirty="0">
                <a:latin typeface="+mj-lt"/>
                <a:ea typeface="MS PGothic" panose="020B0600070205080204" pitchFamily="34" charset="-128"/>
                <a:sym typeface="Wingdings" panose="05000000000000000000" pitchFamily="2" charset="2"/>
              </a:rPr>
              <a:t> </a:t>
            </a:r>
            <a:r>
              <a:rPr lang="en-US" altLang="en-US" sz="2400" dirty="0">
                <a:latin typeface="+mj-lt"/>
                <a:ea typeface="Arial" panose="020B0604020202020204" pitchFamily="34" charset="0"/>
                <a:sym typeface="Wingdings" panose="05000000000000000000" pitchFamily="2" charset="2"/>
              </a:rPr>
              <a:t>so far</a:t>
            </a:r>
          </a:p>
          <a:p>
            <a:pPr lvl="3">
              <a:lnSpc>
                <a:spcPct val="100000"/>
              </a:lnSpc>
              <a:spcBef>
                <a:spcPts val="600"/>
              </a:spcBef>
              <a:spcAft>
                <a:spcPts val="600"/>
              </a:spcAft>
              <a:buFont typeface="Wingdings" panose="05000000000000000000" pitchFamily="2" charset="2"/>
              <a:buChar char="§"/>
            </a:pPr>
            <a:r>
              <a:rPr lang="en-US" altLang="en-US" sz="2400" b="1" dirty="0">
                <a:latin typeface="+mj-lt"/>
                <a:ea typeface="MS PGothic" panose="020B0600070205080204" pitchFamily="34" charset="-128"/>
                <a:sym typeface="Wingdings" panose="05000000000000000000" pitchFamily="2" charset="2"/>
              </a:rPr>
              <a:t>VC</a:t>
            </a:r>
            <a:r>
              <a:rPr lang="en-US" altLang="en-US" sz="2400" b="1" baseline="-25000" dirty="0">
                <a:latin typeface="+mj-lt"/>
                <a:ea typeface="MS PGothic" panose="020B0600070205080204" pitchFamily="34" charset="-128"/>
                <a:sym typeface="Wingdings" panose="05000000000000000000" pitchFamily="2" charset="2"/>
              </a:rPr>
              <a:t>i</a:t>
            </a:r>
            <a:r>
              <a:rPr lang="en-US" altLang="en-US" sz="2400" b="1" dirty="0">
                <a:latin typeface="+mj-lt"/>
                <a:ea typeface="MS PGothic" panose="020B0600070205080204" pitchFamily="34" charset="-128"/>
                <a:sym typeface="Wingdings" panose="05000000000000000000" pitchFamily="2" charset="2"/>
              </a:rPr>
              <a:t>[</a:t>
            </a:r>
            <a:r>
              <a:rPr lang="en-US" altLang="en-US" sz="2400" b="1" dirty="0" err="1">
                <a:latin typeface="+mj-lt"/>
                <a:ea typeface="MS PGothic" panose="020B0600070205080204" pitchFamily="34" charset="-128"/>
                <a:sym typeface="Wingdings" panose="05000000000000000000" pitchFamily="2" charset="2"/>
              </a:rPr>
              <a:t>i</a:t>
            </a:r>
            <a:r>
              <a:rPr lang="en-US" altLang="en-US" sz="2400" b="1" dirty="0">
                <a:latin typeface="+mj-lt"/>
                <a:ea typeface="MS PGothic" panose="020B0600070205080204" pitchFamily="34" charset="-128"/>
                <a:sym typeface="Wingdings" panose="05000000000000000000" pitchFamily="2" charset="2"/>
              </a:rPr>
              <a:t>]</a:t>
            </a:r>
            <a:r>
              <a:rPr lang="en-US" altLang="en-US" sz="2400" baseline="-25000" dirty="0">
                <a:latin typeface="+mj-lt"/>
                <a:ea typeface="MS PGothic" panose="020B0600070205080204" pitchFamily="34" charset="-128"/>
                <a:sym typeface="Wingdings" panose="05000000000000000000" pitchFamily="2" charset="2"/>
              </a:rPr>
              <a:t> </a:t>
            </a:r>
            <a:r>
              <a:rPr lang="en-US" altLang="en-US" sz="2400" dirty="0">
                <a:latin typeface="+mj-lt"/>
                <a:ea typeface="Arial" panose="020B0604020202020204" pitchFamily="34" charset="0"/>
                <a:sym typeface="Wingdings" panose="05000000000000000000" pitchFamily="2" charset="2"/>
              </a:rPr>
              <a:t>is the local logical clock at process </a:t>
            </a:r>
            <a:r>
              <a:rPr lang="en-US" altLang="en-US" sz="2400" b="1" dirty="0">
                <a:latin typeface="+mj-lt"/>
                <a:ea typeface="MS PGothic" panose="020B0600070205080204" pitchFamily="34" charset="-128"/>
                <a:sym typeface="Wingdings" panose="05000000000000000000" pitchFamily="2" charset="2"/>
              </a:rPr>
              <a:t>P</a:t>
            </a:r>
            <a:r>
              <a:rPr lang="en-US" altLang="en-US" sz="2400" b="1" baseline="-25000" dirty="0">
                <a:latin typeface="+mj-lt"/>
                <a:ea typeface="MS PGothic" panose="020B0600070205080204" pitchFamily="34" charset="-128"/>
                <a:sym typeface="Wingdings" panose="05000000000000000000" pitchFamily="2" charset="2"/>
              </a:rPr>
              <a:t>i</a:t>
            </a:r>
            <a:endParaRPr lang="en-US" altLang="en-US" sz="2400" dirty="0">
              <a:latin typeface="+mj-lt"/>
              <a:ea typeface="Arial" panose="020B0604020202020204" pitchFamily="34" charset="0"/>
              <a:sym typeface="Wingdings" panose="05000000000000000000" pitchFamily="2" charset="2"/>
            </a:endParaRPr>
          </a:p>
          <a:p>
            <a:pPr marL="1371600" lvl="4" indent="0">
              <a:lnSpc>
                <a:spcPct val="100000"/>
              </a:lnSpc>
              <a:spcBef>
                <a:spcPts val="600"/>
              </a:spcBef>
              <a:spcAft>
                <a:spcPts val="600"/>
              </a:spcAft>
              <a:buNone/>
            </a:pPr>
            <a:endParaRPr lang="en-US" altLang="en-US" sz="2400" dirty="0">
              <a:latin typeface="+mj-lt"/>
              <a:ea typeface="Arial" panose="020B0604020202020204" pitchFamily="34" charset="0"/>
              <a:sym typeface="Wingdings" panose="05000000000000000000" pitchFamily="2" charset="2"/>
            </a:endParaRPr>
          </a:p>
          <a:p>
            <a:pPr marL="1371600" lvl="4" indent="0">
              <a:lnSpc>
                <a:spcPct val="100000"/>
              </a:lnSpc>
              <a:spcBef>
                <a:spcPts val="600"/>
              </a:spcBef>
              <a:spcAft>
                <a:spcPts val="600"/>
              </a:spcAft>
              <a:buNone/>
            </a:pPr>
            <a:endParaRPr lang="en-US" altLang="en-US" sz="2400" dirty="0">
              <a:latin typeface="+mj-lt"/>
              <a:ea typeface="Arial" panose="020B0604020202020204" pitchFamily="34" charset="0"/>
              <a:sym typeface="Wingdings" panose="05000000000000000000" pitchFamily="2" charset="2"/>
            </a:endParaRPr>
          </a:p>
          <a:p>
            <a:pPr marL="914400" lvl="1">
              <a:lnSpc>
                <a:spcPct val="100000"/>
              </a:lnSpc>
              <a:spcBef>
                <a:spcPts val="600"/>
              </a:spcBef>
              <a:spcAft>
                <a:spcPts val="600"/>
              </a:spcAft>
              <a:buFontTx/>
              <a:buAutoNum type="arabicPeriod"/>
            </a:pPr>
            <a:r>
              <a:rPr lang="en-US" altLang="en-US" sz="2400" dirty="0">
                <a:latin typeface="+mj-lt"/>
                <a:ea typeface="Arial" panose="020B0604020202020204" pitchFamily="34" charset="0"/>
              </a:rPr>
              <a:t>If </a:t>
            </a:r>
            <a:r>
              <a:rPr lang="en-US" altLang="en-US" sz="2400" b="1" dirty="0">
                <a:latin typeface="+mj-lt"/>
                <a:ea typeface="MS PGothic" panose="020B0600070205080204" pitchFamily="34" charset="-128"/>
                <a:sym typeface="Wingdings" panose="05000000000000000000" pitchFamily="2" charset="2"/>
              </a:rPr>
              <a:t>VC</a:t>
            </a:r>
            <a:r>
              <a:rPr lang="en-US" altLang="en-US" sz="2400" b="1" baseline="-25000" dirty="0">
                <a:latin typeface="+mj-lt"/>
                <a:ea typeface="MS PGothic" panose="020B0600070205080204" pitchFamily="34" charset="-128"/>
                <a:sym typeface="Wingdings" panose="05000000000000000000" pitchFamily="2" charset="2"/>
              </a:rPr>
              <a:t>i</a:t>
            </a:r>
            <a:r>
              <a:rPr lang="en-US" altLang="en-US" sz="2400" b="1" dirty="0">
                <a:latin typeface="+mj-lt"/>
                <a:ea typeface="MS PGothic" panose="020B0600070205080204" pitchFamily="34" charset="-128"/>
                <a:sym typeface="Wingdings" panose="05000000000000000000" pitchFamily="2" charset="2"/>
              </a:rPr>
              <a:t>[j]= k</a:t>
            </a:r>
            <a:r>
              <a:rPr lang="en-US" altLang="en-US" sz="2400" dirty="0">
                <a:latin typeface="+mj-lt"/>
                <a:ea typeface="Arial" panose="020B0604020202020204" pitchFamily="34" charset="0"/>
                <a:sym typeface="Wingdings" panose="05000000000000000000" pitchFamily="2" charset="2"/>
              </a:rPr>
              <a:t>, then </a:t>
            </a:r>
            <a:r>
              <a:rPr lang="en-US" altLang="en-US" sz="2400" b="1" dirty="0">
                <a:latin typeface="+mj-lt"/>
                <a:ea typeface="MS PGothic" panose="020B0600070205080204" pitchFamily="34" charset="-128"/>
                <a:sym typeface="Wingdings" panose="05000000000000000000" pitchFamily="2" charset="2"/>
              </a:rPr>
              <a:t>P</a:t>
            </a:r>
            <a:r>
              <a:rPr lang="en-US" altLang="en-US" sz="2400" b="1" baseline="-25000" dirty="0">
                <a:latin typeface="+mj-lt"/>
                <a:ea typeface="MS PGothic" panose="020B0600070205080204" pitchFamily="34" charset="-128"/>
                <a:sym typeface="Wingdings" panose="05000000000000000000" pitchFamily="2" charset="2"/>
              </a:rPr>
              <a:t>i</a:t>
            </a:r>
            <a:r>
              <a:rPr lang="en-US" altLang="en-US" sz="2400" dirty="0">
                <a:latin typeface="+mj-lt"/>
                <a:ea typeface="Arial" panose="020B0604020202020204" pitchFamily="34" charset="0"/>
              </a:rPr>
              <a:t> knows that </a:t>
            </a:r>
            <a:r>
              <a:rPr lang="en-US" altLang="en-US" sz="2400" b="1" dirty="0">
                <a:latin typeface="+mj-lt"/>
                <a:ea typeface="MS PGothic" panose="020B0600070205080204" pitchFamily="34" charset="-128"/>
                <a:sym typeface="Wingdings" panose="05000000000000000000" pitchFamily="2" charset="2"/>
              </a:rPr>
              <a:t>k</a:t>
            </a:r>
            <a:r>
              <a:rPr lang="en-US" altLang="en-US" sz="2400" dirty="0">
                <a:latin typeface="+mj-lt"/>
                <a:ea typeface="Arial" panose="020B0604020202020204" pitchFamily="34" charset="0"/>
              </a:rPr>
              <a:t> events have occurred at </a:t>
            </a:r>
            <a:r>
              <a:rPr lang="en-US" altLang="en-US" sz="2400" b="1" dirty="0">
                <a:latin typeface="+mj-lt"/>
                <a:ea typeface="MS PGothic" panose="020B0600070205080204" pitchFamily="34" charset="-128"/>
                <a:sym typeface="Wingdings" panose="05000000000000000000" pitchFamily="2" charset="2"/>
              </a:rPr>
              <a:t>P</a:t>
            </a:r>
            <a:r>
              <a:rPr lang="en-US" altLang="en-US" sz="2400" b="1" baseline="-25000" dirty="0">
                <a:latin typeface="+mj-lt"/>
                <a:ea typeface="MS PGothic" panose="020B0600070205080204" pitchFamily="34" charset="-128"/>
                <a:sym typeface="Wingdings" panose="05000000000000000000" pitchFamily="2" charset="2"/>
              </a:rPr>
              <a:t>j</a:t>
            </a:r>
          </a:p>
          <a:p>
            <a:pPr lvl="3">
              <a:lnSpc>
                <a:spcPct val="100000"/>
              </a:lnSpc>
              <a:spcBef>
                <a:spcPts val="600"/>
              </a:spcBef>
              <a:spcAft>
                <a:spcPts val="600"/>
              </a:spcAft>
              <a:buFont typeface="Wingdings" panose="05000000000000000000" pitchFamily="2" charset="2"/>
              <a:buChar char="§"/>
            </a:pPr>
            <a:r>
              <a:rPr lang="en-US" altLang="en-US" sz="2400" b="1" dirty="0">
                <a:latin typeface="+mj-lt"/>
                <a:ea typeface="MS PGothic" panose="020B0600070205080204" pitchFamily="34" charset="-128"/>
                <a:sym typeface="Wingdings" panose="05000000000000000000" pitchFamily="2" charset="2"/>
              </a:rPr>
              <a:t>VC</a:t>
            </a:r>
            <a:r>
              <a:rPr lang="en-US" altLang="en-US" sz="2400" b="1" baseline="-25000" dirty="0">
                <a:latin typeface="+mj-lt"/>
                <a:ea typeface="MS PGothic" panose="020B0600070205080204" pitchFamily="34" charset="-128"/>
                <a:sym typeface="Wingdings" panose="05000000000000000000" pitchFamily="2" charset="2"/>
              </a:rPr>
              <a:t>i</a:t>
            </a:r>
            <a:r>
              <a:rPr lang="en-US" altLang="en-US" sz="2400" b="1" dirty="0">
                <a:latin typeface="+mj-lt"/>
                <a:ea typeface="MS PGothic" panose="020B0600070205080204" pitchFamily="34" charset="-128"/>
                <a:sym typeface="Wingdings" panose="05000000000000000000" pitchFamily="2" charset="2"/>
              </a:rPr>
              <a:t>[j]</a:t>
            </a:r>
            <a:r>
              <a:rPr lang="en-US" altLang="en-US" sz="2400" dirty="0">
                <a:latin typeface="+mj-lt"/>
                <a:ea typeface="MS PGothic" panose="020B0600070205080204" pitchFamily="34" charset="-128"/>
                <a:sym typeface="Wingdings" panose="05000000000000000000" pitchFamily="2" charset="2"/>
              </a:rPr>
              <a:t> </a:t>
            </a:r>
            <a:r>
              <a:rPr lang="en-US" altLang="en-US" sz="2400" dirty="0">
                <a:latin typeface="+mj-lt"/>
                <a:ea typeface="Arial" panose="020B0604020202020204" pitchFamily="34" charset="0"/>
                <a:sym typeface="Wingdings" panose="05000000000000000000" pitchFamily="2" charset="2"/>
              </a:rPr>
              <a:t>is </a:t>
            </a:r>
            <a:r>
              <a:rPr lang="en-US" altLang="en-US" sz="2400" dirty="0">
                <a:latin typeface="+mj-lt"/>
                <a:ea typeface="Arial" panose="020B0604020202020204" pitchFamily="34" charset="0"/>
              </a:rPr>
              <a:t> </a:t>
            </a:r>
            <a:r>
              <a:rPr lang="en-US" altLang="en-US" sz="2400" b="1" dirty="0">
                <a:latin typeface="+mj-lt"/>
                <a:ea typeface="MS PGothic" panose="020B0600070205080204" pitchFamily="34" charset="-128"/>
                <a:sym typeface="Wingdings" panose="05000000000000000000" pitchFamily="2" charset="2"/>
              </a:rPr>
              <a:t>P</a:t>
            </a:r>
            <a:r>
              <a:rPr lang="en-US" altLang="en-US" sz="2400" b="1" baseline="-25000" dirty="0">
                <a:latin typeface="+mj-lt"/>
                <a:ea typeface="MS PGothic" panose="020B0600070205080204" pitchFamily="34" charset="-128"/>
                <a:sym typeface="Wingdings" panose="05000000000000000000" pitchFamily="2" charset="2"/>
              </a:rPr>
              <a:t>i</a:t>
            </a:r>
            <a:r>
              <a:rPr lang="en-US" altLang="en-US" sz="2400" dirty="0">
                <a:latin typeface="+mj-lt"/>
                <a:ea typeface="Arial" panose="020B0604020202020204" pitchFamily="34" charset="0"/>
                <a:sym typeface="Wingdings" panose="05000000000000000000" pitchFamily="2" charset="2"/>
              </a:rPr>
              <a:t>’s knowledge of the local time at </a:t>
            </a:r>
            <a:r>
              <a:rPr lang="en-US" altLang="en-US" sz="2400" dirty="0">
                <a:latin typeface="+mj-lt"/>
                <a:ea typeface="Arial" panose="020B0604020202020204" pitchFamily="34" charset="0"/>
              </a:rPr>
              <a:t> </a:t>
            </a:r>
            <a:r>
              <a:rPr lang="en-US" altLang="en-US" sz="2400" b="1" dirty="0">
                <a:latin typeface="+mj-lt"/>
                <a:ea typeface="MS PGothic" panose="020B0600070205080204" pitchFamily="34" charset="-128"/>
                <a:sym typeface="Wingdings" panose="05000000000000000000" pitchFamily="2" charset="2"/>
              </a:rPr>
              <a:t>P</a:t>
            </a:r>
            <a:r>
              <a:rPr lang="en-US" altLang="en-US" sz="2400" b="1" baseline="-25000" dirty="0">
                <a:latin typeface="+mj-lt"/>
                <a:ea typeface="MS PGothic" panose="020B0600070205080204" pitchFamily="34" charset="-128"/>
                <a:sym typeface="Wingdings" panose="05000000000000000000" pitchFamily="2" charset="2"/>
              </a:rPr>
              <a:t>j</a:t>
            </a:r>
            <a:endParaRPr lang="en-US" altLang="en-US" sz="2400" b="1" dirty="0">
              <a:latin typeface="+mj-lt"/>
              <a:ea typeface="Arial" panose="020B0604020202020204" pitchFamily="34" charset="0"/>
            </a:endParaRPr>
          </a:p>
          <a:p>
            <a:endParaRPr lang="en-US" altLang="en-US" dirty="0"/>
          </a:p>
        </p:txBody>
      </p:sp>
      <p:sp>
        <p:nvSpPr>
          <p:cNvPr id="5" name="Rectangle 4">
            <a:extLst>
              <a:ext uri="{FF2B5EF4-FFF2-40B4-BE49-F238E27FC236}">
                <a16:creationId xmlns:a16="http://schemas.microsoft.com/office/drawing/2014/main" id="{967ABF72-B9DA-4A90-A2FF-0D9974122682}"/>
              </a:ext>
            </a:extLst>
          </p:cNvPr>
          <p:cNvSpPr/>
          <p:nvPr/>
        </p:nvSpPr>
        <p:spPr>
          <a:xfrm>
            <a:off x="3438525" y="2614613"/>
            <a:ext cx="5486400" cy="457200"/>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eaLnBrk="1" hangingPunct="1">
              <a:defRPr/>
            </a:pPr>
            <a:r>
              <a:rPr lang="en-US" sz="2400" dirty="0">
                <a:latin typeface="+mj-lt"/>
              </a:rPr>
              <a:t>Increment </a:t>
            </a:r>
            <a:r>
              <a:rPr lang="en-US" sz="2400" dirty="0">
                <a:latin typeface="+mj-lt"/>
                <a:cs typeface="Courier New" pitchFamily="49" charset="0"/>
                <a:sym typeface="Wingdings" pitchFamily="2" charset="2"/>
              </a:rPr>
              <a:t>VC</a:t>
            </a:r>
            <a:r>
              <a:rPr lang="en-US" sz="2400" baseline="-25000" dirty="0">
                <a:latin typeface="+mj-lt"/>
                <a:cs typeface="Courier New" pitchFamily="49" charset="0"/>
                <a:sym typeface="Wingdings" pitchFamily="2" charset="2"/>
              </a:rPr>
              <a:t>i</a:t>
            </a:r>
            <a:r>
              <a:rPr lang="en-US" sz="2400" dirty="0">
                <a:latin typeface="+mj-lt"/>
              </a:rPr>
              <a:t> whenever a new event occurs</a:t>
            </a:r>
          </a:p>
        </p:txBody>
      </p:sp>
      <p:sp>
        <p:nvSpPr>
          <p:cNvPr id="6" name="Rectangle 5">
            <a:extLst>
              <a:ext uri="{FF2B5EF4-FFF2-40B4-BE49-F238E27FC236}">
                <a16:creationId xmlns:a16="http://schemas.microsoft.com/office/drawing/2014/main" id="{26E3FC19-A4E8-4E2F-9E4C-7CF42BB2E7A5}"/>
              </a:ext>
            </a:extLst>
          </p:cNvPr>
          <p:cNvSpPr/>
          <p:nvPr/>
        </p:nvSpPr>
        <p:spPr>
          <a:xfrm>
            <a:off x="3438525" y="4594382"/>
            <a:ext cx="5486400" cy="457200"/>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eaLnBrk="1" hangingPunct="1">
              <a:defRPr/>
            </a:pPr>
            <a:r>
              <a:rPr lang="en-US" sz="2400" dirty="0">
                <a:latin typeface="+mj-lt"/>
              </a:rPr>
              <a:t>Pass </a:t>
            </a:r>
            <a:r>
              <a:rPr lang="en-US" sz="2400" dirty="0" err="1">
                <a:latin typeface="+mj-lt"/>
                <a:cs typeface="Courier New" pitchFamily="49" charset="0"/>
                <a:sym typeface="Wingdings" pitchFamily="2" charset="2"/>
              </a:rPr>
              <a:t>VC</a:t>
            </a:r>
            <a:r>
              <a:rPr lang="en-US" sz="2400" baseline="-25000" dirty="0" err="1">
                <a:latin typeface="+mj-lt"/>
                <a:cs typeface="Courier New" pitchFamily="49" charset="0"/>
                <a:sym typeface="Wingdings" pitchFamily="2" charset="2"/>
              </a:rPr>
              <a:t>j</a:t>
            </a:r>
            <a:r>
              <a:rPr lang="en-US" sz="2400" dirty="0">
                <a:latin typeface="+mj-lt"/>
              </a:rPr>
              <a:t> along with the message </a:t>
            </a:r>
          </a:p>
        </p:txBody>
      </p:sp>
    </p:spTree>
    <p:extLst>
      <p:ext uri="{BB962C8B-B14F-4D97-AF65-F5344CB8AC3E}">
        <p14:creationId xmlns:p14="http://schemas.microsoft.com/office/powerpoint/2010/main" val="114127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Vector Clock Update Algorithm</a:t>
            </a:r>
          </a:p>
        </p:txBody>
      </p:sp>
      <p:sp>
        <p:nvSpPr>
          <p:cNvPr id="7" name="Content Placeholder 2">
            <a:extLst>
              <a:ext uri="{FF2B5EF4-FFF2-40B4-BE49-F238E27FC236}">
                <a16:creationId xmlns:a16="http://schemas.microsoft.com/office/drawing/2014/main" id="{745FD4C7-BD68-48DB-849C-471857A4324E}"/>
              </a:ext>
            </a:extLst>
          </p:cNvPr>
          <p:cNvSpPr>
            <a:spLocks noGrp="1"/>
          </p:cNvSpPr>
          <p:nvPr>
            <p:ph idx="1"/>
          </p:nvPr>
        </p:nvSpPr>
        <p:spPr>
          <a:xfrm>
            <a:off x="12569" y="748663"/>
            <a:ext cx="12031793" cy="2877186"/>
          </a:xfrm>
        </p:spPr>
        <p:txBody>
          <a:bodyPr/>
          <a:lstStyle/>
          <a:p>
            <a:pPr>
              <a:lnSpc>
                <a:spcPct val="100000"/>
              </a:lnSpc>
              <a:spcBef>
                <a:spcPts val="200"/>
              </a:spcBef>
              <a:spcAft>
                <a:spcPts val="200"/>
              </a:spcAft>
            </a:pPr>
            <a:r>
              <a:rPr lang="en-US" altLang="en-US" dirty="0">
                <a:latin typeface="+mj-lt"/>
              </a:rPr>
              <a:t>Whenever there is a new event at </a:t>
            </a:r>
            <a:r>
              <a:rPr lang="en-US" altLang="en-US" b="1" dirty="0">
                <a:latin typeface="+mj-lt"/>
                <a:cs typeface="Courier New" panose="02070309020205020404" pitchFamily="49" charset="0"/>
                <a:sym typeface="Wingdings" panose="05000000000000000000" pitchFamily="2" charset="2"/>
              </a:rPr>
              <a:t>P</a:t>
            </a:r>
            <a:r>
              <a:rPr lang="en-US" altLang="en-US" b="1" baseline="-25000" dirty="0">
                <a:latin typeface="+mj-lt"/>
                <a:cs typeface="Courier New" panose="02070309020205020404" pitchFamily="49" charset="0"/>
                <a:sym typeface="Wingdings" panose="05000000000000000000" pitchFamily="2" charset="2"/>
              </a:rPr>
              <a:t>i</a:t>
            </a:r>
            <a:r>
              <a:rPr lang="en-US" altLang="en-US" dirty="0">
                <a:latin typeface="+mj-lt"/>
              </a:rPr>
              <a:t>, increment </a:t>
            </a:r>
            <a:r>
              <a:rPr lang="en-US" altLang="en-US" b="1" dirty="0" err="1">
                <a:latin typeface="+mj-lt"/>
                <a:cs typeface="Courier New" panose="02070309020205020404" pitchFamily="49" charset="0"/>
                <a:sym typeface="Wingdings" panose="05000000000000000000" pitchFamily="2" charset="2"/>
              </a:rPr>
              <a:t>VC</a:t>
            </a:r>
            <a:r>
              <a:rPr lang="en-US" altLang="en-US" b="1" baseline="-25000" dirty="0" err="1">
                <a:latin typeface="+mj-lt"/>
                <a:cs typeface="Courier New" panose="02070309020205020404" pitchFamily="49" charset="0"/>
                <a:sym typeface="Wingdings" panose="05000000000000000000" pitchFamily="2" charset="2"/>
              </a:rPr>
              <a:t>i</a:t>
            </a:r>
            <a:r>
              <a:rPr lang="en-US" altLang="en-US" b="1" dirty="0">
                <a:latin typeface="+mj-lt"/>
                <a:cs typeface="Courier New" panose="02070309020205020404" pitchFamily="49" charset="0"/>
                <a:sym typeface="Wingdings" panose="05000000000000000000" pitchFamily="2" charset="2"/>
              </a:rPr>
              <a:t>[i]</a:t>
            </a:r>
          </a:p>
          <a:p>
            <a:pPr>
              <a:lnSpc>
                <a:spcPct val="100000"/>
              </a:lnSpc>
              <a:spcBef>
                <a:spcPts val="200"/>
              </a:spcBef>
              <a:spcAft>
                <a:spcPts val="200"/>
              </a:spcAft>
            </a:pPr>
            <a:r>
              <a:rPr lang="en-US" altLang="en-US" dirty="0">
                <a:latin typeface="+mj-lt"/>
              </a:rPr>
              <a:t>When a process </a:t>
            </a:r>
            <a:r>
              <a:rPr lang="en-US" altLang="en-US" b="1" dirty="0">
                <a:latin typeface="+mj-lt"/>
                <a:cs typeface="Courier New" panose="02070309020205020404" pitchFamily="49" charset="0"/>
                <a:sym typeface="Wingdings" panose="05000000000000000000" pitchFamily="2" charset="2"/>
              </a:rPr>
              <a:t>P</a:t>
            </a:r>
            <a:r>
              <a:rPr lang="en-US" altLang="en-US" b="1" baseline="-25000" dirty="0">
                <a:latin typeface="+mj-lt"/>
                <a:cs typeface="Courier New" panose="02070309020205020404" pitchFamily="49" charset="0"/>
                <a:sym typeface="Wingdings" panose="05000000000000000000" pitchFamily="2" charset="2"/>
              </a:rPr>
              <a:t>i</a:t>
            </a:r>
            <a:r>
              <a:rPr lang="en-US" altLang="en-US" dirty="0">
                <a:latin typeface="+mj-lt"/>
              </a:rPr>
              <a:t> sends a message </a:t>
            </a:r>
            <a:r>
              <a:rPr lang="en-US" altLang="en-US" b="1" dirty="0">
                <a:latin typeface="+mj-lt"/>
                <a:cs typeface="Courier New" panose="02070309020205020404" pitchFamily="49" charset="0"/>
              </a:rPr>
              <a:t>m</a:t>
            </a:r>
            <a:r>
              <a:rPr lang="en-US" altLang="en-US" dirty="0">
                <a:latin typeface="+mj-lt"/>
              </a:rPr>
              <a:t> to </a:t>
            </a:r>
            <a:r>
              <a:rPr lang="en-US" altLang="en-US" b="1" dirty="0">
                <a:latin typeface="+mj-lt"/>
                <a:cs typeface="Courier New" panose="02070309020205020404" pitchFamily="49" charset="0"/>
                <a:sym typeface="Wingdings" panose="05000000000000000000" pitchFamily="2" charset="2"/>
              </a:rPr>
              <a:t>P</a:t>
            </a:r>
            <a:r>
              <a:rPr lang="en-US" altLang="en-US" b="1" baseline="-25000" dirty="0">
                <a:latin typeface="+mj-lt"/>
                <a:cs typeface="Courier New" panose="02070309020205020404" pitchFamily="49" charset="0"/>
                <a:sym typeface="Wingdings" panose="05000000000000000000" pitchFamily="2" charset="2"/>
              </a:rPr>
              <a:t>j</a:t>
            </a:r>
            <a:r>
              <a:rPr lang="en-US" altLang="en-US" dirty="0">
                <a:latin typeface="+mj-lt"/>
                <a:sym typeface="Wingdings" panose="05000000000000000000" pitchFamily="2" charset="2"/>
              </a:rPr>
              <a:t>:</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sym typeface="Wingdings" panose="05000000000000000000" pitchFamily="2" charset="2"/>
              </a:rPr>
              <a:t>Increment  </a:t>
            </a:r>
            <a:r>
              <a:rPr lang="en-US" altLang="en-US" sz="2400" b="1" dirty="0" err="1">
                <a:latin typeface="+mj-lt"/>
                <a:ea typeface="MS PGothic" panose="020B0600070205080204" pitchFamily="34" charset="-128"/>
                <a:sym typeface="Wingdings" panose="05000000000000000000" pitchFamily="2" charset="2"/>
              </a:rPr>
              <a:t>VC</a:t>
            </a:r>
            <a:r>
              <a:rPr lang="en-US" altLang="en-US" sz="2400" b="1" baseline="-25000" dirty="0" err="1">
                <a:latin typeface="+mj-lt"/>
                <a:ea typeface="MS PGothic" panose="020B0600070205080204" pitchFamily="34" charset="-128"/>
                <a:sym typeface="Wingdings" panose="05000000000000000000" pitchFamily="2" charset="2"/>
              </a:rPr>
              <a:t>i</a:t>
            </a:r>
            <a:r>
              <a:rPr lang="en-US" altLang="en-US" sz="2400" b="1" dirty="0">
                <a:latin typeface="+mj-lt"/>
                <a:ea typeface="MS PGothic" panose="020B0600070205080204" pitchFamily="34" charset="-128"/>
                <a:sym typeface="Wingdings" panose="05000000000000000000" pitchFamily="2" charset="2"/>
              </a:rPr>
              <a:t>[i]</a:t>
            </a:r>
            <a:endParaRPr lang="en-US" altLang="en-US" sz="2400" b="1" dirty="0">
              <a:latin typeface="+mj-lt"/>
              <a:ea typeface="Arial" panose="020B0604020202020204" pitchFamily="34" charset="0"/>
              <a:sym typeface="Wingdings" panose="05000000000000000000" pitchFamily="2" charset="2"/>
            </a:endParaRP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Set  </a:t>
            </a:r>
            <a:r>
              <a:rPr lang="en-US" altLang="en-US" sz="2400" b="1" dirty="0">
                <a:latin typeface="+mj-lt"/>
                <a:ea typeface="MS PGothic" panose="020B0600070205080204" pitchFamily="34" charset="-128"/>
              </a:rPr>
              <a:t>m</a:t>
            </a:r>
            <a:r>
              <a:rPr lang="en-US" altLang="en-US" sz="2400" dirty="0">
                <a:latin typeface="+mj-lt"/>
                <a:ea typeface="Arial" panose="020B0604020202020204" pitchFamily="34" charset="0"/>
              </a:rPr>
              <a:t>’s timestamp  </a:t>
            </a:r>
            <a:r>
              <a:rPr lang="en-US" altLang="en-US" sz="2400" b="1" dirty="0" err="1">
                <a:latin typeface="+mj-lt"/>
                <a:ea typeface="MS PGothic" panose="020B0600070205080204" pitchFamily="34" charset="-128"/>
              </a:rPr>
              <a:t>ts</a:t>
            </a:r>
            <a:r>
              <a:rPr lang="en-US" altLang="en-US" sz="2400" b="1" dirty="0">
                <a:latin typeface="+mj-lt"/>
                <a:ea typeface="MS PGothic" panose="020B0600070205080204" pitchFamily="34" charset="-128"/>
              </a:rPr>
              <a:t>(m)</a:t>
            </a:r>
            <a:r>
              <a:rPr lang="en-US" altLang="en-US" sz="2400" dirty="0">
                <a:latin typeface="+mj-lt"/>
                <a:ea typeface="Arial" panose="020B0604020202020204" pitchFamily="34" charset="0"/>
              </a:rPr>
              <a:t> to the vector </a:t>
            </a:r>
            <a:r>
              <a:rPr lang="en-US" altLang="en-US" sz="2400" b="1" dirty="0" err="1">
                <a:latin typeface="+mj-lt"/>
                <a:ea typeface="MS PGothic" panose="020B0600070205080204" pitchFamily="34" charset="-128"/>
                <a:sym typeface="Wingdings" panose="05000000000000000000" pitchFamily="2" charset="2"/>
              </a:rPr>
              <a:t>VC</a:t>
            </a:r>
            <a:r>
              <a:rPr lang="en-US" altLang="en-US" sz="2400" b="1" baseline="-25000" dirty="0" err="1">
                <a:latin typeface="+mj-lt"/>
                <a:ea typeface="MS PGothic" panose="020B0600070205080204" pitchFamily="34" charset="-128"/>
                <a:sym typeface="Wingdings" panose="05000000000000000000" pitchFamily="2" charset="2"/>
              </a:rPr>
              <a:t>i</a:t>
            </a:r>
            <a:endParaRPr lang="en-US" altLang="en-US" sz="2400" b="1" dirty="0">
              <a:latin typeface="+mj-lt"/>
              <a:ea typeface="MS PGothic" panose="020B0600070205080204" pitchFamily="34" charset="-128"/>
              <a:sym typeface="Wingdings" panose="05000000000000000000" pitchFamily="2" charset="2"/>
            </a:endParaRPr>
          </a:p>
          <a:p>
            <a:pPr>
              <a:lnSpc>
                <a:spcPct val="100000"/>
              </a:lnSpc>
              <a:spcBef>
                <a:spcPts val="200"/>
              </a:spcBef>
              <a:spcAft>
                <a:spcPts val="200"/>
              </a:spcAft>
            </a:pPr>
            <a:r>
              <a:rPr lang="en-US" altLang="en-US" dirty="0">
                <a:latin typeface="+mj-lt"/>
              </a:rPr>
              <a:t>When message </a:t>
            </a:r>
            <a:r>
              <a:rPr lang="en-US" altLang="en-US" dirty="0">
                <a:latin typeface="+mj-lt"/>
                <a:cs typeface="Courier New" panose="02070309020205020404" pitchFamily="49" charset="0"/>
              </a:rPr>
              <a:t>m</a:t>
            </a:r>
            <a:r>
              <a:rPr lang="en-US" altLang="en-US" dirty="0">
                <a:latin typeface="+mj-lt"/>
              </a:rPr>
              <a:t> is received process </a:t>
            </a:r>
            <a:r>
              <a:rPr lang="en-US" altLang="en-US" b="1" dirty="0">
                <a:latin typeface="+mj-lt"/>
                <a:cs typeface="Courier New" panose="02070309020205020404" pitchFamily="49" charset="0"/>
                <a:sym typeface="Wingdings" panose="05000000000000000000" pitchFamily="2" charset="2"/>
              </a:rPr>
              <a:t>P</a:t>
            </a:r>
            <a:r>
              <a:rPr lang="en-US" altLang="en-US" b="1" baseline="-25000" dirty="0">
                <a:latin typeface="+mj-lt"/>
                <a:cs typeface="Courier New" panose="02070309020205020404" pitchFamily="49" charset="0"/>
                <a:sym typeface="Wingdings" panose="05000000000000000000" pitchFamily="2" charset="2"/>
              </a:rPr>
              <a:t>j</a:t>
            </a:r>
            <a:r>
              <a:rPr lang="en-US" altLang="en-US" dirty="0">
                <a:latin typeface="+mj-lt"/>
              </a:rPr>
              <a:t> :</a:t>
            </a:r>
          </a:p>
          <a:p>
            <a:pPr lvl="1">
              <a:lnSpc>
                <a:spcPct val="100000"/>
              </a:lnSpc>
              <a:spcBef>
                <a:spcPts val="200"/>
              </a:spcBef>
              <a:spcAft>
                <a:spcPts val="200"/>
              </a:spcAft>
              <a:buFont typeface="Wingdings" panose="05000000000000000000" pitchFamily="2" charset="2"/>
              <a:buChar char="§"/>
            </a:pPr>
            <a:r>
              <a:rPr lang="en-US" altLang="en-US" sz="2400" b="1" dirty="0" err="1">
                <a:latin typeface="+mj-lt"/>
                <a:ea typeface="MS PGothic" panose="020B0600070205080204" pitchFamily="34" charset="-128"/>
                <a:sym typeface="Wingdings" panose="05000000000000000000" pitchFamily="2" charset="2"/>
              </a:rPr>
              <a:t>VC</a:t>
            </a:r>
            <a:r>
              <a:rPr lang="en-US" altLang="en-US" sz="2400" b="1" baseline="-25000" dirty="0" err="1">
                <a:latin typeface="+mj-lt"/>
                <a:ea typeface="MS PGothic" panose="020B0600070205080204" pitchFamily="34" charset="-128"/>
                <a:sym typeface="Wingdings" panose="05000000000000000000" pitchFamily="2" charset="2"/>
              </a:rPr>
              <a:t>j</a:t>
            </a:r>
            <a:r>
              <a:rPr lang="en-US" altLang="en-US" sz="2400" b="1" dirty="0">
                <a:latin typeface="+mj-lt"/>
                <a:ea typeface="MS PGothic" panose="020B0600070205080204" pitchFamily="34" charset="-128"/>
                <a:sym typeface="Wingdings" panose="05000000000000000000" pitchFamily="2" charset="2"/>
              </a:rPr>
              <a:t>[k] = max(</a:t>
            </a:r>
            <a:r>
              <a:rPr lang="en-US" altLang="en-US" sz="2400" b="1" dirty="0" err="1">
                <a:latin typeface="+mj-lt"/>
                <a:ea typeface="MS PGothic" panose="020B0600070205080204" pitchFamily="34" charset="-128"/>
                <a:sym typeface="Wingdings" panose="05000000000000000000" pitchFamily="2" charset="2"/>
              </a:rPr>
              <a:t>VC</a:t>
            </a:r>
            <a:r>
              <a:rPr lang="en-US" altLang="en-US" sz="2400" b="1" baseline="-25000" dirty="0" err="1">
                <a:latin typeface="+mj-lt"/>
                <a:ea typeface="MS PGothic" panose="020B0600070205080204" pitchFamily="34" charset="-128"/>
                <a:sym typeface="Wingdings" panose="05000000000000000000" pitchFamily="2" charset="2"/>
              </a:rPr>
              <a:t>j</a:t>
            </a:r>
            <a:r>
              <a:rPr lang="en-US" altLang="en-US" sz="2400" b="1" dirty="0">
                <a:latin typeface="+mj-lt"/>
                <a:ea typeface="MS PGothic" panose="020B0600070205080204" pitchFamily="34" charset="-128"/>
                <a:sym typeface="Wingdings" panose="05000000000000000000" pitchFamily="2" charset="2"/>
              </a:rPr>
              <a:t>[k], </a:t>
            </a:r>
            <a:r>
              <a:rPr lang="en-US" altLang="en-US" sz="2400" b="1" dirty="0" err="1">
                <a:latin typeface="+mj-lt"/>
                <a:ea typeface="MS PGothic" panose="020B0600070205080204" pitchFamily="34" charset="-128"/>
                <a:sym typeface="Wingdings" panose="05000000000000000000" pitchFamily="2" charset="2"/>
              </a:rPr>
              <a:t>ts</a:t>
            </a:r>
            <a:r>
              <a:rPr lang="en-US" altLang="en-US" sz="2400" b="1" dirty="0">
                <a:latin typeface="+mj-lt"/>
                <a:ea typeface="MS PGothic" panose="020B0600070205080204" pitchFamily="34" charset="-128"/>
                <a:sym typeface="Wingdings" panose="05000000000000000000" pitchFamily="2" charset="2"/>
              </a:rPr>
              <a:t>(m)[k]) </a:t>
            </a:r>
            <a:r>
              <a:rPr lang="en-US" altLang="en-US" sz="2400" dirty="0">
                <a:latin typeface="+mj-lt"/>
                <a:ea typeface="MS PGothic" panose="020B0600070205080204" pitchFamily="34" charset="-128"/>
                <a:sym typeface="Wingdings" panose="05000000000000000000" pitchFamily="2" charset="2"/>
              </a:rPr>
              <a:t>; </a:t>
            </a:r>
            <a:r>
              <a:rPr lang="en-US" altLang="en-US" sz="2400" dirty="0">
                <a:latin typeface="+mj-lt"/>
                <a:ea typeface="Arial" panose="020B0604020202020204" pitchFamily="34" charset="0"/>
              </a:rPr>
              <a:t>(for all </a:t>
            </a:r>
            <a:r>
              <a:rPr lang="en-US" altLang="en-US" sz="2400" b="1" dirty="0">
                <a:latin typeface="+mj-lt"/>
                <a:ea typeface="MS PGothic" panose="020B0600070205080204" pitchFamily="34" charset="-128"/>
                <a:sym typeface="Wingdings" panose="05000000000000000000" pitchFamily="2" charset="2"/>
              </a:rPr>
              <a:t>k</a:t>
            </a:r>
            <a:r>
              <a:rPr lang="en-US" altLang="en-US" sz="2400" dirty="0">
                <a:latin typeface="+mj-lt"/>
                <a:ea typeface="MS PGothic" panose="020B0600070205080204" pitchFamily="34" charset="-128"/>
                <a:sym typeface="Wingdings" panose="05000000000000000000" pitchFamily="2" charset="2"/>
              </a:rPr>
              <a:t>)</a:t>
            </a:r>
            <a:endParaRPr lang="en-US" altLang="en-US" sz="2400" dirty="0">
              <a:latin typeface="+mj-lt"/>
              <a:ea typeface="Arial" panose="020B0604020202020204" pitchFamily="34" charset="0"/>
              <a:sym typeface="Wingdings" panose="05000000000000000000" pitchFamily="2" charset="2"/>
            </a:endParaRP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sym typeface="Wingdings" panose="05000000000000000000" pitchFamily="2" charset="2"/>
              </a:rPr>
              <a:t>Increment  </a:t>
            </a:r>
            <a:r>
              <a:rPr lang="en-US" altLang="en-US" sz="2400" b="1" dirty="0" err="1">
                <a:latin typeface="+mj-lt"/>
                <a:ea typeface="MS PGothic" panose="020B0600070205080204" pitchFamily="34" charset="-128"/>
                <a:sym typeface="Wingdings" panose="05000000000000000000" pitchFamily="2" charset="2"/>
              </a:rPr>
              <a:t>VC</a:t>
            </a:r>
            <a:r>
              <a:rPr lang="en-US" altLang="en-US" sz="2400" b="1" baseline="-25000" dirty="0" err="1">
                <a:latin typeface="+mj-lt"/>
                <a:ea typeface="MS PGothic" panose="020B0600070205080204" pitchFamily="34" charset="-128"/>
                <a:sym typeface="Wingdings" panose="05000000000000000000" pitchFamily="2" charset="2"/>
              </a:rPr>
              <a:t>j</a:t>
            </a:r>
            <a:r>
              <a:rPr lang="en-US" altLang="en-US" sz="2400" b="1" dirty="0">
                <a:latin typeface="+mj-lt"/>
                <a:ea typeface="MS PGothic" panose="020B0600070205080204" pitchFamily="34" charset="-128"/>
                <a:sym typeface="Wingdings" panose="05000000000000000000" pitchFamily="2" charset="2"/>
              </a:rPr>
              <a:t>[j]</a:t>
            </a:r>
          </a:p>
          <a:p>
            <a:pPr>
              <a:lnSpc>
                <a:spcPct val="100000"/>
              </a:lnSpc>
              <a:spcBef>
                <a:spcPts val="200"/>
              </a:spcBef>
              <a:spcAft>
                <a:spcPts val="200"/>
              </a:spcAft>
            </a:pPr>
            <a:endParaRPr lang="en-US" altLang="en-US" sz="2400" dirty="0">
              <a:latin typeface="Courier New" panose="02070309020205020404" pitchFamily="49" charset="0"/>
              <a:cs typeface="Courier New" panose="02070309020205020404" pitchFamily="49" charset="0"/>
              <a:sym typeface="Wingdings" panose="05000000000000000000" pitchFamily="2" charset="2"/>
            </a:endParaRPr>
          </a:p>
          <a:p>
            <a:pPr>
              <a:lnSpc>
                <a:spcPct val="100000"/>
              </a:lnSpc>
              <a:spcBef>
                <a:spcPts val="200"/>
              </a:spcBef>
              <a:spcAft>
                <a:spcPts val="200"/>
              </a:spcAft>
            </a:pPr>
            <a:endParaRPr lang="en-US" altLang="en-US" sz="2400" dirty="0"/>
          </a:p>
        </p:txBody>
      </p:sp>
      <p:cxnSp>
        <p:nvCxnSpPr>
          <p:cNvPr id="8" name="Straight Connector 7">
            <a:extLst>
              <a:ext uri="{FF2B5EF4-FFF2-40B4-BE49-F238E27FC236}">
                <a16:creationId xmlns:a16="http://schemas.microsoft.com/office/drawing/2014/main" id="{45CDCBAB-F794-41FB-9A2A-F3BE7DBCE8A3}"/>
              </a:ext>
            </a:extLst>
          </p:cNvPr>
          <p:cNvCxnSpPr/>
          <p:nvPr/>
        </p:nvCxnSpPr>
        <p:spPr>
          <a:xfrm>
            <a:off x="2109784" y="4500559"/>
            <a:ext cx="5334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651E63-EB7B-4208-B5A6-E4F12EC9C4F0}"/>
              </a:ext>
            </a:extLst>
          </p:cNvPr>
          <p:cNvCxnSpPr/>
          <p:nvPr/>
        </p:nvCxnSpPr>
        <p:spPr>
          <a:xfrm>
            <a:off x="2109784" y="5240335"/>
            <a:ext cx="5334000" cy="22225"/>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B5312B4-AA0B-47BC-83C2-D8F8EB5227C2}"/>
              </a:ext>
            </a:extLst>
          </p:cNvPr>
          <p:cNvCxnSpPr/>
          <p:nvPr/>
        </p:nvCxnSpPr>
        <p:spPr>
          <a:xfrm>
            <a:off x="2109784" y="5948359"/>
            <a:ext cx="5961529" cy="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058704B-A0E2-4A55-B725-F5EA530469B7}"/>
              </a:ext>
            </a:extLst>
          </p:cNvPr>
          <p:cNvSpPr txBox="1">
            <a:spLocks noChangeArrowheads="1"/>
          </p:cNvSpPr>
          <p:nvPr/>
        </p:nvSpPr>
        <p:spPr bwMode="auto">
          <a:xfrm>
            <a:off x="1414453" y="4325934"/>
            <a:ext cx="53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400" b="1" dirty="0">
                <a:solidFill>
                  <a:schemeClr val="tx1"/>
                </a:solidFill>
                <a:latin typeface="+mj-lt"/>
              </a:rPr>
              <a:t>P</a:t>
            </a:r>
            <a:r>
              <a:rPr lang="en-US" altLang="en-US" sz="2400" b="1" baseline="-25000" dirty="0">
                <a:solidFill>
                  <a:schemeClr val="tx1"/>
                </a:solidFill>
                <a:latin typeface="+mj-lt"/>
              </a:rPr>
              <a:t>0</a:t>
            </a:r>
            <a:endParaRPr lang="en-US" altLang="en-US" sz="2400" b="1" dirty="0">
              <a:solidFill>
                <a:schemeClr val="tx1"/>
              </a:solidFill>
              <a:latin typeface="+mj-lt"/>
            </a:endParaRPr>
          </a:p>
        </p:txBody>
      </p:sp>
      <p:sp>
        <p:nvSpPr>
          <p:cNvPr id="12" name="TextBox 11">
            <a:extLst>
              <a:ext uri="{FF2B5EF4-FFF2-40B4-BE49-F238E27FC236}">
                <a16:creationId xmlns:a16="http://schemas.microsoft.com/office/drawing/2014/main" id="{1BC3F428-6060-42A9-B7EC-C2E457EC0F14}"/>
              </a:ext>
            </a:extLst>
          </p:cNvPr>
          <p:cNvSpPr txBox="1">
            <a:spLocks noChangeArrowheads="1"/>
          </p:cNvSpPr>
          <p:nvPr/>
        </p:nvSpPr>
        <p:spPr bwMode="auto">
          <a:xfrm>
            <a:off x="1414453" y="5065709"/>
            <a:ext cx="53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400" b="1" dirty="0">
                <a:solidFill>
                  <a:schemeClr val="accent6"/>
                </a:solidFill>
                <a:latin typeface="+mj-lt"/>
              </a:rPr>
              <a:t>P</a:t>
            </a:r>
            <a:r>
              <a:rPr lang="en-US" altLang="en-US" sz="2400" b="1" baseline="-25000" dirty="0">
                <a:solidFill>
                  <a:schemeClr val="accent6"/>
                </a:solidFill>
                <a:latin typeface="+mj-lt"/>
              </a:rPr>
              <a:t>1</a:t>
            </a:r>
            <a:endParaRPr lang="en-US" altLang="en-US" sz="2400" b="1" dirty="0">
              <a:solidFill>
                <a:schemeClr val="accent6"/>
              </a:solidFill>
              <a:latin typeface="+mj-lt"/>
            </a:endParaRPr>
          </a:p>
        </p:txBody>
      </p:sp>
      <p:sp>
        <p:nvSpPr>
          <p:cNvPr id="13" name="TextBox 12">
            <a:extLst>
              <a:ext uri="{FF2B5EF4-FFF2-40B4-BE49-F238E27FC236}">
                <a16:creationId xmlns:a16="http://schemas.microsoft.com/office/drawing/2014/main" id="{6ADE64DC-18CD-4966-B2CC-7C4872B55AB7}"/>
              </a:ext>
            </a:extLst>
          </p:cNvPr>
          <p:cNvSpPr txBox="1">
            <a:spLocks noChangeArrowheads="1"/>
          </p:cNvSpPr>
          <p:nvPr/>
        </p:nvSpPr>
        <p:spPr bwMode="auto">
          <a:xfrm>
            <a:off x="1414453" y="5762623"/>
            <a:ext cx="53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400" b="1" dirty="0">
                <a:solidFill>
                  <a:srgbClr val="1D3064"/>
                </a:solidFill>
                <a:latin typeface="+mj-lt"/>
              </a:rPr>
              <a:t>P</a:t>
            </a:r>
            <a:r>
              <a:rPr lang="en-US" altLang="en-US" sz="2400" b="1" baseline="-25000" dirty="0">
                <a:solidFill>
                  <a:srgbClr val="1D3064"/>
                </a:solidFill>
                <a:latin typeface="+mj-lt"/>
              </a:rPr>
              <a:t>2</a:t>
            </a:r>
            <a:endParaRPr lang="en-US" altLang="en-US" sz="2400" b="1" dirty="0">
              <a:solidFill>
                <a:srgbClr val="1D3064"/>
              </a:solidFill>
              <a:latin typeface="+mj-lt"/>
            </a:endParaRPr>
          </a:p>
        </p:txBody>
      </p:sp>
      <p:sp>
        <p:nvSpPr>
          <p:cNvPr id="14" name="TextBox 13">
            <a:extLst>
              <a:ext uri="{FF2B5EF4-FFF2-40B4-BE49-F238E27FC236}">
                <a16:creationId xmlns:a16="http://schemas.microsoft.com/office/drawing/2014/main" id="{8380A400-E418-47CB-BDEC-E74A5CD4B93B}"/>
              </a:ext>
            </a:extLst>
          </p:cNvPr>
          <p:cNvSpPr txBox="1">
            <a:spLocks noChangeArrowheads="1"/>
          </p:cNvSpPr>
          <p:nvPr/>
        </p:nvSpPr>
        <p:spPr bwMode="auto">
          <a:xfrm>
            <a:off x="4776784" y="4127498"/>
            <a:ext cx="1371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tx1"/>
                </a:solidFill>
                <a:latin typeface="+mj-lt"/>
              </a:rPr>
              <a:t>VC</a:t>
            </a:r>
            <a:r>
              <a:rPr lang="en-US" altLang="en-US" sz="2000" baseline="-25000" dirty="0">
                <a:solidFill>
                  <a:schemeClr val="tx1"/>
                </a:solidFill>
                <a:latin typeface="+mj-lt"/>
              </a:rPr>
              <a:t>0</a:t>
            </a:r>
            <a:r>
              <a:rPr lang="en-US" altLang="en-US" sz="2000" dirty="0">
                <a:solidFill>
                  <a:schemeClr val="tx1"/>
                </a:solidFill>
                <a:latin typeface="+mj-lt"/>
              </a:rPr>
              <a:t>=(1,0,0)</a:t>
            </a:r>
            <a:endParaRPr lang="en-US" altLang="en-US" sz="2000" baseline="-25000" dirty="0">
              <a:solidFill>
                <a:schemeClr val="tx1"/>
              </a:solidFill>
              <a:latin typeface="+mj-lt"/>
            </a:endParaRPr>
          </a:p>
        </p:txBody>
      </p:sp>
      <p:cxnSp>
        <p:nvCxnSpPr>
          <p:cNvPr id="15" name="Straight Connector 14">
            <a:extLst>
              <a:ext uri="{FF2B5EF4-FFF2-40B4-BE49-F238E27FC236}">
                <a16:creationId xmlns:a16="http://schemas.microsoft.com/office/drawing/2014/main" id="{D56507C0-C2FF-4512-B30E-F207D3610577}"/>
              </a:ext>
            </a:extLst>
          </p:cNvPr>
          <p:cNvCxnSpPr/>
          <p:nvPr/>
        </p:nvCxnSpPr>
        <p:spPr>
          <a:xfrm>
            <a:off x="4776784" y="4424359"/>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0FE361F-B263-4B7F-8239-2A8B020CC742}"/>
              </a:ext>
            </a:extLst>
          </p:cNvPr>
          <p:cNvSpPr txBox="1">
            <a:spLocks noChangeArrowheads="1"/>
          </p:cNvSpPr>
          <p:nvPr/>
        </p:nvSpPr>
        <p:spPr bwMode="auto">
          <a:xfrm>
            <a:off x="6529383" y="4127498"/>
            <a:ext cx="14477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tx1"/>
                </a:solidFill>
                <a:latin typeface="+mj-lt"/>
              </a:rPr>
              <a:t>VC</a:t>
            </a:r>
            <a:r>
              <a:rPr lang="en-US" altLang="en-US" sz="2000" baseline="-25000" dirty="0">
                <a:solidFill>
                  <a:schemeClr val="tx1"/>
                </a:solidFill>
                <a:latin typeface="+mj-lt"/>
              </a:rPr>
              <a:t>0</a:t>
            </a:r>
            <a:r>
              <a:rPr lang="en-US" altLang="en-US" sz="2000" dirty="0">
                <a:solidFill>
                  <a:schemeClr val="tx1"/>
                </a:solidFill>
                <a:latin typeface="+mj-lt"/>
              </a:rPr>
              <a:t>=(2,0,0)</a:t>
            </a:r>
            <a:endParaRPr lang="en-US" altLang="en-US" sz="2000" baseline="-25000" dirty="0">
              <a:solidFill>
                <a:schemeClr val="tx1"/>
              </a:solidFill>
              <a:latin typeface="+mj-lt"/>
            </a:endParaRPr>
          </a:p>
        </p:txBody>
      </p:sp>
      <p:cxnSp>
        <p:nvCxnSpPr>
          <p:cNvPr id="17" name="Straight Connector 16">
            <a:extLst>
              <a:ext uri="{FF2B5EF4-FFF2-40B4-BE49-F238E27FC236}">
                <a16:creationId xmlns:a16="http://schemas.microsoft.com/office/drawing/2014/main" id="{1BAEDCD0-A461-4117-BFED-3F630027D82A}"/>
              </a:ext>
            </a:extLst>
          </p:cNvPr>
          <p:cNvCxnSpPr/>
          <p:nvPr/>
        </p:nvCxnSpPr>
        <p:spPr>
          <a:xfrm>
            <a:off x="6529384" y="4424359"/>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C618602-9FEA-41E0-9ED4-44DF06E63405}"/>
              </a:ext>
            </a:extLst>
          </p:cNvPr>
          <p:cNvCxnSpPr/>
          <p:nvPr/>
        </p:nvCxnSpPr>
        <p:spPr>
          <a:xfrm>
            <a:off x="6529384" y="4500559"/>
            <a:ext cx="533400" cy="762000"/>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CDFFCB5-2B3A-41B0-9D75-21BF9AE34691}"/>
              </a:ext>
            </a:extLst>
          </p:cNvPr>
          <p:cNvSpPr txBox="1">
            <a:spLocks noChangeArrowheads="1"/>
          </p:cNvSpPr>
          <p:nvPr/>
        </p:nvSpPr>
        <p:spPr bwMode="auto">
          <a:xfrm>
            <a:off x="2109784" y="4119559"/>
            <a:ext cx="1447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tx1"/>
                </a:solidFill>
                <a:latin typeface="+mj-lt"/>
              </a:rPr>
              <a:t>VC</a:t>
            </a:r>
            <a:r>
              <a:rPr lang="en-US" altLang="en-US" sz="2000" baseline="-25000" dirty="0">
                <a:solidFill>
                  <a:schemeClr val="tx1"/>
                </a:solidFill>
                <a:latin typeface="+mj-lt"/>
              </a:rPr>
              <a:t>0</a:t>
            </a:r>
            <a:r>
              <a:rPr lang="en-US" altLang="en-US" sz="2000" dirty="0">
                <a:solidFill>
                  <a:schemeClr val="tx1"/>
                </a:solidFill>
                <a:latin typeface="+mj-lt"/>
              </a:rPr>
              <a:t>=(0,0,0)</a:t>
            </a:r>
            <a:endParaRPr lang="en-US" altLang="en-US" sz="2000" baseline="-25000" dirty="0">
              <a:solidFill>
                <a:schemeClr val="tx1"/>
              </a:solidFill>
              <a:latin typeface="+mj-lt"/>
            </a:endParaRPr>
          </a:p>
        </p:txBody>
      </p:sp>
      <p:sp>
        <p:nvSpPr>
          <p:cNvPr id="20" name="TextBox 19">
            <a:extLst>
              <a:ext uri="{FF2B5EF4-FFF2-40B4-BE49-F238E27FC236}">
                <a16:creationId xmlns:a16="http://schemas.microsoft.com/office/drawing/2014/main" id="{1D927167-B365-4C04-917B-583F41A6A466}"/>
              </a:ext>
            </a:extLst>
          </p:cNvPr>
          <p:cNvSpPr txBox="1">
            <a:spLocks noChangeArrowheads="1"/>
          </p:cNvSpPr>
          <p:nvPr/>
        </p:nvSpPr>
        <p:spPr bwMode="auto">
          <a:xfrm>
            <a:off x="2109784" y="4859334"/>
            <a:ext cx="1447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accent6"/>
                </a:solidFill>
                <a:latin typeface="+mj-lt"/>
              </a:rPr>
              <a:t>VC</a:t>
            </a:r>
            <a:r>
              <a:rPr lang="en-US" altLang="en-US" sz="2000" baseline="-25000" dirty="0">
                <a:solidFill>
                  <a:schemeClr val="accent6"/>
                </a:solidFill>
                <a:latin typeface="+mj-lt"/>
              </a:rPr>
              <a:t>1</a:t>
            </a:r>
            <a:r>
              <a:rPr lang="en-US" altLang="en-US" sz="2000" dirty="0">
                <a:solidFill>
                  <a:schemeClr val="accent6"/>
                </a:solidFill>
                <a:latin typeface="+mj-lt"/>
              </a:rPr>
              <a:t>=(0,0,0)</a:t>
            </a:r>
            <a:endParaRPr lang="en-US" altLang="en-US" sz="2000" baseline="-25000" dirty="0">
              <a:solidFill>
                <a:schemeClr val="accent6"/>
              </a:solidFill>
              <a:latin typeface="+mj-lt"/>
            </a:endParaRPr>
          </a:p>
        </p:txBody>
      </p:sp>
      <p:sp>
        <p:nvSpPr>
          <p:cNvPr id="21" name="TextBox 20">
            <a:extLst>
              <a:ext uri="{FF2B5EF4-FFF2-40B4-BE49-F238E27FC236}">
                <a16:creationId xmlns:a16="http://schemas.microsoft.com/office/drawing/2014/main" id="{F8E2AD67-836C-4D8B-8530-98A1F05E3252}"/>
              </a:ext>
            </a:extLst>
          </p:cNvPr>
          <p:cNvSpPr txBox="1">
            <a:spLocks noChangeArrowheads="1"/>
          </p:cNvSpPr>
          <p:nvPr/>
        </p:nvSpPr>
        <p:spPr bwMode="auto">
          <a:xfrm>
            <a:off x="2109784" y="5575298"/>
            <a:ext cx="1447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solidFill>
                  <a:srgbClr val="1D3064"/>
                </a:solidFill>
                <a:latin typeface="+mj-lt"/>
              </a:rPr>
              <a:t>VC</a:t>
            </a:r>
            <a:r>
              <a:rPr lang="en-US" altLang="en-US" sz="2000" baseline="-25000">
                <a:solidFill>
                  <a:srgbClr val="1D3064"/>
                </a:solidFill>
                <a:latin typeface="+mj-lt"/>
              </a:rPr>
              <a:t>2</a:t>
            </a:r>
            <a:r>
              <a:rPr lang="en-US" altLang="en-US" sz="2000">
                <a:solidFill>
                  <a:srgbClr val="1D3064"/>
                </a:solidFill>
                <a:latin typeface="+mj-lt"/>
              </a:rPr>
              <a:t>=(0,0,0)</a:t>
            </a:r>
            <a:endParaRPr lang="en-US" altLang="en-US" sz="2000" baseline="-25000">
              <a:solidFill>
                <a:srgbClr val="1D3064"/>
              </a:solidFill>
              <a:latin typeface="+mj-lt"/>
            </a:endParaRPr>
          </a:p>
        </p:txBody>
      </p:sp>
      <p:cxnSp>
        <p:nvCxnSpPr>
          <p:cNvPr id="22" name="Straight Connector 21">
            <a:extLst>
              <a:ext uri="{FF2B5EF4-FFF2-40B4-BE49-F238E27FC236}">
                <a16:creationId xmlns:a16="http://schemas.microsoft.com/office/drawing/2014/main" id="{F95785E0-90E0-4304-B236-114F099975B8}"/>
              </a:ext>
            </a:extLst>
          </p:cNvPr>
          <p:cNvCxnSpPr/>
          <p:nvPr/>
        </p:nvCxnSpPr>
        <p:spPr>
          <a:xfrm>
            <a:off x="2109784" y="4424359"/>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8AF56EC-97B4-45F7-A009-C5BD198C540F}"/>
              </a:ext>
            </a:extLst>
          </p:cNvPr>
          <p:cNvCxnSpPr/>
          <p:nvPr/>
        </p:nvCxnSpPr>
        <p:spPr>
          <a:xfrm>
            <a:off x="2109784" y="5164134"/>
            <a:ext cx="0" cy="1524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B23ADA0-5D83-4CCC-B17A-16C00634776B}"/>
              </a:ext>
            </a:extLst>
          </p:cNvPr>
          <p:cNvCxnSpPr/>
          <p:nvPr/>
        </p:nvCxnSpPr>
        <p:spPr>
          <a:xfrm>
            <a:off x="2109784" y="5872159"/>
            <a:ext cx="0" cy="15240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19465E8-3E59-4DD8-A223-E30B018067B6}"/>
              </a:ext>
            </a:extLst>
          </p:cNvPr>
          <p:cNvCxnSpPr/>
          <p:nvPr/>
        </p:nvCxnSpPr>
        <p:spPr>
          <a:xfrm>
            <a:off x="7062784" y="5186359"/>
            <a:ext cx="0" cy="1524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2708366-5714-4CB9-B45F-2611BBD1EDFB}"/>
              </a:ext>
            </a:extLst>
          </p:cNvPr>
          <p:cNvSpPr/>
          <p:nvPr/>
        </p:nvSpPr>
        <p:spPr>
          <a:xfrm>
            <a:off x="5319696" y="4696115"/>
            <a:ext cx="1304928" cy="461665"/>
          </a:xfrm>
          <a:prstGeom prst="rect">
            <a:avLst/>
          </a:prstGeom>
          <a:solidFill>
            <a:srgbClr val="1D3064"/>
          </a:solidFill>
          <a:ln>
            <a:noFill/>
          </a:ln>
        </p:spPr>
        <p:style>
          <a:lnRef idx="2">
            <a:schemeClr val="accent6"/>
          </a:lnRef>
          <a:fillRef idx="1">
            <a:schemeClr val="lt1"/>
          </a:fillRef>
          <a:effectRef idx="0">
            <a:schemeClr val="accent6"/>
          </a:effectRef>
          <a:fontRef idx="minor">
            <a:schemeClr val="dk1"/>
          </a:fontRef>
        </p:style>
        <p:txBody>
          <a:bodyPr wrap="square">
            <a:spAutoFit/>
          </a:bodyPr>
          <a:lstStyle/>
          <a:p>
            <a:pPr eaLnBrk="1" hangingPunct="1">
              <a:defRPr/>
            </a:pPr>
            <a:r>
              <a:rPr lang="en-US" sz="2400" dirty="0">
                <a:solidFill>
                  <a:schemeClr val="bg1"/>
                </a:solidFill>
                <a:latin typeface="+mj-lt"/>
              </a:rPr>
              <a:t>m</a:t>
            </a:r>
            <a:r>
              <a:rPr lang="en-US" sz="2400" dirty="0">
                <a:solidFill>
                  <a:schemeClr val="bg1"/>
                </a:solidFill>
                <a:latin typeface="+mj-lt"/>
                <a:sym typeface="Wingdings" pitchFamily="2" charset="2"/>
              </a:rPr>
              <a:t>:(</a:t>
            </a:r>
            <a:r>
              <a:rPr lang="en-US" sz="2400" dirty="0">
                <a:solidFill>
                  <a:schemeClr val="bg1"/>
                </a:solidFill>
                <a:latin typeface="+mj-lt"/>
              </a:rPr>
              <a:t>2,0,0)</a:t>
            </a:r>
            <a:r>
              <a:rPr lang="en-US" sz="2400" dirty="0">
                <a:solidFill>
                  <a:schemeClr val="bg1"/>
                </a:solidFill>
                <a:latin typeface="+mj-lt"/>
                <a:cs typeface="Courier New" pitchFamily="49" charset="0"/>
              </a:rPr>
              <a:t> </a:t>
            </a:r>
            <a:endParaRPr lang="en-US" sz="2400" dirty="0">
              <a:solidFill>
                <a:schemeClr val="bg1"/>
              </a:solidFill>
              <a:latin typeface="+mj-lt"/>
            </a:endParaRPr>
          </a:p>
        </p:txBody>
      </p:sp>
      <p:sp>
        <p:nvSpPr>
          <p:cNvPr id="27" name="TextBox 26">
            <a:extLst>
              <a:ext uri="{FF2B5EF4-FFF2-40B4-BE49-F238E27FC236}">
                <a16:creationId xmlns:a16="http://schemas.microsoft.com/office/drawing/2014/main" id="{13BF45C3-4A87-49BE-98D9-68916AC7DB61}"/>
              </a:ext>
            </a:extLst>
          </p:cNvPr>
          <p:cNvSpPr txBox="1">
            <a:spLocks noChangeArrowheads="1"/>
          </p:cNvSpPr>
          <p:nvPr/>
        </p:nvSpPr>
        <p:spPr bwMode="auto">
          <a:xfrm>
            <a:off x="6986583" y="4881559"/>
            <a:ext cx="13811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dirty="0">
                <a:solidFill>
                  <a:schemeClr val="accent6"/>
                </a:solidFill>
                <a:latin typeface="+mj-lt"/>
              </a:rPr>
              <a:t>VC</a:t>
            </a:r>
            <a:r>
              <a:rPr lang="en-US" altLang="en-US" sz="2000" baseline="-25000" dirty="0">
                <a:solidFill>
                  <a:schemeClr val="accent6"/>
                </a:solidFill>
                <a:latin typeface="+mj-lt"/>
              </a:rPr>
              <a:t>1</a:t>
            </a:r>
            <a:r>
              <a:rPr lang="en-US" altLang="en-US" sz="2000" dirty="0">
                <a:solidFill>
                  <a:schemeClr val="accent6"/>
                </a:solidFill>
                <a:latin typeface="+mj-lt"/>
              </a:rPr>
              <a:t>=(2,1,0)</a:t>
            </a:r>
            <a:endParaRPr lang="en-US" altLang="en-US" sz="2000" baseline="-25000" dirty="0">
              <a:solidFill>
                <a:schemeClr val="accent6"/>
              </a:solidFill>
              <a:latin typeface="+mj-lt"/>
            </a:endParaRPr>
          </a:p>
        </p:txBody>
      </p:sp>
    </p:spTree>
    <p:extLst>
      <p:ext uri="{BB962C8B-B14F-4D97-AF65-F5344CB8AC3E}">
        <p14:creationId xmlns:p14="http://schemas.microsoft.com/office/powerpoint/2010/main" val="446766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
                                            <p:txEl>
                                              <p:pRg st="1" end="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
                                            <p:txEl>
                                              <p:pRg st="2" end="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7">
                                            <p:txEl>
                                              <p:pRg st="3" end="3"/>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
                                            <p:txEl>
                                              <p:pRg st="4" end="4"/>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
                                            <p:txEl>
                                              <p:pRg st="5" end="5"/>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7">
                                            <p:txEl>
                                              <p:pRg st="6" end="6"/>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6" grpId="0"/>
      <p:bldP spid="19" grpId="0"/>
      <p:bldP spid="20" grpId="0"/>
      <p:bldP spid="21" grpId="0"/>
      <p:bldP spid="26" grpId="0" animBg="1"/>
      <p:bldP spid="2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Inferring Events with Vector Clocks</a:t>
            </a:r>
          </a:p>
        </p:txBody>
      </p:sp>
      <p:sp>
        <p:nvSpPr>
          <p:cNvPr id="28" name="Content Placeholder 2">
            <a:extLst>
              <a:ext uri="{FF2B5EF4-FFF2-40B4-BE49-F238E27FC236}">
                <a16:creationId xmlns:a16="http://schemas.microsoft.com/office/drawing/2014/main" id="{05FF24D1-5277-417B-BCE3-776DD62CA93A}"/>
              </a:ext>
            </a:extLst>
          </p:cNvPr>
          <p:cNvSpPr>
            <a:spLocks noGrp="1"/>
          </p:cNvSpPr>
          <p:nvPr>
            <p:ph idx="1"/>
          </p:nvPr>
        </p:nvSpPr>
        <p:spPr>
          <a:xfrm>
            <a:off x="11048" y="719137"/>
            <a:ext cx="12047601" cy="2895600"/>
          </a:xfrm>
        </p:spPr>
        <p:txBody>
          <a:bodyPr>
            <a:normAutofit/>
          </a:bodyPr>
          <a:lstStyle/>
          <a:p>
            <a:pPr>
              <a:lnSpc>
                <a:spcPct val="100000"/>
              </a:lnSpc>
              <a:spcBef>
                <a:spcPts val="300"/>
              </a:spcBef>
              <a:spcAft>
                <a:spcPts val="300"/>
              </a:spcAft>
            </a:pPr>
            <a:r>
              <a:rPr lang="en-US" altLang="en-US" dirty="0">
                <a:latin typeface="+mj-lt"/>
              </a:rPr>
              <a:t>Let a process </a:t>
            </a:r>
            <a:r>
              <a:rPr lang="en-US" altLang="en-US" b="1" dirty="0">
                <a:latin typeface="+mj-lt"/>
                <a:cs typeface="Courier New" panose="02070309020205020404" pitchFamily="49" charset="0"/>
                <a:sym typeface="Wingdings" panose="05000000000000000000" pitchFamily="2" charset="2"/>
              </a:rPr>
              <a:t>P</a:t>
            </a:r>
            <a:r>
              <a:rPr lang="en-US" altLang="en-US" b="1" baseline="-25000" dirty="0">
                <a:latin typeface="+mj-lt"/>
                <a:cs typeface="Courier New" panose="02070309020205020404" pitchFamily="49" charset="0"/>
                <a:sym typeface="Wingdings" panose="05000000000000000000" pitchFamily="2" charset="2"/>
              </a:rPr>
              <a:t>i</a:t>
            </a:r>
            <a:r>
              <a:rPr lang="en-US" altLang="en-US" dirty="0">
                <a:latin typeface="+mj-lt"/>
              </a:rPr>
              <a:t> send a message </a:t>
            </a:r>
            <a:r>
              <a:rPr lang="en-US" altLang="en-US" b="1" dirty="0">
                <a:latin typeface="+mj-lt"/>
                <a:cs typeface="Courier New" panose="02070309020205020404" pitchFamily="49" charset="0"/>
              </a:rPr>
              <a:t>m</a:t>
            </a:r>
            <a:r>
              <a:rPr lang="en-US" altLang="en-US" dirty="0">
                <a:latin typeface="+mj-lt"/>
              </a:rPr>
              <a:t> to </a:t>
            </a:r>
            <a:r>
              <a:rPr lang="en-US" altLang="en-US" b="1" dirty="0">
                <a:latin typeface="+mj-lt"/>
                <a:cs typeface="Courier New" panose="02070309020205020404" pitchFamily="49" charset="0"/>
                <a:sym typeface="Wingdings" panose="05000000000000000000" pitchFamily="2" charset="2"/>
              </a:rPr>
              <a:t>P</a:t>
            </a:r>
            <a:r>
              <a:rPr lang="en-US" altLang="en-US" b="1" baseline="-25000" dirty="0">
                <a:latin typeface="+mj-lt"/>
                <a:cs typeface="Courier New" panose="02070309020205020404" pitchFamily="49" charset="0"/>
                <a:sym typeface="Wingdings" panose="05000000000000000000" pitchFamily="2" charset="2"/>
              </a:rPr>
              <a:t>j</a:t>
            </a:r>
            <a:r>
              <a:rPr lang="en-US" altLang="en-US" dirty="0">
                <a:latin typeface="+mj-lt"/>
                <a:sym typeface="Wingdings" panose="05000000000000000000" pitchFamily="2" charset="2"/>
              </a:rPr>
              <a:t> with timestamp </a:t>
            </a:r>
            <a:r>
              <a:rPr lang="en-US" altLang="en-US" b="1" dirty="0" err="1">
                <a:latin typeface="+mj-lt"/>
                <a:cs typeface="Courier New" panose="02070309020205020404" pitchFamily="49" charset="0"/>
              </a:rPr>
              <a:t>ts</a:t>
            </a:r>
            <a:r>
              <a:rPr lang="en-US" altLang="en-US" b="1" dirty="0">
                <a:latin typeface="+mj-lt"/>
                <a:cs typeface="Courier New" panose="02070309020205020404" pitchFamily="49" charset="0"/>
              </a:rPr>
              <a:t>(m)</a:t>
            </a:r>
            <a:r>
              <a:rPr lang="en-US" altLang="en-US" dirty="0">
                <a:latin typeface="+mj-lt"/>
              </a:rPr>
              <a:t>, then:</a:t>
            </a:r>
          </a:p>
          <a:p>
            <a:pPr marL="265113" lvl="1" indent="-265113">
              <a:lnSpc>
                <a:spcPct val="100000"/>
              </a:lnSpc>
              <a:spcBef>
                <a:spcPts val="300"/>
              </a:spcBef>
              <a:spcAft>
                <a:spcPts val="300"/>
              </a:spcAft>
              <a:buFont typeface="Webdings" panose="05030102010509060703" pitchFamily="18" charset="2"/>
              <a:buChar char=""/>
            </a:pPr>
            <a:r>
              <a:rPr lang="en-US" altLang="en-US" sz="2400" dirty="0">
                <a:latin typeface="+mj-lt"/>
                <a:sym typeface="Wingdings" panose="05000000000000000000" pitchFamily="2" charset="2"/>
              </a:rPr>
              <a:t>Pj </a:t>
            </a:r>
            <a:r>
              <a:rPr lang="en-US" altLang="en-US" sz="2400" dirty="0">
                <a:latin typeface="+mj-lt"/>
              </a:rPr>
              <a:t>knows the number of events at the sender </a:t>
            </a:r>
            <a:r>
              <a:rPr lang="en-US" altLang="en-US" sz="2400" dirty="0">
                <a:latin typeface="+mj-lt"/>
                <a:sym typeface="Wingdings" panose="05000000000000000000" pitchFamily="2" charset="2"/>
              </a:rPr>
              <a:t>Pi</a:t>
            </a:r>
            <a:r>
              <a:rPr lang="en-US" altLang="en-US" sz="2400" dirty="0">
                <a:latin typeface="+mj-lt"/>
              </a:rPr>
              <a:t> that causally precede m</a:t>
            </a:r>
          </a:p>
          <a:p>
            <a:pPr marL="714375" lvl="2" indent="-271463">
              <a:lnSpc>
                <a:spcPct val="100000"/>
              </a:lnSpc>
              <a:spcBef>
                <a:spcPts val="300"/>
              </a:spcBef>
              <a:spcAft>
                <a:spcPts val="300"/>
              </a:spcAft>
            </a:pPr>
            <a:r>
              <a:rPr lang="en-US" altLang="en-US" sz="2400" b="1" dirty="0" err="1">
                <a:latin typeface="+mj-lt"/>
                <a:ea typeface="MS PGothic" panose="020B0600070205080204" pitchFamily="34" charset="-128"/>
              </a:rPr>
              <a:t>ts</a:t>
            </a:r>
            <a:r>
              <a:rPr lang="en-US" altLang="en-US" sz="2400" b="1" dirty="0">
                <a:latin typeface="+mj-lt"/>
                <a:ea typeface="MS PGothic" panose="020B0600070205080204" pitchFamily="34" charset="-128"/>
              </a:rPr>
              <a:t>(m)[</a:t>
            </a:r>
            <a:r>
              <a:rPr lang="en-US" altLang="en-US" sz="2400" b="1" dirty="0" err="1">
                <a:latin typeface="+mj-lt"/>
                <a:ea typeface="MS PGothic" panose="020B0600070205080204" pitchFamily="34" charset="-128"/>
              </a:rPr>
              <a:t>i</a:t>
            </a:r>
            <a:r>
              <a:rPr lang="en-US" altLang="en-US" sz="2400" b="1" dirty="0">
                <a:latin typeface="+mj-lt"/>
                <a:ea typeface="MS PGothic" panose="020B0600070205080204" pitchFamily="34" charset="-128"/>
              </a:rPr>
              <a:t>]</a:t>
            </a:r>
            <a:r>
              <a:rPr lang="en-US" altLang="en-US" sz="2400" b="1" dirty="0">
                <a:latin typeface="+mj-lt"/>
                <a:ea typeface="Arial" panose="020B0604020202020204" pitchFamily="34" charset="0"/>
              </a:rPr>
              <a:t> </a:t>
            </a:r>
            <a:r>
              <a:rPr lang="en-US" altLang="en-US" sz="2400" dirty="0">
                <a:latin typeface="+mj-lt"/>
                <a:ea typeface="Arial" panose="020B0604020202020204" pitchFamily="34" charset="0"/>
              </a:rPr>
              <a:t>denotes the number of events at </a:t>
            </a:r>
            <a:r>
              <a:rPr lang="en-US" altLang="en-US" sz="2400" b="1" dirty="0">
                <a:latin typeface="+mj-lt"/>
                <a:ea typeface="MS PGothic" panose="020B0600070205080204" pitchFamily="34" charset="-128"/>
                <a:sym typeface="Wingdings" panose="05000000000000000000" pitchFamily="2" charset="2"/>
              </a:rPr>
              <a:t>P</a:t>
            </a:r>
            <a:r>
              <a:rPr lang="en-US" altLang="en-US" sz="2400" b="1" baseline="-25000" dirty="0">
                <a:latin typeface="+mj-lt"/>
                <a:ea typeface="MS PGothic" panose="020B0600070205080204" pitchFamily="34" charset="-128"/>
                <a:sym typeface="Wingdings" panose="05000000000000000000" pitchFamily="2" charset="2"/>
              </a:rPr>
              <a:t>i</a:t>
            </a:r>
            <a:endParaRPr lang="en-US" altLang="en-US" sz="2400" b="1" dirty="0">
              <a:latin typeface="+mj-lt"/>
              <a:ea typeface="MS PGothic" panose="020B0600070205080204" pitchFamily="34" charset="-128"/>
            </a:endParaRPr>
          </a:p>
          <a:p>
            <a:pPr marL="265113" lvl="1" indent="-265113">
              <a:lnSpc>
                <a:spcPct val="100000"/>
              </a:lnSpc>
              <a:spcBef>
                <a:spcPts val="300"/>
              </a:spcBef>
              <a:spcAft>
                <a:spcPts val="300"/>
              </a:spcAft>
              <a:buFont typeface="Webdings" panose="05030102010509060703" pitchFamily="18" charset="2"/>
              <a:buChar char=""/>
            </a:pPr>
            <a:r>
              <a:rPr lang="en-US" altLang="en-US" sz="2400" dirty="0">
                <a:latin typeface="+mj-lt"/>
                <a:sym typeface="Wingdings" panose="05000000000000000000" pitchFamily="2" charset="2"/>
              </a:rPr>
              <a:t>Pj </a:t>
            </a:r>
            <a:r>
              <a:rPr lang="en-US" altLang="en-US" sz="2400" dirty="0">
                <a:latin typeface="+mj-lt"/>
              </a:rPr>
              <a:t>also knows the minimum number of events at other processes </a:t>
            </a:r>
            <a:r>
              <a:rPr lang="en-US" altLang="en-US" sz="2400" dirty="0" err="1">
                <a:latin typeface="+mj-lt"/>
                <a:sym typeface="Wingdings" panose="05000000000000000000" pitchFamily="2" charset="2"/>
              </a:rPr>
              <a:t>Pk</a:t>
            </a:r>
            <a:r>
              <a:rPr lang="en-US" altLang="en-US" sz="2400" dirty="0">
                <a:latin typeface="+mj-lt"/>
              </a:rPr>
              <a:t> that causally precede m</a:t>
            </a:r>
          </a:p>
          <a:p>
            <a:pPr marL="714375" lvl="2" indent="-271463">
              <a:lnSpc>
                <a:spcPct val="100000"/>
              </a:lnSpc>
              <a:spcBef>
                <a:spcPts val="300"/>
              </a:spcBef>
              <a:spcAft>
                <a:spcPts val="300"/>
              </a:spcAft>
            </a:pPr>
            <a:r>
              <a:rPr lang="en-US" altLang="en-US" sz="2400" b="1" dirty="0" err="1">
                <a:latin typeface="+mj-lt"/>
                <a:ea typeface="MS PGothic" panose="020B0600070205080204" pitchFamily="34" charset="-128"/>
              </a:rPr>
              <a:t>ts</a:t>
            </a:r>
            <a:r>
              <a:rPr lang="en-US" altLang="en-US" sz="2400" b="1" dirty="0">
                <a:latin typeface="+mj-lt"/>
                <a:ea typeface="MS PGothic" panose="020B0600070205080204" pitchFamily="34" charset="-128"/>
              </a:rPr>
              <a:t>(m)[k]</a:t>
            </a:r>
            <a:r>
              <a:rPr lang="en-US" altLang="en-US" sz="2400" b="1" dirty="0">
                <a:latin typeface="+mj-lt"/>
                <a:ea typeface="Arial" panose="020B0604020202020204" pitchFamily="34" charset="0"/>
              </a:rPr>
              <a:t> </a:t>
            </a:r>
            <a:r>
              <a:rPr lang="en-US" altLang="en-US" sz="2400" dirty="0">
                <a:latin typeface="+mj-lt"/>
                <a:ea typeface="Arial" panose="020B0604020202020204" pitchFamily="34" charset="0"/>
              </a:rPr>
              <a:t>denotes the minimum number of events at </a:t>
            </a:r>
            <a:r>
              <a:rPr lang="en-US" altLang="en-US" sz="2400" b="1" dirty="0">
                <a:latin typeface="+mj-lt"/>
                <a:ea typeface="MS PGothic" panose="020B0600070205080204" pitchFamily="34" charset="-128"/>
                <a:sym typeface="Wingdings" panose="05000000000000000000" pitchFamily="2" charset="2"/>
              </a:rPr>
              <a:t>P</a:t>
            </a:r>
            <a:r>
              <a:rPr lang="en-US" altLang="en-US" sz="2400" b="1" baseline="-25000" dirty="0">
                <a:latin typeface="+mj-lt"/>
                <a:ea typeface="MS PGothic" panose="020B0600070205080204" pitchFamily="34" charset="-128"/>
                <a:sym typeface="Wingdings" panose="05000000000000000000" pitchFamily="2" charset="2"/>
              </a:rPr>
              <a:t>k</a:t>
            </a:r>
            <a:endParaRPr lang="en-US" altLang="en-US" sz="2400" b="1" dirty="0">
              <a:latin typeface="+mj-lt"/>
              <a:ea typeface="MS PGothic" panose="020B0600070205080204" pitchFamily="34" charset="-128"/>
            </a:endParaRPr>
          </a:p>
        </p:txBody>
      </p:sp>
      <p:cxnSp>
        <p:nvCxnSpPr>
          <p:cNvPr id="29" name="Straight Connector 28">
            <a:extLst>
              <a:ext uri="{FF2B5EF4-FFF2-40B4-BE49-F238E27FC236}">
                <a16:creationId xmlns:a16="http://schemas.microsoft.com/office/drawing/2014/main" id="{E245A3DA-AAD2-4FFB-81F5-2AE5D20D7D1B}"/>
              </a:ext>
            </a:extLst>
          </p:cNvPr>
          <p:cNvCxnSpPr/>
          <p:nvPr/>
        </p:nvCxnSpPr>
        <p:spPr>
          <a:xfrm>
            <a:off x="2509837" y="4019553"/>
            <a:ext cx="5334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3D55175-B21A-42B5-9FFC-D144DC690213}"/>
              </a:ext>
            </a:extLst>
          </p:cNvPr>
          <p:cNvCxnSpPr/>
          <p:nvPr/>
        </p:nvCxnSpPr>
        <p:spPr>
          <a:xfrm>
            <a:off x="2509837" y="4973647"/>
            <a:ext cx="5334000" cy="22225"/>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CB5E96F-7F2F-4FE8-9B29-ACE0B7C83D6E}"/>
              </a:ext>
            </a:extLst>
          </p:cNvPr>
          <p:cNvCxnSpPr/>
          <p:nvPr/>
        </p:nvCxnSpPr>
        <p:spPr>
          <a:xfrm>
            <a:off x="2509837" y="5767399"/>
            <a:ext cx="5334000" cy="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sp>
        <p:nvSpPr>
          <p:cNvPr id="32" name="TextBox 6">
            <a:extLst>
              <a:ext uri="{FF2B5EF4-FFF2-40B4-BE49-F238E27FC236}">
                <a16:creationId xmlns:a16="http://schemas.microsoft.com/office/drawing/2014/main" id="{59CFF325-1154-48B3-BCB3-9C2686E2007C}"/>
              </a:ext>
            </a:extLst>
          </p:cNvPr>
          <p:cNvSpPr txBox="1">
            <a:spLocks noChangeArrowheads="1"/>
          </p:cNvSpPr>
          <p:nvPr/>
        </p:nvSpPr>
        <p:spPr bwMode="auto">
          <a:xfrm>
            <a:off x="1900235" y="3830640"/>
            <a:ext cx="53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400" b="1" dirty="0">
                <a:solidFill>
                  <a:schemeClr val="tx1"/>
                </a:solidFill>
                <a:latin typeface="+mj-lt"/>
              </a:rPr>
              <a:t>P</a:t>
            </a:r>
            <a:r>
              <a:rPr lang="en-US" altLang="en-US" sz="2400" b="1" baseline="-25000" dirty="0">
                <a:solidFill>
                  <a:schemeClr val="tx1"/>
                </a:solidFill>
                <a:latin typeface="+mj-lt"/>
              </a:rPr>
              <a:t>0</a:t>
            </a:r>
            <a:endParaRPr lang="en-US" altLang="en-US" sz="2400" b="1" dirty="0">
              <a:solidFill>
                <a:schemeClr val="tx1"/>
              </a:solidFill>
              <a:latin typeface="+mj-lt"/>
            </a:endParaRPr>
          </a:p>
        </p:txBody>
      </p:sp>
      <p:sp>
        <p:nvSpPr>
          <p:cNvPr id="33" name="TextBox 7">
            <a:extLst>
              <a:ext uri="{FF2B5EF4-FFF2-40B4-BE49-F238E27FC236}">
                <a16:creationId xmlns:a16="http://schemas.microsoft.com/office/drawing/2014/main" id="{05D26922-783A-4BAD-B1F4-B6F9C99DBA5C}"/>
              </a:ext>
            </a:extLst>
          </p:cNvPr>
          <p:cNvSpPr txBox="1">
            <a:spLocks noChangeArrowheads="1"/>
          </p:cNvSpPr>
          <p:nvPr/>
        </p:nvSpPr>
        <p:spPr bwMode="auto">
          <a:xfrm>
            <a:off x="1900235" y="4784733"/>
            <a:ext cx="53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400" b="1">
                <a:solidFill>
                  <a:schemeClr val="accent6"/>
                </a:solidFill>
                <a:latin typeface="+mj-lt"/>
              </a:rPr>
              <a:t>P</a:t>
            </a:r>
            <a:r>
              <a:rPr lang="en-US" altLang="en-US" sz="2400" b="1" baseline="-25000">
                <a:solidFill>
                  <a:schemeClr val="accent6"/>
                </a:solidFill>
                <a:latin typeface="+mj-lt"/>
              </a:rPr>
              <a:t>1</a:t>
            </a:r>
            <a:endParaRPr lang="en-US" altLang="en-US" sz="2400" b="1">
              <a:solidFill>
                <a:schemeClr val="accent6"/>
              </a:solidFill>
              <a:latin typeface="+mj-lt"/>
            </a:endParaRPr>
          </a:p>
        </p:txBody>
      </p:sp>
      <p:sp>
        <p:nvSpPr>
          <p:cNvPr id="34" name="TextBox 8">
            <a:extLst>
              <a:ext uri="{FF2B5EF4-FFF2-40B4-BE49-F238E27FC236}">
                <a16:creationId xmlns:a16="http://schemas.microsoft.com/office/drawing/2014/main" id="{8EABDE3D-F01A-4F56-8349-B5798833690D}"/>
              </a:ext>
            </a:extLst>
          </p:cNvPr>
          <p:cNvSpPr txBox="1">
            <a:spLocks noChangeArrowheads="1"/>
          </p:cNvSpPr>
          <p:nvPr/>
        </p:nvSpPr>
        <p:spPr bwMode="auto">
          <a:xfrm>
            <a:off x="1900235" y="5567375"/>
            <a:ext cx="533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400" b="1">
                <a:solidFill>
                  <a:srgbClr val="1D3064"/>
                </a:solidFill>
                <a:latin typeface="+mj-lt"/>
              </a:rPr>
              <a:t>P</a:t>
            </a:r>
            <a:r>
              <a:rPr lang="en-US" altLang="en-US" sz="2400" b="1" baseline="-25000">
                <a:solidFill>
                  <a:srgbClr val="1D3064"/>
                </a:solidFill>
                <a:latin typeface="+mj-lt"/>
              </a:rPr>
              <a:t>2</a:t>
            </a:r>
            <a:endParaRPr lang="en-US" altLang="en-US" sz="2400" b="1">
              <a:solidFill>
                <a:srgbClr val="1D3064"/>
              </a:solidFill>
              <a:latin typeface="+mj-lt"/>
            </a:endParaRPr>
          </a:p>
        </p:txBody>
      </p:sp>
      <p:sp>
        <p:nvSpPr>
          <p:cNvPr id="35" name="TextBox 9">
            <a:extLst>
              <a:ext uri="{FF2B5EF4-FFF2-40B4-BE49-F238E27FC236}">
                <a16:creationId xmlns:a16="http://schemas.microsoft.com/office/drawing/2014/main" id="{85FB0BC3-E012-41B8-9534-1ECED344A00B}"/>
              </a:ext>
            </a:extLst>
          </p:cNvPr>
          <p:cNvSpPr txBox="1">
            <a:spLocks noChangeArrowheads="1"/>
          </p:cNvSpPr>
          <p:nvPr/>
        </p:nvSpPr>
        <p:spPr bwMode="auto">
          <a:xfrm>
            <a:off x="3576637" y="3643313"/>
            <a:ext cx="1468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chemeClr val="tx1"/>
                </a:solidFill>
                <a:latin typeface="+mj-lt"/>
              </a:rPr>
              <a:t>VC</a:t>
            </a:r>
            <a:r>
              <a:rPr lang="en-US" altLang="en-US" sz="1800" baseline="-25000" dirty="0">
                <a:solidFill>
                  <a:schemeClr val="tx1"/>
                </a:solidFill>
                <a:latin typeface="+mj-lt"/>
              </a:rPr>
              <a:t>0</a:t>
            </a:r>
            <a:r>
              <a:rPr lang="en-US" altLang="en-US" sz="1800" dirty="0">
                <a:solidFill>
                  <a:schemeClr val="tx1"/>
                </a:solidFill>
                <a:latin typeface="+mj-lt"/>
              </a:rPr>
              <a:t>=(1,0,0)</a:t>
            </a:r>
            <a:endParaRPr lang="en-US" altLang="en-US" sz="1800" baseline="-25000" dirty="0">
              <a:solidFill>
                <a:schemeClr val="tx1"/>
              </a:solidFill>
              <a:latin typeface="+mj-lt"/>
            </a:endParaRPr>
          </a:p>
        </p:txBody>
      </p:sp>
      <p:cxnSp>
        <p:nvCxnSpPr>
          <p:cNvPr id="36" name="Straight Connector 35">
            <a:extLst>
              <a:ext uri="{FF2B5EF4-FFF2-40B4-BE49-F238E27FC236}">
                <a16:creationId xmlns:a16="http://schemas.microsoft.com/office/drawing/2014/main" id="{70682B8E-1B93-4F9E-86D7-95AE07D8B559}"/>
              </a:ext>
            </a:extLst>
          </p:cNvPr>
          <p:cNvCxnSpPr/>
          <p:nvPr/>
        </p:nvCxnSpPr>
        <p:spPr>
          <a:xfrm>
            <a:off x="3652837" y="3943353"/>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EAE697B-8A45-41CD-9F9D-CAF58180C3FE}"/>
              </a:ext>
            </a:extLst>
          </p:cNvPr>
          <p:cNvSpPr txBox="1">
            <a:spLocks noChangeArrowheads="1"/>
          </p:cNvSpPr>
          <p:nvPr/>
        </p:nvSpPr>
        <p:spPr bwMode="auto">
          <a:xfrm>
            <a:off x="4948237" y="3643313"/>
            <a:ext cx="1468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chemeClr val="tx1"/>
                </a:solidFill>
                <a:latin typeface="+mj-lt"/>
              </a:rPr>
              <a:t>VC</a:t>
            </a:r>
            <a:r>
              <a:rPr lang="en-US" altLang="en-US" sz="1800" baseline="-25000" dirty="0">
                <a:solidFill>
                  <a:schemeClr val="tx1"/>
                </a:solidFill>
                <a:latin typeface="+mj-lt"/>
              </a:rPr>
              <a:t>0</a:t>
            </a:r>
            <a:r>
              <a:rPr lang="en-US" altLang="en-US" sz="1800" dirty="0">
                <a:solidFill>
                  <a:schemeClr val="tx1"/>
                </a:solidFill>
                <a:latin typeface="+mj-lt"/>
              </a:rPr>
              <a:t>=(2,0,0)</a:t>
            </a:r>
            <a:endParaRPr lang="en-US" altLang="en-US" sz="1800" baseline="-25000" dirty="0">
              <a:solidFill>
                <a:schemeClr val="tx1"/>
              </a:solidFill>
              <a:latin typeface="+mj-lt"/>
            </a:endParaRPr>
          </a:p>
        </p:txBody>
      </p:sp>
      <p:cxnSp>
        <p:nvCxnSpPr>
          <p:cNvPr id="38" name="Straight Connector 37">
            <a:extLst>
              <a:ext uri="{FF2B5EF4-FFF2-40B4-BE49-F238E27FC236}">
                <a16:creationId xmlns:a16="http://schemas.microsoft.com/office/drawing/2014/main" id="{A98BC3B2-F15E-47F8-BE31-D038B429DB2B}"/>
              </a:ext>
            </a:extLst>
          </p:cNvPr>
          <p:cNvCxnSpPr/>
          <p:nvPr/>
        </p:nvCxnSpPr>
        <p:spPr>
          <a:xfrm>
            <a:off x="5024437" y="3943353"/>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30BDFE5-82FB-49EB-99DC-A0037430EA61}"/>
              </a:ext>
            </a:extLst>
          </p:cNvPr>
          <p:cNvCxnSpPr/>
          <p:nvPr/>
        </p:nvCxnSpPr>
        <p:spPr>
          <a:xfrm>
            <a:off x="5024437" y="4019553"/>
            <a:ext cx="508000" cy="877893"/>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0" name="TextBox 14">
            <a:extLst>
              <a:ext uri="{FF2B5EF4-FFF2-40B4-BE49-F238E27FC236}">
                <a16:creationId xmlns:a16="http://schemas.microsoft.com/office/drawing/2014/main" id="{3B3FBB47-2226-411B-B79C-BE546D42728A}"/>
              </a:ext>
            </a:extLst>
          </p:cNvPr>
          <p:cNvSpPr txBox="1">
            <a:spLocks noChangeArrowheads="1"/>
          </p:cNvSpPr>
          <p:nvPr/>
        </p:nvSpPr>
        <p:spPr bwMode="auto">
          <a:xfrm>
            <a:off x="2433637" y="3635376"/>
            <a:ext cx="1468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chemeClr val="tx1"/>
                </a:solidFill>
                <a:latin typeface="+mj-lt"/>
              </a:rPr>
              <a:t>VC</a:t>
            </a:r>
            <a:r>
              <a:rPr lang="en-US" altLang="en-US" sz="1800" baseline="-25000" dirty="0">
                <a:solidFill>
                  <a:schemeClr val="tx1"/>
                </a:solidFill>
                <a:latin typeface="+mj-lt"/>
              </a:rPr>
              <a:t>0</a:t>
            </a:r>
            <a:r>
              <a:rPr lang="en-US" altLang="en-US" sz="1800" dirty="0">
                <a:solidFill>
                  <a:schemeClr val="tx1"/>
                </a:solidFill>
                <a:latin typeface="+mj-lt"/>
              </a:rPr>
              <a:t>=(0,0,0)</a:t>
            </a:r>
            <a:endParaRPr lang="en-US" altLang="en-US" sz="1800" baseline="-25000" dirty="0">
              <a:solidFill>
                <a:schemeClr val="tx1"/>
              </a:solidFill>
              <a:latin typeface="+mj-lt"/>
            </a:endParaRPr>
          </a:p>
        </p:txBody>
      </p:sp>
      <p:sp>
        <p:nvSpPr>
          <p:cNvPr id="41" name="TextBox 15">
            <a:extLst>
              <a:ext uri="{FF2B5EF4-FFF2-40B4-BE49-F238E27FC236}">
                <a16:creationId xmlns:a16="http://schemas.microsoft.com/office/drawing/2014/main" id="{70E01023-9205-4C0C-B3D7-9DDFC0E4EF56}"/>
              </a:ext>
            </a:extLst>
          </p:cNvPr>
          <p:cNvSpPr txBox="1">
            <a:spLocks noChangeArrowheads="1"/>
          </p:cNvSpPr>
          <p:nvPr/>
        </p:nvSpPr>
        <p:spPr bwMode="auto">
          <a:xfrm>
            <a:off x="2417761" y="4546588"/>
            <a:ext cx="1468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chemeClr val="accent6"/>
                </a:solidFill>
                <a:latin typeface="+mj-lt"/>
              </a:rPr>
              <a:t>VC</a:t>
            </a:r>
            <a:r>
              <a:rPr lang="en-US" altLang="en-US" sz="1800" baseline="-25000" dirty="0">
                <a:solidFill>
                  <a:schemeClr val="accent6"/>
                </a:solidFill>
                <a:latin typeface="+mj-lt"/>
              </a:rPr>
              <a:t>1</a:t>
            </a:r>
            <a:r>
              <a:rPr lang="en-US" altLang="en-US" sz="1800" dirty="0">
                <a:solidFill>
                  <a:schemeClr val="accent6"/>
                </a:solidFill>
                <a:latin typeface="+mj-lt"/>
              </a:rPr>
              <a:t>=(0,0,0)</a:t>
            </a:r>
            <a:endParaRPr lang="en-US" altLang="en-US" sz="1800" baseline="-25000" dirty="0">
              <a:solidFill>
                <a:schemeClr val="accent6"/>
              </a:solidFill>
              <a:latin typeface="+mj-lt"/>
            </a:endParaRPr>
          </a:p>
        </p:txBody>
      </p:sp>
      <p:sp>
        <p:nvSpPr>
          <p:cNvPr id="42" name="TextBox 16">
            <a:extLst>
              <a:ext uri="{FF2B5EF4-FFF2-40B4-BE49-F238E27FC236}">
                <a16:creationId xmlns:a16="http://schemas.microsoft.com/office/drawing/2014/main" id="{FDB6E233-CB73-49DA-AE42-CE2ADF1462DE}"/>
              </a:ext>
            </a:extLst>
          </p:cNvPr>
          <p:cNvSpPr txBox="1">
            <a:spLocks noChangeArrowheads="1"/>
          </p:cNvSpPr>
          <p:nvPr/>
        </p:nvSpPr>
        <p:spPr bwMode="auto">
          <a:xfrm>
            <a:off x="2433637" y="5362583"/>
            <a:ext cx="1468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rgbClr val="1D3064"/>
                </a:solidFill>
                <a:latin typeface="+mj-lt"/>
              </a:rPr>
              <a:t>VC</a:t>
            </a:r>
            <a:r>
              <a:rPr lang="en-US" altLang="en-US" sz="1800" baseline="-25000" dirty="0">
                <a:solidFill>
                  <a:srgbClr val="1D3064"/>
                </a:solidFill>
                <a:latin typeface="+mj-lt"/>
              </a:rPr>
              <a:t>2</a:t>
            </a:r>
            <a:r>
              <a:rPr lang="en-US" altLang="en-US" sz="1800" dirty="0">
                <a:solidFill>
                  <a:srgbClr val="1D3064"/>
                </a:solidFill>
                <a:latin typeface="+mj-lt"/>
              </a:rPr>
              <a:t>=(0,0,0)</a:t>
            </a:r>
            <a:endParaRPr lang="en-US" altLang="en-US" sz="1800" baseline="-25000" dirty="0">
              <a:solidFill>
                <a:srgbClr val="1D3064"/>
              </a:solidFill>
              <a:latin typeface="+mj-lt"/>
            </a:endParaRPr>
          </a:p>
        </p:txBody>
      </p:sp>
      <p:cxnSp>
        <p:nvCxnSpPr>
          <p:cNvPr id="43" name="Straight Connector 42">
            <a:extLst>
              <a:ext uri="{FF2B5EF4-FFF2-40B4-BE49-F238E27FC236}">
                <a16:creationId xmlns:a16="http://schemas.microsoft.com/office/drawing/2014/main" id="{B44AFAF5-82DA-43B2-9C7B-59C1DA0A77A7}"/>
              </a:ext>
            </a:extLst>
          </p:cNvPr>
          <p:cNvCxnSpPr/>
          <p:nvPr/>
        </p:nvCxnSpPr>
        <p:spPr>
          <a:xfrm>
            <a:off x="2509837" y="3943353"/>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23CAACE-45BF-472E-9397-E8030D016D15}"/>
              </a:ext>
            </a:extLst>
          </p:cNvPr>
          <p:cNvCxnSpPr/>
          <p:nvPr/>
        </p:nvCxnSpPr>
        <p:spPr>
          <a:xfrm>
            <a:off x="2509837" y="4897446"/>
            <a:ext cx="0" cy="1524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B9325EDA-CE6A-4E48-BD8F-EF3535289411}"/>
              </a:ext>
            </a:extLst>
          </p:cNvPr>
          <p:cNvCxnSpPr/>
          <p:nvPr/>
        </p:nvCxnSpPr>
        <p:spPr>
          <a:xfrm>
            <a:off x="2509837" y="5691199"/>
            <a:ext cx="0" cy="15240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5F6D10E6-B163-4C58-8236-1C193E7442FB}"/>
              </a:ext>
            </a:extLst>
          </p:cNvPr>
          <p:cNvCxnSpPr/>
          <p:nvPr/>
        </p:nvCxnSpPr>
        <p:spPr>
          <a:xfrm>
            <a:off x="5557837" y="4919671"/>
            <a:ext cx="0" cy="1524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6D7F34E7-4390-4A9F-9E07-ADFEC5618E94}"/>
              </a:ext>
            </a:extLst>
          </p:cNvPr>
          <p:cNvSpPr/>
          <p:nvPr/>
        </p:nvSpPr>
        <p:spPr>
          <a:xfrm>
            <a:off x="3957637" y="4157691"/>
            <a:ext cx="1112522" cy="400110"/>
          </a:xfrm>
          <a:prstGeom prst="rect">
            <a:avLst/>
          </a:prstGeom>
          <a:solidFill>
            <a:srgbClr val="1D3064"/>
          </a:solidFill>
          <a:ln>
            <a:noFill/>
          </a:ln>
        </p:spPr>
        <p:style>
          <a:lnRef idx="2">
            <a:schemeClr val="accent6"/>
          </a:lnRef>
          <a:fillRef idx="1">
            <a:schemeClr val="lt1"/>
          </a:fillRef>
          <a:effectRef idx="0">
            <a:schemeClr val="accent6"/>
          </a:effectRef>
          <a:fontRef idx="minor">
            <a:schemeClr val="dk1"/>
          </a:fontRef>
        </p:style>
        <p:txBody>
          <a:bodyPr wrap="square">
            <a:spAutoFit/>
          </a:bodyPr>
          <a:lstStyle/>
          <a:p>
            <a:pPr eaLnBrk="1" hangingPunct="1">
              <a:defRPr/>
            </a:pPr>
            <a:r>
              <a:rPr lang="en-US" sz="2000" dirty="0">
                <a:solidFill>
                  <a:schemeClr val="bg1"/>
                </a:solidFill>
                <a:latin typeface="+mj-lt"/>
              </a:rPr>
              <a:t>m</a:t>
            </a:r>
            <a:r>
              <a:rPr lang="en-US" sz="2000" dirty="0">
                <a:solidFill>
                  <a:schemeClr val="bg1"/>
                </a:solidFill>
                <a:latin typeface="+mj-lt"/>
                <a:sym typeface="Wingdings" pitchFamily="2" charset="2"/>
              </a:rPr>
              <a:t>:(</a:t>
            </a:r>
            <a:r>
              <a:rPr lang="en-US" sz="2000" dirty="0">
                <a:solidFill>
                  <a:schemeClr val="bg1"/>
                </a:solidFill>
                <a:latin typeface="+mj-lt"/>
              </a:rPr>
              <a:t>2,0,0)</a:t>
            </a:r>
            <a:r>
              <a:rPr lang="en-US" sz="2000" dirty="0">
                <a:solidFill>
                  <a:schemeClr val="bg1"/>
                </a:solidFill>
                <a:latin typeface="+mj-lt"/>
                <a:cs typeface="Courier New" pitchFamily="49" charset="0"/>
              </a:rPr>
              <a:t> </a:t>
            </a:r>
            <a:endParaRPr lang="en-US" sz="2000" dirty="0">
              <a:solidFill>
                <a:schemeClr val="bg1"/>
              </a:solidFill>
              <a:latin typeface="+mj-lt"/>
            </a:endParaRPr>
          </a:p>
        </p:txBody>
      </p:sp>
      <p:sp>
        <p:nvSpPr>
          <p:cNvPr id="48" name="TextBox 47">
            <a:extLst>
              <a:ext uri="{FF2B5EF4-FFF2-40B4-BE49-F238E27FC236}">
                <a16:creationId xmlns:a16="http://schemas.microsoft.com/office/drawing/2014/main" id="{0EAD83E1-FA7A-4A5F-89D4-3616D55BCE55}"/>
              </a:ext>
            </a:extLst>
          </p:cNvPr>
          <p:cNvSpPr txBox="1">
            <a:spLocks noChangeArrowheads="1"/>
          </p:cNvSpPr>
          <p:nvPr/>
        </p:nvSpPr>
        <p:spPr bwMode="auto">
          <a:xfrm>
            <a:off x="5462589" y="4625982"/>
            <a:ext cx="1468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chemeClr val="accent6"/>
                </a:solidFill>
                <a:latin typeface="+mj-lt"/>
              </a:rPr>
              <a:t>VC</a:t>
            </a:r>
            <a:r>
              <a:rPr lang="en-US" altLang="en-US" sz="1800" baseline="-25000" dirty="0">
                <a:solidFill>
                  <a:schemeClr val="accent6"/>
                </a:solidFill>
                <a:latin typeface="+mj-lt"/>
              </a:rPr>
              <a:t>1</a:t>
            </a:r>
            <a:r>
              <a:rPr lang="en-US" altLang="en-US" sz="1800" dirty="0">
                <a:solidFill>
                  <a:schemeClr val="accent6"/>
                </a:solidFill>
                <a:latin typeface="+mj-lt"/>
              </a:rPr>
              <a:t>=(2,2,0)</a:t>
            </a:r>
            <a:endParaRPr lang="en-US" altLang="en-US" sz="1800" baseline="-25000" dirty="0">
              <a:solidFill>
                <a:schemeClr val="accent6"/>
              </a:solidFill>
              <a:latin typeface="+mj-lt"/>
            </a:endParaRPr>
          </a:p>
        </p:txBody>
      </p:sp>
      <p:sp>
        <p:nvSpPr>
          <p:cNvPr id="49" name="Rectangle 48">
            <a:extLst>
              <a:ext uri="{FF2B5EF4-FFF2-40B4-BE49-F238E27FC236}">
                <a16:creationId xmlns:a16="http://schemas.microsoft.com/office/drawing/2014/main" id="{62DB7273-5323-471D-B7D4-791B2E7F8A77}"/>
              </a:ext>
            </a:extLst>
          </p:cNvPr>
          <p:cNvSpPr/>
          <p:nvPr/>
        </p:nvSpPr>
        <p:spPr>
          <a:xfrm>
            <a:off x="4369119" y="4137027"/>
            <a:ext cx="152400" cy="401637"/>
          </a:xfrm>
          <a:prstGeom prst="rect">
            <a:avLst/>
          </a:prstGeom>
          <a:solidFill>
            <a:srgbClr val="FFFF00">
              <a:alpha val="30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endParaRPr lang="en-US" sz="2000">
              <a:latin typeface="+mj-lt"/>
            </a:endParaRPr>
          </a:p>
        </p:txBody>
      </p:sp>
      <p:cxnSp>
        <p:nvCxnSpPr>
          <p:cNvPr id="50" name="Straight Connector 49">
            <a:extLst>
              <a:ext uri="{FF2B5EF4-FFF2-40B4-BE49-F238E27FC236}">
                <a16:creationId xmlns:a16="http://schemas.microsoft.com/office/drawing/2014/main" id="{042540BF-DA61-4058-B100-31CEE1D63712}"/>
              </a:ext>
            </a:extLst>
          </p:cNvPr>
          <p:cNvCxnSpPr/>
          <p:nvPr/>
        </p:nvCxnSpPr>
        <p:spPr>
          <a:xfrm>
            <a:off x="6777037" y="4995871"/>
            <a:ext cx="509588" cy="701671"/>
          </a:xfrm>
          <a:prstGeom prst="line">
            <a:avLst/>
          </a:prstGeom>
          <a:ln w="28575">
            <a:solidFill>
              <a:schemeClr val="accent6"/>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F2F3F39-B422-40A7-B275-66AFF88F5F55}"/>
              </a:ext>
            </a:extLst>
          </p:cNvPr>
          <p:cNvCxnSpPr/>
          <p:nvPr/>
        </p:nvCxnSpPr>
        <p:spPr>
          <a:xfrm>
            <a:off x="7310437" y="5691199"/>
            <a:ext cx="0" cy="15240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10450E7A-42C9-44BD-9136-DF5185DEA1AD}"/>
              </a:ext>
            </a:extLst>
          </p:cNvPr>
          <p:cNvSpPr txBox="1">
            <a:spLocks noChangeArrowheads="1"/>
          </p:cNvSpPr>
          <p:nvPr/>
        </p:nvSpPr>
        <p:spPr bwMode="auto">
          <a:xfrm>
            <a:off x="7310437" y="5334008"/>
            <a:ext cx="1468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1D3064"/>
                </a:solidFill>
                <a:latin typeface="+mj-lt"/>
              </a:rPr>
              <a:t>VC</a:t>
            </a:r>
            <a:r>
              <a:rPr lang="en-US" altLang="en-US" sz="1800" baseline="-25000">
                <a:solidFill>
                  <a:srgbClr val="1D3064"/>
                </a:solidFill>
                <a:latin typeface="+mj-lt"/>
              </a:rPr>
              <a:t>2</a:t>
            </a:r>
            <a:r>
              <a:rPr lang="en-US" altLang="en-US" sz="1800">
                <a:solidFill>
                  <a:srgbClr val="1D3064"/>
                </a:solidFill>
                <a:latin typeface="+mj-lt"/>
              </a:rPr>
              <a:t>=(2,3,1)</a:t>
            </a:r>
            <a:endParaRPr lang="en-US" altLang="en-US" sz="1800" baseline="-25000">
              <a:solidFill>
                <a:srgbClr val="1D3064"/>
              </a:solidFill>
              <a:latin typeface="+mj-lt"/>
            </a:endParaRPr>
          </a:p>
        </p:txBody>
      </p:sp>
      <p:sp>
        <p:nvSpPr>
          <p:cNvPr id="53" name="Rectangle 52">
            <a:extLst>
              <a:ext uri="{FF2B5EF4-FFF2-40B4-BE49-F238E27FC236}">
                <a16:creationId xmlns:a16="http://schemas.microsoft.com/office/drawing/2014/main" id="{F90C9F10-EC81-4B84-BEEA-21EA6B33189A}"/>
              </a:ext>
            </a:extLst>
          </p:cNvPr>
          <p:cNvSpPr/>
          <p:nvPr/>
        </p:nvSpPr>
        <p:spPr>
          <a:xfrm>
            <a:off x="5772149" y="5251835"/>
            <a:ext cx="1195388" cy="400110"/>
          </a:xfrm>
          <a:prstGeom prst="rect">
            <a:avLst/>
          </a:prstGeom>
          <a:solidFill>
            <a:schemeClr val="accent6"/>
          </a:solidFill>
          <a:ln>
            <a:noFill/>
          </a:ln>
        </p:spPr>
        <p:style>
          <a:lnRef idx="2">
            <a:schemeClr val="accent6"/>
          </a:lnRef>
          <a:fillRef idx="1">
            <a:schemeClr val="lt1"/>
          </a:fillRef>
          <a:effectRef idx="0">
            <a:schemeClr val="accent6"/>
          </a:effectRef>
          <a:fontRef idx="minor">
            <a:schemeClr val="dk1"/>
          </a:fontRef>
        </p:style>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defRPr/>
            </a:pPr>
            <a:r>
              <a:rPr lang="en-US" altLang="en-US" sz="2000" dirty="0">
                <a:solidFill>
                  <a:schemeClr val="bg1"/>
                </a:solidFill>
                <a:latin typeface="+mj-lt"/>
              </a:rPr>
              <a:t>m</a:t>
            </a:r>
            <a:r>
              <a:rPr lang="ja-JP" altLang="en-US" sz="2000" dirty="0">
                <a:solidFill>
                  <a:schemeClr val="bg1"/>
                </a:solidFill>
                <a:latin typeface="+mj-lt"/>
              </a:rPr>
              <a:t>’</a:t>
            </a:r>
            <a:r>
              <a:rPr lang="en-US" altLang="ja-JP" sz="2000" dirty="0">
                <a:solidFill>
                  <a:schemeClr val="bg1"/>
                </a:solidFill>
                <a:latin typeface="+mj-lt"/>
                <a:sym typeface="Wingdings" panose="05000000000000000000" pitchFamily="2" charset="2"/>
              </a:rPr>
              <a:t>:(</a:t>
            </a:r>
            <a:r>
              <a:rPr lang="en-US" altLang="ja-JP" sz="2000" dirty="0">
                <a:solidFill>
                  <a:schemeClr val="bg1"/>
                </a:solidFill>
                <a:latin typeface="+mj-lt"/>
              </a:rPr>
              <a:t>2,3,0)</a:t>
            </a:r>
            <a:r>
              <a:rPr lang="en-US" altLang="ja-JP" sz="2000" dirty="0">
                <a:solidFill>
                  <a:schemeClr val="bg1"/>
                </a:solidFill>
                <a:latin typeface="+mj-lt"/>
                <a:cs typeface="Courier New" panose="02070309020205020404" pitchFamily="49" charset="0"/>
              </a:rPr>
              <a:t> </a:t>
            </a:r>
            <a:endParaRPr lang="en-US" altLang="en-US" sz="2000" dirty="0">
              <a:solidFill>
                <a:schemeClr val="bg1"/>
              </a:solidFill>
              <a:latin typeface="+mj-lt"/>
            </a:endParaRPr>
          </a:p>
        </p:txBody>
      </p:sp>
      <p:sp>
        <p:nvSpPr>
          <p:cNvPr id="54" name="Rectangle 53">
            <a:extLst>
              <a:ext uri="{FF2B5EF4-FFF2-40B4-BE49-F238E27FC236}">
                <a16:creationId xmlns:a16="http://schemas.microsoft.com/office/drawing/2014/main" id="{4919C3B5-5B01-4DD4-AC02-630C7C259603}"/>
              </a:ext>
            </a:extLst>
          </p:cNvPr>
          <p:cNvSpPr/>
          <p:nvPr/>
        </p:nvSpPr>
        <p:spPr>
          <a:xfrm>
            <a:off x="6330629" y="5264479"/>
            <a:ext cx="152400" cy="401638"/>
          </a:xfrm>
          <a:prstGeom prst="rect">
            <a:avLst/>
          </a:prstGeom>
          <a:solidFill>
            <a:srgbClr val="FFFF00">
              <a:alpha val="30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endParaRPr lang="en-US" sz="2000">
              <a:latin typeface="+mj-lt"/>
            </a:endParaRPr>
          </a:p>
        </p:txBody>
      </p:sp>
      <p:sp>
        <p:nvSpPr>
          <p:cNvPr id="55" name="Rectangle 54">
            <a:extLst>
              <a:ext uri="{FF2B5EF4-FFF2-40B4-BE49-F238E27FC236}">
                <a16:creationId xmlns:a16="http://schemas.microsoft.com/office/drawing/2014/main" id="{6A246C63-1B3F-48C6-92C8-340B81E67C40}"/>
              </a:ext>
            </a:extLst>
          </p:cNvPr>
          <p:cNvSpPr/>
          <p:nvPr/>
        </p:nvSpPr>
        <p:spPr>
          <a:xfrm>
            <a:off x="6450325" y="5264479"/>
            <a:ext cx="152400" cy="401638"/>
          </a:xfrm>
          <a:prstGeom prst="rect">
            <a:avLst/>
          </a:prstGeom>
          <a:solidFill>
            <a:srgbClr val="FFFF00">
              <a:alpha val="30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endParaRPr lang="en-US" sz="2000">
              <a:latin typeface="+mj-lt"/>
            </a:endParaRPr>
          </a:p>
        </p:txBody>
      </p:sp>
      <p:cxnSp>
        <p:nvCxnSpPr>
          <p:cNvPr id="56" name="Straight Connector 55">
            <a:extLst>
              <a:ext uri="{FF2B5EF4-FFF2-40B4-BE49-F238E27FC236}">
                <a16:creationId xmlns:a16="http://schemas.microsoft.com/office/drawing/2014/main" id="{E02F01AB-8692-43A2-A629-5A961990ED63}"/>
              </a:ext>
            </a:extLst>
          </p:cNvPr>
          <p:cNvCxnSpPr/>
          <p:nvPr/>
        </p:nvCxnSpPr>
        <p:spPr>
          <a:xfrm>
            <a:off x="6777037" y="4919671"/>
            <a:ext cx="0" cy="1524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823094B2-7FF5-49CA-A372-BC468605BBF0}"/>
              </a:ext>
            </a:extLst>
          </p:cNvPr>
          <p:cNvSpPr txBox="1">
            <a:spLocks noChangeArrowheads="1"/>
          </p:cNvSpPr>
          <p:nvPr/>
        </p:nvSpPr>
        <p:spPr bwMode="auto">
          <a:xfrm>
            <a:off x="6681789" y="4625982"/>
            <a:ext cx="1468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chemeClr val="accent6"/>
                </a:solidFill>
                <a:latin typeface="+mj-lt"/>
              </a:rPr>
              <a:t>VC</a:t>
            </a:r>
            <a:r>
              <a:rPr lang="en-US" altLang="en-US" sz="1800" baseline="-25000" dirty="0">
                <a:solidFill>
                  <a:schemeClr val="accent6"/>
                </a:solidFill>
                <a:latin typeface="+mj-lt"/>
              </a:rPr>
              <a:t>1</a:t>
            </a:r>
            <a:r>
              <a:rPr lang="en-US" altLang="en-US" sz="1800" dirty="0">
                <a:solidFill>
                  <a:schemeClr val="accent6"/>
                </a:solidFill>
                <a:latin typeface="+mj-lt"/>
              </a:rPr>
              <a:t>=(2,3,0)</a:t>
            </a:r>
            <a:endParaRPr lang="en-US" altLang="en-US" sz="1800" baseline="-25000" dirty="0">
              <a:solidFill>
                <a:schemeClr val="accent6"/>
              </a:solidFill>
              <a:latin typeface="+mj-lt"/>
            </a:endParaRPr>
          </a:p>
        </p:txBody>
      </p:sp>
      <p:cxnSp>
        <p:nvCxnSpPr>
          <p:cNvPr id="58" name="Straight Connector 57">
            <a:extLst>
              <a:ext uri="{FF2B5EF4-FFF2-40B4-BE49-F238E27FC236}">
                <a16:creationId xmlns:a16="http://schemas.microsoft.com/office/drawing/2014/main" id="{910F25B1-1E91-456F-92BD-01D048A4B3A8}"/>
              </a:ext>
            </a:extLst>
          </p:cNvPr>
          <p:cNvCxnSpPr/>
          <p:nvPr/>
        </p:nvCxnSpPr>
        <p:spPr>
          <a:xfrm>
            <a:off x="3576637" y="4899034"/>
            <a:ext cx="0" cy="1524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9" name="TextBox 36">
            <a:extLst>
              <a:ext uri="{FF2B5EF4-FFF2-40B4-BE49-F238E27FC236}">
                <a16:creationId xmlns:a16="http://schemas.microsoft.com/office/drawing/2014/main" id="{6DA26510-D186-40BA-8F63-9DC5E46176DD}"/>
              </a:ext>
            </a:extLst>
          </p:cNvPr>
          <p:cNvSpPr txBox="1">
            <a:spLocks noChangeArrowheads="1"/>
          </p:cNvSpPr>
          <p:nvPr/>
        </p:nvSpPr>
        <p:spPr bwMode="auto">
          <a:xfrm>
            <a:off x="3508691" y="4561172"/>
            <a:ext cx="1468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chemeClr val="accent6"/>
                </a:solidFill>
                <a:latin typeface="+mj-lt"/>
              </a:rPr>
              <a:t>VC</a:t>
            </a:r>
            <a:r>
              <a:rPr lang="en-US" altLang="en-US" sz="1800" baseline="-25000">
                <a:solidFill>
                  <a:schemeClr val="accent6"/>
                </a:solidFill>
                <a:latin typeface="+mj-lt"/>
              </a:rPr>
              <a:t>1</a:t>
            </a:r>
            <a:r>
              <a:rPr lang="en-US" altLang="en-US" sz="1800">
                <a:solidFill>
                  <a:schemeClr val="accent6"/>
                </a:solidFill>
                <a:latin typeface="+mj-lt"/>
              </a:rPr>
              <a:t>=(0,1,0)</a:t>
            </a:r>
            <a:endParaRPr lang="en-US" altLang="en-US" sz="1800" baseline="-25000">
              <a:solidFill>
                <a:schemeClr val="accent6"/>
              </a:solidFill>
              <a:latin typeface="+mj-lt"/>
            </a:endParaRPr>
          </a:p>
        </p:txBody>
      </p:sp>
    </p:spTree>
    <p:extLst>
      <p:ext uri="{BB962C8B-B14F-4D97-AF65-F5344CB8AC3E}">
        <p14:creationId xmlns:p14="http://schemas.microsoft.com/office/powerpoint/2010/main" val="1356881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8">
                                            <p:txEl>
                                              <p:pRg st="2" end="2"/>
                                            </p:txEl>
                                          </p:spTgt>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par>
                                <p:cTn id="39" presetID="1" presetClass="exit" presetSubtype="0" fill="hold" grpId="0" nodeType="withEffect">
                                  <p:stCondLst>
                                    <p:cond delay="0"/>
                                  </p:stCondLst>
                                  <p:childTnLst>
                                    <p:set>
                                      <p:cBhvr>
                                        <p:cTn id="40" dur="1" fill="hold">
                                          <p:stCondLst>
                                            <p:cond delay="0"/>
                                          </p:stCondLst>
                                        </p:cTn>
                                        <p:tgtEl>
                                          <p:spTgt spid="49"/>
                                        </p:tgtEl>
                                        <p:attrNameLst>
                                          <p:attrName>style.visibility</p:attrName>
                                        </p:attrNameLst>
                                      </p:cBhvr>
                                      <p:to>
                                        <p:strVal val="hidden"/>
                                      </p:to>
                                    </p:set>
                                  </p:childTnLst>
                                </p:cTn>
                              </p:par>
                              <p:par>
                                <p:cTn id="41" presetID="1" presetClass="entr" presetSubtype="0" fill="hold" grpId="1" nodeType="with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8">
                                            <p:txEl>
                                              <p:pRg st="3" end="3"/>
                                            </p:txEl>
                                          </p:spTgt>
                                        </p:tgtEl>
                                        <p:attrNameLst>
                                          <p:attrName>style.visibility</p:attrName>
                                        </p:attrNameLst>
                                      </p:cBhvr>
                                      <p:to>
                                        <p:strVal val="visible"/>
                                      </p:to>
                                    </p:set>
                                  </p:childTnLst>
                                </p:cTn>
                              </p:par>
                              <p:par>
                                <p:cTn id="49" presetID="1" presetClass="exit" presetSubtype="0" fill="hold" grpId="0" nodeType="withEffect">
                                  <p:stCondLst>
                                    <p:cond delay="0"/>
                                  </p:stCondLst>
                                  <p:childTnLst>
                                    <p:set>
                                      <p:cBhvr>
                                        <p:cTn id="50" dur="1" fill="hold">
                                          <p:stCondLst>
                                            <p:cond delay="0"/>
                                          </p:stCondLst>
                                        </p:cTn>
                                        <p:tgtEl>
                                          <p:spTgt spid="55"/>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8">
                                            <p:txEl>
                                              <p:pRg st="4" end="4"/>
                                            </p:txEl>
                                          </p:spTgt>
                                        </p:tgtEl>
                                        <p:attrNameLst>
                                          <p:attrName>style.visibility</p:attrName>
                                        </p:attrNameLst>
                                      </p:cBhvr>
                                      <p:to>
                                        <p:strVal val="visible"/>
                                      </p:to>
                                    </p:set>
                                  </p:childTnLst>
                                </p:cTn>
                              </p:par>
                              <p:par>
                                <p:cTn id="55" presetID="1" presetClass="entr" presetSubtype="0" fill="hold" grpId="1" nodeType="withEffect">
                                  <p:stCondLst>
                                    <p:cond delay="0"/>
                                  </p:stCondLst>
                                  <p:childTnLst>
                                    <p:set>
                                      <p:cBhvr>
                                        <p:cTn id="56" dur="1" fill="hold">
                                          <p:stCondLst>
                                            <p:cond delay="0"/>
                                          </p:stCondLst>
                                        </p:cTn>
                                        <p:tgtEl>
                                          <p:spTgt spid="5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grpId="0" nodeType="clickEffect">
                                  <p:stCondLst>
                                    <p:cond delay="0"/>
                                  </p:stCondLst>
                                  <p:childTnLst>
                                    <p:set>
                                      <p:cBhvr>
                                        <p:cTn id="60" dur="1" fill="hold">
                                          <p:stCondLst>
                                            <p:cond delay="0"/>
                                          </p:stCondLst>
                                        </p:cTn>
                                        <p:tgtEl>
                                          <p:spTgt spid="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47" grpId="0" animBg="1"/>
      <p:bldP spid="48" grpId="0"/>
      <p:bldP spid="49" grpId="0" animBg="1"/>
      <p:bldP spid="49" grpId="1" animBg="1"/>
      <p:bldP spid="52" grpId="0"/>
      <p:bldP spid="53" grpId="0" animBg="1"/>
      <p:bldP spid="54" grpId="0" animBg="1"/>
      <p:bldP spid="54" grpId="1" animBg="1"/>
      <p:bldP spid="55" grpId="0" animBg="1"/>
      <p:bldP spid="55" grpId="1" animBg="1"/>
      <p:bldP spid="5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Enforcing Causal Communication</a:t>
            </a:r>
          </a:p>
        </p:txBody>
      </p:sp>
      <p:sp>
        <p:nvSpPr>
          <p:cNvPr id="28" name="Content Placeholder 2">
            <a:extLst>
              <a:ext uri="{FF2B5EF4-FFF2-40B4-BE49-F238E27FC236}">
                <a16:creationId xmlns:a16="http://schemas.microsoft.com/office/drawing/2014/main" id="{05FF24D1-5277-417B-BCE3-776DD62CA93A}"/>
              </a:ext>
            </a:extLst>
          </p:cNvPr>
          <p:cNvSpPr>
            <a:spLocks noGrp="1"/>
          </p:cNvSpPr>
          <p:nvPr>
            <p:ph idx="1"/>
          </p:nvPr>
        </p:nvSpPr>
        <p:spPr>
          <a:xfrm>
            <a:off x="122388" y="863444"/>
            <a:ext cx="11891487" cy="5520423"/>
          </a:xfrm>
        </p:spPr>
        <p:txBody>
          <a:bodyPr>
            <a:normAutofit/>
          </a:bodyPr>
          <a:lstStyle/>
          <a:p>
            <a:pPr>
              <a:lnSpc>
                <a:spcPct val="110000"/>
              </a:lnSpc>
              <a:spcBef>
                <a:spcPts val="200"/>
              </a:spcBef>
              <a:spcAft>
                <a:spcPts val="200"/>
              </a:spcAft>
            </a:pPr>
            <a:r>
              <a:rPr lang="en-US" altLang="en-US" dirty="0">
                <a:latin typeface="+mj-lt"/>
              </a:rPr>
              <a:t>Assume that messages are </a:t>
            </a:r>
            <a:r>
              <a:rPr lang="en-US" altLang="en-US" i="1" dirty="0">
                <a:latin typeface="+mj-lt"/>
              </a:rPr>
              <a:t>multicast</a:t>
            </a:r>
            <a:r>
              <a:rPr lang="en-US" altLang="en-US" dirty="0">
                <a:latin typeface="+mj-lt"/>
              </a:rPr>
              <a:t> within a group of processes, P</a:t>
            </a:r>
            <a:r>
              <a:rPr lang="en-US" altLang="en-US" baseline="-25000" dirty="0">
                <a:latin typeface="+mj-lt"/>
              </a:rPr>
              <a:t>0</a:t>
            </a:r>
            <a:r>
              <a:rPr lang="en-US" altLang="en-US" dirty="0">
                <a:latin typeface="+mj-lt"/>
              </a:rPr>
              <a:t>, P</a:t>
            </a:r>
            <a:r>
              <a:rPr lang="en-US" altLang="en-US" baseline="-25000" dirty="0">
                <a:latin typeface="+mj-lt"/>
              </a:rPr>
              <a:t>1</a:t>
            </a:r>
            <a:r>
              <a:rPr lang="en-US" altLang="en-US" dirty="0">
                <a:latin typeface="+mj-lt"/>
              </a:rPr>
              <a:t> and P</a:t>
            </a:r>
            <a:r>
              <a:rPr lang="en-US" altLang="en-US" baseline="-25000" dirty="0">
                <a:latin typeface="+mj-lt"/>
              </a:rPr>
              <a:t>2</a:t>
            </a:r>
            <a:endParaRPr lang="en-US" altLang="en-US" dirty="0">
              <a:latin typeface="+mj-lt"/>
            </a:endParaRPr>
          </a:p>
          <a:p>
            <a:pPr>
              <a:lnSpc>
                <a:spcPct val="110000"/>
              </a:lnSpc>
              <a:spcBef>
                <a:spcPts val="200"/>
              </a:spcBef>
              <a:spcAft>
                <a:spcPts val="200"/>
              </a:spcAft>
            </a:pPr>
            <a:r>
              <a:rPr lang="en-US" altLang="en-US" dirty="0">
                <a:latin typeface="+mj-lt"/>
              </a:rPr>
              <a:t>To enforce </a:t>
            </a:r>
            <a:r>
              <a:rPr lang="en-US" altLang="en-US" dirty="0">
                <a:solidFill>
                  <a:srgbClr val="1D6199"/>
                </a:solidFill>
                <a:latin typeface="+mj-lt"/>
              </a:rPr>
              <a:t>causally-ordered multicasting, </a:t>
            </a:r>
            <a:r>
              <a:rPr lang="en-US" altLang="en-US" dirty="0">
                <a:latin typeface="+mj-lt"/>
              </a:rPr>
              <a:t>the delivery of a message </a:t>
            </a:r>
            <a:r>
              <a:rPr lang="en-US" altLang="en-US" b="1" i="1" dirty="0">
                <a:latin typeface="+mj-lt"/>
              </a:rPr>
              <a:t>m</a:t>
            </a:r>
            <a:r>
              <a:rPr lang="en-US" altLang="en-US" dirty="0">
                <a:latin typeface="+mj-lt"/>
              </a:rPr>
              <a:t> sent from P</a:t>
            </a:r>
            <a:r>
              <a:rPr lang="en-US" altLang="en-US" baseline="-25000" dirty="0">
                <a:latin typeface="+mj-lt"/>
              </a:rPr>
              <a:t>i</a:t>
            </a:r>
            <a:r>
              <a:rPr lang="en-US" altLang="en-US" dirty="0">
                <a:latin typeface="+mj-lt"/>
              </a:rPr>
              <a:t> to P</a:t>
            </a:r>
            <a:r>
              <a:rPr lang="en-US" altLang="en-US" baseline="-25000" dirty="0">
                <a:latin typeface="+mj-lt"/>
              </a:rPr>
              <a:t>j</a:t>
            </a:r>
            <a:r>
              <a:rPr lang="en-US" altLang="en-US" dirty="0">
                <a:latin typeface="+mj-lt"/>
              </a:rPr>
              <a:t> can be delayed until the following two conditions are met:</a:t>
            </a:r>
          </a:p>
          <a:p>
            <a:pPr lvl="1">
              <a:lnSpc>
                <a:spcPct val="100000"/>
              </a:lnSpc>
              <a:spcBef>
                <a:spcPts val="200"/>
              </a:spcBef>
              <a:spcAft>
                <a:spcPts val="200"/>
              </a:spcAft>
              <a:buFont typeface="Wingdings" panose="05000000000000000000" pitchFamily="2" charset="2"/>
              <a:buChar char="§"/>
            </a:pPr>
            <a:r>
              <a:rPr lang="en-US" altLang="en-US" sz="2400" dirty="0" err="1">
                <a:latin typeface="+mj-lt"/>
                <a:ea typeface="Arial" panose="020B0604020202020204" pitchFamily="34" charset="0"/>
              </a:rPr>
              <a:t>ts</a:t>
            </a:r>
            <a:r>
              <a:rPr lang="en-US" altLang="en-US" sz="2400" dirty="0">
                <a:latin typeface="+mj-lt"/>
                <a:ea typeface="Arial" panose="020B0604020202020204" pitchFamily="34" charset="0"/>
              </a:rPr>
              <a:t>(m)[</a:t>
            </a:r>
            <a:r>
              <a:rPr lang="en-US" altLang="en-US" sz="2400" dirty="0" err="1">
                <a:latin typeface="+mj-lt"/>
                <a:ea typeface="Arial" panose="020B0604020202020204" pitchFamily="34" charset="0"/>
              </a:rPr>
              <a:t>i</a:t>
            </a:r>
            <a:r>
              <a:rPr lang="en-US" altLang="en-US" sz="2400" dirty="0">
                <a:latin typeface="+mj-lt"/>
                <a:ea typeface="Arial" panose="020B0604020202020204" pitchFamily="34" charset="0"/>
              </a:rPr>
              <a:t>] = </a:t>
            </a:r>
            <a:r>
              <a:rPr lang="en-US" altLang="en-US" sz="2400" dirty="0" err="1">
                <a:latin typeface="+mj-lt"/>
                <a:ea typeface="Arial" panose="020B0604020202020204" pitchFamily="34" charset="0"/>
              </a:rPr>
              <a:t>VCj</a:t>
            </a:r>
            <a:r>
              <a:rPr lang="en-US" altLang="en-US" sz="2400" dirty="0">
                <a:latin typeface="+mj-lt"/>
                <a:ea typeface="Arial" panose="020B0604020202020204" pitchFamily="34" charset="0"/>
              </a:rPr>
              <a:t>[</a:t>
            </a:r>
            <a:r>
              <a:rPr lang="en-US" altLang="en-US" sz="2400" dirty="0" err="1">
                <a:latin typeface="+mj-lt"/>
                <a:ea typeface="Arial" panose="020B0604020202020204" pitchFamily="34" charset="0"/>
              </a:rPr>
              <a:t>i</a:t>
            </a:r>
            <a:r>
              <a:rPr lang="en-US" altLang="en-US" sz="2400" dirty="0">
                <a:latin typeface="+mj-lt"/>
                <a:ea typeface="Arial" panose="020B0604020202020204" pitchFamily="34" charset="0"/>
              </a:rPr>
              <a:t>] + 1 (Condition I)</a:t>
            </a:r>
          </a:p>
          <a:p>
            <a:pPr lvl="1">
              <a:lnSpc>
                <a:spcPct val="100000"/>
              </a:lnSpc>
              <a:spcBef>
                <a:spcPts val="200"/>
              </a:spcBef>
              <a:spcAft>
                <a:spcPts val="200"/>
              </a:spcAft>
              <a:buFont typeface="Wingdings" panose="05000000000000000000" pitchFamily="2" charset="2"/>
              <a:buChar char="§"/>
            </a:pPr>
            <a:r>
              <a:rPr lang="en-US" altLang="en-US" sz="2400" dirty="0" err="1">
                <a:latin typeface="+mj-lt"/>
                <a:ea typeface="Arial" panose="020B0604020202020204" pitchFamily="34" charset="0"/>
              </a:rPr>
              <a:t>ts</a:t>
            </a:r>
            <a:r>
              <a:rPr lang="en-US" altLang="en-US" sz="2400" dirty="0">
                <a:latin typeface="+mj-lt"/>
                <a:ea typeface="Arial" panose="020B0604020202020204" pitchFamily="34" charset="0"/>
              </a:rPr>
              <a:t>(m)[k] &lt;= </a:t>
            </a:r>
            <a:r>
              <a:rPr lang="en-US" altLang="en-US" sz="2400" dirty="0" err="1">
                <a:latin typeface="+mj-lt"/>
                <a:ea typeface="Arial" panose="020B0604020202020204" pitchFamily="34" charset="0"/>
              </a:rPr>
              <a:t>VCj</a:t>
            </a:r>
            <a:r>
              <a:rPr lang="en-US" altLang="en-US" sz="2400" dirty="0">
                <a:latin typeface="+mj-lt"/>
                <a:ea typeface="Arial" panose="020B0604020202020204" pitchFamily="34" charset="0"/>
              </a:rPr>
              <a:t>[k] for all k != </a:t>
            </a:r>
            <a:r>
              <a:rPr lang="en-US" altLang="en-US" sz="2400" dirty="0" err="1">
                <a:latin typeface="+mj-lt"/>
                <a:ea typeface="Arial" panose="020B0604020202020204" pitchFamily="34" charset="0"/>
              </a:rPr>
              <a:t>i</a:t>
            </a:r>
            <a:r>
              <a:rPr lang="en-US" altLang="en-US" sz="2400" dirty="0">
                <a:latin typeface="+mj-lt"/>
                <a:ea typeface="Arial" panose="020B0604020202020204" pitchFamily="34" charset="0"/>
              </a:rPr>
              <a:t> (Condition II)</a:t>
            </a:r>
          </a:p>
          <a:p>
            <a:pPr>
              <a:lnSpc>
                <a:spcPct val="110000"/>
              </a:lnSpc>
              <a:spcBef>
                <a:spcPts val="200"/>
              </a:spcBef>
              <a:spcAft>
                <a:spcPts val="200"/>
              </a:spcAft>
              <a:buFontTx/>
              <a:buNone/>
            </a:pPr>
            <a:r>
              <a:rPr lang="en-US" altLang="en-US" i="1" dirty="0">
                <a:latin typeface="+mj-lt"/>
                <a:cs typeface="Courier New" panose="02070309020205020404" pitchFamily="49" charset="0"/>
              </a:rPr>
              <a:t>	</a:t>
            </a:r>
            <a:r>
              <a:rPr lang="en-US" altLang="en-US" dirty="0">
                <a:solidFill>
                  <a:srgbClr val="1D3064"/>
                </a:solidFill>
                <a:latin typeface="+mj-lt"/>
                <a:cs typeface="Courier New" panose="02070309020205020404" pitchFamily="49" charset="0"/>
              </a:rPr>
              <a:t>Assuming that P</a:t>
            </a:r>
            <a:r>
              <a:rPr lang="en-US" altLang="en-US" baseline="-25000" dirty="0">
                <a:solidFill>
                  <a:srgbClr val="1D3064"/>
                </a:solidFill>
                <a:latin typeface="+mj-lt"/>
                <a:cs typeface="Courier New" panose="02070309020205020404" pitchFamily="49" charset="0"/>
              </a:rPr>
              <a:t>i</a:t>
            </a:r>
            <a:r>
              <a:rPr lang="en-US" altLang="en-US" dirty="0">
                <a:solidFill>
                  <a:srgbClr val="1D3064"/>
                </a:solidFill>
                <a:latin typeface="+mj-lt"/>
                <a:cs typeface="Courier New" panose="02070309020205020404" pitchFamily="49" charset="0"/>
              </a:rPr>
              <a:t> only increments VC</a:t>
            </a:r>
            <a:r>
              <a:rPr lang="en-US" altLang="en-US" baseline="-25000" dirty="0">
                <a:solidFill>
                  <a:srgbClr val="1D3064"/>
                </a:solidFill>
                <a:latin typeface="+mj-lt"/>
                <a:cs typeface="Courier New" panose="02070309020205020404" pitchFamily="49" charset="0"/>
              </a:rPr>
              <a:t>i</a:t>
            </a:r>
            <a:r>
              <a:rPr lang="en-US" altLang="en-US" dirty="0">
                <a:solidFill>
                  <a:srgbClr val="1D3064"/>
                </a:solidFill>
                <a:latin typeface="+mj-lt"/>
                <a:cs typeface="Courier New" panose="02070309020205020404" pitchFamily="49" charset="0"/>
              </a:rPr>
              <a:t>[</a:t>
            </a:r>
            <a:r>
              <a:rPr lang="en-US" altLang="en-US" dirty="0" err="1">
                <a:solidFill>
                  <a:srgbClr val="1D3064"/>
                </a:solidFill>
                <a:latin typeface="+mj-lt"/>
                <a:cs typeface="Courier New" panose="02070309020205020404" pitchFamily="49" charset="0"/>
              </a:rPr>
              <a:t>i</a:t>
            </a:r>
            <a:r>
              <a:rPr lang="en-US" altLang="en-US" dirty="0">
                <a:solidFill>
                  <a:srgbClr val="1D3064"/>
                </a:solidFill>
                <a:latin typeface="+mj-lt"/>
                <a:cs typeface="Courier New" panose="02070309020205020404" pitchFamily="49" charset="0"/>
              </a:rPr>
              <a:t>] upon sending m and adjusts VC</a:t>
            </a:r>
            <a:r>
              <a:rPr lang="en-US" altLang="en-US" baseline="-25000" dirty="0">
                <a:solidFill>
                  <a:srgbClr val="1D3064"/>
                </a:solidFill>
                <a:latin typeface="+mj-lt"/>
                <a:cs typeface="Courier New" panose="02070309020205020404" pitchFamily="49" charset="0"/>
              </a:rPr>
              <a:t>i</a:t>
            </a:r>
            <a:r>
              <a:rPr lang="en-US" altLang="en-US" dirty="0">
                <a:solidFill>
                  <a:srgbClr val="1D3064"/>
                </a:solidFill>
                <a:latin typeface="+mj-lt"/>
                <a:cs typeface="Courier New" panose="02070309020205020404" pitchFamily="49" charset="0"/>
              </a:rPr>
              <a:t>[k] to max{VC</a:t>
            </a:r>
            <a:r>
              <a:rPr lang="en-US" altLang="en-US" baseline="-25000" dirty="0">
                <a:solidFill>
                  <a:srgbClr val="1D3064"/>
                </a:solidFill>
                <a:latin typeface="+mj-lt"/>
                <a:cs typeface="Courier New" panose="02070309020205020404" pitchFamily="49" charset="0"/>
              </a:rPr>
              <a:t>i</a:t>
            </a:r>
            <a:r>
              <a:rPr lang="en-US" altLang="en-US" dirty="0">
                <a:solidFill>
                  <a:srgbClr val="1D3064"/>
                </a:solidFill>
                <a:latin typeface="+mj-lt"/>
                <a:cs typeface="Courier New" panose="02070309020205020404" pitchFamily="49" charset="0"/>
              </a:rPr>
              <a:t>[k], </a:t>
            </a:r>
            <a:r>
              <a:rPr lang="en-US" altLang="en-US" dirty="0" err="1">
                <a:solidFill>
                  <a:srgbClr val="1D3064"/>
                </a:solidFill>
                <a:latin typeface="+mj-lt"/>
                <a:cs typeface="Courier New" panose="02070309020205020404" pitchFamily="49" charset="0"/>
              </a:rPr>
              <a:t>ts</a:t>
            </a:r>
            <a:r>
              <a:rPr lang="en-US" altLang="en-US" dirty="0">
                <a:solidFill>
                  <a:srgbClr val="1D3064"/>
                </a:solidFill>
                <a:latin typeface="+mj-lt"/>
                <a:cs typeface="Courier New" panose="02070309020205020404" pitchFamily="49" charset="0"/>
              </a:rPr>
              <a:t>(m)[k]} for each k upon receiving a message m</a:t>
            </a:r>
            <a:r>
              <a:rPr lang="ja-JP" altLang="en-US" dirty="0">
                <a:solidFill>
                  <a:srgbClr val="1D3064"/>
                </a:solidFill>
                <a:latin typeface="+mj-lt"/>
                <a:cs typeface="Courier New" panose="02070309020205020404" pitchFamily="49" charset="0"/>
              </a:rPr>
              <a:t>’</a:t>
            </a:r>
            <a:endParaRPr lang="en-US" altLang="en-US" dirty="0">
              <a:solidFill>
                <a:srgbClr val="1D3064"/>
              </a:solidFill>
              <a:latin typeface="+mj-lt"/>
              <a:ea typeface="Arial" panose="020B0604020202020204" pitchFamily="34" charset="0"/>
            </a:endParaRPr>
          </a:p>
          <a:p>
            <a:pPr>
              <a:lnSpc>
                <a:spcPct val="100000"/>
              </a:lnSpc>
              <a:spcBef>
                <a:spcPts val="300"/>
              </a:spcBef>
              <a:spcAft>
                <a:spcPts val="300"/>
              </a:spcAft>
            </a:pPr>
            <a:endParaRPr lang="en-US" altLang="en-US" sz="2400" b="1" dirty="0">
              <a:latin typeface="+mj-lt"/>
              <a:ea typeface="MS PGothic" panose="020B0600070205080204" pitchFamily="34" charset="-128"/>
            </a:endParaRPr>
          </a:p>
        </p:txBody>
      </p:sp>
      <p:cxnSp>
        <p:nvCxnSpPr>
          <p:cNvPr id="60" name="Straight Connector 59">
            <a:extLst>
              <a:ext uri="{FF2B5EF4-FFF2-40B4-BE49-F238E27FC236}">
                <a16:creationId xmlns:a16="http://schemas.microsoft.com/office/drawing/2014/main" id="{5E28CA13-9396-4B13-BCAA-94F8D84FFBFE}"/>
              </a:ext>
            </a:extLst>
          </p:cNvPr>
          <p:cNvCxnSpPr/>
          <p:nvPr/>
        </p:nvCxnSpPr>
        <p:spPr>
          <a:xfrm>
            <a:off x="2266950" y="4428040"/>
            <a:ext cx="5334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EFEC7D7-E2AE-4389-8533-B15F9288F2B3}"/>
              </a:ext>
            </a:extLst>
          </p:cNvPr>
          <p:cNvCxnSpPr/>
          <p:nvPr/>
        </p:nvCxnSpPr>
        <p:spPr>
          <a:xfrm>
            <a:off x="2266950" y="5167816"/>
            <a:ext cx="5334000" cy="22225"/>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800E75DC-7413-46E5-8657-97B56CB89ABC}"/>
              </a:ext>
            </a:extLst>
          </p:cNvPr>
          <p:cNvCxnSpPr/>
          <p:nvPr/>
        </p:nvCxnSpPr>
        <p:spPr>
          <a:xfrm>
            <a:off x="2266950" y="5875840"/>
            <a:ext cx="5334000" cy="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sp>
        <p:nvSpPr>
          <p:cNvPr id="63" name="TextBox 6">
            <a:extLst>
              <a:ext uri="{FF2B5EF4-FFF2-40B4-BE49-F238E27FC236}">
                <a16:creationId xmlns:a16="http://schemas.microsoft.com/office/drawing/2014/main" id="{2DC60D6D-7409-413D-83F6-E67E1F4ABDFE}"/>
              </a:ext>
            </a:extLst>
          </p:cNvPr>
          <p:cNvSpPr txBox="1">
            <a:spLocks noChangeArrowheads="1"/>
          </p:cNvSpPr>
          <p:nvPr/>
        </p:nvSpPr>
        <p:spPr bwMode="auto">
          <a:xfrm>
            <a:off x="1771648" y="4253415"/>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b="1" dirty="0">
                <a:solidFill>
                  <a:schemeClr val="tx1"/>
                </a:solidFill>
                <a:latin typeface="+mj-lt"/>
              </a:rPr>
              <a:t>P</a:t>
            </a:r>
            <a:r>
              <a:rPr lang="en-US" altLang="en-US" sz="1800" b="1" baseline="-25000" dirty="0">
                <a:solidFill>
                  <a:schemeClr val="tx1"/>
                </a:solidFill>
                <a:latin typeface="+mj-lt"/>
              </a:rPr>
              <a:t>0</a:t>
            </a:r>
            <a:endParaRPr lang="en-US" altLang="en-US" sz="1800" b="1" dirty="0">
              <a:solidFill>
                <a:schemeClr val="tx1"/>
              </a:solidFill>
              <a:latin typeface="+mj-lt"/>
            </a:endParaRPr>
          </a:p>
        </p:txBody>
      </p:sp>
      <p:sp>
        <p:nvSpPr>
          <p:cNvPr id="64" name="TextBox 7">
            <a:extLst>
              <a:ext uri="{FF2B5EF4-FFF2-40B4-BE49-F238E27FC236}">
                <a16:creationId xmlns:a16="http://schemas.microsoft.com/office/drawing/2014/main" id="{DF864F29-385A-4292-8EA7-D3841ED28445}"/>
              </a:ext>
            </a:extLst>
          </p:cNvPr>
          <p:cNvSpPr txBox="1">
            <a:spLocks noChangeArrowheads="1"/>
          </p:cNvSpPr>
          <p:nvPr/>
        </p:nvSpPr>
        <p:spPr bwMode="auto">
          <a:xfrm>
            <a:off x="1771648" y="4993190"/>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b="1">
                <a:solidFill>
                  <a:schemeClr val="accent6"/>
                </a:solidFill>
                <a:latin typeface="+mj-lt"/>
              </a:rPr>
              <a:t>P</a:t>
            </a:r>
            <a:r>
              <a:rPr lang="en-US" altLang="en-US" sz="1800" b="1" baseline="-25000">
                <a:solidFill>
                  <a:schemeClr val="accent6"/>
                </a:solidFill>
                <a:latin typeface="+mj-lt"/>
              </a:rPr>
              <a:t>1</a:t>
            </a:r>
            <a:endParaRPr lang="en-US" altLang="en-US" sz="1800" b="1">
              <a:solidFill>
                <a:schemeClr val="accent6"/>
              </a:solidFill>
              <a:latin typeface="+mj-lt"/>
            </a:endParaRPr>
          </a:p>
        </p:txBody>
      </p:sp>
      <p:sp>
        <p:nvSpPr>
          <p:cNvPr id="65" name="TextBox 8">
            <a:extLst>
              <a:ext uri="{FF2B5EF4-FFF2-40B4-BE49-F238E27FC236}">
                <a16:creationId xmlns:a16="http://schemas.microsoft.com/office/drawing/2014/main" id="{41702274-CF39-4FEE-8D0A-FB1C77B64DBC}"/>
              </a:ext>
            </a:extLst>
          </p:cNvPr>
          <p:cNvSpPr txBox="1">
            <a:spLocks noChangeArrowheads="1"/>
          </p:cNvSpPr>
          <p:nvPr/>
        </p:nvSpPr>
        <p:spPr bwMode="auto">
          <a:xfrm>
            <a:off x="1771648" y="5690104"/>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b="1">
                <a:solidFill>
                  <a:srgbClr val="1D3064"/>
                </a:solidFill>
                <a:latin typeface="+mj-lt"/>
              </a:rPr>
              <a:t>P</a:t>
            </a:r>
            <a:r>
              <a:rPr lang="en-US" altLang="en-US" sz="1800" b="1" baseline="-25000">
                <a:solidFill>
                  <a:srgbClr val="1D3064"/>
                </a:solidFill>
                <a:latin typeface="+mj-lt"/>
              </a:rPr>
              <a:t>2</a:t>
            </a:r>
            <a:endParaRPr lang="en-US" altLang="en-US" sz="1800" b="1">
              <a:solidFill>
                <a:srgbClr val="1D3064"/>
              </a:solidFill>
              <a:latin typeface="+mj-lt"/>
            </a:endParaRPr>
          </a:p>
        </p:txBody>
      </p:sp>
      <p:sp>
        <p:nvSpPr>
          <p:cNvPr id="66" name="TextBox 9">
            <a:extLst>
              <a:ext uri="{FF2B5EF4-FFF2-40B4-BE49-F238E27FC236}">
                <a16:creationId xmlns:a16="http://schemas.microsoft.com/office/drawing/2014/main" id="{C33867B5-7DC0-488F-A659-424CE9C4D6FB}"/>
              </a:ext>
            </a:extLst>
          </p:cNvPr>
          <p:cNvSpPr txBox="1">
            <a:spLocks noChangeArrowheads="1"/>
          </p:cNvSpPr>
          <p:nvPr/>
        </p:nvSpPr>
        <p:spPr bwMode="auto">
          <a:xfrm>
            <a:off x="3333750" y="4151816"/>
            <a:ext cx="13858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600" dirty="0">
                <a:solidFill>
                  <a:schemeClr val="tx1"/>
                </a:solidFill>
                <a:latin typeface="+mj-lt"/>
              </a:rPr>
              <a:t>VC</a:t>
            </a:r>
            <a:r>
              <a:rPr lang="en-US" altLang="en-US" sz="1600" baseline="-25000" dirty="0">
                <a:solidFill>
                  <a:schemeClr val="tx1"/>
                </a:solidFill>
                <a:latin typeface="+mj-lt"/>
              </a:rPr>
              <a:t>0</a:t>
            </a:r>
            <a:r>
              <a:rPr lang="en-US" altLang="en-US" sz="1600" dirty="0">
                <a:solidFill>
                  <a:schemeClr val="tx1"/>
                </a:solidFill>
                <a:latin typeface="+mj-lt"/>
              </a:rPr>
              <a:t>=(1,0,0)</a:t>
            </a:r>
            <a:endParaRPr lang="en-US" altLang="en-US" sz="1600" baseline="-25000" dirty="0">
              <a:solidFill>
                <a:schemeClr val="tx1"/>
              </a:solidFill>
              <a:latin typeface="+mj-lt"/>
            </a:endParaRPr>
          </a:p>
        </p:txBody>
      </p:sp>
      <p:cxnSp>
        <p:nvCxnSpPr>
          <p:cNvPr id="67" name="Straight Connector 66">
            <a:extLst>
              <a:ext uri="{FF2B5EF4-FFF2-40B4-BE49-F238E27FC236}">
                <a16:creationId xmlns:a16="http://schemas.microsoft.com/office/drawing/2014/main" id="{B6463A65-1E29-4E51-A674-6E7FF18B2683}"/>
              </a:ext>
            </a:extLst>
          </p:cNvPr>
          <p:cNvCxnSpPr/>
          <p:nvPr/>
        </p:nvCxnSpPr>
        <p:spPr>
          <a:xfrm>
            <a:off x="3409950" y="4351840"/>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F3A16F37-E0FC-4CFA-93BB-67E8B6B4EA16}"/>
              </a:ext>
            </a:extLst>
          </p:cNvPr>
          <p:cNvSpPr txBox="1">
            <a:spLocks noChangeArrowheads="1"/>
          </p:cNvSpPr>
          <p:nvPr/>
        </p:nvSpPr>
        <p:spPr bwMode="auto">
          <a:xfrm>
            <a:off x="5924550" y="4151816"/>
            <a:ext cx="13858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600" dirty="0">
                <a:solidFill>
                  <a:schemeClr val="tx1"/>
                </a:solidFill>
                <a:latin typeface="+mj-lt"/>
              </a:rPr>
              <a:t>VC</a:t>
            </a:r>
            <a:r>
              <a:rPr lang="en-US" altLang="en-US" sz="1600" baseline="-25000" dirty="0">
                <a:solidFill>
                  <a:schemeClr val="tx1"/>
                </a:solidFill>
                <a:latin typeface="+mj-lt"/>
              </a:rPr>
              <a:t>0</a:t>
            </a:r>
            <a:r>
              <a:rPr lang="en-US" altLang="en-US" sz="1600" dirty="0">
                <a:solidFill>
                  <a:schemeClr val="tx1"/>
                </a:solidFill>
                <a:latin typeface="+mj-lt"/>
              </a:rPr>
              <a:t>=(2,2,0)</a:t>
            </a:r>
            <a:endParaRPr lang="en-US" altLang="en-US" sz="1600" baseline="-25000" dirty="0">
              <a:solidFill>
                <a:schemeClr val="tx1"/>
              </a:solidFill>
              <a:latin typeface="+mj-lt"/>
            </a:endParaRPr>
          </a:p>
        </p:txBody>
      </p:sp>
      <p:cxnSp>
        <p:nvCxnSpPr>
          <p:cNvPr id="69" name="Straight Connector 68">
            <a:extLst>
              <a:ext uri="{FF2B5EF4-FFF2-40B4-BE49-F238E27FC236}">
                <a16:creationId xmlns:a16="http://schemas.microsoft.com/office/drawing/2014/main" id="{DC6E57A7-BA66-48F1-A29B-283F6457EA68}"/>
              </a:ext>
            </a:extLst>
          </p:cNvPr>
          <p:cNvCxnSpPr/>
          <p:nvPr/>
        </p:nvCxnSpPr>
        <p:spPr>
          <a:xfrm>
            <a:off x="6000750" y="4351840"/>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8BC36EF2-79FE-4FEB-A349-EA274B390510}"/>
              </a:ext>
            </a:extLst>
          </p:cNvPr>
          <p:cNvCxnSpPr/>
          <p:nvPr/>
        </p:nvCxnSpPr>
        <p:spPr>
          <a:xfrm>
            <a:off x="3409950" y="4428041"/>
            <a:ext cx="711200" cy="73977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1" name="TextBox 14">
            <a:extLst>
              <a:ext uri="{FF2B5EF4-FFF2-40B4-BE49-F238E27FC236}">
                <a16:creationId xmlns:a16="http://schemas.microsoft.com/office/drawing/2014/main" id="{611F2505-93C4-426E-BEE0-C2B575D105F3}"/>
              </a:ext>
            </a:extLst>
          </p:cNvPr>
          <p:cNvSpPr txBox="1">
            <a:spLocks noChangeArrowheads="1"/>
          </p:cNvSpPr>
          <p:nvPr/>
        </p:nvSpPr>
        <p:spPr bwMode="auto">
          <a:xfrm>
            <a:off x="2190750" y="4143879"/>
            <a:ext cx="13858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600">
                <a:solidFill>
                  <a:schemeClr val="tx1"/>
                </a:solidFill>
                <a:latin typeface="+mj-lt"/>
              </a:rPr>
              <a:t>VC</a:t>
            </a:r>
            <a:r>
              <a:rPr lang="en-US" altLang="en-US" sz="1600" baseline="-25000">
                <a:solidFill>
                  <a:schemeClr val="tx1"/>
                </a:solidFill>
                <a:latin typeface="+mj-lt"/>
              </a:rPr>
              <a:t>0</a:t>
            </a:r>
            <a:r>
              <a:rPr lang="en-US" altLang="en-US" sz="1600">
                <a:solidFill>
                  <a:schemeClr val="tx1"/>
                </a:solidFill>
                <a:latin typeface="+mj-lt"/>
              </a:rPr>
              <a:t>=(0,0,0)</a:t>
            </a:r>
            <a:endParaRPr lang="en-US" altLang="en-US" sz="1600" baseline="-25000">
              <a:solidFill>
                <a:schemeClr val="tx1"/>
              </a:solidFill>
              <a:latin typeface="+mj-lt"/>
            </a:endParaRPr>
          </a:p>
        </p:txBody>
      </p:sp>
      <p:sp>
        <p:nvSpPr>
          <p:cNvPr id="72" name="TextBox 16">
            <a:extLst>
              <a:ext uri="{FF2B5EF4-FFF2-40B4-BE49-F238E27FC236}">
                <a16:creationId xmlns:a16="http://schemas.microsoft.com/office/drawing/2014/main" id="{608762F7-F158-4548-AE91-F1F07126871F}"/>
              </a:ext>
            </a:extLst>
          </p:cNvPr>
          <p:cNvSpPr txBox="1">
            <a:spLocks noChangeArrowheads="1"/>
          </p:cNvSpPr>
          <p:nvPr/>
        </p:nvSpPr>
        <p:spPr bwMode="auto">
          <a:xfrm>
            <a:off x="2190750" y="5599616"/>
            <a:ext cx="13858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600">
                <a:solidFill>
                  <a:srgbClr val="1D3064"/>
                </a:solidFill>
                <a:latin typeface="+mj-lt"/>
              </a:rPr>
              <a:t>VC</a:t>
            </a:r>
            <a:r>
              <a:rPr lang="en-US" altLang="en-US" sz="1600" baseline="-25000">
                <a:solidFill>
                  <a:srgbClr val="1D3064"/>
                </a:solidFill>
                <a:latin typeface="+mj-lt"/>
              </a:rPr>
              <a:t>2</a:t>
            </a:r>
            <a:r>
              <a:rPr lang="en-US" altLang="en-US" sz="1600">
                <a:solidFill>
                  <a:srgbClr val="1D3064"/>
                </a:solidFill>
                <a:latin typeface="+mj-lt"/>
              </a:rPr>
              <a:t>=(0,0,0)</a:t>
            </a:r>
            <a:endParaRPr lang="en-US" altLang="en-US" sz="1600" baseline="-25000">
              <a:solidFill>
                <a:srgbClr val="1D3064"/>
              </a:solidFill>
              <a:latin typeface="+mj-lt"/>
            </a:endParaRPr>
          </a:p>
        </p:txBody>
      </p:sp>
      <p:cxnSp>
        <p:nvCxnSpPr>
          <p:cNvPr id="73" name="Straight Connector 72">
            <a:extLst>
              <a:ext uri="{FF2B5EF4-FFF2-40B4-BE49-F238E27FC236}">
                <a16:creationId xmlns:a16="http://schemas.microsoft.com/office/drawing/2014/main" id="{DCBD107C-89E8-4D83-BBA7-AC26714FDE7F}"/>
              </a:ext>
            </a:extLst>
          </p:cNvPr>
          <p:cNvCxnSpPr/>
          <p:nvPr/>
        </p:nvCxnSpPr>
        <p:spPr>
          <a:xfrm>
            <a:off x="2266950" y="4351840"/>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2568BB89-8E98-49A0-B2C6-47C6EB64CDC8}"/>
              </a:ext>
            </a:extLst>
          </p:cNvPr>
          <p:cNvCxnSpPr/>
          <p:nvPr/>
        </p:nvCxnSpPr>
        <p:spPr>
          <a:xfrm>
            <a:off x="2266950" y="5091615"/>
            <a:ext cx="0" cy="1524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AEA0EFE6-93B0-4E7B-B621-8F4E5AFEA038}"/>
              </a:ext>
            </a:extLst>
          </p:cNvPr>
          <p:cNvCxnSpPr/>
          <p:nvPr/>
        </p:nvCxnSpPr>
        <p:spPr>
          <a:xfrm>
            <a:off x="2266950" y="5799640"/>
            <a:ext cx="0" cy="15240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CB965DA3-2D09-4CE3-923C-8E4CE6C75B5D}"/>
              </a:ext>
            </a:extLst>
          </p:cNvPr>
          <p:cNvSpPr/>
          <p:nvPr/>
        </p:nvSpPr>
        <p:spPr>
          <a:xfrm>
            <a:off x="2686050" y="4591554"/>
            <a:ext cx="889000" cy="307777"/>
          </a:xfrm>
          <a:prstGeom prst="rect">
            <a:avLst/>
          </a:prstGeom>
          <a:solidFill>
            <a:schemeClr val="accent6"/>
          </a:solidFill>
          <a:ln>
            <a:noFill/>
          </a:ln>
        </p:spPr>
        <p:style>
          <a:lnRef idx="2">
            <a:schemeClr val="accent6"/>
          </a:lnRef>
          <a:fillRef idx="1">
            <a:schemeClr val="lt1"/>
          </a:fillRef>
          <a:effectRef idx="0">
            <a:schemeClr val="accent6"/>
          </a:effectRef>
          <a:fontRef idx="minor">
            <a:schemeClr val="dk1"/>
          </a:fontRef>
        </p:style>
        <p:txBody>
          <a:bodyPr wrap="square">
            <a:spAutoFit/>
          </a:bodyPr>
          <a:lstStyle/>
          <a:p>
            <a:pPr eaLnBrk="1" hangingPunct="1">
              <a:defRPr/>
            </a:pPr>
            <a:r>
              <a:rPr lang="en-US" sz="1400" b="1" dirty="0">
                <a:solidFill>
                  <a:schemeClr val="bg1"/>
                </a:solidFill>
                <a:latin typeface="+mj-lt"/>
              </a:rPr>
              <a:t>m</a:t>
            </a:r>
            <a:r>
              <a:rPr lang="en-US" sz="1400" b="1" dirty="0">
                <a:solidFill>
                  <a:schemeClr val="bg1"/>
                </a:solidFill>
                <a:latin typeface="+mj-lt"/>
                <a:sym typeface="Wingdings" pitchFamily="2" charset="2"/>
              </a:rPr>
              <a:t>:(1</a:t>
            </a:r>
            <a:r>
              <a:rPr lang="en-US" sz="1400" b="1" dirty="0">
                <a:solidFill>
                  <a:schemeClr val="bg1"/>
                </a:solidFill>
                <a:latin typeface="+mj-lt"/>
              </a:rPr>
              <a:t>,0,0)</a:t>
            </a:r>
            <a:r>
              <a:rPr lang="en-US" sz="1400" b="1" dirty="0">
                <a:solidFill>
                  <a:schemeClr val="bg1"/>
                </a:solidFill>
                <a:latin typeface="+mj-lt"/>
                <a:cs typeface="Courier New" pitchFamily="49" charset="0"/>
              </a:rPr>
              <a:t> </a:t>
            </a:r>
            <a:endParaRPr lang="en-US" sz="1400" b="1" dirty="0">
              <a:solidFill>
                <a:schemeClr val="bg1"/>
              </a:solidFill>
              <a:latin typeface="+mj-lt"/>
            </a:endParaRPr>
          </a:p>
        </p:txBody>
      </p:sp>
      <p:sp>
        <p:nvSpPr>
          <p:cNvPr id="77" name="TextBox 76">
            <a:extLst>
              <a:ext uri="{FF2B5EF4-FFF2-40B4-BE49-F238E27FC236}">
                <a16:creationId xmlns:a16="http://schemas.microsoft.com/office/drawing/2014/main" id="{C9A768CC-1585-4590-9B3C-135189DA743E}"/>
              </a:ext>
            </a:extLst>
          </p:cNvPr>
          <p:cNvSpPr txBox="1">
            <a:spLocks noChangeArrowheads="1"/>
          </p:cNvSpPr>
          <p:nvPr/>
        </p:nvSpPr>
        <p:spPr bwMode="auto">
          <a:xfrm>
            <a:off x="5659438" y="4891591"/>
            <a:ext cx="13858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600" dirty="0">
                <a:solidFill>
                  <a:schemeClr val="accent6"/>
                </a:solidFill>
                <a:latin typeface="+mj-lt"/>
              </a:rPr>
              <a:t>VC</a:t>
            </a:r>
            <a:r>
              <a:rPr lang="en-US" altLang="en-US" sz="1600" baseline="-25000" dirty="0">
                <a:solidFill>
                  <a:schemeClr val="accent6"/>
                </a:solidFill>
                <a:latin typeface="+mj-lt"/>
              </a:rPr>
              <a:t>1</a:t>
            </a:r>
            <a:r>
              <a:rPr lang="en-US" altLang="en-US" sz="1600" dirty="0">
                <a:solidFill>
                  <a:schemeClr val="accent6"/>
                </a:solidFill>
                <a:latin typeface="+mj-lt"/>
              </a:rPr>
              <a:t>=(1,2,0)</a:t>
            </a:r>
            <a:endParaRPr lang="en-US" altLang="en-US" sz="1600" baseline="-25000" dirty="0">
              <a:solidFill>
                <a:schemeClr val="accent6"/>
              </a:solidFill>
              <a:latin typeface="+mj-lt"/>
            </a:endParaRPr>
          </a:p>
        </p:txBody>
      </p:sp>
      <p:cxnSp>
        <p:nvCxnSpPr>
          <p:cNvPr id="78" name="Straight Connector 77">
            <a:extLst>
              <a:ext uri="{FF2B5EF4-FFF2-40B4-BE49-F238E27FC236}">
                <a16:creationId xmlns:a16="http://schemas.microsoft.com/office/drawing/2014/main" id="{97B0BE60-A4DA-4F8C-8206-01FFEA402D25}"/>
              </a:ext>
            </a:extLst>
          </p:cNvPr>
          <p:cNvCxnSpPr/>
          <p:nvPr/>
        </p:nvCxnSpPr>
        <p:spPr>
          <a:xfrm flipV="1">
            <a:off x="5430838" y="4428041"/>
            <a:ext cx="569912" cy="771525"/>
          </a:xfrm>
          <a:prstGeom prst="line">
            <a:avLst/>
          </a:prstGeom>
          <a:ln w="28575">
            <a:solidFill>
              <a:schemeClr val="accent6"/>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A2934E6-5E4C-443D-A0BF-1720A861C817}"/>
              </a:ext>
            </a:extLst>
          </p:cNvPr>
          <p:cNvCxnSpPr/>
          <p:nvPr/>
        </p:nvCxnSpPr>
        <p:spPr>
          <a:xfrm>
            <a:off x="6440488" y="5799640"/>
            <a:ext cx="0" cy="15240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9DAD376B-4BF2-43D8-89B8-1EDAA795EB4A}"/>
              </a:ext>
            </a:extLst>
          </p:cNvPr>
          <p:cNvSpPr txBox="1">
            <a:spLocks noChangeArrowheads="1"/>
          </p:cNvSpPr>
          <p:nvPr/>
        </p:nvSpPr>
        <p:spPr bwMode="auto">
          <a:xfrm>
            <a:off x="6359525" y="5591679"/>
            <a:ext cx="13858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600" dirty="0">
                <a:solidFill>
                  <a:srgbClr val="1D3064"/>
                </a:solidFill>
                <a:latin typeface="+mj-lt"/>
              </a:rPr>
              <a:t>VC</a:t>
            </a:r>
            <a:r>
              <a:rPr lang="en-US" altLang="en-US" sz="1600" baseline="-25000" dirty="0">
                <a:solidFill>
                  <a:srgbClr val="1D3064"/>
                </a:solidFill>
                <a:latin typeface="+mj-lt"/>
              </a:rPr>
              <a:t>2</a:t>
            </a:r>
            <a:r>
              <a:rPr lang="en-US" altLang="en-US" sz="1600" dirty="0">
                <a:solidFill>
                  <a:srgbClr val="1D3064"/>
                </a:solidFill>
                <a:latin typeface="+mj-lt"/>
              </a:rPr>
              <a:t>=(1,0,1)</a:t>
            </a:r>
            <a:endParaRPr lang="en-US" altLang="en-US" sz="1600" baseline="-25000" dirty="0">
              <a:solidFill>
                <a:srgbClr val="1D3064"/>
              </a:solidFill>
              <a:latin typeface="+mj-lt"/>
            </a:endParaRPr>
          </a:p>
        </p:txBody>
      </p:sp>
      <p:cxnSp>
        <p:nvCxnSpPr>
          <p:cNvPr id="81" name="Straight Connector 80">
            <a:extLst>
              <a:ext uri="{FF2B5EF4-FFF2-40B4-BE49-F238E27FC236}">
                <a16:creationId xmlns:a16="http://schemas.microsoft.com/office/drawing/2014/main" id="{CC3DBEE5-7030-4C45-A6E2-1F1811E1D4A4}"/>
              </a:ext>
            </a:extLst>
          </p:cNvPr>
          <p:cNvCxnSpPr/>
          <p:nvPr/>
        </p:nvCxnSpPr>
        <p:spPr>
          <a:xfrm>
            <a:off x="5429250" y="5096378"/>
            <a:ext cx="0" cy="1524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9BFE7E55-4ECB-450C-A87E-8A4A29388A0D}"/>
              </a:ext>
            </a:extLst>
          </p:cNvPr>
          <p:cNvCxnSpPr/>
          <p:nvPr/>
        </p:nvCxnSpPr>
        <p:spPr>
          <a:xfrm>
            <a:off x="4121150" y="5113840"/>
            <a:ext cx="0" cy="1524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3" name="TextBox 36">
            <a:extLst>
              <a:ext uri="{FF2B5EF4-FFF2-40B4-BE49-F238E27FC236}">
                <a16:creationId xmlns:a16="http://schemas.microsoft.com/office/drawing/2014/main" id="{680B54EB-F0CF-4DD4-83C0-DC81B54516C5}"/>
              </a:ext>
            </a:extLst>
          </p:cNvPr>
          <p:cNvSpPr txBox="1">
            <a:spLocks noChangeArrowheads="1"/>
          </p:cNvSpPr>
          <p:nvPr/>
        </p:nvSpPr>
        <p:spPr bwMode="auto">
          <a:xfrm>
            <a:off x="4040188" y="4891591"/>
            <a:ext cx="13858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600" dirty="0">
                <a:solidFill>
                  <a:schemeClr val="accent6"/>
                </a:solidFill>
                <a:latin typeface="+mj-lt"/>
              </a:rPr>
              <a:t>VC</a:t>
            </a:r>
            <a:r>
              <a:rPr lang="en-US" altLang="en-US" sz="1600" baseline="-25000" dirty="0">
                <a:solidFill>
                  <a:schemeClr val="accent6"/>
                </a:solidFill>
                <a:latin typeface="+mj-lt"/>
              </a:rPr>
              <a:t>1</a:t>
            </a:r>
            <a:r>
              <a:rPr lang="en-US" altLang="en-US" sz="1600" dirty="0">
                <a:solidFill>
                  <a:schemeClr val="accent6"/>
                </a:solidFill>
                <a:latin typeface="+mj-lt"/>
              </a:rPr>
              <a:t>=(1,1,0)</a:t>
            </a:r>
            <a:endParaRPr lang="en-US" altLang="en-US" sz="1600" baseline="-25000" dirty="0">
              <a:solidFill>
                <a:schemeClr val="accent6"/>
              </a:solidFill>
              <a:latin typeface="+mj-lt"/>
            </a:endParaRPr>
          </a:p>
        </p:txBody>
      </p:sp>
      <p:sp>
        <p:nvSpPr>
          <p:cNvPr id="84" name="TextBox 83">
            <a:extLst>
              <a:ext uri="{FF2B5EF4-FFF2-40B4-BE49-F238E27FC236}">
                <a16:creationId xmlns:a16="http://schemas.microsoft.com/office/drawing/2014/main" id="{6120412C-29B0-4AF4-9C21-5BEB3D2F2832}"/>
              </a:ext>
            </a:extLst>
          </p:cNvPr>
          <p:cNvSpPr txBox="1">
            <a:spLocks noChangeArrowheads="1"/>
          </p:cNvSpPr>
          <p:nvPr/>
        </p:nvSpPr>
        <p:spPr bwMode="auto">
          <a:xfrm>
            <a:off x="2195513" y="4880479"/>
            <a:ext cx="13858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600">
                <a:solidFill>
                  <a:schemeClr val="accent6"/>
                </a:solidFill>
                <a:latin typeface="+mj-lt"/>
              </a:rPr>
              <a:t>VC</a:t>
            </a:r>
            <a:r>
              <a:rPr lang="en-US" altLang="en-US" sz="1600" baseline="-25000">
                <a:solidFill>
                  <a:schemeClr val="accent6"/>
                </a:solidFill>
                <a:latin typeface="+mj-lt"/>
              </a:rPr>
              <a:t>1</a:t>
            </a:r>
            <a:r>
              <a:rPr lang="en-US" altLang="en-US" sz="1600">
                <a:solidFill>
                  <a:schemeClr val="accent6"/>
                </a:solidFill>
                <a:latin typeface="+mj-lt"/>
              </a:rPr>
              <a:t>=(0,0,0)</a:t>
            </a:r>
            <a:endParaRPr lang="en-US" altLang="en-US" sz="1600" baseline="-25000">
              <a:solidFill>
                <a:schemeClr val="accent6"/>
              </a:solidFill>
              <a:latin typeface="+mj-lt"/>
            </a:endParaRPr>
          </a:p>
        </p:txBody>
      </p:sp>
      <p:cxnSp>
        <p:nvCxnSpPr>
          <p:cNvPr id="85" name="Straight Connector 84">
            <a:extLst>
              <a:ext uri="{FF2B5EF4-FFF2-40B4-BE49-F238E27FC236}">
                <a16:creationId xmlns:a16="http://schemas.microsoft.com/office/drawing/2014/main" id="{AFEAD782-39EE-4C16-A9AD-A2D9DE9D92EA}"/>
              </a:ext>
            </a:extLst>
          </p:cNvPr>
          <p:cNvCxnSpPr/>
          <p:nvPr/>
        </p:nvCxnSpPr>
        <p:spPr>
          <a:xfrm>
            <a:off x="3427414" y="4432804"/>
            <a:ext cx="3013075" cy="142557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6" name="Rectangle 85">
            <a:extLst>
              <a:ext uri="{FF2B5EF4-FFF2-40B4-BE49-F238E27FC236}">
                <a16:creationId xmlns:a16="http://schemas.microsoft.com/office/drawing/2014/main" id="{8F55CD89-14BD-455E-A973-C4B793778F6B}"/>
              </a:ext>
            </a:extLst>
          </p:cNvPr>
          <p:cNvSpPr/>
          <p:nvPr/>
        </p:nvSpPr>
        <p:spPr>
          <a:xfrm>
            <a:off x="4787900" y="4591554"/>
            <a:ext cx="866776" cy="307777"/>
          </a:xfrm>
          <a:prstGeom prst="rect">
            <a:avLst/>
          </a:prstGeom>
          <a:solidFill>
            <a:schemeClr val="accent6"/>
          </a:solidFill>
          <a:ln>
            <a:noFill/>
          </a:ln>
        </p:spPr>
        <p:style>
          <a:lnRef idx="2">
            <a:schemeClr val="accent6"/>
          </a:lnRef>
          <a:fillRef idx="1">
            <a:schemeClr val="lt1"/>
          </a:fillRef>
          <a:effectRef idx="0">
            <a:schemeClr val="accent6"/>
          </a:effectRef>
          <a:fontRef idx="minor">
            <a:schemeClr val="dk1"/>
          </a:fontRef>
        </p:style>
        <p:txBody>
          <a:bodyPr wrap="square">
            <a:spAutoFit/>
          </a:bodyPr>
          <a:lstStyle/>
          <a:p>
            <a:pPr eaLnBrk="1" hangingPunct="1">
              <a:defRPr/>
            </a:pPr>
            <a:r>
              <a:rPr lang="en-US" sz="1400" b="1" dirty="0">
                <a:solidFill>
                  <a:schemeClr val="bg1"/>
                </a:solidFill>
                <a:latin typeface="+mj-lt"/>
              </a:rPr>
              <a:t>m</a:t>
            </a:r>
            <a:r>
              <a:rPr lang="en-US" sz="1400" b="1" dirty="0">
                <a:solidFill>
                  <a:schemeClr val="bg1"/>
                </a:solidFill>
                <a:latin typeface="+mj-lt"/>
                <a:sym typeface="Wingdings" pitchFamily="2" charset="2"/>
              </a:rPr>
              <a:t>:(1</a:t>
            </a:r>
            <a:r>
              <a:rPr lang="en-US" sz="1400" b="1" dirty="0">
                <a:solidFill>
                  <a:schemeClr val="bg1"/>
                </a:solidFill>
                <a:latin typeface="+mj-lt"/>
              </a:rPr>
              <a:t>,2,0)</a:t>
            </a:r>
            <a:r>
              <a:rPr lang="en-US" sz="1400" b="1" dirty="0">
                <a:solidFill>
                  <a:schemeClr val="bg1"/>
                </a:solidFill>
                <a:latin typeface="+mj-lt"/>
                <a:cs typeface="Courier New" pitchFamily="49" charset="0"/>
              </a:rPr>
              <a:t> </a:t>
            </a:r>
            <a:endParaRPr lang="en-US" sz="1400" b="1" dirty="0">
              <a:solidFill>
                <a:schemeClr val="bg1"/>
              </a:solidFill>
              <a:latin typeface="+mj-lt"/>
            </a:endParaRPr>
          </a:p>
        </p:txBody>
      </p:sp>
      <p:cxnSp>
        <p:nvCxnSpPr>
          <p:cNvPr id="87" name="Straight Connector 86">
            <a:extLst>
              <a:ext uri="{FF2B5EF4-FFF2-40B4-BE49-F238E27FC236}">
                <a16:creationId xmlns:a16="http://schemas.microsoft.com/office/drawing/2014/main" id="{2ACCB325-18C5-4AAA-A418-8AAC801F1B8A}"/>
              </a:ext>
            </a:extLst>
          </p:cNvPr>
          <p:cNvCxnSpPr/>
          <p:nvPr/>
        </p:nvCxnSpPr>
        <p:spPr>
          <a:xfrm>
            <a:off x="5430838" y="5161465"/>
            <a:ext cx="493712" cy="706438"/>
          </a:xfrm>
          <a:prstGeom prst="line">
            <a:avLst/>
          </a:prstGeom>
          <a:ln w="28575">
            <a:solidFill>
              <a:schemeClr val="accent6"/>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9690B6C4-0D87-4EC4-9F6F-0786F3FC4B08}"/>
              </a:ext>
            </a:extLst>
          </p:cNvPr>
          <p:cNvSpPr txBox="1">
            <a:spLocks noChangeArrowheads="1"/>
          </p:cNvSpPr>
          <p:nvPr/>
        </p:nvSpPr>
        <p:spPr bwMode="auto">
          <a:xfrm>
            <a:off x="5207000" y="5952041"/>
            <a:ext cx="990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400" dirty="0">
                <a:solidFill>
                  <a:srgbClr val="0000FF"/>
                </a:solidFill>
                <a:latin typeface="+mj-lt"/>
              </a:rPr>
              <a:t>VC</a:t>
            </a:r>
            <a:r>
              <a:rPr lang="en-US" altLang="en-US" sz="1400" baseline="-25000" dirty="0">
                <a:solidFill>
                  <a:srgbClr val="0000FF"/>
                </a:solidFill>
                <a:latin typeface="+mj-lt"/>
              </a:rPr>
              <a:t>2</a:t>
            </a:r>
            <a:r>
              <a:rPr lang="en-US" altLang="en-US" sz="1200" dirty="0">
                <a:solidFill>
                  <a:srgbClr val="0000FF"/>
                </a:solidFill>
                <a:latin typeface="+mj-lt"/>
              </a:rPr>
              <a:t>=(1,2,1)</a:t>
            </a:r>
            <a:endParaRPr lang="en-US" altLang="en-US" sz="1200" baseline="-25000" dirty="0">
              <a:solidFill>
                <a:srgbClr val="0000FF"/>
              </a:solidFill>
              <a:latin typeface="+mj-lt"/>
            </a:endParaRPr>
          </a:p>
        </p:txBody>
      </p:sp>
      <p:sp>
        <p:nvSpPr>
          <p:cNvPr id="89" name="Multiply 88">
            <a:extLst>
              <a:ext uri="{FF2B5EF4-FFF2-40B4-BE49-F238E27FC236}">
                <a16:creationId xmlns:a16="http://schemas.microsoft.com/office/drawing/2014/main" id="{DA53B9A7-0B9C-4A00-B35D-41FEB6A72CC5}"/>
              </a:ext>
            </a:extLst>
          </p:cNvPr>
          <p:cNvSpPr/>
          <p:nvPr/>
        </p:nvSpPr>
        <p:spPr>
          <a:xfrm>
            <a:off x="5314950" y="5982203"/>
            <a:ext cx="839788" cy="214312"/>
          </a:xfrm>
          <a:prstGeom prst="mathMultiply">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latin typeface="+mj-lt"/>
            </a:endParaRPr>
          </a:p>
        </p:txBody>
      </p:sp>
      <p:sp>
        <p:nvSpPr>
          <p:cNvPr id="90" name="TextBox 89">
            <a:extLst>
              <a:ext uri="{FF2B5EF4-FFF2-40B4-BE49-F238E27FC236}">
                <a16:creationId xmlns:a16="http://schemas.microsoft.com/office/drawing/2014/main" id="{DBB17E1C-3176-4FD0-AA87-465FEF726C5F}"/>
              </a:ext>
            </a:extLst>
          </p:cNvPr>
          <p:cNvSpPr txBox="1">
            <a:spLocks noChangeArrowheads="1"/>
          </p:cNvSpPr>
          <p:nvPr/>
        </p:nvSpPr>
        <p:spPr bwMode="auto">
          <a:xfrm>
            <a:off x="6148389" y="5961566"/>
            <a:ext cx="274796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chemeClr val="tx1"/>
                </a:solidFill>
                <a:latin typeface="+mj-lt"/>
              </a:rPr>
              <a:t>Condition</a:t>
            </a:r>
            <a:r>
              <a:rPr lang="en-US" altLang="en-US" sz="1600" dirty="0">
                <a:solidFill>
                  <a:schemeClr val="tx1"/>
                </a:solidFill>
                <a:latin typeface="+mj-lt"/>
              </a:rPr>
              <a:t> II does not hold </a:t>
            </a:r>
            <a:r>
              <a:rPr lang="en-US" altLang="en-US" sz="1600" dirty="0">
                <a:solidFill>
                  <a:schemeClr val="tx1"/>
                </a:solidFill>
                <a:latin typeface="+mj-lt"/>
                <a:sym typeface="Wingdings" panose="05000000000000000000" pitchFamily="2" charset="2"/>
              </a:rPr>
              <a:t> </a:t>
            </a:r>
            <a:r>
              <a:rPr lang="en-US" altLang="en-US" sz="1600" i="1" dirty="0">
                <a:solidFill>
                  <a:schemeClr val="tx1"/>
                </a:solidFill>
                <a:latin typeface="+mj-lt"/>
                <a:sym typeface="Wingdings" panose="05000000000000000000" pitchFamily="2" charset="2"/>
              </a:rPr>
              <a:t>Delay delivery</a:t>
            </a:r>
            <a:endParaRPr lang="en-US" altLang="en-US" sz="1600" i="1" dirty="0">
              <a:solidFill>
                <a:schemeClr val="tx1"/>
              </a:solidFill>
              <a:latin typeface="+mj-lt"/>
            </a:endParaRPr>
          </a:p>
        </p:txBody>
      </p:sp>
      <p:sp>
        <p:nvSpPr>
          <p:cNvPr id="91" name="Curved Down Arrow 90">
            <a:extLst>
              <a:ext uri="{FF2B5EF4-FFF2-40B4-BE49-F238E27FC236}">
                <a16:creationId xmlns:a16="http://schemas.microsoft.com/office/drawing/2014/main" id="{81E52E81-8B3F-42EF-9895-481DA9BC17EA}"/>
              </a:ext>
            </a:extLst>
          </p:cNvPr>
          <p:cNvSpPr/>
          <p:nvPr/>
        </p:nvSpPr>
        <p:spPr>
          <a:xfrm>
            <a:off x="5924550" y="5331328"/>
            <a:ext cx="1676400" cy="527050"/>
          </a:xfrm>
          <a:prstGeom prst="curvedDownArrow">
            <a:avLst/>
          </a:prstGeom>
          <a:solidFill>
            <a:srgbClr val="1D306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chemeClr val="tx1"/>
              </a:solidFill>
              <a:latin typeface="+mj-lt"/>
            </a:endParaRPr>
          </a:p>
        </p:txBody>
      </p:sp>
      <p:cxnSp>
        <p:nvCxnSpPr>
          <p:cNvPr id="92" name="Straight Connector 91">
            <a:extLst>
              <a:ext uri="{FF2B5EF4-FFF2-40B4-BE49-F238E27FC236}">
                <a16:creationId xmlns:a16="http://schemas.microsoft.com/office/drawing/2014/main" id="{87137A32-8548-4769-B088-6690B46FCFE4}"/>
              </a:ext>
            </a:extLst>
          </p:cNvPr>
          <p:cNvCxnSpPr/>
          <p:nvPr/>
        </p:nvCxnSpPr>
        <p:spPr>
          <a:xfrm>
            <a:off x="7573963" y="5799640"/>
            <a:ext cx="0" cy="152400"/>
          </a:xfrm>
          <a:prstGeom prst="line">
            <a:avLst/>
          </a:prstGeom>
          <a:ln w="28575">
            <a:solidFill>
              <a:srgbClr val="1D3064"/>
            </a:solidFill>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01B71AD1-38F8-453A-A828-C3797C8D56D8}"/>
              </a:ext>
            </a:extLst>
          </p:cNvPr>
          <p:cNvSpPr txBox="1">
            <a:spLocks noChangeArrowheads="1"/>
          </p:cNvSpPr>
          <p:nvPr/>
        </p:nvSpPr>
        <p:spPr bwMode="auto">
          <a:xfrm>
            <a:off x="7524750" y="5588503"/>
            <a:ext cx="13858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600" dirty="0">
                <a:solidFill>
                  <a:srgbClr val="1D3064"/>
                </a:solidFill>
                <a:latin typeface="+mj-lt"/>
              </a:rPr>
              <a:t>VC</a:t>
            </a:r>
            <a:r>
              <a:rPr lang="en-US" altLang="en-US" sz="1600" baseline="-25000" dirty="0">
                <a:solidFill>
                  <a:srgbClr val="1D3064"/>
                </a:solidFill>
                <a:latin typeface="+mj-lt"/>
              </a:rPr>
              <a:t>2</a:t>
            </a:r>
            <a:r>
              <a:rPr lang="en-US" altLang="en-US" sz="1600" dirty="0">
                <a:solidFill>
                  <a:srgbClr val="1D3064"/>
                </a:solidFill>
                <a:latin typeface="+mj-lt"/>
              </a:rPr>
              <a:t>=(1,2,2)</a:t>
            </a:r>
            <a:endParaRPr lang="en-US" altLang="en-US" sz="1600" baseline="-25000" dirty="0">
              <a:solidFill>
                <a:srgbClr val="1D3064"/>
              </a:solidFill>
              <a:latin typeface="+mj-lt"/>
            </a:endParaRPr>
          </a:p>
        </p:txBody>
      </p:sp>
    </p:spTree>
    <p:extLst>
      <p:ext uri="{BB962C8B-B14F-4D97-AF65-F5344CB8AC3E}">
        <p14:creationId xmlns:p14="http://schemas.microsoft.com/office/powerpoint/2010/main" val="633731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66"/>
                                        </p:tgtEl>
                                        <p:attrNameLst>
                                          <p:attrName>style.visibility</p:attrName>
                                        </p:attrNameLst>
                                      </p:cBhvr>
                                      <p:to>
                                        <p:strVal val="visible"/>
                                      </p:to>
                                    </p:set>
                                    <p:animEffect transition="in" filter="wipe(up)">
                                      <p:cBhvr>
                                        <p:cTn id="53" dur="500"/>
                                        <p:tgtEl>
                                          <p:spTgt spid="66"/>
                                        </p:tgtEl>
                                      </p:cBhvr>
                                    </p:animEffect>
                                  </p:childTnLst>
                                </p:cTn>
                              </p:par>
                              <p:par>
                                <p:cTn id="54" presetID="22" presetClass="entr" presetSubtype="1" fill="hold" nodeType="withEffect">
                                  <p:stCondLst>
                                    <p:cond delay="0"/>
                                  </p:stCondLst>
                                  <p:childTnLst>
                                    <p:set>
                                      <p:cBhvr>
                                        <p:cTn id="55" dur="1" fill="hold">
                                          <p:stCondLst>
                                            <p:cond delay="0"/>
                                          </p:stCondLst>
                                        </p:cTn>
                                        <p:tgtEl>
                                          <p:spTgt spid="70"/>
                                        </p:tgtEl>
                                        <p:attrNameLst>
                                          <p:attrName>style.visibility</p:attrName>
                                        </p:attrNameLst>
                                      </p:cBhvr>
                                      <p:to>
                                        <p:strVal val="visible"/>
                                      </p:to>
                                    </p:set>
                                    <p:animEffect transition="in" filter="wipe(up)">
                                      <p:cBhvr>
                                        <p:cTn id="56" dur="500"/>
                                        <p:tgtEl>
                                          <p:spTgt spid="70"/>
                                        </p:tgtEl>
                                      </p:cBhvr>
                                    </p:animEffect>
                                  </p:childTnLst>
                                </p:cTn>
                              </p:par>
                              <p:par>
                                <p:cTn id="57" presetID="22" presetClass="entr" presetSubtype="1" fill="hold" nodeType="withEffect">
                                  <p:stCondLst>
                                    <p:cond delay="0"/>
                                  </p:stCondLst>
                                  <p:childTnLst>
                                    <p:set>
                                      <p:cBhvr>
                                        <p:cTn id="58" dur="1" fill="hold">
                                          <p:stCondLst>
                                            <p:cond delay="0"/>
                                          </p:stCondLst>
                                        </p:cTn>
                                        <p:tgtEl>
                                          <p:spTgt spid="67"/>
                                        </p:tgtEl>
                                        <p:attrNameLst>
                                          <p:attrName>style.visibility</p:attrName>
                                        </p:attrNameLst>
                                      </p:cBhvr>
                                      <p:to>
                                        <p:strVal val="visible"/>
                                      </p:to>
                                    </p:set>
                                    <p:animEffect transition="in" filter="wipe(up)">
                                      <p:cBhvr>
                                        <p:cTn id="59" dur="500"/>
                                        <p:tgtEl>
                                          <p:spTgt spid="67"/>
                                        </p:tgtEl>
                                      </p:cBhvr>
                                    </p:animEffect>
                                  </p:childTnLst>
                                </p:cTn>
                              </p:par>
                              <p:par>
                                <p:cTn id="60" presetID="22" presetClass="entr" presetSubtype="1" fill="hold" nodeType="withEffect">
                                  <p:stCondLst>
                                    <p:cond delay="0"/>
                                  </p:stCondLst>
                                  <p:childTnLst>
                                    <p:set>
                                      <p:cBhvr>
                                        <p:cTn id="61" dur="1" fill="hold">
                                          <p:stCondLst>
                                            <p:cond delay="0"/>
                                          </p:stCondLst>
                                        </p:cTn>
                                        <p:tgtEl>
                                          <p:spTgt spid="85"/>
                                        </p:tgtEl>
                                        <p:attrNameLst>
                                          <p:attrName>style.visibility</p:attrName>
                                        </p:attrNameLst>
                                      </p:cBhvr>
                                      <p:to>
                                        <p:strVal val="visible"/>
                                      </p:to>
                                    </p:set>
                                    <p:animEffect transition="in" filter="wipe(up)">
                                      <p:cBhvr>
                                        <p:cTn id="62" dur="500"/>
                                        <p:tgtEl>
                                          <p:spTgt spid="85"/>
                                        </p:tgtEl>
                                      </p:cBhvr>
                                    </p:animEffect>
                                  </p:childTnLst>
                                </p:cTn>
                              </p:par>
                              <p:par>
                                <p:cTn id="63" presetID="1" presetClass="entr" presetSubtype="0" fill="hold" grpId="0" nodeType="withEffect">
                                  <p:stCondLst>
                                    <p:cond delay="0"/>
                                  </p:stCondLst>
                                  <p:childTnLst>
                                    <p:set>
                                      <p:cBhvr>
                                        <p:cTn id="64" dur="1" fill="hold">
                                          <p:stCondLst>
                                            <p:cond delay="0"/>
                                          </p:stCondLst>
                                        </p:cTn>
                                        <p:tgtEl>
                                          <p:spTgt spid="7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8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2"/>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7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nodeType="clickEffect">
                                  <p:stCondLst>
                                    <p:cond delay="0"/>
                                  </p:stCondLst>
                                  <p:childTnLst>
                                    <p:set>
                                      <p:cBhvr>
                                        <p:cTn id="78" dur="1" fill="hold">
                                          <p:stCondLst>
                                            <p:cond delay="0"/>
                                          </p:stCondLst>
                                        </p:cTn>
                                        <p:tgtEl>
                                          <p:spTgt spid="81"/>
                                        </p:tgtEl>
                                        <p:attrNameLst>
                                          <p:attrName>style.visibility</p:attrName>
                                        </p:attrNameLst>
                                      </p:cBhvr>
                                      <p:to>
                                        <p:strVal val="visible"/>
                                      </p:to>
                                    </p:set>
                                    <p:animEffect transition="in" filter="wipe(down)">
                                      <p:cBhvr>
                                        <p:cTn id="79" dur="500"/>
                                        <p:tgtEl>
                                          <p:spTgt spid="81"/>
                                        </p:tgtEl>
                                      </p:cBhvr>
                                    </p:animEffect>
                                  </p:childTnLst>
                                </p:cTn>
                              </p:par>
                              <p:par>
                                <p:cTn id="80" presetID="22" presetClass="entr" presetSubtype="4" fill="hold" nodeType="withEffect">
                                  <p:stCondLst>
                                    <p:cond delay="0"/>
                                  </p:stCondLst>
                                  <p:childTnLst>
                                    <p:set>
                                      <p:cBhvr>
                                        <p:cTn id="81" dur="1" fill="hold">
                                          <p:stCondLst>
                                            <p:cond delay="0"/>
                                          </p:stCondLst>
                                        </p:cTn>
                                        <p:tgtEl>
                                          <p:spTgt spid="78"/>
                                        </p:tgtEl>
                                        <p:attrNameLst>
                                          <p:attrName>style.visibility</p:attrName>
                                        </p:attrNameLst>
                                      </p:cBhvr>
                                      <p:to>
                                        <p:strVal val="visible"/>
                                      </p:to>
                                    </p:set>
                                    <p:animEffect transition="in" filter="wipe(down)">
                                      <p:cBhvr>
                                        <p:cTn id="82" dur="500"/>
                                        <p:tgtEl>
                                          <p:spTgt spid="78"/>
                                        </p:tgtEl>
                                      </p:cBhvr>
                                    </p:animEffect>
                                  </p:childTnLst>
                                </p:cTn>
                              </p:par>
                              <p:par>
                                <p:cTn id="83" presetID="22" presetClass="entr" presetSubtype="1" fill="hold" nodeType="withEffect">
                                  <p:stCondLst>
                                    <p:cond delay="0"/>
                                  </p:stCondLst>
                                  <p:childTnLst>
                                    <p:set>
                                      <p:cBhvr>
                                        <p:cTn id="84" dur="1" fill="hold">
                                          <p:stCondLst>
                                            <p:cond delay="0"/>
                                          </p:stCondLst>
                                        </p:cTn>
                                        <p:tgtEl>
                                          <p:spTgt spid="87"/>
                                        </p:tgtEl>
                                        <p:attrNameLst>
                                          <p:attrName>style.visibility</p:attrName>
                                        </p:attrNameLst>
                                      </p:cBhvr>
                                      <p:to>
                                        <p:strVal val="visible"/>
                                      </p:to>
                                    </p:set>
                                    <p:animEffect transition="in" filter="wipe(up)">
                                      <p:cBhvr>
                                        <p:cTn id="85" dur="500"/>
                                        <p:tgtEl>
                                          <p:spTgt spid="87"/>
                                        </p:tgtEl>
                                      </p:cBhvr>
                                    </p:animEffect>
                                  </p:childTnLst>
                                </p:cTn>
                              </p:par>
                              <p:par>
                                <p:cTn id="86" presetID="22" presetClass="entr" presetSubtype="4" fill="hold" grpId="0" nodeType="withEffect">
                                  <p:stCondLst>
                                    <p:cond delay="0"/>
                                  </p:stCondLst>
                                  <p:childTnLst>
                                    <p:set>
                                      <p:cBhvr>
                                        <p:cTn id="87" dur="1" fill="hold">
                                          <p:stCondLst>
                                            <p:cond delay="0"/>
                                          </p:stCondLst>
                                        </p:cTn>
                                        <p:tgtEl>
                                          <p:spTgt spid="86"/>
                                        </p:tgtEl>
                                        <p:attrNameLst>
                                          <p:attrName>style.visibility</p:attrName>
                                        </p:attrNameLst>
                                      </p:cBhvr>
                                      <p:to>
                                        <p:strVal val="visible"/>
                                      </p:to>
                                    </p:set>
                                    <p:animEffect transition="in" filter="wipe(down)">
                                      <p:cBhvr>
                                        <p:cTn id="88" dur="500"/>
                                        <p:tgtEl>
                                          <p:spTgt spid="86"/>
                                        </p:tgtEl>
                                      </p:cBhvr>
                                    </p:animEffect>
                                  </p:childTnLst>
                                </p:cTn>
                              </p:par>
                              <p:par>
                                <p:cTn id="89" presetID="22" presetClass="entr" presetSubtype="4" fill="hold" grpId="0" nodeType="withEffect">
                                  <p:stCondLst>
                                    <p:cond delay="0"/>
                                  </p:stCondLst>
                                  <p:childTnLst>
                                    <p:set>
                                      <p:cBhvr>
                                        <p:cTn id="90" dur="1" fill="hold">
                                          <p:stCondLst>
                                            <p:cond delay="0"/>
                                          </p:stCondLst>
                                        </p:cTn>
                                        <p:tgtEl>
                                          <p:spTgt spid="77"/>
                                        </p:tgtEl>
                                        <p:attrNameLst>
                                          <p:attrName>style.visibility</p:attrName>
                                        </p:attrNameLst>
                                      </p:cBhvr>
                                      <p:to>
                                        <p:strVal val="visible"/>
                                      </p:to>
                                    </p:set>
                                    <p:animEffect transition="in" filter="wipe(down)">
                                      <p:cBhvr>
                                        <p:cTn id="91" dur="500"/>
                                        <p:tgtEl>
                                          <p:spTgt spid="77"/>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69"/>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68"/>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88"/>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89"/>
                                        </p:tgtEl>
                                        <p:attrNameLst>
                                          <p:attrName>style.visibility</p:attrName>
                                        </p:attrNameLst>
                                      </p:cBhvr>
                                      <p:to>
                                        <p:strVal val="visible"/>
                                      </p:to>
                                    </p:set>
                                    <p:animEffect transition="in" filter="fade">
                                      <p:cBhvr>
                                        <p:cTn id="104" dur="500"/>
                                        <p:tgtEl>
                                          <p:spTgt spid="89"/>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90"/>
                                        </p:tgtEl>
                                        <p:attrNameLst>
                                          <p:attrName>style.visibility</p:attrName>
                                        </p:attrNameLst>
                                      </p:cBhvr>
                                      <p:to>
                                        <p:strVal val="visible"/>
                                      </p:to>
                                    </p:set>
                                    <p:animEffect transition="in" filter="fade">
                                      <p:cBhvr>
                                        <p:cTn id="107" dur="500"/>
                                        <p:tgtEl>
                                          <p:spTgt spid="90"/>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91"/>
                                        </p:tgtEl>
                                        <p:attrNameLst>
                                          <p:attrName>style.visibility</p:attrName>
                                        </p:attrNameLst>
                                      </p:cBhvr>
                                      <p:to>
                                        <p:strVal val="visible"/>
                                      </p:to>
                                    </p:set>
                                    <p:animEffect transition="in" filter="wipe(left)">
                                      <p:cBhvr>
                                        <p:cTn id="112" dur="500"/>
                                        <p:tgtEl>
                                          <p:spTgt spid="91"/>
                                        </p:tgtEl>
                                      </p:cBhvr>
                                    </p:animEffect>
                                  </p:childTnLst>
                                </p:cTn>
                              </p:par>
                              <p:par>
                                <p:cTn id="113" presetID="22" presetClass="entr" presetSubtype="8" fill="hold" nodeType="withEffect">
                                  <p:stCondLst>
                                    <p:cond delay="0"/>
                                  </p:stCondLst>
                                  <p:childTnLst>
                                    <p:set>
                                      <p:cBhvr>
                                        <p:cTn id="114" dur="1" fill="hold">
                                          <p:stCondLst>
                                            <p:cond delay="0"/>
                                          </p:stCondLst>
                                        </p:cTn>
                                        <p:tgtEl>
                                          <p:spTgt spid="92"/>
                                        </p:tgtEl>
                                        <p:attrNameLst>
                                          <p:attrName>style.visibility</p:attrName>
                                        </p:attrNameLst>
                                      </p:cBhvr>
                                      <p:to>
                                        <p:strVal val="visible"/>
                                      </p:to>
                                    </p:set>
                                    <p:animEffect transition="in" filter="wipe(left)">
                                      <p:cBhvr>
                                        <p:cTn id="115" dur="500"/>
                                        <p:tgtEl>
                                          <p:spTgt spid="92"/>
                                        </p:tgtEl>
                                      </p:cBhvr>
                                    </p:animEffect>
                                  </p:childTnLst>
                                </p:cTn>
                              </p:par>
                              <p:par>
                                <p:cTn id="116" presetID="22" presetClass="entr" presetSubtype="8" fill="hold" grpId="0" nodeType="withEffect">
                                  <p:stCondLst>
                                    <p:cond delay="0"/>
                                  </p:stCondLst>
                                  <p:childTnLst>
                                    <p:set>
                                      <p:cBhvr>
                                        <p:cTn id="117" dur="1" fill="hold">
                                          <p:stCondLst>
                                            <p:cond delay="0"/>
                                          </p:stCondLst>
                                        </p:cTn>
                                        <p:tgtEl>
                                          <p:spTgt spid="93"/>
                                        </p:tgtEl>
                                        <p:attrNameLst>
                                          <p:attrName>style.visibility</p:attrName>
                                        </p:attrNameLst>
                                      </p:cBhvr>
                                      <p:to>
                                        <p:strVal val="visible"/>
                                      </p:to>
                                    </p:set>
                                    <p:animEffect transition="in" filter="wipe(left)">
                                      <p:cBhvr>
                                        <p:cTn id="118"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4" grpId="0"/>
      <p:bldP spid="65" grpId="0"/>
      <p:bldP spid="66" grpId="0"/>
      <p:bldP spid="68" grpId="0"/>
      <p:bldP spid="71" grpId="0"/>
      <p:bldP spid="72" grpId="0"/>
      <p:bldP spid="76" grpId="0" animBg="1"/>
      <p:bldP spid="77" grpId="0"/>
      <p:bldP spid="80" grpId="0"/>
      <p:bldP spid="83" grpId="0"/>
      <p:bldP spid="84" grpId="0"/>
      <p:bldP spid="86" grpId="0" animBg="1"/>
      <p:bldP spid="88" grpId="0"/>
      <p:bldP spid="90" grpId="0"/>
      <p:bldP spid="91" grpId="0" animBg="1"/>
      <p:bldP spid="9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3DC79-8B12-49B2-D869-87FFD698F001}"/>
              </a:ext>
            </a:extLst>
          </p:cNvPr>
          <p:cNvSpPr>
            <a:spLocks noGrp="1"/>
          </p:cNvSpPr>
          <p:nvPr>
            <p:ph type="title"/>
          </p:nvPr>
        </p:nvSpPr>
        <p:spPr/>
        <p:txBody>
          <a:bodyPr>
            <a:normAutofit/>
          </a:bodyPr>
          <a:lstStyle/>
          <a:p>
            <a:pPr>
              <a:spcBef>
                <a:spcPts val="1000"/>
              </a:spcBef>
              <a:buClr>
                <a:srgbClr val="1D6199"/>
              </a:buClr>
              <a:defRPr/>
            </a:pPr>
            <a:r>
              <a:rPr lang="en-IN" sz="6000" dirty="0"/>
              <a:t>Mutual Exclusion</a:t>
            </a:r>
          </a:p>
        </p:txBody>
      </p:sp>
      <p:sp>
        <p:nvSpPr>
          <p:cNvPr id="3" name="Text Placeholder 2">
            <a:extLst>
              <a:ext uri="{FF2B5EF4-FFF2-40B4-BE49-F238E27FC236}">
                <a16:creationId xmlns:a16="http://schemas.microsoft.com/office/drawing/2014/main" id="{7336A222-FE8E-8548-6B81-0F4C891F3E0A}"/>
              </a:ext>
            </a:extLst>
          </p:cNvPr>
          <p:cNvSpPr>
            <a:spLocks noGrp="1"/>
          </p:cNvSpPr>
          <p:nvPr>
            <p:ph type="body" idx="1"/>
          </p:nvPr>
        </p:nvSpPr>
        <p:spPr/>
        <p:txBody>
          <a:bodyPr/>
          <a:lstStyle/>
          <a:p>
            <a:r>
              <a:rPr lang="en-US" dirty="0"/>
              <a:t>Section - 4</a:t>
            </a:r>
            <a:endParaRPr lang="en-IN" dirty="0"/>
          </a:p>
        </p:txBody>
      </p:sp>
    </p:spTree>
    <p:extLst>
      <p:ext uri="{BB962C8B-B14F-4D97-AF65-F5344CB8AC3E}">
        <p14:creationId xmlns:p14="http://schemas.microsoft.com/office/powerpoint/2010/main" val="32727592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solidFill>
                  <a:schemeClr val="tx1"/>
                </a:solidFill>
              </a:rPr>
              <a:t>Critical Section &amp; Mutual Exclusion</a:t>
            </a:r>
            <a:endParaRPr lang="en-US" dirty="0">
              <a:solidFill>
                <a:schemeClr val="tx1"/>
              </a:solidFill>
            </a:endParaRP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33498" y="896839"/>
            <a:ext cx="4118089" cy="2743200"/>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498" y="3825677"/>
            <a:ext cx="4118089" cy="2743200"/>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51587" y="896839"/>
            <a:ext cx="1242384" cy="2743200"/>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51587" y="3816279"/>
            <a:ext cx="1242384" cy="2743200"/>
          </a:xfrm>
          <a:prstGeom prst="rect">
            <a:avLst/>
          </a:prstGeom>
        </p:spPr>
      </p:pic>
      <p:pic>
        <p:nvPicPr>
          <p:cNvPr id="8" name="Picture 7"/>
          <p:cNvPicPr>
            <a:picLocks noChangeAspect="1"/>
          </p:cNvPicPr>
          <p:nvPr/>
        </p:nvPicPr>
        <p:blipFill rotWithShape="1">
          <a:blip r:embed="rId5">
            <a:extLst>
              <a:ext uri="{28A0092B-C50C-407E-A947-70E740481C1C}">
                <a14:useLocalDpi xmlns:a14="http://schemas.microsoft.com/office/drawing/2010/main" val="0"/>
              </a:ext>
            </a:extLst>
          </a:blip>
          <a:srcRect l="32984" r="31206"/>
          <a:stretch/>
        </p:blipFill>
        <p:spPr>
          <a:xfrm>
            <a:off x="5593971" y="1196877"/>
            <a:ext cx="767444" cy="2143125"/>
          </a:xfrm>
          <a:prstGeom prst="rect">
            <a:avLst/>
          </a:prstGeom>
        </p:spPr>
      </p:pic>
      <p:pic>
        <p:nvPicPr>
          <p:cNvPr id="9" name="Pictur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530833" y="1087921"/>
            <a:ext cx="883892" cy="883892"/>
          </a:xfrm>
          <a:prstGeom prst="rect">
            <a:avLst/>
          </a:prstGeom>
        </p:spPr>
      </p:pic>
      <p:pic>
        <p:nvPicPr>
          <p:cNvPr id="11" name="Picture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30833" y="4116317"/>
            <a:ext cx="855761" cy="855761"/>
          </a:xfrm>
          <a:prstGeom prst="rect">
            <a:avLst/>
          </a:prstGeom>
        </p:spPr>
      </p:pic>
      <p:pic>
        <p:nvPicPr>
          <p:cNvPr id="12" name="Picture 11"/>
          <p:cNvPicPr>
            <a:picLocks noChangeAspect="1"/>
          </p:cNvPicPr>
          <p:nvPr/>
        </p:nvPicPr>
        <p:blipFill rotWithShape="1">
          <a:blip r:embed="rId5">
            <a:extLst>
              <a:ext uri="{28A0092B-C50C-407E-A947-70E740481C1C}">
                <a14:useLocalDpi xmlns:a14="http://schemas.microsoft.com/office/drawing/2010/main" val="0"/>
              </a:ext>
            </a:extLst>
          </a:blip>
          <a:srcRect l="32984" r="31206"/>
          <a:stretch/>
        </p:blipFill>
        <p:spPr>
          <a:xfrm>
            <a:off x="5593971" y="4116317"/>
            <a:ext cx="767444" cy="2143125"/>
          </a:xfrm>
          <a:prstGeom prst="rect">
            <a:avLst/>
          </a:prstGeom>
        </p:spPr>
      </p:pic>
      <p:sp>
        <p:nvSpPr>
          <p:cNvPr id="3" name="Multiply 2"/>
          <p:cNvSpPr/>
          <p:nvPr/>
        </p:nvSpPr>
        <p:spPr>
          <a:xfrm>
            <a:off x="5386594" y="4143059"/>
            <a:ext cx="1080204" cy="1667436"/>
          </a:xfrm>
          <a:prstGeom prst="mathMultiply">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8983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35" presetClass="path" presetSubtype="0" accel="50000" decel="50000" fill="hold" nodeType="clickEffect">
                                  <p:stCondLst>
                                    <p:cond delay="0"/>
                                  </p:stCondLst>
                                  <p:childTnLst>
                                    <p:animMotion origin="layout" path="M -4.375E-6 2.96296E-6 L -0.16601 0.00046 " pathEditMode="relative" rAng="0" ptsTypes="AA">
                                      <p:cBhvr>
                                        <p:cTn id="22" dur="2000" fill="hold"/>
                                        <p:tgtEl>
                                          <p:spTgt spid="8"/>
                                        </p:tgtEl>
                                        <p:attrNameLst>
                                          <p:attrName>ppt_x</p:attrName>
                                          <p:attrName>ppt_y</p:attrName>
                                        </p:attrNameLst>
                                      </p:cBhvr>
                                      <p:rCtr x="-8307" y="23"/>
                                    </p:animMotion>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par>
                                <p:cTn id="28" presetID="10" presetClass="entr" presetSubtype="0"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fade">
                                      <p:cBhvr>
                                        <p:cTn id="4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chemeClr val="tx1"/>
                </a:solidFill>
              </a:rPr>
              <a:t>Critical Section &amp; Mutual Exclusion</a:t>
            </a:r>
            <a:endParaRPr lang="en-IN" dirty="0"/>
          </a:p>
        </p:txBody>
      </p:sp>
      <p:sp>
        <p:nvSpPr>
          <p:cNvPr id="3" name="Content Placeholder 2"/>
          <p:cNvSpPr>
            <a:spLocks noGrp="1"/>
          </p:cNvSpPr>
          <p:nvPr>
            <p:ph idx="1"/>
          </p:nvPr>
        </p:nvSpPr>
        <p:spPr>
          <a:xfrm>
            <a:off x="131180" y="711201"/>
            <a:ext cx="11798353" cy="5742808"/>
          </a:xfrm>
        </p:spPr>
        <p:txBody>
          <a:bodyPr/>
          <a:lstStyle/>
          <a:p>
            <a:r>
              <a:rPr lang="en-IN" dirty="0"/>
              <a:t>Example</a:t>
            </a:r>
          </a:p>
          <a:p>
            <a:pPr lvl="1"/>
            <a:r>
              <a:rPr lang="en-IN" dirty="0"/>
              <a:t>Printer is used by Process P1. </a:t>
            </a:r>
          </a:p>
          <a:p>
            <a:pPr lvl="1"/>
            <a:r>
              <a:rPr lang="en-IN" dirty="0"/>
              <a:t>Before this process release printer. </a:t>
            </a:r>
          </a:p>
          <a:p>
            <a:pPr lvl="1"/>
            <a:r>
              <a:rPr lang="en-IN" dirty="0"/>
              <a:t>Process P2 comes and it also wants to use printer </a:t>
            </a:r>
          </a:p>
          <a:p>
            <a:pPr lvl="1"/>
            <a:r>
              <a:rPr lang="en-IN" dirty="0"/>
              <a:t>But it should not be allowed to use printer. </a:t>
            </a:r>
          </a:p>
          <a:p>
            <a:pPr lvl="1"/>
            <a:r>
              <a:rPr lang="en-IN" dirty="0"/>
              <a:t>As Printer is used by Process P1.</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5597" y="3079324"/>
            <a:ext cx="2495224" cy="2495224"/>
          </a:xfrm>
          <a:prstGeom prst="rect">
            <a:avLst/>
          </a:prstGeom>
        </p:spPr>
      </p:pic>
      <p:sp>
        <p:nvSpPr>
          <p:cNvPr id="7" name="TextBox 6"/>
          <p:cNvSpPr txBox="1"/>
          <p:nvPr/>
        </p:nvSpPr>
        <p:spPr>
          <a:xfrm>
            <a:off x="10410605" y="3819214"/>
            <a:ext cx="650929" cy="523220"/>
          </a:xfrm>
          <a:prstGeom prst="rect">
            <a:avLst/>
          </a:prstGeom>
          <a:noFill/>
        </p:spPr>
        <p:txBody>
          <a:bodyPr wrap="square" rtlCol="0">
            <a:spAutoFit/>
          </a:bodyPr>
          <a:lstStyle/>
          <a:p>
            <a:r>
              <a:rPr lang="en-IN" sz="2800" b="1" dirty="0"/>
              <a:t>P1</a:t>
            </a:r>
            <a:endParaRPr lang="en-IN" b="1" dirty="0"/>
          </a:p>
        </p:txBody>
      </p:sp>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l="23256" r="22127"/>
          <a:stretch/>
        </p:blipFill>
        <p:spPr>
          <a:xfrm>
            <a:off x="580292" y="2898186"/>
            <a:ext cx="1362808" cy="2495224"/>
          </a:xfrm>
          <a:prstGeom prst="rect">
            <a:avLst/>
          </a:prstGeom>
        </p:spPr>
      </p:pic>
      <p:sp>
        <p:nvSpPr>
          <p:cNvPr id="9" name="TextBox 8"/>
          <p:cNvSpPr txBox="1"/>
          <p:nvPr/>
        </p:nvSpPr>
        <p:spPr>
          <a:xfrm>
            <a:off x="922147" y="3714939"/>
            <a:ext cx="650929" cy="523220"/>
          </a:xfrm>
          <a:prstGeom prst="rect">
            <a:avLst/>
          </a:prstGeom>
          <a:noFill/>
        </p:spPr>
        <p:txBody>
          <a:bodyPr wrap="square" rtlCol="0">
            <a:spAutoFit/>
          </a:bodyPr>
          <a:lstStyle/>
          <a:p>
            <a:r>
              <a:rPr lang="en-IN" sz="2800" b="1" dirty="0"/>
              <a:t>P2</a:t>
            </a:r>
            <a:endParaRPr lang="en-IN" b="1"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9938" y="2913684"/>
            <a:ext cx="2857500" cy="2857500"/>
          </a:xfrm>
          <a:prstGeom prst="rect">
            <a:avLst/>
          </a:prstGeom>
        </p:spPr>
      </p:pic>
      <p:pic>
        <p:nvPicPr>
          <p:cNvPr id="10" name="Picture 4" descr="Related im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95548" y="3062149"/>
            <a:ext cx="1828800"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8160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42" presetClass="path" presetSubtype="0" accel="50000" decel="50000" fill="hold" nodeType="clickEffect">
                                  <p:stCondLst>
                                    <p:cond delay="0"/>
                                  </p:stCondLst>
                                  <p:childTnLst>
                                    <p:animMotion origin="layout" path="M -3.75E-6 1.85185E-6 L 0.36927 0.01366 " pathEditMode="relative" rAng="0" ptsTypes="AA">
                                      <p:cBhvr>
                                        <p:cTn id="32" dur="2000" fill="hold"/>
                                        <p:tgtEl>
                                          <p:spTgt spid="8"/>
                                        </p:tgtEl>
                                        <p:attrNameLst>
                                          <p:attrName>ppt_x</p:attrName>
                                          <p:attrName>ppt_y</p:attrName>
                                        </p:attrNameLst>
                                      </p:cBhvr>
                                      <p:rCtr x="18464" y="671"/>
                                    </p:animMotion>
                                  </p:childTnLst>
                                </p:cTn>
                              </p:par>
                              <p:par>
                                <p:cTn id="33" presetID="42" presetClass="path" presetSubtype="0" accel="50000" decel="50000" fill="hold" grpId="1" nodeType="withEffect">
                                  <p:stCondLst>
                                    <p:cond delay="0"/>
                                  </p:stCondLst>
                                  <p:childTnLst>
                                    <p:animMotion origin="layout" path="M -3.75E-6 -1.11111E-6 L 0.36159 0.01667 " pathEditMode="relative" rAng="0" ptsTypes="AA">
                                      <p:cBhvr>
                                        <p:cTn id="34" dur="2000" fill="hold"/>
                                        <p:tgtEl>
                                          <p:spTgt spid="9"/>
                                        </p:tgtEl>
                                        <p:attrNameLst>
                                          <p:attrName>ppt_x</p:attrName>
                                          <p:attrName>ppt_y</p:attrName>
                                        </p:attrNameLst>
                                      </p:cBhvr>
                                      <p:rCtr x="18073" y="833"/>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9" grpId="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chemeClr val="tx1"/>
                </a:solidFill>
              </a:rPr>
              <a:t>Mutual Exclusion</a:t>
            </a:r>
            <a:endParaRPr lang="en-US" dirty="0"/>
          </a:p>
        </p:txBody>
      </p:sp>
      <p:pic>
        <p:nvPicPr>
          <p:cNvPr id="33" name="Picture 3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41" y="730906"/>
            <a:ext cx="6271490" cy="3920110"/>
          </a:xfrm>
          <a:prstGeom prst="rect">
            <a:avLst/>
          </a:prstGeom>
        </p:spPr>
      </p:pic>
      <p:pic>
        <p:nvPicPr>
          <p:cNvPr id="63" name="Picture 4" descr="Related ima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34924" y="1212790"/>
            <a:ext cx="1160930" cy="116093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BB4178DE-C9F0-8A74-F428-93CE5C88314F}"/>
              </a:ext>
            </a:extLst>
          </p:cNvPr>
          <p:cNvSpPr txBox="1">
            <a:spLocks/>
          </p:cNvSpPr>
          <p:nvPr/>
        </p:nvSpPr>
        <p:spPr>
          <a:xfrm>
            <a:off x="6204248" y="711201"/>
            <a:ext cx="5987751" cy="1546807"/>
          </a:xfrm>
          <a:prstGeom prst="rect">
            <a:avLst/>
          </a:prstGeom>
          <a:solidFill>
            <a:schemeClr val="accent6">
              <a:lumMod val="20000"/>
              <a:lumOff val="80000"/>
            </a:schemeClr>
          </a:solidFill>
        </p:spPr>
        <p:txBody>
          <a:bodyPr vert="horz" lIns="91440" tIns="45720" rIns="91440" bIns="45720" rtlCol="0" anchor="ctr">
            <a:noAutofit/>
          </a:bodyPr>
          <a:lstStyle>
            <a:lvl1pPr indent="0" algn="just">
              <a:lnSpc>
                <a:spcPct val="90000"/>
              </a:lnSpc>
              <a:spcBef>
                <a:spcPts val="1000"/>
              </a:spcBef>
              <a:buClr>
                <a:schemeClr val="accent6"/>
              </a:buClr>
              <a:buFont typeface="Wingdings 3" panose="05040102010807070707" pitchFamily="18" charset="2"/>
              <a:buNone/>
              <a:defRPr sz="2400">
                <a:solidFill>
                  <a:schemeClr val="accent6"/>
                </a:solidFill>
              </a:defRPr>
            </a:lvl1pPr>
            <a:lvl2pPr marL="809625" indent="-352425" algn="just">
              <a:lnSpc>
                <a:spcPct val="90000"/>
              </a:lnSpc>
              <a:spcBef>
                <a:spcPts val="500"/>
              </a:spcBef>
              <a:buClr>
                <a:schemeClr val="accent6"/>
              </a:buClr>
              <a:buFont typeface="Wingdings 3" panose="05040102010807070707" pitchFamily="18" charset="2"/>
              <a:buChar char=""/>
              <a:defRPr sz="2000"/>
            </a:lvl2pPr>
            <a:lvl3pPr marL="1143000" indent="-228600" algn="just">
              <a:lnSpc>
                <a:spcPct val="90000"/>
              </a:lnSpc>
              <a:spcBef>
                <a:spcPts val="500"/>
              </a:spcBef>
              <a:buClr>
                <a:schemeClr val="accent6"/>
              </a:buClr>
              <a:buFont typeface="Wingdings" panose="05000000000000000000" pitchFamily="2" charset="2"/>
              <a:buChar char="§"/>
            </a:lvl3pPr>
            <a:lvl4pPr marL="1600200" indent="-228600" algn="just">
              <a:lnSpc>
                <a:spcPct val="90000"/>
              </a:lnSpc>
              <a:spcBef>
                <a:spcPts val="500"/>
              </a:spcBef>
              <a:buClr>
                <a:schemeClr val="accent6"/>
              </a:buClr>
              <a:buFont typeface="Arial" panose="020B0604020202020204" pitchFamily="34" charset="0"/>
              <a:buChar char="•"/>
              <a:defRPr sz="1600"/>
            </a:lvl4pPr>
            <a:lvl5pPr marL="2057400" indent="-228600" algn="just">
              <a:lnSpc>
                <a:spcPct val="90000"/>
              </a:lnSpc>
              <a:spcBef>
                <a:spcPts val="500"/>
              </a:spcBef>
              <a:buClr>
                <a:schemeClr val="accent6"/>
              </a:buClr>
              <a:buFont typeface="Arial" panose="020B0604020202020204" pitchFamily="34" charset="0"/>
              <a:buChar char="•"/>
              <a:defRPr sz="16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b="1" dirty="0">
                <a:solidFill>
                  <a:srgbClr val="1D6199"/>
                </a:solidFill>
              </a:rPr>
              <a:t>Mutual Exclusion</a:t>
            </a:r>
            <a:r>
              <a:rPr lang="en-US" dirty="0">
                <a:solidFill>
                  <a:schemeClr val="tx1"/>
                </a:solidFill>
              </a:rPr>
              <a:t>: Way of making sure that if one process is using a shared variable or file; the other process will be excluded (stopped) from doing the same thing.</a:t>
            </a:r>
          </a:p>
        </p:txBody>
      </p:sp>
    </p:spTree>
    <p:extLst>
      <p:ext uri="{BB962C8B-B14F-4D97-AF65-F5344CB8AC3E}">
        <p14:creationId xmlns:p14="http://schemas.microsoft.com/office/powerpoint/2010/main" val="2725371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Mutual Exclusion</a:t>
            </a:r>
          </a:p>
        </p:txBody>
      </p:sp>
      <p:sp>
        <p:nvSpPr>
          <p:cNvPr id="28" name="Content Placeholder 2">
            <a:extLst>
              <a:ext uri="{FF2B5EF4-FFF2-40B4-BE49-F238E27FC236}">
                <a16:creationId xmlns:a16="http://schemas.microsoft.com/office/drawing/2014/main" id="{05FF24D1-5277-417B-BCE3-776DD62CA93A}"/>
              </a:ext>
            </a:extLst>
          </p:cNvPr>
          <p:cNvSpPr>
            <a:spLocks noGrp="1"/>
          </p:cNvSpPr>
          <p:nvPr>
            <p:ph idx="1"/>
          </p:nvPr>
        </p:nvSpPr>
        <p:spPr/>
        <p:txBody>
          <a:bodyPr>
            <a:normAutofit/>
          </a:bodyPr>
          <a:lstStyle/>
          <a:p>
            <a:pPr>
              <a:lnSpc>
                <a:spcPct val="110000"/>
              </a:lnSpc>
              <a:spcBef>
                <a:spcPts val="200"/>
              </a:spcBef>
              <a:spcAft>
                <a:spcPts val="200"/>
              </a:spcAft>
            </a:pPr>
            <a:r>
              <a:rPr lang="en-US" altLang="en-US" dirty="0">
                <a:latin typeface="+mj-lt"/>
              </a:rPr>
              <a:t>In single-processor systems, critical regions are protected </a:t>
            </a:r>
            <a:r>
              <a:rPr lang="en-US" altLang="en-US" dirty="0">
                <a:solidFill>
                  <a:srgbClr val="1D6199"/>
                </a:solidFill>
                <a:latin typeface="+mj-lt"/>
              </a:rPr>
              <a:t>using semaphores, monitors, and similar constructs. </a:t>
            </a:r>
          </a:p>
          <a:p>
            <a:pPr>
              <a:lnSpc>
                <a:spcPct val="110000"/>
              </a:lnSpc>
              <a:spcBef>
                <a:spcPts val="200"/>
              </a:spcBef>
              <a:spcAft>
                <a:spcPts val="200"/>
              </a:spcAft>
            </a:pPr>
            <a:r>
              <a:rPr lang="en-US" altLang="en-US" dirty="0">
                <a:latin typeface="+mj-lt"/>
              </a:rPr>
              <a:t>In distributed systems, since there is no shared memory, </a:t>
            </a:r>
            <a:r>
              <a:rPr lang="en-US" altLang="en-US" dirty="0">
                <a:solidFill>
                  <a:srgbClr val="1D6199"/>
                </a:solidFill>
                <a:latin typeface="+mj-lt"/>
              </a:rPr>
              <a:t>these methods cannot be used.</a:t>
            </a:r>
          </a:p>
          <a:p>
            <a:pPr>
              <a:lnSpc>
                <a:spcPct val="110000"/>
              </a:lnSpc>
              <a:spcBef>
                <a:spcPts val="200"/>
              </a:spcBef>
              <a:spcAft>
                <a:spcPts val="200"/>
              </a:spcAft>
            </a:pPr>
            <a:r>
              <a:rPr lang="en-US" altLang="en-US" b="1" dirty="0">
                <a:solidFill>
                  <a:srgbClr val="1D6199"/>
                </a:solidFill>
                <a:latin typeface="+mj-lt"/>
              </a:rPr>
              <a:t>Mutual exclusion: </a:t>
            </a:r>
            <a:r>
              <a:rPr lang="en-US" altLang="en-US" dirty="0">
                <a:latin typeface="+mj-lt"/>
              </a:rPr>
              <a:t>Concurrent access of processes to a shared resource or data is executed in mutually exclusive manner.</a:t>
            </a:r>
          </a:p>
          <a:p>
            <a:pPr>
              <a:lnSpc>
                <a:spcPct val="110000"/>
              </a:lnSpc>
              <a:spcBef>
                <a:spcPts val="200"/>
              </a:spcBef>
              <a:spcAft>
                <a:spcPts val="200"/>
              </a:spcAft>
            </a:pPr>
            <a:r>
              <a:rPr lang="en-US" altLang="en-US" dirty="0">
                <a:latin typeface="+mj-lt"/>
              </a:rPr>
              <a:t>Only one process is allowed to execute the critical section (CS) at any given time.</a:t>
            </a:r>
          </a:p>
          <a:p>
            <a:pPr>
              <a:lnSpc>
                <a:spcPct val="110000"/>
              </a:lnSpc>
              <a:spcBef>
                <a:spcPts val="200"/>
              </a:spcBef>
              <a:spcAft>
                <a:spcPts val="200"/>
              </a:spcAft>
            </a:pPr>
            <a:r>
              <a:rPr lang="en-US" altLang="en-US" dirty="0">
                <a:latin typeface="+mj-lt"/>
              </a:rPr>
              <a:t>In a distributed system, shared variables (semaphores) or a local kernel cannot be used to implement mutual exclusion.</a:t>
            </a:r>
          </a:p>
          <a:p>
            <a:pPr>
              <a:lnSpc>
                <a:spcPct val="110000"/>
              </a:lnSpc>
              <a:spcBef>
                <a:spcPts val="200"/>
              </a:spcBef>
              <a:spcAft>
                <a:spcPts val="200"/>
              </a:spcAft>
            </a:pPr>
            <a:r>
              <a:rPr lang="en-US" altLang="en-US" dirty="0">
                <a:solidFill>
                  <a:srgbClr val="1D6199"/>
                </a:solidFill>
                <a:latin typeface="+mj-lt"/>
              </a:rPr>
              <a:t>Message passing </a:t>
            </a:r>
            <a:r>
              <a:rPr lang="en-US" altLang="en-US" dirty="0">
                <a:latin typeface="+mj-lt"/>
              </a:rPr>
              <a:t>is the sole means for implementing distributed mutual exclusion</a:t>
            </a:r>
          </a:p>
          <a:p>
            <a:pPr>
              <a:lnSpc>
                <a:spcPct val="110000"/>
              </a:lnSpc>
              <a:spcBef>
                <a:spcPts val="200"/>
              </a:spcBef>
              <a:spcAft>
                <a:spcPts val="200"/>
              </a:spcAft>
            </a:pPr>
            <a:endParaRPr lang="en-US" altLang="en-US" dirty="0">
              <a:latin typeface="+mj-lt"/>
            </a:endParaRPr>
          </a:p>
          <a:p>
            <a:pPr>
              <a:lnSpc>
                <a:spcPct val="100000"/>
              </a:lnSpc>
              <a:spcBef>
                <a:spcPts val="300"/>
              </a:spcBef>
              <a:spcAft>
                <a:spcPts val="300"/>
              </a:spcAft>
            </a:pPr>
            <a:endParaRPr lang="en-US" altLang="en-US" sz="2400" b="1" dirty="0">
              <a:latin typeface="+mj-lt"/>
              <a:ea typeface="MS PGothic" panose="020B0600070205080204" pitchFamily="34" charset="-128"/>
            </a:endParaRPr>
          </a:p>
        </p:txBody>
      </p:sp>
    </p:spTree>
    <p:extLst>
      <p:ext uri="{BB962C8B-B14F-4D97-AF65-F5344CB8AC3E}">
        <p14:creationId xmlns:p14="http://schemas.microsoft.com/office/powerpoint/2010/main" val="835221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Critical Section </a:t>
            </a:r>
          </a:p>
        </p:txBody>
      </p:sp>
      <p:sp>
        <p:nvSpPr>
          <p:cNvPr id="28" name="Content Placeholder 2">
            <a:extLst>
              <a:ext uri="{FF2B5EF4-FFF2-40B4-BE49-F238E27FC236}">
                <a16:creationId xmlns:a16="http://schemas.microsoft.com/office/drawing/2014/main" id="{05FF24D1-5277-417B-BCE3-776DD62CA93A}"/>
              </a:ext>
            </a:extLst>
          </p:cNvPr>
          <p:cNvSpPr>
            <a:spLocks noGrp="1"/>
          </p:cNvSpPr>
          <p:nvPr>
            <p:ph idx="1"/>
          </p:nvPr>
        </p:nvSpPr>
        <p:spPr/>
        <p:txBody>
          <a:bodyPr>
            <a:normAutofit/>
          </a:bodyPr>
          <a:lstStyle/>
          <a:p>
            <a:pPr>
              <a:lnSpc>
                <a:spcPct val="110000"/>
              </a:lnSpc>
              <a:spcBef>
                <a:spcPts val="200"/>
              </a:spcBef>
              <a:spcAft>
                <a:spcPts val="200"/>
              </a:spcAft>
            </a:pPr>
            <a:r>
              <a:rPr lang="en-US" altLang="en-US" dirty="0">
                <a:latin typeface="+mj-lt"/>
              </a:rPr>
              <a:t>The sections of a program that need exclusive access to shared resources are referred to as critical sections.</a:t>
            </a:r>
          </a:p>
          <a:p>
            <a:pPr>
              <a:lnSpc>
                <a:spcPct val="110000"/>
              </a:lnSpc>
              <a:spcBef>
                <a:spcPts val="200"/>
              </a:spcBef>
              <a:spcAft>
                <a:spcPts val="200"/>
              </a:spcAft>
            </a:pPr>
            <a:r>
              <a:rPr lang="en-US" altLang="en-US" dirty="0">
                <a:latin typeface="+mj-lt"/>
              </a:rPr>
              <a:t>Mutual Exclusion : Prevent processes from executing concurrently with their associated critical section.</a:t>
            </a:r>
          </a:p>
          <a:p>
            <a:pPr marL="0" indent="0">
              <a:lnSpc>
                <a:spcPct val="110000"/>
              </a:lnSpc>
              <a:spcBef>
                <a:spcPts val="200"/>
              </a:spcBef>
              <a:spcAft>
                <a:spcPts val="200"/>
              </a:spcAft>
              <a:buNone/>
            </a:pPr>
            <a:r>
              <a:rPr lang="en-US" altLang="en-US" b="1" dirty="0"/>
              <a:t>Requirement</a:t>
            </a:r>
            <a:r>
              <a:rPr lang="en-US" altLang="en-US" b="1" dirty="0">
                <a:solidFill>
                  <a:srgbClr val="1D3064"/>
                </a:solidFill>
                <a:latin typeface="+mj-lt"/>
              </a:rPr>
              <a:t> :</a:t>
            </a:r>
          </a:p>
          <a:p>
            <a:pPr>
              <a:lnSpc>
                <a:spcPct val="110000"/>
              </a:lnSpc>
              <a:spcBef>
                <a:spcPts val="200"/>
              </a:spcBef>
              <a:spcAft>
                <a:spcPts val="200"/>
              </a:spcAft>
            </a:pPr>
            <a:r>
              <a:rPr lang="en-US" altLang="en-US" dirty="0">
                <a:solidFill>
                  <a:srgbClr val="1D6199"/>
                </a:solidFill>
                <a:latin typeface="+mj-lt"/>
              </a:rPr>
              <a:t>Mutual exclusion</a:t>
            </a:r>
            <a:r>
              <a:rPr lang="en-US" altLang="en-US" dirty="0">
                <a:latin typeface="+mj-lt"/>
              </a:rPr>
              <a:t>: At anytime only one process should access the resource.</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A process can get another resource first releasing its own.</a:t>
            </a:r>
          </a:p>
          <a:p>
            <a:pPr>
              <a:lnSpc>
                <a:spcPct val="110000"/>
              </a:lnSpc>
              <a:spcBef>
                <a:spcPts val="200"/>
              </a:spcBef>
              <a:spcAft>
                <a:spcPts val="200"/>
              </a:spcAft>
            </a:pPr>
            <a:r>
              <a:rPr lang="en-US" altLang="en-US" dirty="0">
                <a:solidFill>
                  <a:srgbClr val="1D6199"/>
                </a:solidFill>
                <a:latin typeface="+mj-lt"/>
              </a:rPr>
              <a:t>No starvation</a:t>
            </a:r>
            <a:r>
              <a:rPr lang="en-US" altLang="en-US" dirty="0">
                <a:latin typeface="+mj-lt"/>
              </a:rPr>
              <a:t>: if every process that is granted the resource eventually release it, every request must be eventually granted.</a:t>
            </a:r>
          </a:p>
          <a:p>
            <a:pPr>
              <a:lnSpc>
                <a:spcPct val="100000"/>
              </a:lnSpc>
              <a:spcBef>
                <a:spcPts val="300"/>
              </a:spcBef>
              <a:spcAft>
                <a:spcPts val="300"/>
              </a:spcAft>
            </a:pPr>
            <a:endParaRPr lang="en-US" altLang="en-US" sz="2400" b="1" dirty="0">
              <a:latin typeface="+mj-lt"/>
              <a:ea typeface="MS PGothic" panose="020B0600070205080204" pitchFamily="34" charset="-128"/>
            </a:endParaRPr>
          </a:p>
        </p:txBody>
      </p:sp>
    </p:spTree>
    <p:extLst>
      <p:ext uri="{BB962C8B-B14F-4D97-AF65-F5344CB8AC3E}">
        <p14:creationId xmlns:p14="http://schemas.microsoft.com/office/powerpoint/2010/main" val="3557137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Types of Distributed Mutual Exclusion</a:t>
            </a:r>
          </a:p>
        </p:txBody>
      </p:sp>
      <p:sp>
        <p:nvSpPr>
          <p:cNvPr id="28" name="Content Placeholder 2">
            <a:extLst>
              <a:ext uri="{FF2B5EF4-FFF2-40B4-BE49-F238E27FC236}">
                <a16:creationId xmlns:a16="http://schemas.microsoft.com/office/drawing/2014/main" id="{05FF24D1-5277-417B-BCE3-776DD62CA93A}"/>
              </a:ext>
            </a:extLst>
          </p:cNvPr>
          <p:cNvSpPr>
            <a:spLocks noGrp="1"/>
          </p:cNvSpPr>
          <p:nvPr>
            <p:ph idx="1"/>
          </p:nvPr>
        </p:nvSpPr>
        <p:spPr/>
        <p:txBody>
          <a:bodyPr>
            <a:normAutofit/>
          </a:bodyPr>
          <a:lstStyle/>
          <a:p>
            <a:pPr marL="0" indent="0">
              <a:lnSpc>
                <a:spcPct val="100000"/>
              </a:lnSpc>
              <a:spcBef>
                <a:spcPts val="300"/>
              </a:spcBef>
              <a:spcAft>
                <a:spcPts val="300"/>
              </a:spcAft>
              <a:buNone/>
            </a:pPr>
            <a:r>
              <a:rPr lang="en-US" altLang="en-US" b="1" dirty="0">
                <a:latin typeface="+mj-lt"/>
                <a:ea typeface="MS PGothic" panose="020B0600070205080204" pitchFamily="34" charset="-128"/>
              </a:rPr>
              <a:t>Mutual exclusion algorithms are classified into two categories</a:t>
            </a:r>
          </a:p>
          <a:p>
            <a:pPr>
              <a:lnSpc>
                <a:spcPct val="100000"/>
              </a:lnSpc>
              <a:spcBef>
                <a:spcPts val="300"/>
              </a:spcBef>
              <a:spcAft>
                <a:spcPts val="300"/>
              </a:spcAft>
            </a:pPr>
            <a:endParaRPr lang="en-US" altLang="en-US" sz="2400" b="1" dirty="0">
              <a:latin typeface="+mj-lt"/>
              <a:ea typeface="MS PGothic" panose="020B0600070205080204" pitchFamily="34" charset="-128"/>
            </a:endParaRPr>
          </a:p>
        </p:txBody>
      </p:sp>
      <p:grpSp>
        <p:nvGrpSpPr>
          <p:cNvPr id="49" name="Group 3">
            <a:extLst>
              <a:ext uri="{FF2B5EF4-FFF2-40B4-BE49-F238E27FC236}">
                <a16:creationId xmlns:a16="http://schemas.microsoft.com/office/drawing/2014/main" id="{3200370F-6129-4E3F-974F-CC81492183D5}"/>
              </a:ext>
            </a:extLst>
          </p:cNvPr>
          <p:cNvGrpSpPr>
            <a:grpSpLocks/>
          </p:cNvGrpSpPr>
          <p:nvPr/>
        </p:nvGrpSpPr>
        <p:grpSpPr bwMode="auto">
          <a:xfrm>
            <a:off x="6874954" y="2419129"/>
            <a:ext cx="1190625" cy="724935"/>
            <a:chOff x="5105400" y="3962397"/>
            <a:chExt cx="3276600" cy="1075038"/>
          </a:xfrm>
        </p:grpSpPr>
        <p:sp>
          <p:nvSpPr>
            <p:cNvPr id="50" name="Rectangle 49">
              <a:extLst>
                <a:ext uri="{FF2B5EF4-FFF2-40B4-BE49-F238E27FC236}">
                  <a16:creationId xmlns:a16="http://schemas.microsoft.com/office/drawing/2014/main" id="{B7702100-7410-4423-85A9-5D93343711D3}"/>
                </a:ext>
              </a:extLst>
            </p:cNvPr>
            <p:cNvSpPr/>
            <p:nvPr/>
          </p:nvSpPr>
          <p:spPr>
            <a:xfrm>
              <a:off x="5105400" y="3962397"/>
              <a:ext cx="3276600" cy="1075038"/>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sz="2000">
                <a:latin typeface="+mj-lt"/>
              </a:endParaRPr>
            </a:p>
          </p:txBody>
        </p:sp>
        <p:sp>
          <p:nvSpPr>
            <p:cNvPr id="51" name="Rectangle 50">
              <a:extLst>
                <a:ext uri="{FF2B5EF4-FFF2-40B4-BE49-F238E27FC236}">
                  <a16:creationId xmlns:a16="http://schemas.microsoft.com/office/drawing/2014/main" id="{B446EB35-64B2-4584-AF75-7DF212A7F461}"/>
                </a:ext>
              </a:extLst>
            </p:cNvPr>
            <p:cNvSpPr/>
            <p:nvPr/>
          </p:nvSpPr>
          <p:spPr bwMode="auto">
            <a:xfrm>
              <a:off x="5105400" y="3962397"/>
              <a:ext cx="3276600" cy="486423"/>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Client 1</a:t>
              </a:r>
            </a:p>
          </p:txBody>
        </p:sp>
      </p:grpSp>
      <p:grpSp>
        <p:nvGrpSpPr>
          <p:cNvPr id="52" name="Group 9">
            <a:extLst>
              <a:ext uri="{FF2B5EF4-FFF2-40B4-BE49-F238E27FC236}">
                <a16:creationId xmlns:a16="http://schemas.microsoft.com/office/drawing/2014/main" id="{AA9AC8E2-9E58-4CDC-94D8-7F5007AF7F47}"/>
              </a:ext>
            </a:extLst>
          </p:cNvPr>
          <p:cNvGrpSpPr>
            <a:grpSpLocks/>
          </p:cNvGrpSpPr>
          <p:nvPr/>
        </p:nvGrpSpPr>
        <p:grpSpPr bwMode="auto">
          <a:xfrm>
            <a:off x="9887811" y="2670277"/>
            <a:ext cx="1473200" cy="874696"/>
            <a:chOff x="5105400" y="3962397"/>
            <a:chExt cx="3640667" cy="1271217"/>
          </a:xfrm>
        </p:grpSpPr>
        <p:sp>
          <p:nvSpPr>
            <p:cNvPr id="53" name="Rectangle 52">
              <a:extLst>
                <a:ext uri="{FF2B5EF4-FFF2-40B4-BE49-F238E27FC236}">
                  <a16:creationId xmlns:a16="http://schemas.microsoft.com/office/drawing/2014/main" id="{7D73EA2E-90D6-4BBE-8000-3BDD242CB7EC}"/>
                </a:ext>
              </a:extLst>
            </p:cNvPr>
            <p:cNvSpPr/>
            <p:nvPr/>
          </p:nvSpPr>
          <p:spPr>
            <a:xfrm>
              <a:off x="5105400" y="3962397"/>
              <a:ext cx="3640667" cy="1271217"/>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sz="2000">
                <a:latin typeface="+mj-lt"/>
              </a:endParaRPr>
            </a:p>
          </p:txBody>
        </p:sp>
        <p:sp>
          <p:nvSpPr>
            <p:cNvPr id="54" name="Rectangle 53">
              <a:extLst>
                <a:ext uri="{FF2B5EF4-FFF2-40B4-BE49-F238E27FC236}">
                  <a16:creationId xmlns:a16="http://schemas.microsoft.com/office/drawing/2014/main" id="{FD1D3AD8-25CC-4D51-9F68-1C7A1C9B69CF}"/>
                </a:ext>
              </a:extLst>
            </p:cNvPr>
            <p:cNvSpPr/>
            <p:nvPr/>
          </p:nvSpPr>
          <p:spPr bwMode="auto">
            <a:xfrm>
              <a:off x="5105400" y="3962397"/>
              <a:ext cx="3640667" cy="48641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Server</a:t>
              </a:r>
            </a:p>
          </p:txBody>
        </p:sp>
      </p:grpSp>
      <p:sp>
        <p:nvSpPr>
          <p:cNvPr id="55" name="Rectangle 54">
            <a:extLst>
              <a:ext uri="{FF2B5EF4-FFF2-40B4-BE49-F238E27FC236}">
                <a16:creationId xmlns:a16="http://schemas.microsoft.com/office/drawing/2014/main" id="{6FAE3B14-5C3D-4026-AE75-834AC3B85297}"/>
              </a:ext>
            </a:extLst>
          </p:cNvPr>
          <p:cNvSpPr/>
          <p:nvPr/>
        </p:nvSpPr>
        <p:spPr bwMode="auto">
          <a:xfrm>
            <a:off x="9916389" y="3055354"/>
            <a:ext cx="1429782" cy="449250"/>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sz="2000" dirty="0">
                <a:solidFill>
                  <a:schemeClr val="tx1"/>
                </a:solidFill>
                <a:latin typeface="+mj-lt"/>
              </a:rPr>
              <a:t>Resource</a:t>
            </a:r>
          </a:p>
        </p:txBody>
      </p:sp>
      <p:sp>
        <p:nvSpPr>
          <p:cNvPr id="56" name="Oval 55">
            <a:extLst>
              <a:ext uri="{FF2B5EF4-FFF2-40B4-BE49-F238E27FC236}">
                <a16:creationId xmlns:a16="http://schemas.microsoft.com/office/drawing/2014/main" id="{954C5286-2C39-4043-B360-49FA3FB9A9BF}"/>
              </a:ext>
            </a:extLst>
          </p:cNvPr>
          <p:cNvSpPr>
            <a:spLocks noChangeArrowheads="1"/>
          </p:cNvSpPr>
          <p:nvPr/>
        </p:nvSpPr>
        <p:spPr bwMode="auto">
          <a:xfrm>
            <a:off x="6986241" y="2802361"/>
            <a:ext cx="900696" cy="228600"/>
          </a:xfrm>
          <a:prstGeom prst="ellipse">
            <a:avLst/>
          </a:prstGeom>
          <a:gradFill rotWithShape="1">
            <a:gsLst>
              <a:gs pos="0">
                <a:srgbClr val="E9E9F7"/>
              </a:gs>
              <a:gs pos="64999">
                <a:srgbClr val="C5C5E9"/>
              </a:gs>
              <a:gs pos="100000">
                <a:srgbClr val="ACACE1"/>
              </a:gs>
            </a:gsLst>
            <a:lin ang="5400000" scaled="1"/>
          </a:gradFill>
          <a:ln w="9525">
            <a:solidFill>
              <a:srgbClr val="292989"/>
            </a:solidFill>
            <a:round/>
            <a:headEnd/>
            <a:tailEnd/>
          </a:ln>
          <a:effectLst>
            <a:outerShdw blurRad="40000" dist="20000" dir="5400000" rotWithShape="0">
              <a:srgbClr val="808080">
                <a:alpha val="37999"/>
              </a:srgbClr>
            </a:outerShdw>
          </a:effectLst>
        </p:spPr>
        <p:txBody>
          <a:bodyPr anchor="ctr"/>
          <a:lstStyle/>
          <a:p>
            <a:pPr algn="ctr" eaLnBrk="1" hangingPunct="1">
              <a:defRPr/>
            </a:pPr>
            <a:r>
              <a:rPr lang="en-US" dirty="0">
                <a:latin typeface="+mj-lt"/>
                <a:ea typeface="+mn-ea"/>
              </a:rPr>
              <a:t>P1</a:t>
            </a:r>
          </a:p>
        </p:txBody>
      </p:sp>
      <p:grpSp>
        <p:nvGrpSpPr>
          <p:cNvPr id="57" name="Group 14">
            <a:extLst>
              <a:ext uri="{FF2B5EF4-FFF2-40B4-BE49-F238E27FC236}">
                <a16:creationId xmlns:a16="http://schemas.microsoft.com/office/drawing/2014/main" id="{DDACDEEE-AA32-4154-9F8F-190D98FAF6F4}"/>
              </a:ext>
            </a:extLst>
          </p:cNvPr>
          <p:cNvGrpSpPr>
            <a:grpSpLocks/>
          </p:cNvGrpSpPr>
          <p:nvPr/>
        </p:nvGrpSpPr>
        <p:grpSpPr bwMode="auto">
          <a:xfrm>
            <a:off x="9838599" y="1773340"/>
            <a:ext cx="1522412" cy="779462"/>
            <a:chOff x="5105400" y="3962397"/>
            <a:chExt cx="4004734" cy="933842"/>
          </a:xfrm>
        </p:grpSpPr>
        <p:sp>
          <p:nvSpPr>
            <p:cNvPr id="58" name="Rectangle 57">
              <a:extLst>
                <a:ext uri="{FF2B5EF4-FFF2-40B4-BE49-F238E27FC236}">
                  <a16:creationId xmlns:a16="http://schemas.microsoft.com/office/drawing/2014/main" id="{1F21C6DD-D7B4-4F60-8D37-93F9D46EE662}"/>
                </a:ext>
              </a:extLst>
            </p:cNvPr>
            <p:cNvSpPr/>
            <p:nvPr/>
          </p:nvSpPr>
          <p:spPr>
            <a:xfrm>
              <a:off x="5105400" y="3962397"/>
              <a:ext cx="4004734" cy="933842"/>
            </a:xfrm>
            <a:prstGeom prst="rect">
              <a:avLst/>
            </a:prstGeom>
          </p:spPr>
          <p:style>
            <a:lnRef idx="2">
              <a:schemeClr val="accent4"/>
            </a:lnRef>
            <a:fillRef idx="1">
              <a:schemeClr val="lt1"/>
            </a:fillRef>
            <a:effectRef idx="0">
              <a:schemeClr val="accent4"/>
            </a:effectRef>
            <a:fontRef idx="minor">
              <a:schemeClr val="dk1"/>
            </a:fontRef>
          </p:style>
          <p:txBody>
            <a:bodyPr anchor="ctr"/>
            <a:lstStyle/>
            <a:p>
              <a:pPr algn="ctr" eaLnBrk="1" hangingPunct="1">
                <a:defRPr/>
              </a:pPr>
              <a:endParaRPr lang="en-US" sz="2000">
                <a:latin typeface="+mj-lt"/>
              </a:endParaRPr>
            </a:p>
          </p:txBody>
        </p:sp>
        <p:sp>
          <p:nvSpPr>
            <p:cNvPr id="59" name="Rectangle 58">
              <a:extLst>
                <a:ext uri="{FF2B5EF4-FFF2-40B4-BE49-F238E27FC236}">
                  <a16:creationId xmlns:a16="http://schemas.microsoft.com/office/drawing/2014/main" id="{DCAA9EB5-29E8-49C3-8EE1-7DF26E64C2C5}"/>
                </a:ext>
              </a:extLst>
            </p:cNvPr>
            <p:cNvSpPr/>
            <p:nvPr/>
          </p:nvSpPr>
          <p:spPr bwMode="auto">
            <a:xfrm>
              <a:off x="5105400" y="3962397"/>
              <a:ext cx="4004734" cy="48630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2000" dirty="0">
                  <a:solidFill>
                    <a:schemeClr val="bg1"/>
                  </a:solidFill>
                  <a:latin typeface="+mj-lt"/>
                </a:rPr>
                <a:t>Coordinator</a:t>
              </a:r>
            </a:p>
          </p:txBody>
        </p:sp>
      </p:grpSp>
      <p:sp>
        <p:nvSpPr>
          <p:cNvPr id="60" name="Oval 59">
            <a:extLst>
              <a:ext uri="{FF2B5EF4-FFF2-40B4-BE49-F238E27FC236}">
                <a16:creationId xmlns:a16="http://schemas.microsoft.com/office/drawing/2014/main" id="{35C9DF8E-9123-4F45-B2D4-71D111B178AB}"/>
              </a:ext>
            </a:extLst>
          </p:cNvPr>
          <p:cNvSpPr>
            <a:spLocks noChangeArrowheads="1"/>
          </p:cNvSpPr>
          <p:nvPr/>
        </p:nvSpPr>
        <p:spPr bwMode="auto">
          <a:xfrm>
            <a:off x="10269420" y="2215569"/>
            <a:ext cx="672722" cy="297123"/>
          </a:xfrm>
          <a:prstGeom prst="ellipse">
            <a:avLst/>
          </a:prstGeom>
          <a:gradFill rotWithShape="1">
            <a:gsLst>
              <a:gs pos="0">
                <a:srgbClr val="EDEDED"/>
              </a:gs>
              <a:gs pos="64999">
                <a:srgbClr val="D0D0D0"/>
              </a:gs>
              <a:gs pos="100000">
                <a:srgbClr val="BCBCBC"/>
              </a:gs>
            </a:gsLst>
            <a:lin ang="5400000" scaled="1"/>
          </a:gradFill>
          <a:ln w="9525">
            <a:solidFill>
              <a:srgbClr val="000000"/>
            </a:solidFill>
            <a:round/>
            <a:headEnd/>
            <a:tailEnd/>
          </a:ln>
          <a:effectLst>
            <a:outerShdw blurRad="40000" dist="20000" dir="5400000" rotWithShape="0">
              <a:srgbClr val="808080">
                <a:alpha val="37999"/>
              </a:srgbClr>
            </a:outerShdw>
          </a:effectLst>
        </p:spPr>
        <p:txBody>
          <a:bodyPr anchor="ctr"/>
          <a:lstStyle/>
          <a:p>
            <a:pPr algn="ctr" eaLnBrk="1" hangingPunct="1">
              <a:defRPr/>
            </a:pPr>
            <a:r>
              <a:rPr lang="en-US" dirty="0">
                <a:latin typeface="+mj-lt"/>
                <a:ea typeface="+mn-ea"/>
              </a:rPr>
              <a:t>C1</a:t>
            </a:r>
          </a:p>
        </p:txBody>
      </p:sp>
      <p:sp>
        <p:nvSpPr>
          <p:cNvPr id="61" name="Content Placeholder 2">
            <a:extLst>
              <a:ext uri="{FF2B5EF4-FFF2-40B4-BE49-F238E27FC236}">
                <a16:creationId xmlns:a16="http://schemas.microsoft.com/office/drawing/2014/main" id="{135F9C9E-3115-427E-B115-C114FB2AA5AD}"/>
              </a:ext>
            </a:extLst>
          </p:cNvPr>
          <p:cNvSpPr txBox="1">
            <a:spLocks/>
          </p:cNvSpPr>
          <p:nvPr/>
        </p:nvSpPr>
        <p:spPr bwMode="auto">
          <a:xfrm>
            <a:off x="6132" y="1552903"/>
            <a:ext cx="5715000" cy="4525963"/>
          </a:xfrm>
          <a:prstGeom prst="rect">
            <a:avLst/>
          </a:prstGeom>
          <a:noFill/>
          <a:ln>
            <a:noFill/>
          </a:ln>
        </p:spPr>
        <p:txBody>
          <a:bodyPr/>
          <a:lstStyle>
            <a:lvl1pPr marL="342900" indent="-342900" algn="l" rtl="0" eaLnBrk="0" fontAlgn="base" hangingPunct="0">
              <a:spcBef>
                <a:spcPct val="20000"/>
              </a:spcBef>
              <a:spcAft>
                <a:spcPct val="0"/>
              </a:spcAft>
              <a:buBlip>
                <a:blip r:embed="rId2"/>
              </a:buBlip>
              <a:defRPr sz="3200">
                <a:solidFill>
                  <a:srgbClr val="808080"/>
                </a:solidFill>
                <a:latin typeface="+mn-lt"/>
                <a:ea typeface="+mn-ea"/>
                <a:cs typeface="+mn-cs"/>
              </a:defRPr>
            </a:lvl1pPr>
            <a:lvl2pPr marL="742950" indent="-285750" algn="l" rtl="0" eaLnBrk="0" fontAlgn="base" hangingPunct="0">
              <a:spcBef>
                <a:spcPct val="20000"/>
              </a:spcBef>
              <a:spcAft>
                <a:spcPct val="0"/>
              </a:spcAft>
              <a:buBlip>
                <a:blip r:embed="rId2"/>
              </a:buBlip>
              <a:defRPr sz="2800">
                <a:solidFill>
                  <a:srgbClr val="808080"/>
                </a:solidFill>
                <a:latin typeface="+mn-lt"/>
                <a:cs typeface="+mn-cs"/>
              </a:defRPr>
            </a:lvl2pPr>
            <a:lvl3pPr marL="1143000" indent="-228600" algn="l" rtl="0" eaLnBrk="0" fontAlgn="base" hangingPunct="0">
              <a:spcBef>
                <a:spcPct val="20000"/>
              </a:spcBef>
              <a:spcAft>
                <a:spcPct val="0"/>
              </a:spcAft>
              <a:buBlip>
                <a:blip r:embed="rId2"/>
              </a:buBlip>
              <a:defRPr sz="2400">
                <a:solidFill>
                  <a:srgbClr val="808080"/>
                </a:solidFill>
                <a:latin typeface="+mn-lt"/>
                <a:cs typeface="+mn-cs"/>
              </a:defRPr>
            </a:lvl3pPr>
            <a:lvl4pPr marL="1600200" indent="-228600" algn="l" rtl="0" eaLnBrk="0" fontAlgn="base" hangingPunct="0">
              <a:spcBef>
                <a:spcPct val="20000"/>
              </a:spcBef>
              <a:spcAft>
                <a:spcPct val="0"/>
              </a:spcAft>
              <a:buBlip>
                <a:blip r:embed="rId2"/>
              </a:buBlip>
              <a:defRPr sz="2000">
                <a:solidFill>
                  <a:srgbClr val="808080"/>
                </a:solidFill>
                <a:latin typeface="+mn-lt"/>
                <a:cs typeface="+mn-cs"/>
              </a:defRPr>
            </a:lvl4pPr>
            <a:lvl5pPr marL="2057400" indent="-228600" algn="l" rtl="0" eaLnBrk="0" fontAlgn="base" hangingPunct="0">
              <a:spcBef>
                <a:spcPct val="20000"/>
              </a:spcBef>
              <a:spcAft>
                <a:spcPct val="0"/>
              </a:spcAft>
              <a:buBlip>
                <a:blip r:embed="rId2"/>
              </a:buBlip>
              <a:defRPr sz="2000">
                <a:solidFill>
                  <a:srgbClr val="808080"/>
                </a:solidFill>
                <a:latin typeface="+mn-lt"/>
                <a:cs typeface="+mn-cs"/>
              </a:defRPr>
            </a:lvl5pPr>
            <a:lvl6pPr marL="2514600" indent="-228600" algn="l" rtl="0" fontAlgn="base">
              <a:spcBef>
                <a:spcPct val="20000"/>
              </a:spcBef>
              <a:spcAft>
                <a:spcPct val="0"/>
              </a:spcAft>
              <a:buBlip>
                <a:blip r:embed="rId2"/>
              </a:buBlip>
              <a:defRPr sz="2000">
                <a:solidFill>
                  <a:srgbClr val="808080"/>
                </a:solidFill>
                <a:latin typeface="+mn-lt"/>
                <a:cs typeface="+mn-cs"/>
              </a:defRPr>
            </a:lvl6pPr>
            <a:lvl7pPr marL="2971800" indent="-228600" algn="l" rtl="0" fontAlgn="base">
              <a:spcBef>
                <a:spcPct val="20000"/>
              </a:spcBef>
              <a:spcAft>
                <a:spcPct val="0"/>
              </a:spcAft>
              <a:buBlip>
                <a:blip r:embed="rId2"/>
              </a:buBlip>
              <a:defRPr sz="2000">
                <a:solidFill>
                  <a:srgbClr val="808080"/>
                </a:solidFill>
                <a:latin typeface="+mn-lt"/>
                <a:cs typeface="+mn-cs"/>
              </a:defRPr>
            </a:lvl7pPr>
            <a:lvl8pPr marL="3429000" indent="-228600" algn="l" rtl="0" fontAlgn="base">
              <a:spcBef>
                <a:spcPct val="20000"/>
              </a:spcBef>
              <a:spcAft>
                <a:spcPct val="0"/>
              </a:spcAft>
              <a:buBlip>
                <a:blip r:embed="rId2"/>
              </a:buBlip>
              <a:defRPr sz="2000">
                <a:solidFill>
                  <a:srgbClr val="808080"/>
                </a:solidFill>
                <a:latin typeface="+mn-lt"/>
                <a:cs typeface="+mn-cs"/>
              </a:defRPr>
            </a:lvl8pPr>
            <a:lvl9pPr marL="3886200" indent="-228600" algn="l" rtl="0" fontAlgn="base">
              <a:spcBef>
                <a:spcPct val="20000"/>
              </a:spcBef>
              <a:spcAft>
                <a:spcPct val="0"/>
              </a:spcAft>
              <a:buBlip>
                <a:blip r:embed="rId2"/>
              </a:buBlip>
              <a:defRPr sz="2000">
                <a:solidFill>
                  <a:srgbClr val="808080"/>
                </a:solidFill>
                <a:latin typeface="+mn-lt"/>
                <a:cs typeface="+mn-cs"/>
              </a:defRPr>
            </a:lvl9pPr>
          </a:lstStyle>
          <a:p>
            <a:pPr marL="0" lvl="1" indent="0" algn="just" eaLnBrk="1" hangingPunct="1">
              <a:lnSpc>
                <a:spcPct val="110000"/>
              </a:lnSpc>
              <a:spcBef>
                <a:spcPts val="200"/>
              </a:spcBef>
              <a:spcAft>
                <a:spcPts val="200"/>
              </a:spcAft>
              <a:buClr>
                <a:schemeClr val="accent6"/>
              </a:buClr>
              <a:buNone/>
              <a:defRPr/>
            </a:pPr>
            <a:r>
              <a:rPr lang="en-US" sz="2400" b="1" dirty="0">
                <a:solidFill>
                  <a:srgbClr val="1D6199"/>
                </a:solidFill>
                <a:latin typeface="+mj-lt"/>
              </a:rPr>
              <a:t>1. Permission-based Approaches</a:t>
            </a:r>
          </a:p>
          <a:p>
            <a:pPr marL="265113" lvl="2" indent="-265113" algn="just" eaLnBrk="1" hangingPunct="1">
              <a:lnSpc>
                <a:spcPct val="110000"/>
              </a:lnSpc>
              <a:spcBef>
                <a:spcPts val="200"/>
              </a:spcBef>
              <a:spcAft>
                <a:spcPts val="200"/>
              </a:spcAft>
              <a:buClr>
                <a:srgbClr val="1D6199"/>
              </a:buClr>
              <a:buFont typeface="Webdings" panose="05030102010509060703" pitchFamily="18" charset="2"/>
              <a:buChar char=""/>
              <a:defRPr/>
            </a:pPr>
            <a:r>
              <a:rPr lang="en-US" dirty="0">
                <a:solidFill>
                  <a:schemeClr val="tx1"/>
                </a:solidFill>
                <a:latin typeface="+mj-lt"/>
              </a:rPr>
              <a:t>A process, which wants to access a shared resource, requests the permission from one or more coordinators</a:t>
            </a:r>
          </a:p>
          <a:p>
            <a:pPr marL="0" lvl="1" indent="0" algn="just" eaLnBrk="1" hangingPunct="1">
              <a:lnSpc>
                <a:spcPct val="110000"/>
              </a:lnSpc>
              <a:spcBef>
                <a:spcPts val="200"/>
              </a:spcBef>
              <a:spcAft>
                <a:spcPts val="200"/>
              </a:spcAft>
              <a:buClr>
                <a:schemeClr val="accent6"/>
              </a:buClr>
              <a:buNone/>
              <a:defRPr/>
            </a:pPr>
            <a:endParaRPr lang="en-US" sz="2400" dirty="0">
              <a:solidFill>
                <a:schemeClr val="tx1"/>
              </a:solidFill>
              <a:latin typeface="+mj-lt"/>
            </a:endParaRPr>
          </a:p>
          <a:p>
            <a:pPr marL="0" lvl="1" indent="0" algn="just" eaLnBrk="1" hangingPunct="1">
              <a:lnSpc>
                <a:spcPct val="110000"/>
              </a:lnSpc>
              <a:spcBef>
                <a:spcPts val="200"/>
              </a:spcBef>
              <a:spcAft>
                <a:spcPts val="200"/>
              </a:spcAft>
              <a:buClr>
                <a:schemeClr val="accent6"/>
              </a:buClr>
              <a:buNone/>
              <a:defRPr/>
            </a:pPr>
            <a:r>
              <a:rPr lang="en-US" sz="2400" b="1" dirty="0">
                <a:solidFill>
                  <a:srgbClr val="1D6199"/>
                </a:solidFill>
                <a:latin typeface="+mj-lt"/>
              </a:rPr>
              <a:t>2. Token-based Approaches</a:t>
            </a:r>
          </a:p>
          <a:p>
            <a:pPr marL="265113" lvl="2" indent="-265113" algn="just" eaLnBrk="1" hangingPunct="1">
              <a:lnSpc>
                <a:spcPct val="110000"/>
              </a:lnSpc>
              <a:spcBef>
                <a:spcPts val="200"/>
              </a:spcBef>
              <a:spcAft>
                <a:spcPts val="200"/>
              </a:spcAft>
              <a:buClr>
                <a:srgbClr val="1D6199"/>
              </a:buClr>
              <a:buFont typeface="Webdings" panose="05030102010509060703" pitchFamily="18" charset="2"/>
              <a:buChar char=""/>
              <a:defRPr/>
            </a:pPr>
            <a:r>
              <a:rPr lang="en-US" dirty="0">
                <a:solidFill>
                  <a:schemeClr val="tx1"/>
                </a:solidFill>
                <a:latin typeface="+mj-lt"/>
              </a:rPr>
              <a:t>Each shared resource has a token</a:t>
            </a:r>
          </a:p>
          <a:p>
            <a:pPr marL="265113" lvl="2" indent="-265113" algn="just" eaLnBrk="1" hangingPunct="1">
              <a:lnSpc>
                <a:spcPct val="110000"/>
              </a:lnSpc>
              <a:spcBef>
                <a:spcPts val="200"/>
              </a:spcBef>
              <a:spcAft>
                <a:spcPts val="200"/>
              </a:spcAft>
              <a:buClr>
                <a:srgbClr val="1D6199"/>
              </a:buClr>
              <a:buFont typeface="Webdings" panose="05030102010509060703" pitchFamily="18" charset="2"/>
              <a:buChar char=""/>
              <a:defRPr/>
            </a:pPr>
            <a:r>
              <a:rPr lang="en-US" dirty="0">
                <a:solidFill>
                  <a:schemeClr val="tx1"/>
                </a:solidFill>
                <a:latin typeface="+mj-lt"/>
              </a:rPr>
              <a:t>Token is circulated among all the processes</a:t>
            </a:r>
          </a:p>
          <a:p>
            <a:pPr marL="265113" lvl="2" indent="-265113" algn="just" eaLnBrk="1" hangingPunct="1">
              <a:lnSpc>
                <a:spcPct val="110000"/>
              </a:lnSpc>
              <a:spcBef>
                <a:spcPts val="200"/>
              </a:spcBef>
              <a:spcAft>
                <a:spcPts val="200"/>
              </a:spcAft>
              <a:buClr>
                <a:srgbClr val="1D6199"/>
              </a:buClr>
              <a:buFont typeface="Webdings" panose="05030102010509060703" pitchFamily="18" charset="2"/>
              <a:buChar char=""/>
              <a:defRPr/>
            </a:pPr>
            <a:r>
              <a:rPr lang="en-US" dirty="0">
                <a:solidFill>
                  <a:schemeClr val="tx1"/>
                </a:solidFill>
                <a:latin typeface="+mj-lt"/>
              </a:rPr>
              <a:t>A process can access the resource if it has the token</a:t>
            </a:r>
          </a:p>
        </p:txBody>
      </p:sp>
      <p:cxnSp>
        <p:nvCxnSpPr>
          <p:cNvPr id="62" name="Straight Arrow Connector 61">
            <a:extLst>
              <a:ext uri="{FF2B5EF4-FFF2-40B4-BE49-F238E27FC236}">
                <a16:creationId xmlns:a16="http://schemas.microsoft.com/office/drawing/2014/main" id="{C0428F35-E5FD-4190-8997-C3026565D876}"/>
              </a:ext>
            </a:extLst>
          </p:cNvPr>
          <p:cNvCxnSpPr>
            <a:endCxn id="59" idx="1"/>
          </p:cNvCxnSpPr>
          <p:nvPr/>
        </p:nvCxnSpPr>
        <p:spPr>
          <a:xfrm flipV="1">
            <a:off x="8038039" y="1976295"/>
            <a:ext cx="1800560" cy="522885"/>
          </a:xfrm>
          <a:prstGeom prst="straightConnector1">
            <a:avLst/>
          </a:prstGeom>
          <a:ln w="19050">
            <a:solidFill>
              <a:srgbClr val="1D9A78"/>
            </a:solidFill>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B64AF1CC-730B-42C2-987F-A4ACBD487113}"/>
              </a:ext>
            </a:extLst>
          </p:cNvPr>
          <p:cNvCxnSpPr>
            <a:stCxn id="58" idx="1"/>
          </p:cNvCxnSpPr>
          <p:nvPr/>
        </p:nvCxnSpPr>
        <p:spPr>
          <a:xfrm flipH="1">
            <a:off x="8024310" y="2163071"/>
            <a:ext cx="1814289" cy="550063"/>
          </a:xfrm>
          <a:prstGeom prst="straightConnector1">
            <a:avLst/>
          </a:prstGeom>
          <a:ln w="19050">
            <a:solidFill>
              <a:srgbClr val="1D9A78"/>
            </a:solidFill>
            <a:tailEnd type="arrow"/>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4E727B3D-4517-41E8-9FF6-AB95AE2E3451}"/>
              </a:ext>
            </a:extLst>
          </p:cNvPr>
          <p:cNvSpPr/>
          <p:nvPr/>
        </p:nvSpPr>
        <p:spPr>
          <a:xfrm>
            <a:off x="7521396" y="1372291"/>
            <a:ext cx="1800226" cy="545334"/>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Request to access</a:t>
            </a:r>
          </a:p>
        </p:txBody>
      </p:sp>
      <p:sp>
        <p:nvSpPr>
          <p:cNvPr id="65" name="Rectangle 64">
            <a:extLst>
              <a:ext uri="{FF2B5EF4-FFF2-40B4-BE49-F238E27FC236}">
                <a16:creationId xmlns:a16="http://schemas.microsoft.com/office/drawing/2014/main" id="{A09BF246-F4C7-46D7-A427-F59D4206B517}"/>
              </a:ext>
            </a:extLst>
          </p:cNvPr>
          <p:cNvSpPr/>
          <p:nvPr/>
        </p:nvSpPr>
        <p:spPr>
          <a:xfrm>
            <a:off x="8945727" y="2577274"/>
            <a:ext cx="879601" cy="246079"/>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Grant</a:t>
            </a:r>
          </a:p>
        </p:txBody>
      </p:sp>
      <p:cxnSp>
        <p:nvCxnSpPr>
          <p:cNvPr id="66" name="Straight Arrow Connector 65">
            <a:extLst>
              <a:ext uri="{FF2B5EF4-FFF2-40B4-BE49-F238E27FC236}">
                <a16:creationId xmlns:a16="http://schemas.microsoft.com/office/drawing/2014/main" id="{430AB07B-F7E8-4411-A5A7-B9385C8A0956}"/>
              </a:ext>
            </a:extLst>
          </p:cNvPr>
          <p:cNvCxnSpPr>
            <a:endCxn id="55" idx="1"/>
          </p:cNvCxnSpPr>
          <p:nvPr/>
        </p:nvCxnSpPr>
        <p:spPr>
          <a:xfrm>
            <a:off x="8038039" y="3037307"/>
            <a:ext cx="1878350" cy="242672"/>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D92A7104-F10A-472D-8A32-44F080700F48}"/>
              </a:ext>
            </a:extLst>
          </p:cNvPr>
          <p:cNvSpPr/>
          <p:nvPr/>
        </p:nvSpPr>
        <p:spPr>
          <a:xfrm>
            <a:off x="8179707" y="3247611"/>
            <a:ext cx="1004336" cy="301467"/>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Access</a:t>
            </a:r>
          </a:p>
        </p:txBody>
      </p:sp>
      <p:grpSp>
        <p:nvGrpSpPr>
          <p:cNvPr id="68" name="Group 39">
            <a:extLst>
              <a:ext uri="{FF2B5EF4-FFF2-40B4-BE49-F238E27FC236}">
                <a16:creationId xmlns:a16="http://schemas.microsoft.com/office/drawing/2014/main" id="{0AB760C4-4A11-47E6-8429-52D874255417}"/>
              </a:ext>
            </a:extLst>
          </p:cNvPr>
          <p:cNvGrpSpPr>
            <a:grpSpLocks/>
          </p:cNvGrpSpPr>
          <p:nvPr/>
        </p:nvGrpSpPr>
        <p:grpSpPr bwMode="auto">
          <a:xfrm>
            <a:off x="8024310" y="3815885"/>
            <a:ext cx="1258887" cy="843804"/>
            <a:chOff x="5105400" y="3962397"/>
            <a:chExt cx="3640667" cy="1271217"/>
          </a:xfrm>
        </p:grpSpPr>
        <p:sp>
          <p:nvSpPr>
            <p:cNvPr id="69" name="Rectangle 68">
              <a:extLst>
                <a:ext uri="{FF2B5EF4-FFF2-40B4-BE49-F238E27FC236}">
                  <a16:creationId xmlns:a16="http://schemas.microsoft.com/office/drawing/2014/main" id="{FEFBBB96-D5CC-46D1-ABB5-A0AF273B4E6F}"/>
                </a:ext>
              </a:extLst>
            </p:cNvPr>
            <p:cNvSpPr/>
            <p:nvPr/>
          </p:nvSpPr>
          <p:spPr>
            <a:xfrm>
              <a:off x="5105400" y="3962397"/>
              <a:ext cx="3640667" cy="1271217"/>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sz="2000">
                <a:latin typeface="+mj-lt"/>
              </a:endParaRPr>
            </a:p>
          </p:txBody>
        </p:sp>
        <p:sp>
          <p:nvSpPr>
            <p:cNvPr id="70" name="Rectangle 69">
              <a:extLst>
                <a:ext uri="{FF2B5EF4-FFF2-40B4-BE49-F238E27FC236}">
                  <a16:creationId xmlns:a16="http://schemas.microsoft.com/office/drawing/2014/main" id="{E59AFD63-04F6-47EE-8B4E-C054C5843D23}"/>
                </a:ext>
              </a:extLst>
            </p:cNvPr>
            <p:cNvSpPr/>
            <p:nvPr/>
          </p:nvSpPr>
          <p:spPr bwMode="auto">
            <a:xfrm>
              <a:off x="5105400" y="3962397"/>
              <a:ext cx="3640667" cy="48641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Server</a:t>
              </a:r>
            </a:p>
          </p:txBody>
        </p:sp>
      </p:grpSp>
      <p:sp>
        <p:nvSpPr>
          <p:cNvPr id="71" name="Rectangle 70">
            <a:extLst>
              <a:ext uri="{FF2B5EF4-FFF2-40B4-BE49-F238E27FC236}">
                <a16:creationId xmlns:a16="http://schemas.microsoft.com/office/drawing/2014/main" id="{3F5DCE32-3415-4EC5-B9F8-8DBBD5A45DB9}"/>
              </a:ext>
            </a:extLst>
          </p:cNvPr>
          <p:cNvSpPr/>
          <p:nvPr/>
        </p:nvSpPr>
        <p:spPr bwMode="auto">
          <a:xfrm>
            <a:off x="8065579" y="4196277"/>
            <a:ext cx="1214442" cy="409039"/>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sz="2000" dirty="0">
                <a:solidFill>
                  <a:schemeClr val="tx1"/>
                </a:solidFill>
                <a:latin typeface="+mj-lt"/>
              </a:rPr>
              <a:t>Resource</a:t>
            </a:r>
          </a:p>
        </p:txBody>
      </p:sp>
      <p:grpSp>
        <p:nvGrpSpPr>
          <p:cNvPr id="72" name="Group 43">
            <a:extLst>
              <a:ext uri="{FF2B5EF4-FFF2-40B4-BE49-F238E27FC236}">
                <a16:creationId xmlns:a16="http://schemas.microsoft.com/office/drawing/2014/main" id="{5E098632-6FE9-423C-B416-847F8FF3B9B2}"/>
              </a:ext>
            </a:extLst>
          </p:cNvPr>
          <p:cNvGrpSpPr>
            <a:grpSpLocks/>
          </p:cNvGrpSpPr>
          <p:nvPr/>
        </p:nvGrpSpPr>
        <p:grpSpPr bwMode="auto">
          <a:xfrm>
            <a:off x="6948484" y="5298896"/>
            <a:ext cx="1223962" cy="701734"/>
            <a:chOff x="5105400" y="3962397"/>
            <a:chExt cx="3276600" cy="1075038"/>
          </a:xfrm>
        </p:grpSpPr>
        <p:sp>
          <p:nvSpPr>
            <p:cNvPr id="73" name="Rectangle 72">
              <a:extLst>
                <a:ext uri="{FF2B5EF4-FFF2-40B4-BE49-F238E27FC236}">
                  <a16:creationId xmlns:a16="http://schemas.microsoft.com/office/drawing/2014/main" id="{BA25EF5F-B929-4E80-A753-FBA8B4C11BC9}"/>
                </a:ext>
              </a:extLst>
            </p:cNvPr>
            <p:cNvSpPr/>
            <p:nvPr/>
          </p:nvSpPr>
          <p:spPr>
            <a:xfrm>
              <a:off x="5105400" y="3962397"/>
              <a:ext cx="3276600" cy="1075038"/>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sz="2000">
                <a:latin typeface="+mj-lt"/>
              </a:endParaRPr>
            </a:p>
          </p:txBody>
        </p:sp>
        <p:sp>
          <p:nvSpPr>
            <p:cNvPr id="74" name="Rectangle 73">
              <a:extLst>
                <a:ext uri="{FF2B5EF4-FFF2-40B4-BE49-F238E27FC236}">
                  <a16:creationId xmlns:a16="http://schemas.microsoft.com/office/drawing/2014/main" id="{1D37D6F5-4CAB-421A-824E-B013C47FAB99}"/>
                </a:ext>
              </a:extLst>
            </p:cNvPr>
            <p:cNvSpPr/>
            <p:nvPr/>
          </p:nvSpPr>
          <p:spPr bwMode="auto">
            <a:xfrm>
              <a:off x="5105400" y="3962397"/>
              <a:ext cx="3276600" cy="486423"/>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Client 1</a:t>
              </a:r>
            </a:p>
          </p:txBody>
        </p:sp>
      </p:grpSp>
      <p:sp>
        <p:nvSpPr>
          <p:cNvPr id="75" name="Oval 74">
            <a:extLst>
              <a:ext uri="{FF2B5EF4-FFF2-40B4-BE49-F238E27FC236}">
                <a16:creationId xmlns:a16="http://schemas.microsoft.com/office/drawing/2014/main" id="{3D8AA146-CB15-423D-8B41-D9B26358D87F}"/>
              </a:ext>
            </a:extLst>
          </p:cNvPr>
          <p:cNvSpPr>
            <a:spLocks noChangeArrowheads="1"/>
          </p:cNvSpPr>
          <p:nvPr/>
        </p:nvSpPr>
        <p:spPr bwMode="auto">
          <a:xfrm>
            <a:off x="7214392" y="5675116"/>
            <a:ext cx="717549" cy="201611"/>
          </a:xfrm>
          <a:prstGeom prst="ellipse">
            <a:avLst/>
          </a:prstGeom>
          <a:gradFill rotWithShape="1">
            <a:gsLst>
              <a:gs pos="0">
                <a:srgbClr val="E9E9F7"/>
              </a:gs>
              <a:gs pos="64999">
                <a:srgbClr val="C5C5E9"/>
              </a:gs>
              <a:gs pos="100000">
                <a:srgbClr val="ACACE1"/>
              </a:gs>
            </a:gsLst>
            <a:lin ang="5400000" scaled="1"/>
          </a:gradFill>
          <a:ln w="9525">
            <a:solidFill>
              <a:srgbClr val="292989"/>
            </a:solidFill>
            <a:round/>
            <a:headEnd/>
            <a:tailEnd/>
          </a:ln>
          <a:effectLst>
            <a:outerShdw blurRad="40000" dist="20000" dir="5400000" rotWithShape="0">
              <a:srgbClr val="808080">
                <a:alpha val="37999"/>
              </a:srgbClr>
            </a:outerShdw>
          </a:effectLst>
        </p:spPr>
        <p:txBody>
          <a:bodyPr anchor="ctr"/>
          <a:lstStyle/>
          <a:p>
            <a:pPr algn="ctr" eaLnBrk="1" hangingPunct="1">
              <a:defRPr/>
            </a:pPr>
            <a:r>
              <a:rPr lang="en-US" dirty="0">
                <a:latin typeface="+mj-lt"/>
                <a:ea typeface="+mn-ea"/>
              </a:rPr>
              <a:t>P1</a:t>
            </a:r>
          </a:p>
        </p:txBody>
      </p:sp>
      <p:grpSp>
        <p:nvGrpSpPr>
          <p:cNvPr id="76" name="Group 47">
            <a:extLst>
              <a:ext uri="{FF2B5EF4-FFF2-40B4-BE49-F238E27FC236}">
                <a16:creationId xmlns:a16="http://schemas.microsoft.com/office/drawing/2014/main" id="{B039B648-499A-4729-B7B6-BE5BF3C70164}"/>
              </a:ext>
            </a:extLst>
          </p:cNvPr>
          <p:cNvGrpSpPr>
            <a:grpSpLocks/>
          </p:cNvGrpSpPr>
          <p:nvPr/>
        </p:nvGrpSpPr>
        <p:grpSpPr bwMode="auto">
          <a:xfrm>
            <a:off x="8251030" y="5318514"/>
            <a:ext cx="1223962" cy="698851"/>
            <a:chOff x="5105400" y="3962397"/>
            <a:chExt cx="3276600" cy="1075038"/>
          </a:xfrm>
        </p:grpSpPr>
        <p:sp>
          <p:nvSpPr>
            <p:cNvPr id="77" name="Rectangle 76">
              <a:extLst>
                <a:ext uri="{FF2B5EF4-FFF2-40B4-BE49-F238E27FC236}">
                  <a16:creationId xmlns:a16="http://schemas.microsoft.com/office/drawing/2014/main" id="{C41FC44F-8454-47D6-A062-7FE91B8C531A}"/>
                </a:ext>
              </a:extLst>
            </p:cNvPr>
            <p:cNvSpPr/>
            <p:nvPr/>
          </p:nvSpPr>
          <p:spPr>
            <a:xfrm>
              <a:off x="5105400" y="3962397"/>
              <a:ext cx="3276600" cy="1075038"/>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sz="2000">
                <a:latin typeface="+mj-lt"/>
              </a:endParaRPr>
            </a:p>
          </p:txBody>
        </p:sp>
        <p:sp>
          <p:nvSpPr>
            <p:cNvPr id="78" name="Rectangle 77">
              <a:extLst>
                <a:ext uri="{FF2B5EF4-FFF2-40B4-BE49-F238E27FC236}">
                  <a16:creationId xmlns:a16="http://schemas.microsoft.com/office/drawing/2014/main" id="{52802392-AF05-4C19-B8EF-B1B53F701C4E}"/>
                </a:ext>
              </a:extLst>
            </p:cNvPr>
            <p:cNvSpPr/>
            <p:nvPr/>
          </p:nvSpPr>
          <p:spPr bwMode="auto">
            <a:xfrm>
              <a:off x="5105400" y="3962397"/>
              <a:ext cx="3276600" cy="486423"/>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Client 2</a:t>
              </a:r>
            </a:p>
          </p:txBody>
        </p:sp>
      </p:grpSp>
      <p:sp>
        <p:nvSpPr>
          <p:cNvPr id="79" name="Oval 78">
            <a:extLst>
              <a:ext uri="{FF2B5EF4-FFF2-40B4-BE49-F238E27FC236}">
                <a16:creationId xmlns:a16="http://schemas.microsoft.com/office/drawing/2014/main" id="{5C84BE56-613D-41B2-A191-B931EE42A7ED}"/>
              </a:ext>
            </a:extLst>
          </p:cNvPr>
          <p:cNvSpPr>
            <a:spLocks noChangeArrowheads="1"/>
          </p:cNvSpPr>
          <p:nvPr/>
        </p:nvSpPr>
        <p:spPr bwMode="auto">
          <a:xfrm>
            <a:off x="8509613" y="5677990"/>
            <a:ext cx="687386" cy="241299"/>
          </a:xfrm>
          <a:prstGeom prst="ellipse">
            <a:avLst/>
          </a:prstGeom>
          <a:gradFill rotWithShape="1">
            <a:gsLst>
              <a:gs pos="0">
                <a:srgbClr val="E9E9F7"/>
              </a:gs>
              <a:gs pos="64999">
                <a:srgbClr val="C5C5E9"/>
              </a:gs>
              <a:gs pos="100000">
                <a:srgbClr val="ACACE1"/>
              </a:gs>
            </a:gsLst>
            <a:lin ang="5400000" scaled="1"/>
          </a:gradFill>
          <a:ln w="9525">
            <a:solidFill>
              <a:srgbClr val="292989"/>
            </a:solidFill>
            <a:round/>
            <a:headEnd/>
            <a:tailEnd/>
          </a:ln>
          <a:effectLst>
            <a:outerShdw blurRad="40000" dist="20000" dir="5400000" rotWithShape="0">
              <a:srgbClr val="808080">
                <a:alpha val="37999"/>
              </a:srgbClr>
            </a:outerShdw>
          </a:effectLst>
        </p:spPr>
        <p:txBody>
          <a:bodyPr anchor="ctr"/>
          <a:lstStyle/>
          <a:p>
            <a:pPr algn="ctr" eaLnBrk="1" hangingPunct="1">
              <a:defRPr/>
            </a:pPr>
            <a:r>
              <a:rPr lang="en-US" dirty="0">
                <a:latin typeface="+mj-lt"/>
                <a:ea typeface="+mn-ea"/>
              </a:rPr>
              <a:t>P2</a:t>
            </a:r>
          </a:p>
        </p:txBody>
      </p:sp>
      <p:grpSp>
        <p:nvGrpSpPr>
          <p:cNvPr id="80" name="Group 51">
            <a:extLst>
              <a:ext uri="{FF2B5EF4-FFF2-40B4-BE49-F238E27FC236}">
                <a16:creationId xmlns:a16="http://schemas.microsoft.com/office/drawing/2014/main" id="{F9AE8B70-CDC7-452F-8E2A-A456D383CC34}"/>
              </a:ext>
            </a:extLst>
          </p:cNvPr>
          <p:cNvGrpSpPr>
            <a:grpSpLocks/>
          </p:cNvGrpSpPr>
          <p:nvPr/>
        </p:nvGrpSpPr>
        <p:grpSpPr bwMode="auto">
          <a:xfrm>
            <a:off x="9546203" y="5298897"/>
            <a:ext cx="1223962" cy="701734"/>
            <a:chOff x="5105400" y="3962397"/>
            <a:chExt cx="3276600" cy="1075038"/>
          </a:xfrm>
        </p:grpSpPr>
        <p:sp>
          <p:nvSpPr>
            <p:cNvPr id="81" name="Rectangle 80">
              <a:extLst>
                <a:ext uri="{FF2B5EF4-FFF2-40B4-BE49-F238E27FC236}">
                  <a16:creationId xmlns:a16="http://schemas.microsoft.com/office/drawing/2014/main" id="{ABE3E55B-E15A-480C-AD1C-307308BAF055}"/>
                </a:ext>
              </a:extLst>
            </p:cNvPr>
            <p:cNvSpPr/>
            <p:nvPr/>
          </p:nvSpPr>
          <p:spPr>
            <a:xfrm>
              <a:off x="5105400" y="3962397"/>
              <a:ext cx="3276600" cy="1075038"/>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sz="2000">
                <a:latin typeface="+mj-lt"/>
              </a:endParaRPr>
            </a:p>
          </p:txBody>
        </p:sp>
        <p:sp>
          <p:nvSpPr>
            <p:cNvPr id="82" name="Rectangle 81">
              <a:extLst>
                <a:ext uri="{FF2B5EF4-FFF2-40B4-BE49-F238E27FC236}">
                  <a16:creationId xmlns:a16="http://schemas.microsoft.com/office/drawing/2014/main" id="{5F89A3C9-CBD5-4D38-9045-953EC5620057}"/>
                </a:ext>
              </a:extLst>
            </p:cNvPr>
            <p:cNvSpPr/>
            <p:nvPr/>
          </p:nvSpPr>
          <p:spPr bwMode="auto">
            <a:xfrm>
              <a:off x="5105400" y="3962397"/>
              <a:ext cx="3276600" cy="486423"/>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Client 3</a:t>
              </a:r>
            </a:p>
          </p:txBody>
        </p:sp>
      </p:grpSp>
      <p:sp>
        <p:nvSpPr>
          <p:cNvPr id="83" name="Oval 82">
            <a:extLst>
              <a:ext uri="{FF2B5EF4-FFF2-40B4-BE49-F238E27FC236}">
                <a16:creationId xmlns:a16="http://schemas.microsoft.com/office/drawing/2014/main" id="{B366878A-AF71-4BB9-8C48-F2FA447BF06D}"/>
              </a:ext>
            </a:extLst>
          </p:cNvPr>
          <p:cNvSpPr>
            <a:spLocks noChangeArrowheads="1"/>
          </p:cNvSpPr>
          <p:nvPr/>
        </p:nvSpPr>
        <p:spPr bwMode="auto">
          <a:xfrm>
            <a:off x="9781153" y="5664927"/>
            <a:ext cx="754061" cy="241299"/>
          </a:xfrm>
          <a:prstGeom prst="ellipse">
            <a:avLst/>
          </a:prstGeom>
          <a:gradFill rotWithShape="1">
            <a:gsLst>
              <a:gs pos="0">
                <a:srgbClr val="E9E9F7"/>
              </a:gs>
              <a:gs pos="64999">
                <a:srgbClr val="C5C5E9"/>
              </a:gs>
              <a:gs pos="100000">
                <a:srgbClr val="ACACE1"/>
              </a:gs>
            </a:gsLst>
            <a:lin ang="5400000" scaled="1"/>
          </a:gradFill>
          <a:ln w="9525">
            <a:solidFill>
              <a:srgbClr val="292989"/>
            </a:solidFill>
            <a:round/>
            <a:headEnd/>
            <a:tailEnd/>
          </a:ln>
          <a:effectLst>
            <a:outerShdw blurRad="40000" dist="20000" dir="5400000" rotWithShape="0">
              <a:srgbClr val="808080">
                <a:alpha val="37999"/>
              </a:srgbClr>
            </a:outerShdw>
          </a:effectLst>
        </p:spPr>
        <p:txBody>
          <a:bodyPr anchor="ctr"/>
          <a:lstStyle/>
          <a:p>
            <a:pPr algn="ctr" eaLnBrk="1" hangingPunct="1">
              <a:defRPr/>
            </a:pPr>
            <a:r>
              <a:rPr lang="en-US" dirty="0">
                <a:latin typeface="+mj-lt"/>
                <a:ea typeface="+mn-ea"/>
              </a:rPr>
              <a:t>P3</a:t>
            </a:r>
          </a:p>
        </p:txBody>
      </p:sp>
      <p:sp>
        <p:nvSpPr>
          <p:cNvPr id="84" name="Rectangle 83">
            <a:extLst>
              <a:ext uri="{FF2B5EF4-FFF2-40B4-BE49-F238E27FC236}">
                <a16:creationId xmlns:a16="http://schemas.microsoft.com/office/drawing/2014/main" id="{A75FC5BD-5304-417E-BB89-D5F1D0B68EB2}"/>
              </a:ext>
            </a:extLst>
          </p:cNvPr>
          <p:cNvSpPr/>
          <p:nvPr/>
        </p:nvSpPr>
        <p:spPr>
          <a:xfrm>
            <a:off x="7048241" y="6105282"/>
            <a:ext cx="962022" cy="28679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2000" dirty="0">
                <a:solidFill>
                  <a:schemeClr val="bg1"/>
                </a:solidFill>
                <a:latin typeface="+mj-lt"/>
              </a:rPr>
              <a:t>Token</a:t>
            </a:r>
          </a:p>
        </p:txBody>
      </p:sp>
      <p:cxnSp>
        <p:nvCxnSpPr>
          <p:cNvPr id="85" name="Straight Arrow Connector 84">
            <a:extLst>
              <a:ext uri="{FF2B5EF4-FFF2-40B4-BE49-F238E27FC236}">
                <a16:creationId xmlns:a16="http://schemas.microsoft.com/office/drawing/2014/main" id="{62831D60-DE8D-470D-A78B-8822ABDC1BC6}"/>
              </a:ext>
            </a:extLst>
          </p:cNvPr>
          <p:cNvCxnSpPr>
            <a:stCxn id="74" idx="0"/>
            <a:endCxn id="69" idx="2"/>
          </p:cNvCxnSpPr>
          <p:nvPr/>
        </p:nvCxnSpPr>
        <p:spPr>
          <a:xfrm flipV="1">
            <a:off x="7560465" y="4659689"/>
            <a:ext cx="1093289" cy="63920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6" name="Rectangle 85">
            <a:extLst>
              <a:ext uri="{FF2B5EF4-FFF2-40B4-BE49-F238E27FC236}">
                <a16:creationId xmlns:a16="http://schemas.microsoft.com/office/drawing/2014/main" id="{3DD92A99-D3CA-4005-91E0-20842AEBD7C6}"/>
              </a:ext>
            </a:extLst>
          </p:cNvPr>
          <p:cNvSpPr/>
          <p:nvPr/>
        </p:nvSpPr>
        <p:spPr>
          <a:xfrm>
            <a:off x="6793705" y="4837138"/>
            <a:ext cx="1073148" cy="287337"/>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Access</a:t>
            </a:r>
          </a:p>
        </p:txBody>
      </p:sp>
      <p:sp>
        <p:nvSpPr>
          <p:cNvPr id="87" name="Rectangle 86">
            <a:extLst>
              <a:ext uri="{FF2B5EF4-FFF2-40B4-BE49-F238E27FC236}">
                <a16:creationId xmlns:a16="http://schemas.microsoft.com/office/drawing/2014/main" id="{A77D2885-4FA6-4D28-B58B-1427DBB21AFC}"/>
              </a:ext>
            </a:extLst>
          </p:cNvPr>
          <p:cNvSpPr/>
          <p:nvPr/>
        </p:nvSpPr>
        <p:spPr>
          <a:xfrm>
            <a:off x="8303540" y="6133252"/>
            <a:ext cx="962024" cy="28679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2000" dirty="0">
                <a:solidFill>
                  <a:schemeClr val="bg1"/>
                </a:solidFill>
                <a:latin typeface="+mj-lt"/>
              </a:rPr>
              <a:t>Token</a:t>
            </a:r>
          </a:p>
        </p:txBody>
      </p:sp>
      <p:cxnSp>
        <p:nvCxnSpPr>
          <p:cNvPr id="88" name="Straight Arrow Connector 87">
            <a:extLst>
              <a:ext uri="{FF2B5EF4-FFF2-40B4-BE49-F238E27FC236}">
                <a16:creationId xmlns:a16="http://schemas.microsoft.com/office/drawing/2014/main" id="{F1F869E2-B3EF-4E11-A74F-1CE4C0AA6DD1}"/>
              </a:ext>
            </a:extLst>
          </p:cNvPr>
          <p:cNvCxnSpPr>
            <a:stCxn id="77" idx="0"/>
            <a:endCxn id="69" idx="2"/>
          </p:cNvCxnSpPr>
          <p:nvPr/>
        </p:nvCxnSpPr>
        <p:spPr>
          <a:xfrm flipH="1" flipV="1">
            <a:off x="8653754" y="4659689"/>
            <a:ext cx="209257" cy="65882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id="{06329E56-21C5-4176-BC07-299A9A4DA174}"/>
              </a:ext>
            </a:extLst>
          </p:cNvPr>
          <p:cNvSpPr/>
          <p:nvPr/>
        </p:nvSpPr>
        <p:spPr>
          <a:xfrm>
            <a:off x="9687161" y="6107913"/>
            <a:ext cx="962024" cy="28679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2000" dirty="0">
                <a:solidFill>
                  <a:schemeClr val="bg1"/>
                </a:solidFill>
                <a:latin typeface="+mj-lt"/>
              </a:rPr>
              <a:t>Token</a:t>
            </a:r>
          </a:p>
        </p:txBody>
      </p:sp>
      <p:cxnSp>
        <p:nvCxnSpPr>
          <p:cNvPr id="91" name="Straight Arrow Connector 90">
            <a:extLst>
              <a:ext uri="{FF2B5EF4-FFF2-40B4-BE49-F238E27FC236}">
                <a16:creationId xmlns:a16="http://schemas.microsoft.com/office/drawing/2014/main" id="{8C7F9276-0AA6-4D0D-AE3A-D8132F159B35}"/>
              </a:ext>
            </a:extLst>
          </p:cNvPr>
          <p:cNvCxnSpPr>
            <a:stCxn id="81" idx="0"/>
            <a:endCxn id="69" idx="2"/>
          </p:cNvCxnSpPr>
          <p:nvPr/>
        </p:nvCxnSpPr>
        <p:spPr>
          <a:xfrm flipH="1" flipV="1">
            <a:off x="8653754" y="4659689"/>
            <a:ext cx="1504430" cy="63920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2" name="Rectangle 91">
            <a:extLst>
              <a:ext uri="{FF2B5EF4-FFF2-40B4-BE49-F238E27FC236}">
                <a16:creationId xmlns:a16="http://schemas.microsoft.com/office/drawing/2014/main" id="{C0770138-0926-415C-B5C4-DA7A8E90E1EE}"/>
              </a:ext>
            </a:extLst>
          </p:cNvPr>
          <p:cNvSpPr/>
          <p:nvPr/>
        </p:nvSpPr>
        <p:spPr>
          <a:xfrm>
            <a:off x="9497576" y="4506516"/>
            <a:ext cx="1071561" cy="252964"/>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Access</a:t>
            </a:r>
          </a:p>
        </p:txBody>
      </p:sp>
      <p:sp>
        <p:nvSpPr>
          <p:cNvPr id="89" name="Rectangle 88">
            <a:extLst>
              <a:ext uri="{FF2B5EF4-FFF2-40B4-BE49-F238E27FC236}">
                <a16:creationId xmlns:a16="http://schemas.microsoft.com/office/drawing/2014/main" id="{B8FFEFC5-2FFA-4945-9E7A-14DF13E3421E}"/>
              </a:ext>
            </a:extLst>
          </p:cNvPr>
          <p:cNvSpPr/>
          <p:nvPr/>
        </p:nvSpPr>
        <p:spPr>
          <a:xfrm>
            <a:off x="8820147" y="4888978"/>
            <a:ext cx="1025524" cy="300038"/>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bg1"/>
                </a:solidFill>
                <a:latin typeface="+mj-lt"/>
              </a:rPr>
              <a:t>Access</a:t>
            </a:r>
          </a:p>
        </p:txBody>
      </p:sp>
      <p:cxnSp>
        <p:nvCxnSpPr>
          <p:cNvPr id="106" name="Straight Connector 105"/>
          <p:cNvCxnSpPr/>
          <p:nvPr/>
        </p:nvCxnSpPr>
        <p:spPr>
          <a:xfrm>
            <a:off x="542925" y="3656085"/>
            <a:ext cx="11517896" cy="2642"/>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46570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06"/>
                                        </p:tgtEl>
                                        <p:attrNameLst>
                                          <p:attrName>style.visibility</p:attrName>
                                        </p:attrNameLst>
                                      </p:cBhvr>
                                      <p:to>
                                        <p:strVal val="visible"/>
                                      </p:to>
                                    </p:set>
                                    <p:animEffect transition="in" filter="wipe(left)">
                                      <p:cBhvr>
                                        <p:cTn id="43" dur="500"/>
                                        <p:tgtEl>
                                          <p:spTgt spid="106"/>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61">
                                            <p:txEl>
                                              <p:pRg st="3" end="3"/>
                                            </p:txEl>
                                          </p:spTgt>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61">
                                            <p:txEl>
                                              <p:pRg st="4" end="4"/>
                                            </p:txEl>
                                          </p:spTgt>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61">
                                            <p:txEl>
                                              <p:pRg st="5" end="5"/>
                                            </p:txEl>
                                          </p:spTgt>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61">
                                            <p:txEl>
                                              <p:pRg st="6" end="6"/>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71"/>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68"/>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72"/>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75"/>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76"/>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79"/>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80"/>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83"/>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84"/>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85"/>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86"/>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xit" presetSubtype="0" fill="hold" nodeType="clickEffect">
                                  <p:stCondLst>
                                    <p:cond delay="0"/>
                                  </p:stCondLst>
                                  <p:childTnLst>
                                    <p:set>
                                      <p:cBhvr>
                                        <p:cTn id="85" dur="1" fill="hold">
                                          <p:stCondLst>
                                            <p:cond delay="0"/>
                                          </p:stCondLst>
                                        </p:cTn>
                                        <p:tgtEl>
                                          <p:spTgt spid="85"/>
                                        </p:tgtEl>
                                        <p:attrNameLst>
                                          <p:attrName>style.visibility</p:attrName>
                                        </p:attrNameLst>
                                      </p:cBhvr>
                                      <p:to>
                                        <p:strVal val="hidden"/>
                                      </p:to>
                                    </p:set>
                                  </p:childTnLst>
                                </p:cTn>
                              </p:par>
                              <p:par>
                                <p:cTn id="86" presetID="1" presetClass="exit" presetSubtype="0" fill="hold" grpId="1" nodeType="withEffect">
                                  <p:stCondLst>
                                    <p:cond delay="0"/>
                                  </p:stCondLst>
                                  <p:childTnLst>
                                    <p:set>
                                      <p:cBhvr>
                                        <p:cTn id="87" dur="1" fill="hold">
                                          <p:stCondLst>
                                            <p:cond delay="0"/>
                                          </p:stCondLst>
                                        </p:cTn>
                                        <p:tgtEl>
                                          <p:spTgt spid="86"/>
                                        </p:tgtEl>
                                        <p:attrNameLst>
                                          <p:attrName>style.visibility</p:attrName>
                                        </p:attrNameLst>
                                      </p:cBhvr>
                                      <p:to>
                                        <p:strVal val="hidden"/>
                                      </p:to>
                                    </p:set>
                                  </p:childTnLst>
                                </p:cTn>
                              </p:par>
                              <p:par>
                                <p:cTn id="88" presetID="1" presetClass="exit" presetSubtype="0" fill="hold" grpId="1" nodeType="withEffect">
                                  <p:stCondLst>
                                    <p:cond delay="0"/>
                                  </p:stCondLst>
                                  <p:childTnLst>
                                    <p:set>
                                      <p:cBhvr>
                                        <p:cTn id="89" dur="1" fill="hold">
                                          <p:stCondLst>
                                            <p:cond delay="0"/>
                                          </p:stCondLst>
                                        </p:cTn>
                                        <p:tgtEl>
                                          <p:spTgt spid="84"/>
                                        </p:tgtEl>
                                        <p:attrNameLst>
                                          <p:attrName>style.visibility</p:attrName>
                                        </p:attrNameLst>
                                      </p:cBhvr>
                                      <p:to>
                                        <p:strVal val="hidden"/>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87"/>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88"/>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89"/>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xit" presetSubtype="0" fill="hold" nodeType="clickEffect">
                                  <p:stCondLst>
                                    <p:cond delay="0"/>
                                  </p:stCondLst>
                                  <p:childTnLst>
                                    <p:set>
                                      <p:cBhvr>
                                        <p:cTn id="103" dur="1" fill="hold">
                                          <p:stCondLst>
                                            <p:cond delay="0"/>
                                          </p:stCondLst>
                                        </p:cTn>
                                        <p:tgtEl>
                                          <p:spTgt spid="88"/>
                                        </p:tgtEl>
                                        <p:attrNameLst>
                                          <p:attrName>style.visibility</p:attrName>
                                        </p:attrNameLst>
                                      </p:cBhvr>
                                      <p:to>
                                        <p:strVal val="hidden"/>
                                      </p:to>
                                    </p:set>
                                  </p:childTnLst>
                                </p:cTn>
                              </p:par>
                              <p:par>
                                <p:cTn id="104" presetID="1" presetClass="exit" presetSubtype="0" fill="hold" grpId="1" nodeType="withEffect">
                                  <p:stCondLst>
                                    <p:cond delay="0"/>
                                  </p:stCondLst>
                                  <p:childTnLst>
                                    <p:set>
                                      <p:cBhvr>
                                        <p:cTn id="105" dur="1" fill="hold">
                                          <p:stCondLst>
                                            <p:cond delay="0"/>
                                          </p:stCondLst>
                                        </p:cTn>
                                        <p:tgtEl>
                                          <p:spTgt spid="89"/>
                                        </p:tgtEl>
                                        <p:attrNameLst>
                                          <p:attrName>style.visibility</p:attrName>
                                        </p:attrNameLst>
                                      </p:cBhvr>
                                      <p:to>
                                        <p:strVal val="hidden"/>
                                      </p:to>
                                    </p:set>
                                  </p:childTnLst>
                                </p:cTn>
                              </p:par>
                              <p:par>
                                <p:cTn id="106" presetID="1" presetClass="exit" presetSubtype="0" fill="hold" grpId="1" nodeType="withEffect">
                                  <p:stCondLst>
                                    <p:cond delay="0"/>
                                  </p:stCondLst>
                                  <p:childTnLst>
                                    <p:set>
                                      <p:cBhvr>
                                        <p:cTn id="107" dur="1" fill="hold">
                                          <p:stCondLst>
                                            <p:cond delay="0"/>
                                          </p:stCondLst>
                                        </p:cTn>
                                        <p:tgtEl>
                                          <p:spTgt spid="87"/>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90"/>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nodeType="clickEffect">
                                  <p:stCondLst>
                                    <p:cond delay="0"/>
                                  </p:stCondLst>
                                  <p:childTnLst>
                                    <p:set>
                                      <p:cBhvr>
                                        <p:cTn id="115" dur="1" fill="hold">
                                          <p:stCondLst>
                                            <p:cond delay="0"/>
                                          </p:stCondLst>
                                        </p:cTn>
                                        <p:tgtEl>
                                          <p:spTgt spid="91"/>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92"/>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xit" presetSubtype="0" fill="hold" nodeType="clickEffect">
                                  <p:stCondLst>
                                    <p:cond delay="0"/>
                                  </p:stCondLst>
                                  <p:childTnLst>
                                    <p:set>
                                      <p:cBhvr>
                                        <p:cTn id="121" dur="1" fill="hold">
                                          <p:stCondLst>
                                            <p:cond delay="0"/>
                                          </p:stCondLst>
                                        </p:cTn>
                                        <p:tgtEl>
                                          <p:spTgt spid="91"/>
                                        </p:tgtEl>
                                        <p:attrNameLst>
                                          <p:attrName>style.visibility</p:attrName>
                                        </p:attrNameLst>
                                      </p:cBhvr>
                                      <p:to>
                                        <p:strVal val="hidden"/>
                                      </p:to>
                                    </p:set>
                                  </p:childTnLst>
                                </p:cTn>
                              </p:par>
                              <p:par>
                                <p:cTn id="122" presetID="1" presetClass="exit" presetSubtype="0" fill="hold" grpId="1" nodeType="withEffect">
                                  <p:stCondLst>
                                    <p:cond delay="0"/>
                                  </p:stCondLst>
                                  <p:childTnLst>
                                    <p:set>
                                      <p:cBhvr>
                                        <p:cTn id="123" dur="1" fill="hold">
                                          <p:stCondLst>
                                            <p:cond delay="0"/>
                                          </p:stCondLst>
                                        </p:cTn>
                                        <p:tgtEl>
                                          <p:spTgt spid="92"/>
                                        </p:tgtEl>
                                        <p:attrNameLst>
                                          <p:attrName>style.visibility</p:attrName>
                                        </p:attrNameLst>
                                      </p:cBhvr>
                                      <p:to>
                                        <p:strVal val="hidden"/>
                                      </p:to>
                                    </p:set>
                                  </p:childTnLst>
                                </p:cTn>
                              </p:par>
                              <p:par>
                                <p:cTn id="124" presetID="1" presetClass="exit" presetSubtype="0" fill="hold" grpId="1" nodeType="withEffect">
                                  <p:stCondLst>
                                    <p:cond delay="0"/>
                                  </p:stCondLst>
                                  <p:childTnLst>
                                    <p:set>
                                      <p:cBhvr>
                                        <p:cTn id="125" dur="1" fill="hold">
                                          <p:stCondLst>
                                            <p:cond delay="0"/>
                                          </p:stCondLst>
                                        </p:cTn>
                                        <p:tgtEl>
                                          <p:spTgt spid="9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60" grpId="0" animBg="1"/>
      <p:bldP spid="64" grpId="0" animBg="1"/>
      <p:bldP spid="65" grpId="0" animBg="1"/>
      <p:bldP spid="67" grpId="0" animBg="1"/>
      <p:bldP spid="75" grpId="0" animBg="1"/>
      <p:bldP spid="79" grpId="0" animBg="1"/>
      <p:bldP spid="83" grpId="0" animBg="1"/>
      <p:bldP spid="84" grpId="0" animBg="1"/>
      <p:bldP spid="84" grpId="1" animBg="1"/>
      <p:bldP spid="86" grpId="0" animBg="1"/>
      <p:bldP spid="86" grpId="1" animBg="1"/>
      <p:bldP spid="87" grpId="0" animBg="1"/>
      <p:bldP spid="87" grpId="1" animBg="1"/>
      <p:bldP spid="90" grpId="0" animBg="1"/>
      <p:bldP spid="90" grpId="1" animBg="1"/>
      <p:bldP spid="92" grpId="0" animBg="1"/>
      <p:bldP spid="92" grpId="1" animBg="1"/>
      <p:bldP spid="89" grpId="0" animBg="1"/>
      <p:bldP spid="89" grpId="1"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Permission-based Approaches</a:t>
            </a:r>
          </a:p>
        </p:txBody>
      </p:sp>
      <p:sp>
        <p:nvSpPr>
          <p:cNvPr id="28" name="Content Placeholder 2">
            <a:extLst>
              <a:ext uri="{FF2B5EF4-FFF2-40B4-BE49-F238E27FC236}">
                <a16:creationId xmlns:a16="http://schemas.microsoft.com/office/drawing/2014/main" id="{05FF24D1-5277-417B-BCE3-776DD62CA93A}"/>
              </a:ext>
            </a:extLst>
          </p:cNvPr>
          <p:cNvSpPr>
            <a:spLocks noGrp="1"/>
          </p:cNvSpPr>
          <p:nvPr>
            <p:ph idx="1"/>
          </p:nvPr>
        </p:nvSpPr>
        <p:spPr/>
        <p:txBody>
          <a:bodyPr>
            <a:normAutofit/>
          </a:bodyPr>
          <a:lstStyle/>
          <a:p>
            <a:pPr>
              <a:lnSpc>
                <a:spcPct val="100000"/>
              </a:lnSpc>
              <a:spcBef>
                <a:spcPts val="600"/>
              </a:spcBef>
              <a:spcAft>
                <a:spcPts val="600"/>
              </a:spcAft>
              <a:defRPr/>
            </a:pPr>
            <a:r>
              <a:rPr lang="en-US" dirty="0"/>
              <a:t>There are two types of permission-based mutual exclusion algorithms</a:t>
            </a:r>
          </a:p>
          <a:p>
            <a:pPr marL="971550" lvl="1" indent="-514350">
              <a:lnSpc>
                <a:spcPct val="100000"/>
              </a:lnSpc>
              <a:spcBef>
                <a:spcPts val="600"/>
              </a:spcBef>
              <a:spcAft>
                <a:spcPts val="600"/>
              </a:spcAft>
              <a:buFont typeface="+mj-lt"/>
              <a:buAutoNum type="arabicPeriod"/>
              <a:defRPr/>
            </a:pPr>
            <a:r>
              <a:rPr lang="en-US" sz="2400" b="1" dirty="0">
                <a:solidFill>
                  <a:srgbClr val="1D6199"/>
                </a:solidFill>
              </a:rPr>
              <a:t>Centralized Algorithms</a:t>
            </a:r>
          </a:p>
          <a:p>
            <a:pPr marL="971550" lvl="1" indent="-514350">
              <a:lnSpc>
                <a:spcPct val="100000"/>
              </a:lnSpc>
              <a:spcBef>
                <a:spcPts val="600"/>
              </a:spcBef>
              <a:spcAft>
                <a:spcPts val="600"/>
              </a:spcAft>
              <a:buFont typeface="+mj-lt"/>
              <a:buAutoNum type="arabicPeriod"/>
              <a:defRPr/>
            </a:pPr>
            <a:r>
              <a:rPr lang="en-US" sz="2400" b="1" dirty="0">
                <a:solidFill>
                  <a:srgbClr val="1D6199"/>
                </a:solidFill>
              </a:rPr>
              <a:t>Decentralized Algorithms</a:t>
            </a:r>
          </a:p>
        </p:txBody>
      </p:sp>
    </p:spTree>
    <p:extLst>
      <p:ext uri="{BB962C8B-B14F-4D97-AF65-F5344CB8AC3E}">
        <p14:creationId xmlns:p14="http://schemas.microsoft.com/office/powerpoint/2010/main" val="18870803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Centralized Mutual Exclusion Algorithm</a:t>
            </a:r>
          </a:p>
        </p:txBody>
      </p:sp>
      <p:sp>
        <p:nvSpPr>
          <p:cNvPr id="5" name="Content Placeholder 2">
            <a:extLst>
              <a:ext uri="{FF2B5EF4-FFF2-40B4-BE49-F238E27FC236}">
                <a16:creationId xmlns:a16="http://schemas.microsoft.com/office/drawing/2014/main" id="{04DDB06E-7E3E-4BC9-9DC5-6EB9578B79C3}"/>
              </a:ext>
            </a:extLst>
          </p:cNvPr>
          <p:cNvSpPr>
            <a:spLocks noGrp="1"/>
          </p:cNvSpPr>
          <p:nvPr>
            <p:ph idx="1"/>
          </p:nvPr>
        </p:nvSpPr>
        <p:spPr>
          <a:xfrm>
            <a:off x="-1" y="711200"/>
            <a:ext cx="8993316" cy="5932487"/>
          </a:xfrm>
        </p:spPr>
        <p:txBody>
          <a:bodyPr>
            <a:noAutofit/>
          </a:bodyPr>
          <a:lstStyle/>
          <a:p>
            <a:pPr>
              <a:lnSpc>
                <a:spcPct val="100000"/>
              </a:lnSpc>
              <a:spcBef>
                <a:spcPts val="100"/>
              </a:spcBef>
              <a:spcAft>
                <a:spcPts val="100"/>
              </a:spcAft>
            </a:pPr>
            <a:r>
              <a:rPr lang="en-US" altLang="en-US" dirty="0">
                <a:latin typeface="+mj-lt"/>
              </a:rPr>
              <a:t>One process is </a:t>
            </a:r>
            <a:r>
              <a:rPr lang="en-US" altLang="en-US" i="1" u="sng" dirty="0">
                <a:solidFill>
                  <a:srgbClr val="1D6199"/>
                </a:solidFill>
                <a:latin typeface="+mj-lt"/>
              </a:rPr>
              <a:t>elected</a:t>
            </a:r>
            <a:r>
              <a:rPr lang="en-US" altLang="en-US" dirty="0">
                <a:solidFill>
                  <a:srgbClr val="1D6199"/>
                </a:solidFill>
                <a:latin typeface="+mj-lt"/>
              </a:rPr>
              <a:t> as a coordinator (</a:t>
            </a:r>
            <a:r>
              <a:rPr lang="en-US" altLang="en-US" b="1" dirty="0">
                <a:solidFill>
                  <a:srgbClr val="1D6199"/>
                </a:solidFill>
                <a:latin typeface="+mj-lt"/>
                <a:cs typeface="Courier New" panose="02070309020205020404" pitchFamily="49" charset="0"/>
              </a:rPr>
              <a:t>C</a:t>
            </a:r>
            <a:r>
              <a:rPr lang="en-US" altLang="en-US" dirty="0">
                <a:solidFill>
                  <a:srgbClr val="1D6199"/>
                </a:solidFill>
                <a:latin typeface="+mj-lt"/>
              </a:rPr>
              <a:t>)  </a:t>
            </a:r>
            <a:r>
              <a:rPr lang="en-US" altLang="en-US" dirty="0">
                <a:latin typeface="+mj-lt"/>
              </a:rPr>
              <a:t>for a shared resource</a:t>
            </a:r>
            <a:endParaRPr lang="en-US" altLang="en-US" sz="2400" dirty="0">
              <a:latin typeface="+mj-lt"/>
              <a:ea typeface="Arial" panose="020B0604020202020204" pitchFamily="34" charset="0"/>
            </a:endParaRPr>
          </a:p>
          <a:p>
            <a:pPr>
              <a:lnSpc>
                <a:spcPct val="100000"/>
              </a:lnSpc>
              <a:spcBef>
                <a:spcPts val="100"/>
              </a:spcBef>
              <a:spcAft>
                <a:spcPts val="100"/>
              </a:spcAft>
            </a:pPr>
            <a:r>
              <a:rPr lang="en-US" altLang="en-US" dirty="0">
                <a:latin typeface="+mj-lt"/>
              </a:rPr>
              <a:t>Coordinator maintains a </a:t>
            </a:r>
            <a:r>
              <a:rPr lang="en-US" altLang="en-US" b="1" dirty="0">
                <a:latin typeface="+mj-lt"/>
                <a:cs typeface="Courier New" panose="02070309020205020404" pitchFamily="49" charset="0"/>
              </a:rPr>
              <a:t>Queue</a:t>
            </a:r>
            <a:r>
              <a:rPr lang="en-US" altLang="en-US" dirty="0">
                <a:latin typeface="+mj-lt"/>
              </a:rPr>
              <a:t> of access requests</a:t>
            </a:r>
          </a:p>
          <a:p>
            <a:pPr>
              <a:lnSpc>
                <a:spcPct val="100000"/>
              </a:lnSpc>
              <a:spcBef>
                <a:spcPts val="100"/>
              </a:spcBef>
              <a:spcAft>
                <a:spcPts val="100"/>
              </a:spcAft>
            </a:pPr>
            <a:r>
              <a:rPr lang="en-US" altLang="en-US" dirty="0">
                <a:latin typeface="+mj-lt"/>
              </a:rPr>
              <a:t>Whenever a process wants to access the resource, it </a:t>
            </a:r>
            <a:r>
              <a:rPr lang="en-US" altLang="en-US" dirty="0">
                <a:solidFill>
                  <a:srgbClr val="1D3064"/>
                </a:solidFill>
                <a:latin typeface="+mj-lt"/>
              </a:rPr>
              <a:t>sends a request message </a:t>
            </a:r>
            <a:r>
              <a:rPr lang="en-US" altLang="en-US" dirty="0">
                <a:latin typeface="+mj-lt"/>
              </a:rPr>
              <a:t>to the coordinator to access the resource</a:t>
            </a:r>
            <a:endParaRPr lang="en-US" altLang="en-US" sz="2400" dirty="0">
              <a:latin typeface="+mj-lt"/>
              <a:ea typeface="Arial" panose="020B0604020202020204" pitchFamily="34" charset="0"/>
            </a:endParaRPr>
          </a:p>
          <a:p>
            <a:pPr>
              <a:lnSpc>
                <a:spcPct val="100000"/>
              </a:lnSpc>
              <a:spcBef>
                <a:spcPts val="100"/>
              </a:spcBef>
              <a:spcAft>
                <a:spcPts val="100"/>
              </a:spcAft>
            </a:pPr>
            <a:r>
              <a:rPr lang="en-US" altLang="en-US" dirty="0">
                <a:latin typeface="+mj-lt"/>
              </a:rPr>
              <a:t>When the </a:t>
            </a:r>
            <a:r>
              <a:rPr lang="en-US" altLang="en-US" dirty="0">
                <a:solidFill>
                  <a:srgbClr val="1D6199"/>
                </a:solidFill>
                <a:latin typeface="+mj-lt"/>
              </a:rPr>
              <a:t>coordinator receives the request</a:t>
            </a:r>
            <a:r>
              <a:rPr lang="en-US" altLang="en-US" dirty="0">
                <a:latin typeface="+mj-lt"/>
              </a:rPr>
              <a:t>:</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If no other process is currently accessing the resource, it grants the permission to the process by sending a “grant” message</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If another process is accessing the resource, the coordinator queues the request, and does not reply to the request</a:t>
            </a:r>
          </a:p>
          <a:p>
            <a:pPr>
              <a:lnSpc>
                <a:spcPct val="100000"/>
              </a:lnSpc>
              <a:spcBef>
                <a:spcPts val="100"/>
              </a:spcBef>
              <a:spcAft>
                <a:spcPts val="100"/>
              </a:spcAft>
            </a:pPr>
            <a:r>
              <a:rPr lang="en-US" altLang="en-US" dirty="0">
                <a:latin typeface="+mj-lt"/>
              </a:rPr>
              <a:t>The process in action </a:t>
            </a:r>
            <a:r>
              <a:rPr lang="en-US" altLang="en-US" dirty="0">
                <a:solidFill>
                  <a:srgbClr val="1D6199"/>
                </a:solidFill>
                <a:latin typeface="+mj-lt"/>
              </a:rPr>
              <a:t>releases</a:t>
            </a:r>
            <a:r>
              <a:rPr lang="en-US" altLang="en-US" dirty="0">
                <a:latin typeface="+mj-lt"/>
              </a:rPr>
              <a:t> the exclusive access after accessing the resource</a:t>
            </a:r>
            <a:endParaRPr lang="en-US" altLang="en-US" sz="2400" dirty="0">
              <a:latin typeface="+mj-lt"/>
              <a:ea typeface="Arial" panose="020B0604020202020204" pitchFamily="34" charset="0"/>
            </a:endParaRPr>
          </a:p>
          <a:p>
            <a:pPr>
              <a:lnSpc>
                <a:spcPct val="100000"/>
              </a:lnSpc>
              <a:spcBef>
                <a:spcPts val="100"/>
              </a:spcBef>
              <a:spcAft>
                <a:spcPts val="100"/>
              </a:spcAft>
            </a:pPr>
            <a:r>
              <a:rPr lang="en-US" altLang="en-US" dirty="0">
                <a:latin typeface="+mj-lt"/>
              </a:rPr>
              <a:t>Afterwards, the coordinator sends the </a:t>
            </a:r>
            <a:r>
              <a:rPr lang="en-US" altLang="en-US" dirty="0">
                <a:solidFill>
                  <a:srgbClr val="1D6199"/>
                </a:solidFill>
                <a:latin typeface="+mj-lt"/>
              </a:rPr>
              <a:t>“grant” </a:t>
            </a:r>
            <a:r>
              <a:rPr lang="en-US" altLang="en-US" dirty="0">
                <a:latin typeface="+mj-lt"/>
              </a:rPr>
              <a:t>message to the next process in the queue</a:t>
            </a:r>
          </a:p>
        </p:txBody>
      </p:sp>
      <p:sp>
        <p:nvSpPr>
          <p:cNvPr id="6" name="Rectangle 5">
            <a:extLst>
              <a:ext uri="{FF2B5EF4-FFF2-40B4-BE49-F238E27FC236}">
                <a16:creationId xmlns:a16="http://schemas.microsoft.com/office/drawing/2014/main" id="{AA11F702-4DBE-4AC9-A78A-E111E9488D20}"/>
              </a:ext>
            </a:extLst>
          </p:cNvPr>
          <p:cNvSpPr/>
          <p:nvPr/>
        </p:nvSpPr>
        <p:spPr bwMode="auto">
          <a:xfrm>
            <a:off x="9142541" y="2824030"/>
            <a:ext cx="760411" cy="288744"/>
          </a:xfrm>
          <a:prstGeom prst="rect">
            <a:avLst/>
          </a:prstGeom>
          <a:solidFill>
            <a:schemeClr val="accent6"/>
          </a:solidFill>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sz="1200" dirty="0">
                <a:solidFill>
                  <a:schemeClr val="bg1"/>
                </a:solidFill>
                <a:latin typeface="+mj-lt"/>
              </a:rPr>
              <a:t>Resource</a:t>
            </a:r>
          </a:p>
        </p:txBody>
      </p:sp>
      <p:grpSp>
        <p:nvGrpSpPr>
          <p:cNvPr id="7" name="Group 27">
            <a:extLst>
              <a:ext uri="{FF2B5EF4-FFF2-40B4-BE49-F238E27FC236}">
                <a16:creationId xmlns:a16="http://schemas.microsoft.com/office/drawing/2014/main" id="{14342B0C-8344-455C-89F5-987DC2198347}"/>
              </a:ext>
            </a:extLst>
          </p:cNvPr>
          <p:cNvGrpSpPr>
            <a:grpSpLocks/>
          </p:cNvGrpSpPr>
          <p:nvPr/>
        </p:nvGrpSpPr>
        <p:grpSpPr bwMode="auto">
          <a:xfrm>
            <a:off x="10645902" y="2872425"/>
            <a:ext cx="509588" cy="771525"/>
            <a:chOff x="7752790" y="3952935"/>
            <a:chExt cx="324410" cy="771877"/>
          </a:xfrm>
        </p:grpSpPr>
        <p:cxnSp>
          <p:nvCxnSpPr>
            <p:cNvPr id="8" name="Straight Connector 7">
              <a:extLst>
                <a:ext uri="{FF2B5EF4-FFF2-40B4-BE49-F238E27FC236}">
                  <a16:creationId xmlns:a16="http://schemas.microsoft.com/office/drawing/2014/main" id="{BA13E22E-7F73-4D78-B7EE-9665F9636D91}"/>
                </a:ext>
              </a:extLst>
            </p:cNvPr>
            <p:cNvCxnSpPr/>
            <p:nvPr/>
          </p:nvCxnSpPr>
          <p:spPr>
            <a:xfrm flipV="1">
              <a:off x="7752790" y="3952935"/>
              <a:ext cx="0" cy="7718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2E1021F-98CA-4F3E-8504-DA8D2616555A}"/>
                </a:ext>
              </a:extLst>
            </p:cNvPr>
            <p:cNvCxnSpPr/>
            <p:nvPr/>
          </p:nvCxnSpPr>
          <p:spPr>
            <a:xfrm flipV="1">
              <a:off x="8077200" y="3952935"/>
              <a:ext cx="0" cy="7718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99592A6-2A1A-41E6-8702-3A6021BBDFB4}"/>
                </a:ext>
              </a:extLst>
            </p:cNvPr>
            <p:cNvCxnSpPr/>
            <p:nvPr/>
          </p:nvCxnSpPr>
          <p:spPr>
            <a:xfrm flipH="1">
              <a:off x="7762331" y="3962464"/>
              <a:ext cx="31486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Straight Arrow Connector 10">
            <a:extLst>
              <a:ext uri="{FF2B5EF4-FFF2-40B4-BE49-F238E27FC236}">
                <a16:creationId xmlns:a16="http://schemas.microsoft.com/office/drawing/2014/main" id="{BC43966D-DE1A-4D84-B311-DC57ABEE967E}"/>
              </a:ext>
            </a:extLst>
          </p:cNvPr>
          <p:cNvCxnSpPr/>
          <p:nvPr/>
        </p:nvCxnSpPr>
        <p:spPr>
          <a:xfrm>
            <a:off x="11155490" y="3232474"/>
            <a:ext cx="185738" cy="0"/>
          </a:xfrm>
          <a:prstGeom prst="straightConnector1">
            <a:avLst/>
          </a:prstGeom>
          <a:ln w="12700">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4AE1D33-90AF-4643-9A07-AD743284D0B2}"/>
              </a:ext>
            </a:extLst>
          </p:cNvPr>
          <p:cNvSpPr txBox="1">
            <a:spLocks noChangeArrowheads="1"/>
          </p:cNvSpPr>
          <p:nvPr/>
        </p:nvSpPr>
        <p:spPr bwMode="auto">
          <a:xfrm>
            <a:off x="11294764" y="3116586"/>
            <a:ext cx="576262"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900" dirty="0">
                <a:solidFill>
                  <a:schemeClr val="tx1"/>
                </a:solidFill>
                <a:latin typeface="+mj-lt"/>
              </a:rPr>
              <a:t>Queue</a:t>
            </a:r>
          </a:p>
        </p:txBody>
      </p:sp>
      <p:sp>
        <p:nvSpPr>
          <p:cNvPr id="13" name="Oval 12">
            <a:extLst>
              <a:ext uri="{FF2B5EF4-FFF2-40B4-BE49-F238E27FC236}">
                <a16:creationId xmlns:a16="http://schemas.microsoft.com/office/drawing/2014/main" id="{B137AF8B-6F12-480A-9910-EE29D0DE41C9}"/>
              </a:ext>
            </a:extLst>
          </p:cNvPr>
          <p:cNvSpPr>
            <a:spLocks noChangeArrowheads="1"/>
          </p:cNvSpPr>
          <p:nvPr/>
        </p:nvSpPr>
        <p:spPr bwMode="auto">
          <a:xfrm>
            <a:off x="10001376" y="2824799"/>
            <a:ext cx="675245" cy="206104"/>
          </a:xfrm>
          <a:prstGeom prst="ellipse">
            <a:avLst/>
          </a:prstGeom>
          <a:gradFill rotWithShape="1">
            <a:gsLst>
              <a:gs pos="0">
                <a:srgbClr val="EDEDED"/>
              </a:gs>
              <a:gs pos="64999">
                <a:srgbClr val="D0D0D0"/>
              </a:gs>
              <a:gs pos="100000">
                <a:srgbClr val="BCBCBC"/>
              </a:gs>
            </a:gsLst>
            <a:lin ang="5400000" scaled="1"/>
          </a:gradFill>
          <a:ln w="9525">
            <a:solidFill>
              <a:srgbClr val="000000"/>
            </a:solidFill>
            <a:round/>
            <a:headEnd/>
            <a:tailEnd/>
          </a:ln>
          <a:effectLst>
            <a:outerShdw blurRad="40000" dist="20000" dir="5400000" rotWithShape="0">
              <a:srgbClr val="808080">
                <a:alpha val="37999"/>
              </a:srgbClr>
            </a:outerShdw>
          </a:effectLst>
        </p:spPr>
        <p:txBody>
          <a:bodyPr anchor="ctr"/>
          <a:lstStyle/>
          <a:p>
            <a:pPr algn="ctr" eaLnBrk="1" hangingPunct="1">
              <a:defRPr/>
            </a:pPr>
            <a:r>
              <a:rPr lang="en-US" sz="1050" b="1" dirty="0">
                <a:latin typeface="+mj-lt"/>
                <a:ea typeface="+mn-ea"/>
              </a:rPr>
              <a:t>C</a:t>
            </a:r>
          </a:p>
        </p:txBody>
      </p:sp>
      <p:sp>
        <p:nvSpPr>
          <p:cNvPr id="14" name="Oval 13">
            <a:extLst>
              <a:ext uri="{FF2B5EF4-FFF2-40B4-BE49-F238E27FC236}">
                <a16:creationId xmlns:a16="http://schemas.microsoft.com/office/drawing/2014/main" id="{99A93BB6-E5D4-498A-9395-D576A69DF39F}"/>
              </a:ext>
            </a:extLst>
          </p:cNvPr>
          <p:cNvSpPr>
            <a:spLocks noChangeArrowheads="1"/>
          </p:cNvSpPr>
          <p:nvPr/>
        </p:nvSpPr>
        <p:spPr bwMode="auto">
          <a:xfrm>
            <a:off x="9374314" y="1628775"/>
            <a:ext cx="528639" cy="283213"/>
          </a:xfrm>
          <a:prstGeom prst="ellipse">
            <a:avLst/>
          </a:prstGeom>
          <a:gradFill rotWithShape="1">
            <a:gsLst>
              <a:gs pos="0">
                <a:srgbClr val="E9E9F7"/>
              </a:gs>
              <a:gs pos="64999">
                <a:srgbClr val="C5C5E9"/>
              </a:gs>
              <a:gs pos="100000">
                <a:srgbClr val="ACACE1"/>
              </a:gs>
            </a:gsLst>
            <a:lin ang="5400000" scaled="1"/>
          </a:gradFill>
          <a:ln w="9525">
            <a:solidFill>
              <a:srgbClr val="292989"/>
            </a:solidFill>
            <a:round/>
            <a:headEnd/>
            <a:tailEnd/>
          </a:ln>
          <a:effectLst>
            <a:outerShdw blurRad="40000" dist="20000" dir="5400000" rotWithShape="0">
              <a:srgbClr val="808080">
                <a:alpha val="37999"/>
              </a:srgbClr>
            </a:outerShdw>
          </a:effectLst>
        </p:spPr>
        <p:txBody>
          <a:bodyPr anchor="ctr"/>
          <a:lstStyle/>
          <a:p>
            <a:pPr algn="ctr" eaLnBrk="1" hangingPunct="1">
              <a:defRPr/>
            </a:pPr>
            <a:r>
              <a:rPr lang="en-US" sz="1200" b="1" dirty="0">
                <a:latin typeface="+mj-lt"/>
                <a:ea typeface="+mn-ea"/>
              </a:rPr>
              <a:t>P0</a:t>
            </a:r>
          </a:p>
        </p:txBody>
      </p:sp>
      <p:sp>
        <p:nvSpPr>
          <p:cNvPr id="15" name="Oval 14">
            <a:extLst>
              <a:ext uri="{FF2B5EF4-FFF2-40B4-BE49-F238E27FC236}">
                <a16:creationId xmlns:a16="http://schemas.microsoft.com/office/drawing/2014/main" id="{71F22450-904D-407C-B960-30F4BB9FC897}"/>
              </a:ext>
            </a:extLst>
          </p:cNvPr>
          <p:cNvSpPr>
            <a:spLocks noChangeArrowheads="1"/>
          </p:cNvSpPr>
          <p:nvPr/>
        </p:nvSpPr>
        <p:spPr bwMode="auto">
          <a:xfrm>
            <a:off x="10544300" y="1628775"/>
            <a:ext cx="528640" cy="283213"/>
          </a:xfrm>
          <a:prstGeom prst="ellipse">
            <a:avLst/>
          </a:prstGeom>
          <a:gradFill rotWithShape="1">
            <a:gsLst>
              <a:gs pos="0">
                <a:srgbClr val="E9E9F7"/>
              </a:gs>
              <a:gs pos="64999">
                <a:srgbClr val="C5C5E9"/>
              </a:gs>
              <a:gs pos="100000">
                <a:srgbClr val="ACACE1"/>
              </a:gs>
            </a:gsLst>
            <a:lin ang="5400000" scaled="1"/>
          </a:gradFill>
          <a:ln w="9525">
            <a:solidFill>
              <a:srgbClr val="292989"/>
            </a:solidFill>
            <a:round/>
            <a:headEnd/>
            <a:tailEnd/>
          </a:ln>
          <a:effectLst>
            <a:outerShdw blurRad="40000" dist="20000" dir="5400000" rotWithShape="0">
              <a:srgbClr val="808080">
                <a:alpha val="37999"/>
              </a:srgbClr>
            </a:outerShdw>
          </a:effectLst>
        </p:spPr>
        <p:txBody>
          <a:bodyPr anchor="ctr"/>
          <a:lstStyle/>
          <a:p>
            <a:pPr algn="ctr" eaLnBrk="1" hangingPunct="1">
              <a:defRPr/>
            </a:pPr>
            <a:r>
              <a:rPr lang="en-US" sz="1200" b="1" dirty="0">
                <a:latin typeface="+mj-lt"/>
                <a:ea typeface="+mn-ea"/>
              </a:rPr>
              <a:t>P2</a:t>
            </a:r>
          </a:p>
        </p:txBody>
      </p:sp>
      <p:sp>
        <p:nvSpPr>
          <p:cNvPr id="16" name="Oval 15">
            <a:extLst>
              <a:ext uri="{FF2B5EF4-FFF2-40B4-BE49-F238E27FC236}">
                <a16:creationId xmlns:a16="http://schemas.microsoft.com/office/drawing/2014/main" id="{C7E431BB-8E91-41EE-A46F-00467946ACA3}"/>
              </a:ext>
            </a:extLst>
          </p:cNvPr>
          <p:cNvSpPr>
            <a:spLocks noChangeArrowheads="1"/>
          </p:cNvSpPr>
          <p:nvPr/>
        </p:nvSpPr>
        <p:spPr bwMode="auto">
          <a:xfrm>
            <a:off x="9956925" y="1628775"/>
            <a:ext cx="528640" cy="283213"/>
          </a:xfrm>
          <a:prstGeom prst="ellipse">
            <a:avLst/>
          </a:prstGeom>
          <a:gradFill rotWithShape="1">
            <a:gsLst>
              <a:gs pos="0">
                <a:srgbClr val="E9E9F7"/>
              </a:gs>
              <a:gs pos="64999">
                <a:srgbClr val="C5C5E9"/>
              </a:gs>
              <a:gs pos="100000">
                <a:srgbClr val="ACACE1"/>
              </a:gs>
            </a:gsLst>
            <a:lin ang="5400000" scaled="1"/>
          </a:gradFill>
          <a:ln w="9525">
            <a:solidFill>
              <a:srgbClr val="292989"/>
            </a:solidFill>
            <a:round/>
            <a:headEnd/>
            <a:tailEnd/>
          </a:ln>
          <a:effectLst>
            <a:outerShdw blurRad="40000" dist="20000" dir="5400000" rotWithShape="0">
              <a:srgbClr val="808080">
                <a:alpha val="37999"/>
              </a:srgbClr>
            </a:outerShdw>
          </a:effectLst>
        </p:spPr>
        <p:txBody>
          <a:bodyPr anchor="ctr"/>
          <a:lstStyle/>
          <a:p>
            <a:pPr algn="ctr" eaLnBrk="1" hangingPunct="1">
              <a:defRPr/>
            </a:pPr>
            <a:r>
              <a:rPr lang="en-US" sz="1200" b="1" dirty="0">
                <a:latin typeface="+mj-lt"/>
                <a:ea typeface="+mn-ea"/>
              </a:rPr>
              <a:t>P1</a:t>
            </a:r>
          </a:p>
        </p:txBody>
      </p:sp>
      <p:cxnSp>
        <p:nvCxnSpPr>
          <p:cNvPr id="17" name="Straight Arrow Connector 16">
            <a:extLst>
              <a:ext uri="{FF2B5EF4-FFF2-40B4-BE49-F238E27FC236}">
                <a16:creationId xmlns:a16="http://schemas.microsoft.com/office/drawing/2014/main" id="{94567B48-0ECD-451E-8CD7-021EB4F4CC66}"/>
              </a:ext>
            </a:extLst>
          </p:cNvPr>
          <p:cNvCxnSpPr>
            <a:stCxn id="16" idx="4"/>
            <a:endCxn id="13" idx="0"/>
          </p:cNvCxnSpPr>
          <p:nvPr/>
        </p:nvCxnSpPr>
        <p:spPr>
          <a:xfrm>
            <a:off x="10221245" y="1911988"/>
            <a:ext cx="117754" cy="91281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2B2F907B-B315-467C-A23F-86FF1A07E0EF}"/>
              </a:ext>
            </a:extLst>
          </p:cNvPr>
          <p:cNvSpPr/>
          <p:nvPr/>
        </p:nvSpPr>
        <p:spPr>
          <a:xfrm>
            <a:off x="9844216" y="2424749"/>
            <a:ext cx="756996" cy="292912"/>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050" b="1" dirty="0" err="1">
                <a:solidFill>
                  <a:schemeClr val="bg1"/>
                </a:solidFill>
                <a:latin typeface="+mj-lt"/>
              </a:rPr>
              <a:t>Req</a:t>
            </a:r>
            <a:endParaRPr lang="en-US" sz="1050" b="1" dirty="0">
              <a:solidFill>
                <a:schemeClr val="bg1"/>
              </a:solidFill>
              <a:latin typeface="+mj-lt"/>
            </a:endParaRPr>
          </a:p>
        </p:txBody>
      </p:sp>
      <p:cxnSp>
        <p:nvCxnSpPr>
          <p:cNvPr id="19" name="Straight Arrow Connector 18">
            <a:extLst>
              <a:ext uri="{FF2B5EF4-FFF2-40B4-BE49-F238E27FC236}">
                <a16:creationId xmlns:a16="http://schemas.microsoft.com/office/drawing/2014/main" id="{CF7C5B72-6D4A-456D-A9E8-082A09CE3EB7}"/>
              </a:ext>
            </a:extLst>
          </p:cNvPr>
          <p:cNvCxnSpPr>
            <a:stCxn id="13" idx="7"/>
            <a:endCxn id="16" idx="5"/>
          </p:cNvCxnSpPr>
          <p:nvPr/>
        </p:nvCxnSpPr>
        <p:spPr>
          <a:xfrm flipH="1" flipV="1">
            <a:off x="10408147" y="1870512"/>
            <a:ext cx="169587" cy="98447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69DF018A-F75C-4972-A7E3-ACE8224DB465}"/>
              </a:ext>
            </a:extLst>
          </p:cNvPr>
          <p:cNvSpPr/>
          <p:nvPr/>
        </p:nvSpPr>
        <p:spPr>
          <a:xfrm>
            <a:off x="10418890" y="2424748"/>
            <a:ext cx="926432" cy="213027"/>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050" b="1" dirty="0">
                <a:solidFill>
                  <a:schemeClr val="bg1"/>
                </a:solidFill>
                <a:latin typeface="+mj-lt"/>
              </a:rPr>
              <a:t>Grant</a:t>
            </a:r>
          </a:p>
        </p:txBody>
      </p:sp>
      <p:cxnSp>
        <p:nvCxnSpPr>
          <p:cNvPr id="21" name="Straight Arrow Connector 20">
            <a:extLst>
              <a:ext uri="{FF2B5EF4-FFF2-40B4-BE49-F238E27FC236}">
                <a16:creationId xmlns:a16="http://schemas.microsoft.com/office/drawing/2014/main" id="{B3E7B4A0-12F9-4DF9-AC75-6AA043B791A5}"/>
              </a:ext>
            </a:extLst>
          </p:cNvPr>
          <p:cNvCxnSpPr>
            <a:stCxn id="16" idx="4"/>
          </p:cNvCxnSpPr>
          <p:nvPr/>
        </p:nvCxnSpPr>
        <p:spPr>
          <a:xfrm flipH="1">
            <a:off x="9560055" y="1911988"/>
            <a:ext cx="661190" cy="912811"/>
          </a:xfrm>
          <a:prstGeom prst="straightConnector1">
            <a:avLst/>
          </a:prstGeom>
          <a:ln w="381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BF01B144-C932-4437-AF67-238F41A2F145}"/>
              </a:ext>
            </a:extLst>
          </p:cNvPr>
          <p:cNvSpPr/>
          <p:nvPr/>
        </p:nvSpPr>
        <p:spPr>
          <a:xfrm>
            <a:off x="9064752" y="2431096"/>
            <a:ext cx="1052144" cy="230779"/>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050" b="1" dirty="0">
                <a:solidFill>
                  <a:schemeClr val="bg1"/>
                </a:solidFill>
                <a:latin typeface="+mj-lt"/>
              </a:rPr>
              <a:t>Access</a:t>
            </a:r>
          </a:p>
        </p:txBody>
      </p:sp>
      <p:cxnSp>
        <p:nvCxnSpPr>
          <p:cNvPr id="23" name="Straight Arrow Connector 22">
            <a:extLst>
              <a:ext uri="{FF2B5EF4-FFF2-40B4-BE49-F238E27FC236}">
                <a16:creationId xmlns:a16="http://schemas.microsoft.com/office/drawing/2014/main" id="{479AF23B-F855-4754-BFFB-9D82B19B87AB}"/>
              </a:ext>
            </a:extLst>
          </p:cNvPr>
          <p:cNvCxnSpPr>
            <a:stCxn id="15" idx="4"/>
            <a:endCxn id="13" idx="0"/>
          </p:cNvCxnSpPr>
          <p:nvPr/>
        </p:nvCxnSpPr>
        <p:spPr>
          <a:xfrm flipH="1">
            <a:off x="10338999" y="1911988"/>
            <a:ext cx="469621" cy="91281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BEE35D0A-8BEE-4757-B98C-49F1E38884DA}"/>
              </a:ext>
            </a:extLst>
          </p:cNvPr>
          <p:cNvSpPr/>
          <p:nvPr/>
        </p:nvSpPr>
        <p:spPr>
          <a:xfrm>
            <a:off x="10495091" y="2480312"/>
            <a:ext cx="756996" cy="292912"/>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050" b="1" dirty="0" err="1">
                <a:solidFill>
                  <a:schemeClr val="bg1"/>
                </a:solidFill>
                <a:latin typeface="+mj-lt"/>
              </a:rPr>
              <a:t>Req</a:t>
            </a:r>
            <a:endParaRPr lang="en-US" sz="1050" b="1" dirty="0">
              <a:solidFill>
                <a:schemeClr val="bg1"/>
              </a:solidFill>
              <a:latin typeface="+mj-lt"/>
            </a:endParaRPr>
          </a:p>
        </p:txBody>
      </p:sp>
      <p:sp>
        <p:nvSpPr>
          <p:cNvPr id="25" name="Rectangle 24">
            <a:extLst>
              <a:ext uri="{FF2B5EF4-FFF2-40B4-BE49-F238E27FC236}">
                <a16:creationId xmlns:a16="http://schemas.microsoft.com/office/drawing/2014/main" id="{85097CD3-17D0-4CEB-A712-A7D7B93BEB59}"/>
              </a:ext>
            </a:extLst>
          </p:cNvPr>
          <p:cNvSpPr>
            <a:spLocks noChangeArrowheads="1"/>
          </p:cNvSpPr>
          <p:nvPr/>
        </p:nvSpPr>
        <p:spPr bwMode="auto">
          <a:xfrm>
            <a:off x="10663366" y="2912112"/>
            <a:ext cx="409574" cy="195900"/>
          </a:xfrm>
          <a:prstGeom prst="rect">
            <a:avLst/>
          </a:prstGeom>
          <a:gradFill rotWithShape="1">
            <a:gsLst>
              <a:gs pos="0">
                <a:srgbClr val="E9E9F7"/>
              </a:gs>
              <a:gs pos="64999">
                <a:srgbClr val="C5C5E9"/>
              </a:gs>
              <a:gs pos="100000">
                <a:srgbClr val="ACACE1"/>
              </a:gs>
            </a:gsLst>
            <a:lin ang="5400000" scaled="1"/>
          </a:gradFill>
          <a:ln w="9525">
            <a:solidFill>
              <a:srgbClr val="292989"/>
            </a:solidFill>
            <a:miter lim="800000"/>
            <a:headEnd/>
            <a:tailEnd/>
          </a:ln>
          <a:effectLst>
            <a:outerShdw blurRad="40000" dist="20000" dir="5400000" rotWithShape="0">
              <a:srgbClr val="808080">
                <a:alpha val="37999"/>
              </a:srgbClr>
            </a:outerShdw>
          </a:effectLst>
        </p:spPr>
        <p:txBody>
          <a:bodyPr anchor="ctr"/>
          <a:lstStyle/>
          <a:p>
            <a:pPr algn="ctr" eaLnBrk="1" hangingPunct="1">
              <a:defRPr/>
            </a:pPr>
            <a:r>
              <a:rPr lang="en-US" sz="900" b="1" dirty="0">
                <a:latin typeface="+mj-lt"/>
                <a:ea typeface="+mn-ea"/>
              </a:rPr>
              <a:t>P2</a:t>
            </a:r>
          </a:p>
        </p:txBody>
      </p:sp>
      <p:cxnSp>
        <p:nvCxnSpPr>
          <p:cNvPr id="26" name="Straight Arrow Connector 25">
            <a:extLst>
              <a:ext uri="{FF2B5EF4-FFF2-40B4-BE49-F238E27FC236}">
                <a16:creationId xmlns:a16="http://schemas.microsoft.com/office/drawing/2014/main" id="{AAD77845-060B-4813-A44D-17C05EBC4794}"/>
              </a:ext>
            </a:extLst>
          </p:cNvPr>
          <p:cNvCxnSpPr/>
          <p:nvPr/>
        </p:nvCxnSpPr>
        <p:spPr>
          <a:xfrm>
            <a:off x="10225215" y="1891350"/>
            <a:ext cx="0" cy="91281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AA7ECD61-71AA-439D-B5E0-16E2E5694A1D}"/>
              </a:ext>
            </a:extLst>
          </p:cNvPr>
          <p:cNvSpPr/>
          <p:nvPr/>
        </p:nvSpPr>
        <p:spPr>
          <a:xfrm>
            <a:off x="9826751" y="2404113"/>
            <a:ext cx="756997" cy="295131"/>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050" b="1" dirty="0" err="1">
                <a:solidFill>
                  <a:schemeClr val="bg1"/>
                </a:solidFill>
                <a:latin typeface="+mj-lt"/>
              </a:rPr>
              <a:t>Rel</a:t>
            </a:r>
            <a:endParaRPr lang="en-US" sz="1050" b="1" dirty="0">
              <a:solidFill>
                <a:schemeClr val="bg1"/>
              </a:solidFill>
              <a:latin typeface="+mj-lt"/>
            </a:endParaRPr>
          </a:p>
        </p:txBody>
      </p:sp>
      <p:sp>
        <p:nvSpPr>
          <p:cNvPr id="29" name="Rectangle 28">
            <a:extLst>
              <a:ext uri="{FF2B5EF4-FFF2-40B4-BE49-F238E27FC236}">
                <a16:creationId xmlns:a16="http://schemas.microsoft.com/office/drawing/2014/main" id="{2D9CAFBE-41CA-4C64-967A-1F58BB7F4D6D}"/>
              </a:ext>
            </a:extLst>
          </p:cNvPr>
          <p:cNvSpPr>
            <a:spLocks noChangeArrowheads="1"/>
          </p:cNvSpPr>
          <p:nvPr/>
        </p:nvSpPr>
        <p:spPr bwMode="auto">
          <a:xfrm>
            <a:off x="10142666" y="3064512"/>
            <a:ext cx="409574" cy="195900"/>
          </a:xfrm>
          <a:prstGeom prst="rect">
            <a:avLst/>
          </a:prstGeom>
          <a:gradFill rotWithShape="1">
            <a:gsLst>
              <a:gs pos="0">
                <a:srgbClr val="E9E9F7"/>
              </a:gs>
              <a:gs pos="64999">
                <a:srgbClr val="C5C5E9"/>
              </a:gs>
              <a:gs pos="100000">
                <a:srgbClr val="ACACE1"/>
              </a:gs>
            </a:gsLst>
            <a:lin ang="5400000" scaled="1"/>
          </a:gradFill>
          <a:ln w="9525">
            <a:solidFill>
              <a:srgbClr val="292989"/>
            </a:solidFill>
            <a:miter lim="800000"/>
            <a:headEnd/>
            <a:tailEnd/>
          </a:ln>
          <a:effectLst>
            <a:outerShdw blurRad="40000" dist="20000" dir="5400000" rotWithShape="0">
              <a:srgbClr val="808080">
                <a:alpha val="37999"/>
              </a:srgbClr>
            </a:outerShdw>
          </a:effectLst>
        </p:spPr>
        <p:txBody>
          <a:bodyPr anchor="ctr"/>
          <a:lstStyle/>
          <a:p>
            <a:pPr algn="ctr" eaLnBrk="1" hangingPunct="1">
              <a:defRPr/>
            </a:pPr>
            <a:r>
              <a:rPr lang="en-US" sz="900" b="1" dirty="0">
                <a:latin typeface="+mj-lt"/>
                <a:ea typeface="+mn-ea"/>
              </a:rPr>
              <a:t>P1</a:t>
            </a:r>
          </a:p>
        </p:txBody>
      </p:sp>
      <p:cxnSp>
        <p:nvCxnSpPr>
          <p:cNvPr id="30" name="Straight Arrow Connector 29">
            <a:extLst>
              <a:ext uri="{FF2B5EF4-FFF2-40B4-BE49-F238E27FC236}">
                <a16:creationId xmlns:a16="http://schemas.microsoft.com/office/drawing/2014/main" id="{114C18E9-80C9-4FA9-B65B-32EDA8EF515E}"/>
              </a:ext>
            </a:extLst>
          </p:cNvPr>
          <p:cNvCxnSpPr>
            <a:stCxn id="13" idx="7"/>
            <a:endCxn id="15" idx="5"/>
          </p:cNvCxnSpPr>
          <p:nvPr/>
        </p:nvCxnSpPr>
        <p:spPr>
          <a:xfrm flipV="1">
            <a:off x="10577734" y="1870512"/>
            <a:ext cx="417788" cy="98447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2E79F578-55DB-4C11-B0F3-6540374929B3}"/>
              </a:ext>
            </a:extLst>
          </p:cNvPr>
          <p:cNvSpPr/>
          <p:nvPr/>
        </p:nvSpPr>
        <p:spPr>
          <a:xfrm>
            <a:off x="10682416" y="2424748"/>
            <a:ext cx="814386" cy="204151"/>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050" b="1" dirty="0">
                <a:solidFill>
                  <a:schemeClr val="bg1"/>
                </a:solidFill>
                <a:latin typeface="+mj-lt"/>
              </a:rPr>
              <a:t>Grant</a:t>
            </a:r>
          </a:p>
        </p:txBody>
      </p:sp>
      <p:cxnSp>
        <p:nvCxnSpPr>
          <p:cNvPr id="32" name="Straight Arrow Connector 31">
            <a:extLst>
              <a:ext uri="{FF2B5EF4-FFF2-40B4-BE49-F238E27FC236}">
                <a16:creationId xmlns:a16="http://schemas.microsoft.com/office/drawing/2014/main" id="{4EB1EE24-2756-4AC4-A97B-AB3122F19224}"/>
              </a:ext>
            </a:extLst>
          </p:cNvPr>
          <p:cNvCxnSpPr>
            <a:stCxn id="15" idx="4"/>
          </p:cNvCxnSpPr>
          <p:nvPr/>
        </p:nvCxnSpPr>
        <p:spPr>
          <a:xfrm flipH="1">
            <a:off x="9560052" y="1911988"/>
            <a:ext cx="1248568" cy="912811"/>
          </a:xfrm>
          <a:prstGeom prst="straightConnector1">
            <a:avLst/>
          </a:prstGeom>
          <a:ln w="381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0F1835B7-95E0-4569-AF57-A805764BDA5A}"/>
              </a:ext>
            </a:extLst>
          </p:cNvPr>
          <p:cNvSpPr/>
          <p:nvPr/>
        </p:nvSpPr>
        <p:spPr>
          <a:xfrm>
            <a:off x="9093328" y="2478720"/>
            <a:ext cx="1052144" cy="230779"/>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050" b="1" dirty="0">
                <a:solidFill>
                  <a:schemeClr val="bg1"/>
                </a:solidFill>
                <a:latin typeface="+mj-lt"/>
              </a:rPr>
              <a:t>Access</a:t>
            </a:r>
          </a:p>
        </p:txBody>
      </p:sp>
      <p:cxnSp>
        <p:nvCxnSpPr>
          <p:cNvPr id="4" name="Straight Connector 3"/>
          <p:cNvCxnSpPr/>
          <p:nvPr/>
        </p:nvCxnSpPr>
        <p:spPr>
          <a:xfrm>
            <a:off x="8964739" y="914400"/>
            <a:ext cx="0" cy="51577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0262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22" presetClass="entr" presetSubtype="1"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up)">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5">
                                            <p:txEl>
                                              <p:pRg st="1" end="1"/>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
                                            <p:txEl>
                                              <p:pRg st="2" end="2"/>
                                            </p:txEl>
                                          </p:spTgt>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5">
                                            <p:txEl>
                                              <p:pRg st="3" end="3"/>
                                            </p:txEl>
                                          </p:spTgt>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5">
                                            <p:txEl>
                                              <p:pRg st="4" end="4"/>
                                            </p:txEl>
                                          </p:spTgt>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childTnLst>
                                </p:cTn>
                              </p:par>
                              <p:par>
                                <p:cTn id="50" presetID="1" presetClass="exit" presetSubtype="0" fill="hold" grpId="1" nodeType="withEffect">
                                  <p:stCondLst>
                                    <p:cond delay="0"/>
                                  </p:stCondLst>
                                  <p:childTnLst>
                                    <p:set>
                                      <p:cBhvr>
                                        <p:cTn id="51" dur="1" fill="hold">
                                          <p:stCondLst>
                                            <p:cond delay="0"/>
                                          </p:stCondLst>
                                        </p:cTn>
                                        <p:tgtEl>
                                          <p:spTgt spid="18"/>
                                        </p:tgtEl>
                                        <p:attrNameLst>
                                          <p:attrName>style.visibility</p:attrName>
                                        </p:attrNameLst>
                                      </p:cBhvr>
                                      <p:to>
                                        <p:strVal val="hidden"/>
                                      </p:to>
                                    </p:set>
                                  </p:childTnLst>
                                </p:cTn>
                              </p:par>
                              <p:par>
                                <p:cTn id="52" presetID="1" presetClass="exit" presetSubtype="0" fill="hold" nodeType="withEffect">
                                  <p:stCondLst>
                                    <p:cond delay="0"/>
                                  </p:stCondLst>
                                  <p:childTnLst>
                                    <p:set>
                                      <p:cBhvr>
                                        <p:cTn id="53" dur="1" fill="hold">
                                          <p:stCondLst>
                                            <p:cond delay="0"/>
                                          </p:stCondLst>
                                        </p:cTn>
                                        <p:tgtEl>
                                          <p:spTgt spid="17"/>
                                        </p:tgtEl>
                                        <p:attrNameLst>
                                          <p:attrName>style.visibility</p:attrName>
                                        </p:attrNameLst>
                                      </p:cBhvr>
                                      <p:to>
                                        <p:strVal val="hidden"/>
                                      </p:to>
                                    </p:set>
                                  </p:childTnLst>
                                </p:cTn>
                              </p:par>
                              <p:par>
                                <p:cTn id="54" presetID="1" presetClass="entr" presetSubtype="0" fill="hold" grpId="0" nodeType="withEffect">
                                  <p:stCondLst>
                                    <p:cond delay="0"/>
                                  </p:stCondLst>
                                  <p:childTnLst>
                                    <p:set>
                                      <p:cBhvr>
                                        <p:cTn id="55" dur="1" fill="hold">
                                          <p:stCondLst>
                                            <p:cond delay="0"/>
                                          </p:stCondLst>
                                        </p:cTn>
                                        <p:tgtEl>
                                          <p:spTgt spid="29"/>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21"/>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childTnLst>
                                </p:cTn>
                              </p:par>
                              <p:par>
                                <p:cTn id="62" presetID="1" presetClass="exit" presetSubtype="0" fill="hold" nodeType="withEffect">
                                  <p:stCondLst>
                                    <p:cond delay="0"/>
                                  </p:stCondLst>
                                  <p:childTnLst>
                                    <p:set>
                                      <p:cBhvr>
                                        <p:cTn id="63" dur="1" fill="hold">
                                          <p:stCondLst>
                                            <p:cond delay="0"/>
                                          </p:stCondLst>
                                        </p:cTn>
                                        <p:tgtEl>
                                          <p:spTgt spid="19"/>
                                        </p:tgtEl>
                                        <p:attrNameLst>
                                          <p:attrName>style.visibility</p:attrName>
                                        </p:attrNameLst>
                                      </p:cBhvr>
                                      <p:to>
                                        <p:strVal val="hidden"/>
                                      </p:to>
                                    </p:set>
                                  </p:childTnLst>
                                </p:cTn>
                              </p:par>
                              <p:par>
                                <p:cTn id="64" presetID="1" presetClass="exit" presetSubtype="0" fill="hold" grpId="1" nodeType="withEffect">
                                  <p:stCondLst>
                                    <p:cond delay="0"/>
                                  </p:stCondLst>
                                  <p:childTnLst>
                                    <p:set>
                                      <p:cBhvr>
                                        <p:cTn id="65" dur="1" fill="hold">
                                          <p:stCondLst>
                                            <p:cond delay="0"/>
                                          </p:stCondLst>
                                        </p:cTn>
                                        <p:tgtEl>
                                          <p:spTgt spid="20"/>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5">
                                            <p:txEl>
                                              <p:pRg st="5" end="5"/>
                                            </p:txEl>
                                          </p:spTgt>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23"/>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9" presetClass="emph" presetSubtype="0" grpId="2" nodeType="clickEffect">
                                  <p:stCondLst>
                                    <p:cond delay="0"/>
                                  </p:stCondLst>
                                  <p:childTnLst>
                                    <p:set>
                                      <p:cBhvr rctx="PPT">
                                        <p:cTn id="79" dur="indefinite"/>
                                        <p:tgtEl>
                                          <p:spTgt spid="24"/>
                                        </p:tgtEl>
                                        <p:attrNameLst>
                                          <p:attrName>style.opacity</p:attrName>
                                        </p:attrNameLst>
                                      </p:cBhvr>
                                      <p:to>
                                        <p:strVal val="0.25"/>
                                      </p:to>
                                    </p:set>
                                    <p:animEffect filter="image" prLst="opacity: 0.25">
                                      <p:cBhvr rctx="IE">
                                        <p:cTn id="80" dur="indefinite"/>
                                        <p:tgtEl>
                                          <p:spTgt spid="24"/>
                                        </p:tgtEl>
                                      </p:cBhvr>
                                    </p:animEffect>
                                  </p:childTnLst>
                                </p:cTn>
                              </p:par>
                              <p:par>
                                <p:cTn id="81" presetID="9" presetClass="emph" presetSubtype="0" nodeType="withEffect">
                                  <p:stCondLst>
                                    <p:cond delay="0"/>
                                  </p:stCondLst>
                                  <p:childTnLst>
                                    <p:set>
                                      <p:cBhvr rctx="PPT">
                                        <p:cTn id="82" dur="indefinite"/>
                                        <p:tgtEl>
                                          <p:spTgt spid="23"/>
                                        </p:tgtEl>
                                        <p:attrNameLst>
                                          <p:attrName>style.opacity</p:attrName>
                                        </p:attrNameLst>
                                      </p:cBhvr>
                                      <p:to>
                                        <p:strVal val="0.25"/>
                                      </p:to>
                                    </p:set>
                                    <p:animEffect filter="image" prLst="opacity: 0.25">
                                      <p:cBhvr rctx="IE">
                                        <p:cTn id="83" dur="indefinite"/>
                                        <p:tgtEl>
                                          <p:spTgt spid="23"/>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5">
                                            <p:txEl>
                                              <p:pRg st="6" end="6"/>
                                            </p:txEl>
                                          </p:spTgt>
                                        </p:tgtEl>
                                        <p:attrNameLst>
                                          <p:attrName>style.visibility</p:attrName>
                                        </p:attrNameLst>
                                      </p:cBhvr>
                                      <p:to>
                                        <p:strVal val="visible"/>
                                      </p:to>
                                    </p:set>
                                  </p:childTnLst>
                                </p:cTn>
                              </p:par>
                              <p:par>
                                <p:cTn id="88" presetID="1" presetClass="exit" presetSubtype="0" fill="hold" nodeType="withEffect">
                                  <p:stCondLst>
                                    <p:cond delay="0"/>
                                  </p:stCondLst>
                                  <p:childTnLst>
                                    <p:set>
                                      <p:cBhvr>
                                        <p:cTn id="89" dur="1" fill="hold">
                                          <p:stCondLst>
                                            <p:cond delay="0"/>
                                          </p:stCondLst>
                                        </p:cTn>
                                        <p:tgtEl>
                                          <p:spTgt spid="21"/>
                                        </p:tgtEl>
                                        <p:attrNameLst>
                                          <p:attrName>style.visibility</p:attrName>
                                        </p:attrNameLst>
                                      </p:cBhvr>
                                      <p:to>
                                        <p:strVal val="hidden"/>
                                      </p:to>
                                    </p:set>
                                  </p:childTnLst>
                                </p:cTn>
                              </p:par>
                              <p:par>
                                <p:cTn id="90" presetID="1" presetClass="exit" presetSubtype="0" fill="hold" grpId="1" nodeType="withEffect">
                                  <p:stCondLst>
                                    <p:cond delay="0"/>
                                  </p:stCondLst>
                                  <p:childTnLst>
                                    <p:set>
                                      <p:cBhvr>
                                        <p:cTn id="91" dur="1" fill="hold">
                                          <p:stCondLst>
                                            <p:cond delay="0"/>
                                          </p:stCondLst>
                                        </p:cTn>
                                        <p:tgtEl>
                                          <p:spTgt spid="22"/>
                                        </p:tgtEl>
                                        <p:attrNameLst>
                                          <p:attrName>style.visibility</p:attrName>
                                        </p:attrNameLst>
                                      </p:cBhvr>
                                      <p:to>
                                        <p:strVal val="hidden"/>
                                      </p:to>
                                    </p:set>
                                  </p:childTnLst>
                                </p:cTn>
                              </p:par>
                              <p:par>
                                <p:cTn id="92" presetID="1" presetClass="entr" presetSubtype="0" fill="hold" grpId="0" nodeType="withEffect">
                                  <p:stCondLst>
                                    <p:cond delay="0"/>
                                  </p:stCondLst>
                                  <p:childTnLst>
                                    <p:set>
                                      <p:cBhvr>
                                        <p:cTn id="93" dur="1" fill="hold">
                                          <p:stCondLst>
                                            <p:cond delay="0"/>
                                          </p:stCondLst>
                                        </p:cTn>
                                        <p:tgtEl>
                                          <p:spTgt spid="27"/>
                                        </p:tgtEl>
                                        <p:attrNameLst>
                                          <p:attrName>style.visibility</p:attrName>
                                        </p:attrNameLst>
                                      </p:cBhvr>
                                      <p:to>
                                        <p:strVal val="visible"/>
                                      </p:to>
                                    </p:set>
                                  </p:childTnLst>
                                </p:cTn>
                              </p:par>
                              <p:par>
                                <p:cTn id="94" presetID="1" presetClass="entr" presetSubtype="0" fill="hold" nodeType="withEffect">
                                  <p:stCondLst>
                                    <p:cond delay="0"/>
                                  </p:stCondLst>
                                  <p:childTnLst>
                                    <p:set>
                                      <p:cBhvr>
                                        <p:cTn id="95" dur="1" fill="hold">
                                          <p:stCondLst>
                                            <p:cond delay="0"/>
                                          </p:stCondLst>
                                        </p:cTn>
                                        <p:tgtEl>
                                          <p:spTgt spid="26"/>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nodeType="clickEffect">
                                  <p:stCondLst>
                                    <p:cond delay="0"/>
                                  </p:stCondLst>
                                  <p:childTnLst>
                                    <p:set>
                                      <p:cBhvr>
                                        <p:cTn id="99" dur="1" fill="hold">
                                          <p:stCondLst>
                                            <p:cond delay="0"/>
                                          </p:stCondLst>
                                        </p:cTn>
                                        <p:tgtEl>
                                          <p:spTgt spid="5">
                                            <p:txEl>
                                              <p:pRg st="7" end="7"/>
                                            </p:txEl>
                                          </p:spTgt>
                                        </p:tgtEl>
                                        <p:attrNameLst>
                                          <p:attrName>style.visibility</p:attrName>
                                        </p:attrNameLst>
                                      </p:cBhvr>
                                      <p:to>
                                        <p:strVal val="visible"/>
                                      </p:to>
                                    </p:set>
                                  </p:childTnLst>
                                </p:cTn>
                              </p:par>
                              <p:par>
                                <p:cTn id="100" presetID="1" presetClass="exit" presetSubtype="0" fill="hold" grpId="1" nodeType="withEffect">
                                  <p:stCondLst>
                                    <p:cond delay="0"/>
                                  </p:stCondLst>
                                  <p:childTnLst>
                                    <p:set>
                                      <p:cBhvr>
                                        <p:cTn id="101" dur="1" fill="hold">
                                          <p:stCondLst>
                                            <p:cond delay="0"/>
                                          </p:stCondLst>
                                        </p:cTn>
                                        <p:tgtEl>
                                          <p:spTgt spid="27"/>
                                        </p:tgtEl>
                                        <p:attrNameLst>
                                          <p:attrName>style.visibility</p:attrName>
                                        </p:attrNameLst>
                                      </p:cBhvr>
                                      <p:to>
                                        <p:strVal val="hidden"/>
                                      </p:to>
                                    </p:set>
                                  </p:childTnLst>
                                </p:cTn>
                              </p:par>
                              <p:par>
                                <p:cTn id="102" presetID="1" presetClass="exit" presetSubtype="0" fill="hold" nodeType="withEffect">
                                  <p:stCondLst>
                                    <p:cond delay="0"/>
                                  </p:stCondLst>
                                  <p:childTnLst>
                                    <p:set>
                                      <p:cBhvr>
                                        <p:cTn id="103" dur="1" fill="hold">
                                          <p:stCondLst>
                                            <p:cond delay="0"/>
                                          </p:stCondLst>
                                        </p:cTn>
                                        <p:tgtEl>
                                          <p:spTgt spid="26"/>
                                        </p:tgtEl>
                                        <p:attrNameLst>
                                          <p:attrName>style.visibility</p:attrName>
                                        </p:attrNameLst>
                                      </p:cBhvr>
                                      <p:to>
                                        <p:strVal val="hidden"/>
                                      </p:to>
                                    </p:set>
                                  </p:childTnLst>
                                </p:cTn>
                              </p:par>
                              <p:par>
                                <p:cTn id="104" presetID="1" presetClass="exit" presetSubtype="0" fill="hold" grpId="1" nodeType="withEffect">
                                  <p:stCondLst>
                                    <p:cond delay="0"/>
                                  </p:stCondLst>
                                  <p:childTnLst>
                                    <p:set>
                                      <p:cBhvr>
                                        <p:cTn id="105" dur="1" fill="hold">
                                          <p:stCondLst>
                                            <p:cond delay="0"/>
                                          </p:stCondLst>
                                        </p:cTn>
                                        <p:tgtEl>
                                          <p:spTgt spid="29"/>
                                        </p:tgtEl>
                                        <p:attrNameLst>
                                          <p:attrName>style.visibility</p:attrName>
                                        </p:attrNameLst>
                                      </p:cBhvr>
                                      <p:to>
                                        <p:strVal val="hidden"/>
                                      </p:to>
                                    </p:set>
                                  </p:childTnLst>
                                </p:cTn>
                              </p:par>
                              <p:par>
                                <p:cTn id="106" presetID="0" presetClass="path" presetSubtype="0" accel="50000" decel="50000" fill="hold" grpId="1" nodeType="withEffect">
                                  <p:stCondLst>
                                    <p:cond delay="0"/>
                                  </p:stCondLst>
                                  <p:childTnLst>
                                    <p:animMotion origin="layout" path="M 1.45833E-6 1.85185E-6 L 1.45833E-6 0.15185 L -0.05951 0.15185 L -0.05951 0.01574 " pathEditMode="relative" rAng="0" ptsTypes="AAAA">
                                      <p:cBhvr>
                                        <p:cTn id="107" dur="2000" fill="hold"/>
                                        <p:tgtEl>
                                          <p:spTgt spid="25"/>
                                        </p:tgtEl>
                                        <p:attrNameLst>
                                          <p:attrName>ppt_x</p:attrName>
                                          <p:attrName>ppt_y</p:attrName>
                                        </p:attrNameLst>
                                      </p:cBhvr>
                                      <p:rCtr x="-2982" y="7593"/>
                                    </p:animMotion>
                                  </p:childTnLst>
                                </p:cTn>
                              </p:par>
                            </p:childTnLst>
                          </p:cTn>
                        </p:par>
                        <p:par>
                          <p:cTn id="108" fill="hold">
                            <p:stCondLst>
                              <p:cond delay="2000"/>
                            </p:stCondLst>
                            <p:childTnLst>
                              <p:par>
                                <p:cTn id="109" presetID="1" presetClass="entr" presetSubtype="0" fill="hold" nodeType="afterEffect">
                                  <p:stCondLst>
                                    <p:cond delay="0"/>
                                  </p:stCondLst>
                                  <p:childTnLst>
                                    <p:set>
                                      <p:cBhvr>
                                        <p:cTn id="110" dur="1" fill="hold">
                                          <p:stCondLst>
                                            <p:cond delay="0"/>
                                          </p:stCondLst>
                                        </p:cTn>
                                        <p:tgtEl>
                                          <p:spTgt spid="30"/>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31"/>
                                        </p:tgtEl>
                                        <p:attrNameLst>
                                          <p:attrName>style.visibility</p:attrName>
                                        </p:attrNameLst>
                                      </p:cBhvr>
                                      <p:to>
                                        <p:strVal val="visible"/>
                                      </p:to>
                                    </p:set>
                                  </p:childTnLst>
                                </p:cTn>
                              </p:par>
                              <p:par>
                                <p:cTn id="113" presetID="1" presetClass="exit" presetSubtype="0" fill="hold" grpId="1" nodeType="withEffect">
                                  <p:stCondLst>
                                    <p:cond delay="0"/>
                                  </p:stCondLst>
                                  <p:childTnLst>
                                    <p:set>
                                      <p:cBhvr>
                                        <p:cTn id="114" dur="1" fill="hold">
                                          <p:stCondLst>
                                            <p:cond delay="0"/>
                                          </p:stCondLst>
                                        </p:cTn>
                                        <p:tgtEl>
                                          <p:spTgt spid="24"/>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3"/>
                                        </p:tgtEl>
                                        <p:attrNameLst>
                                          <p:attrName>style.visibility</p:attrName>
                                        </p:attrNameLst>
                                      </p:cBhvr>
                                      <p:to>
                                        <p:strVal val="hidden"/>
                                      </p:to>
                                    </p:set>
                                  </p:childTnLst>
                                </p:cTn>
                              </p:par>
                            </p:childTnLst>
                          </p:cTn>
                        </p:par>
                      </p:childTnLst>
                    </p:cTn>
                  </p:par>
                  <p:par>
                    <p:cTn id="117" fill="hold">
                      <p:stCondLst>
                        <p:cond delay="indefinite"/>
                      </p:stCondLst>
                      <p:childTnLst>
                        <p:par>
                          <p:cTn id="118" fill="hold">
                            <p:stCondLst>
                              <p:cond delay="0"/>
                            </p:stCondLst>
                            <p:childTnLst>
                              <p:par>
                                <p:cTn id="119" presetID="1" presetClass="exit" presetSubtype="0" fill="hold" nodeType="clickEffect">
                                  <p:stCondLst>
                                    <p:cond delay="0"/>
                                  </p:stCondLst>
                                  <p:childTnLst>
                                    <p:set>
                                      <p:cBhvr>
                                        <p:cTn id="120" dur="1" fill="hold">
                                          <p:stCondLst>
                                            <p:cond delay="0"/>
                                          </p:stCondLst>
                                        </p:cTn>
                                        <p:tgtEl>
                                          <p:spTgt spid="30"/>
                                        </p:tgtEl>
                                        <p:attrNameLst>
                                          <p:attrName>style.visibility</p:attrName>
                                        </p:attrNameLst>
                                      </p:cBhvr>
                                      <p:to>
                                        <p:strVal val="hidden"/>
                                      </p:to>
                                    </p:set>
                                  </p:childTnLst>
                                </p:cTn>
                              </p:par>
                              <p:par>
                                <p:cTn id="121" presetID="1" presetClass="exit" presetSubtype="0" fill="hold" grpId="1" nodeType="withEffect">
                                  <p:stCondLst>
                                    <p:cond delay="0"/>
                                  </p:stCondLst>
                                  <p:childTnLst>
                                    <p:set>
                                      <p:cBhvr>
                                        <p:cTn id="122" dur="1" fill="hold">
                                          <p:stCondLst>
                                            <p:cond delay="0"/>
                                          </p:stCondLst>
                                        </p:cTn>
                                        <p:tgtEl>
                                          <p:spTgt spid="31"/>
                                        </p:tgtEl>
                                        <p:attrNameLst>
                                          <p:attrName>style.visibility</p:attrName>
                                        </p:attrNameLst>
                                      </p:cBhvr>
                                      <p:to>
                                        <p:strVal val="hidden"/>
                                      </p:to>
                                    </p:set>
                                  </p:childTnLst>
                                </p:cTn>
                              </p:par>
                              <p:par>
                                <p:cTn id="123" presetID="1" presetClass="entr" presetSubtype="0" fill="hold" nodeType="withEffect">
                                  <p:stCondLst>
                                    <p:cond delay="0"/>
                                  </p:stCondLst>
                                  <p:childTnLst>
                                    <p:set>
                                      <p:cBhvr>
                                        <p:cTn id="124" dur="1" fill="hold">
                                          <p:stCondLst>
                                            <p:cond delay="0"/>
                                          </p:stCondLst>
                                        </p:cTn>
                                        <p:tgtEl>
                                          <p:spTgt spid="32"/>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33"/>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xit" presetSubtype="0" fill="hold" nodeType="clickEffect">
                                  <p:stCondLst>
                                    <p:cond delay="0"/>
                                  </p:stCondLst>
                                  <p:childTnLst>
                                    <p:set>
                                      <p:cBhvr>
                                        <p:cTn id="130" dur="1" fill="hold">
                                          <p:stCondLst>
                                            <p:cond delay="0"/>
                                          </p:stCondLst>
                                        </p:cTn>
                                        <p:tgtEl>
                                          <p:spTgt spid="32"/>
                                        </p:tgtEl>
                                        <p:attrNameLst>
                                          <p:attrName>style.visibility</p:attrName>
                                        </p:attrNameLst>
                                      </p:cBhvr>
                                      <p:to>
                                        <p:strVal val="hidden"/>
                                      </p:to>
                                    </p:set>
                                  </p:childTnLst>
                                </p:cTn>
                              </p:par>
                              <p:par>
                                <p:cTn id="131" presetID="1" presetClass="exit" presetSubtype="0" fill="hold" grpId="1" nodeType="withEffect">
                                  <p:stCondLst>
                                    <p:cond delay="0"/>
                                  </p:stCondLst>
                                  <p:childTnLst>
                                    <p:set>
                                      <p:cBhvr>
                                        <p:cTn id="132" dur="1" fill="hold">
                                          <p:stCondLst>
                                            <p:cond delay="0"/>
                                          </p:stCondLst>
                                        </p:cTn>
                                        <p:tgtEl>
                                          <p:spTgt spid="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4" grpId="0" animBg="1"/>
      <p:bldP spid="15" grpId="0" animBg="1"/>
      <p:bldP spid="16" grpId="0" animBg="1"/>
      <p:bldP spid="18" grpId="0" animBg="1"/>
      <p:bldP spid="18" grpId="1" animBg="1"/>
      <p:bldP spid="20" grpId="0" animBg="1"/>
      <p:bldP spid="20" grpId="1" animBg="1"/>
      <p:bldP spid="22" grpId="0" animBg="1"/>
      <p:bldP spid="22" grpId="1" animBg="1"/>
      <p:bldP spid="24" grpId="0" animBg="1"/>
      <p:bldP spid="24" grpId="1" animBg="1"/>
      <p:bldP spid="24" grpId="2" animBg="1"/>
      <p:bldP spid="25" grpId="0" animBg="1"/>
      <p:bldP spid="25" grpId="1" animBg="1"/>
      <p:bldP spid="27" grpId="0" animBg="1"/>
      <p:bldP spid="27" grpId="1" animBg="1"/>
      <p:bldP spid="29" grpId="0" animBg="1"/>
      <p:bldP spid="29" grpId="1" animBg="1"/>
      <p:bldP spid="31" grpId="0" animBg="1"/>
      <p:bldP spid="31" grpId="1" animBg="1"/>
      <p:bldP spid="33" grpId="0" animBg="1"/>
      <p:bldP spid="33" grpId="1"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Centralized Mutual Exclusion Algorithm</a:t>
            </a:r>
          </a:p>
        </p:txBody>
      </p:sp>
      <p:sp>
        <p:nvSpPr>
          <p:cNvPr id="28" name="Content Placeholder 2">
            <a:extLst>
              <a:ext uri="{FF2B5EF4-FFF2-40B4-BE49-F238E27FC236}">
                <a16:creationId xmlns:a16="http://schemas.microsoft.com/office/drawing/2014/main" id="{05FF24D1-5277-417B-BCE3-776DD62CA93A}"/>
              </a:ext>
            </a:extLst>
          </p:cNvPr>
          <p:cNvSpPr>
            <a:spLocks noGrp="1"/>
          </p:cNvSpPr>
          <p:nvPr>
            <p:ph idx="1"/>
          </p:nvPr>
        </p:nvSpPr>
        <p:spPr/>
        <p:txBody>
          <a:bodyPr>
            <a:normAutofit/>
          </a:bodyPr>
          <a:lstStyle/>
          <a:p>
            <a:pPr>
              <a:lnSpc>
                <a:spcPct val="100000"/>
              </a:lnSpc>
              <a:spcBef>
                <a:spcPts val="300"/>
              </a:spcBef>
              <a:spcAft>
                <a:spcPts val="300"/>
              </a:spcAft>
            </a:pPr>
            <a:r>
              <a:rPr lang="en-US" altLang="en-US" dirty="0">
                <a:latin typeface="+mj-lt"/>
                <a:ea typeface="MS PGothic" panose="020B0600070205080204" pitchFamily="34" charset="-128"/>
              </a:rPr>
              <a:t>Coordinator coordinates entry to critical section.</a:t>
            </a:r>
          </a:p>
          <a:p>
            <a:pPr>
              <a:lnSpc>
                <a:spcPct val="100000"/>
              </a:lnSpc>
              <a:spcBef>
                <a:spcPts val="300"/>
              </a:spcBef>
              <a:spcAft>
                <a:spcPts val="300"/>
              </a:spcAft>
            </a:pPr>
            <a:r>
              <a:rPr lang="en-US" altLang="en-US" dirty="0">
                <a:latin typeface="+mj-lt"/>
                <a:ea typeface="MS PGothic" panose="020B0600070205080204" pitchFamily="34" charset="-128"/>
              </a:rPr>
              <a:t>Allows only one process to enter critical section.</a:t>
            </a:r>
          </a:p>
          <a:p>
            <a:pPr>
              <a:lnSpc>
                <a:spcPct val="100000"/>
              </a:lnSpc>
              <a:spcBef>
                <a:spcPts val="300"/>
              </a:spcBef>
              <a:spcAft>
                <a:spcPts val="300"/>
              </a:spcAft>
            </a:pPr>
            <a:r>
              <a:rPr lang="en-US" altLang="en-US" dirty="0">
                <a:latin typeface="+mj-lt"/>
                <a:ea typeface="MS PGothic" panose="020B0600070205080204" pitchFamily="34" charset="-128"/>
              </a:rPr>
              <a:t>Ensures no starvation as uses first come, first served policy.</a:t>
            </a:r>
          </a:p>
          <a:p>
            <a:pPr>
              <a:lnSpc>
                <a:spcPct val="100000"/>
              </a:lnSpc>
              <a:spcBef>
                <a:spcPts val="300"/>
              </a:spcBef>
              <a:spcAft>
                <a:spcPts val="300"/>
              </a:spcAft>
            </a:pPr>
            <a:r>
              <a:rPr lang="en-US" altLang="en-US" dirty="0">
                <a:latin typeface="+mj-lt"/>
                <a:ea typeface="MS PGothic" panose="020B0600070205080204" pitchFamily="34" charset="-128"/>
              </a:rPr>
              <a:t>Simple implementation</a:t>
            </a:r>
          </a:p>
          <a:p>
            <a:pPr>
              <a:lnSpc>
                <a:spcPct val="100000"/>
              </a:lnSpc>
              <a:spcBef>
                <a:spcPts val="300"/>
              </a:spcBef>
              <a:spcAft>
                <a:spcPts val="300"/>
              </a:spcAft>
            </a:pPr>
            <a:r>
              <a:rPr lang="en-US" altLang="en-US" dirty="0">
                <a:latin typeface="+mj-lt"/>
                <a:ea typeface="MS PGothic" panose="020B0600070205080204" pitchFamily="34" charset="-128"/>
              </a:rPr>
              <a:t>Three messages per critical section</a:t>
            </a:r>
          </a:p>
          <a:p>
            <a:pPr marL="914400" lvl="1" indent="-457200">
              <a:lnSpc>
                <a:spcPct val="100000"/>
              </a:lnSpc>
              <a:spcBef>
                <a:spcPts val="200"/>
              </a:spcBef>
              <a:spcAft>
                <a:spcPts val="200"/>
              </a:spcAft>
              <a:buFont typeface="+mj-lt"/>
              <a:buAutoNum type="arabicPeriod"/>
            </a:pPr>
            <a:r>
              <a:rPr lang="en-US" altLang="en-US" sz="2400" dirty="0">
                <a:solidFill>
                  <a:srgbClr val="1D6199"/>
                </a:solidFill>
                <a:latin typeface="+mj-lt"/>
                <a:ea typeface="Arial" panose="020B0604020202020204" pitchFamily="34" charset="0"/>
              </a:rPr>
              <a:t>Request</a:t>
            </a:r>
          </a:p>
          <a:p>
            <a:pPr marL="914400" lvl="1" indent="-457200">
              <a:lnSpc>
                <a:spcPct val="100000"/>
              </a:lnSpc>
              <a:spcBef>
                <a:spcPts val="200"/>
              </a:spcBef>
              <a:spcAft>
                <a:spcPts val="200"/>
              </a:spcAft>
              <a:buFont typeface="+mj-lt"/>
              <a:buAutoNum type="arabicPeriod"/>
            </a:pPr>
            <a:r>
              <a:rPr lang="en-US" altLang="en-US" sz="2400" dirty="0">
                <a:solidFill>
                  <a:srgbClr val="1D6199"/>
                </a:solidFill>
                <a:latin typeface="+mj-lt"/>
                <a:ea typeface="Arial" panose="020B0604020202020204" pitchFamily="34" charset="0"/>
              </a:rPr>
              <a:t>Reply</a:t>
            </a:r>
          </a:p>
          <a:p>
            <a:pPr marL="914400" lvl="1" indent="-457200">
              <a:lnSpc>
                <a:spcPct val="100000"/>
              </a:lnSpc>
              <a:spcBef>
                <a:spcPts val="200"/>
              </a:spcBef>
              <a:spcAft>
                <a:spcPts val="200"/>
              </a:spcAft>
              <a:buFont typeface="+mj-lt"/>
              <a:buAutoNum type="arabicPeriod"/>
            </a:pPr>
            <a:r>
              <a:rPr lang="en-US" altLang="en-US" sz="2400" dirty="0">
                <a:solidFill>
                  <a:srgbClr val="1D6199"/>
                </a:solidFill>
                <a:latin typeface="+mj-lt"/>
                <a:ea typeface="Arial" panose="020B0604020202020204" pitchFamily="34" charset="0"/>
              </a:rPr>
              <a:t>Release</a:t>
            </a:r>
          </a:p>
          <a:p>
            <a:pPr>
              <a:lnSpc>
                <a:spcPct val="100000"/>
              </a:lnSpc>
              <a:spcBef>
                <a:spcPts val="300"/>
              </a:spcBef>
              <a:spcAft>
                <a:spcPts val="300"/>
              </a:spcAft>
            </a:pPr>
            <a:r>
              <a:rPr lang="en-US" altLang="en-US" dirty="0">
                <a:latin typeface="+mj-lt"/>
                <a:ea typeface="MS PGothic" panose="020B0600070205080204" pitchFamily="34" charset="-128"/>
              </a:rPr>
              <a:t>Single point of failure &amp; performance bottleneck.</a:t>
            </a:r>
          </a:p>
        </p:txBody>
      </p:sp>
    </p:spTree>
    <p:extLst>
      <p:ext uri="{BB962C8B-B14F-4D97-AF65-F5344CB8AC3E}">
        <p14:creationId xmlns:p14="http://schemas.microsoft.com/office/powerpoint/2010/main" val="540375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Centralized Mutual Exclusion Algorithm</a:t>
            </a:r>
          </a:p>
        </p:txBody>
      </p:sp>
      <p:sp>
        <p:nvSpPr>
          <p:cNvPr id="55" name="Oval 54">
            <a:extLst>
              <a:ext uri="{FF2B5EF4-FFF2-40B4-BE49-F238E27FC236}">
                <a16:creationId xmlns:a16="http://schemas.microsoft.com/office/drawing/2014/main" id="{95AB5205-1F6A-47FA-89E8-D1A977442F7D}"/>
              </a:ext>
            </a:extLst>
          </p:cNvPr>
          <p:cNvSpPr/>
          <p:nvPr/>
        </p:nvSpPr>
        <p:spPr>
          <a:xfrm>
            <a:off x="4952698" y="948718"/>
            <a:ext cx="755703" cy="755703"/>
          </a:xfrm>
          <a:prstGeom prst="ellipse">
            <a:avLst/>
          </a:prstGeom>
          <a:solidFill>
            <a:srgbClr val="B71B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latin typeface="+mj-lt"/>
            </a:endParaRPr>
          </a:p>
        </p:txBody>
      </p:sp>
      <p:sp>
        <p:nvSpPr>
          <p:cNvPr id="56" name="Oval 55">
            <a:extLst>
              <a:ext uri="{FF2B5EF4-FFF2-40B4-BE49-F238E27FC236}">
                <a16:creationId xmlns:a16="http://schemas.microsoft.com/office/drawing/2014/main" id="{CFEE3C3F-091B-4314-B0CD-92B2E5CBCD1E}"/>
              </a:ext>
            </a:extLst>
          </p:cNvPr>
          <p:cNvSpPr/>
          <p:nvPr/>
        </p:nvSpPr>
        <p:spPr>
          <a:xfrm>
            <a:off x="4838336" y="2773678"/>
            <a:ext cx="1005840" cy="1005840"/>
          </a:xfrm>
          <a:prstGeom prst="ellipse">
            <a:avLst/>
          </a:prstGeom>
          <a:solidFill>
            <a:srgbClr val="B71B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00" baseline="-25000" dirty="0">
              <a:solidFill>
                <a:schemeClr val="bg1"/>
              </a:solidFill>
              <a:latin typeface="+mj-lt"/>
            </a:endParaRPr>
          </a:p>
        </p:txBody>
      </p:sp>
      <p:sp>
        <p:nvSpPr>
          <p:cNvPr id="57" name="Oval 56">
            <a:extLst>
              <a:ext uri="{FF2B5EF4-FFF2-40B4-BE49-F238E27FC236}">
                <a16:creationId xmlns:a16="http://schemas.microsoft.com/office/drawing/2014/main" id="{60BB1176-A0B6-462E-B904-5732FBDBA8A1}"/>
              </a:ext>
            </a:extLst>
          </p:cNvPr>
          <p:cNvSpPr/>
          <p:nvPr/>
        </p:nvSpPr>
        <p:spPr>
          <a:xfrm>
            <a:off x="2885090" y="2898747"/>
            <a:ext cx="755703" cy="755703"/>
          </a:xfrm>
          <a:prstGeom prst="ellipse">
            <a:avLst/>
          </a:prstGeom>
          <a:solidFill>
            <a:srgbClr val="B71B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latin typeface="+mj-lt"/>
            </a:endParaRPr>
          </a:p>
        </p:txBody>
      </p:sp>
      <p:sp>
        <p:nvSpPr>
          <p:cNvPr id="58" name="Oval 57">
            <a:extLst>
              <a:ext uri="{FF2B5EF4-FFF2-40B4-BE49-F238E27FC236}">
                <a16:creationId xmlns:a16="http://schemas.microsoft.com/office/drawing/2014/main" id="{D2A5A276-1786-43BE-A8EA-7CD8CDDF4534}"/>
              </a:ext>
            </a:extLst>
          </p:cNvPr>
          <p:cNvSpPr/>
          <p:nvPr/>
        </p:nvSpPr>
        <p:spPr>
          <a:xfrm>
            <a:off x="7060571" y="2945885"/>
            <a:ext cx="755703" cy="755703"/>
          </a:xfrm>
          <a:prstGeom prst="ellipse">
            <a:avLst/>
          </a:prstGeom>
          <a:solidFill>
            <a:srgbClr val="B71B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latin typeface="+mj-lt"/>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F079F824-1974-43B4-93F6-8C5DDAE36CED}"/>
                  </a:ext>
                </a:extLst>
              </p:cNvPr>
              <p:cNvSpPr txBox="1"/>
              <p:nvPr/>
            </p:nvSpPr>
            <p:spPr>
              <a:xfrm>
                <a:off x="5148511" y="3059668"/>
                <a:ext cx="43595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smtClean="0">
                              <a:solidFill>
                                <a:schemeClr val="bg1"/>
                              </a:solidFill>
                              <a:latin typeface="Cambria Math" panose="02040503050406030204" pitchFamily="18" charset="0"/>
                            </a:rPr>
                            <m:t>𝑷</m:t>
                          </m:r>
                        </m:e>
                        <m:sub>
                          <m:r>
                            <a:rPr lang="en-IN" sz="2400" b="1" i="1" smtClean="0">
                              <a:solidFill>
                                <a:schemeClr val="bg1"/>
                              </a:solidFill>
                              <a:latin typeface="Cambria Math" panose="02040503050406030204" pitchFamily="18" charset="0"/>
                            </a:rPr>
                            <m:t>𝑪</m:t>
                          </m:r>
                        </m:sub>
                      </m:sSub>
                    </m:oMath>
                  </m:oMathPara>
                </a14:m>
                <a:endParaRPr lang="en-IN" sz="2400" b="1" dirty="0">
                  <a:solidFill>
                    <a:schemeClr val="bg1"/>
                  </a:solidFill>
                  <a:latin typeface="+mj-lt"/>
                </a:endParaRPr>
              </a:p>
            </p:txBody>
          </p:sp>
        </mc:Choice>
        <mc:Fallback xmlns="">
          <p:sp>
            <p:nvSpPr>
              <p:cNvPr id="59" name="TextBox 58">
                <a:extLst>
                  <a:ext uri="{FF2B5EF4-FFF2-40B4-BE49-F238E27FC236}">
                    <a16:creationId xmlns:a16="http://schemas.microsoft.com/office/drawing/2014/main" xmlns:a14="http://schemas.microsoft.com/office/drawing/2010/main" xmlns="" id="{F079F824-1974-43B4-93F6-8C5DDAE36CED}"/>
                  </a:ext>
                </a:extLst>
              </p:cNvPr>
              <p:cNvSpPr txBox="1">
                <a:spLocks noRot="1" noChangeAspect="1" noMove="1" noResize="1" noEditPoints="1" noAdjustHandles="1" noChangeArrowheads="1" noChangeShapeType="1" noTextEdit="1"/>
              </p:cNvSpPr>
              <p:nvPr/>
            </p:nvSpPr>
            <p:spPr>
              <a:xfrm>
                <a:off x="5148511" y="3059668"/>
                <a:ext cx="435952" cy="369332"/>
              </a:xfrm>
              <a:prstGeom prst="rect">
                <a:avLst/>
              </a:prstGeom>
              <a:blipFill rotWithShape="0">
                <a:blip r:embed="rId2"/>
                <a:stretch>
                  <a:fillRect l="-16901" r="-7042" b="-1639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A988B5B5-20F4-4C5B-8B67-3F72EB2F8E72}"/>
                  </a:ext>
                </a:extLst>
              </p:cNvPr>
              <p:cNvSpPr txBox="1"/>
              <p:nvPr/>
            </p:nvSpPr>
            <p:spPr>
              <a:xfrm>
                <a:off x="7253820" y="3091932"/>
                <a:ext cx="42954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smtClean="0">
                              <a:solidFill>
                                <a:schemeClr val="bg1"/>
                              </a:solidFill>
                              <a:latin typeface="Cambria Math" panose="02040503050406030204" pitchFamily="18" charset="0"/>
                            </a:rPr>
                            <m:t>𝑷</m:t>
                          </m:r>
                        </m:e>
                        <m:sub>
                          <m:r>
                            <a:rPr lang="en-IN" sz="2400" b="1" i="1" smtClean="0">
                              <a:solidFill>
                                <a:schemeClr val="bg1"/>
                              </a:solidFill>
                              <a:latin typeface="Cambria Math" panose="02040503050406030204" pitchFamily="18" charset="0"/>
                            </a:rPr>
                            <m:t>𝟑</m:t>
                          </m:r>
                        </m:sub>
                      </m:sSub>
                    </m:oMath>
                  </m:oMathPara>
                </a14:m>
                <a:endParaRPr lang="en-IN" sz="2400" b="1" dirty="0">
                  <a:solidFill>
                    <a:schemeClr val="bg1"/>
                  </a:solidFill>
                  <a:latin typeface="+mj-lt"/>
                </a:endParaRPr>
              </a:p>
            </p:txBody>
          </p:sp>
        </mc:Choice>
        <mc:Fallback xmlns="">
          <p:sp>
            <p:nvSpPr>
              <p:cNvPr id="60" name="TextBox 59">
                <a:extLst>
                  <a:ext uri="{FF2B5EF4-FFF2-40B4-BE49-F238E27FC236}">
                    <a16:creationId xmlns:a16="http://schemas.microsoft.com/office/drawing/2014/main" xmlns:a14="http://schemas.microsoft.com/office/drawing/2010/main" xmlns="" id="{A988B5B5-20F4-4C5B-8B67-3F72EB2F8E72}"/>
                  </a:ext>
                </a:extLst>
              </p:cNvPr>
              <p:cNvSpPr txBox="1">
                <a:spLocks noRot="1" noChangeAspect="1" noMove="1" noResize="1" noEditPoints="1" noAdjustHandles="1" noChangeArrowheads="1" noChangeShapeType="1" noTextEdit="1"/>
              </p:cNvSpPr>
              <p:nvPr/>
            </p:nvSpPr>
            <p:spPr>
              <a:xfrm>
                <a:off x="7253820" y="3091932"/>
                <a:ext cx="429541" cy="369332"/>
              </a:xfrm>
              <a:prstGeom prst="rect">
                <a:avLst/>
              </a:prstGeom>
              <a:blipFill rotWithShape="0">
                <a:blip r:embed="rId3"/>
                <a:stretch>
                  <a:fillRect l="-17143" r="-7143" b="-1639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A293D55B-F755-4A7E-AA22-B1E1C3B93A6B}"/>
                  </a:ext>
                </a:extLst>
              </p:cNvPr>
              <p:cNvSpPr txBox="1"/>
              <p:nvPr/>
            </p:nvSpPr>
            <p:spPr>
              <a:xfrm>
                <a:off x="3081897" y="3059668"/>
                <a:ext cx="429541" cy="369332"/>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smtClean="0">
                              <a:solidFill>
                                <a:schemeClr val="bg1"/>
                              </a:solidFill>
                              <a:latin typeface="Cambria Math" panose="02040503050406030204" pitchFamily="18" charset="0"/>
                            </a:rPr>
                            <m:t>𝑷</m:t>
                          </m:r>
                        </m:e>
                        <m:sub>
                          <m:r>
                            <a:rPr lang="en-IN" sz="2400" b="1" i="1" smtClean="0">
                              <a:solidFill>
                                <a:schemeClr val="bg1"/>
                              </a:solidFill>
                              <a:latin typeface="Cambria Math" panose="02040503050406030204" pitchFamily="18" charset="0"/>
                            </a:rPr>
                            <m:t>𝟏</m:t>
                          </m:r>
                        </m:sub>
                      </m:sSub>
                    </m:oMath>
                  </m:oMathPara>
                </a14:m>
                <a:endParaRPr lang="en-IN" sz="2400" b="1" dirty="0">
                  <a:solidFill>
                    <a:schemeClr val="bg1"/>
                  </a:solidFill>
                  <a:latin typeface="+mj-lt"/>
                </a:endParaRPr>
              </a:p>
            </p:txBody>
          </p:sp>
        </mc:Choice>
        <mc:Fallback xmlns="">
          <p:sp>
            <p:nvSpPr>
              <p:cNvPr id="61" name="TextBox 60">
                <a:extLst>
                  <a:ext uri="{FF2B5EF4-FFF2-40B4-BE49-F238E27FC236}">
                    <a16:creationId xmlns:a16="http://schemas.microsoft.com/office/drawing/2014/main" xmlns:a14="http://schemas.microsoft.com/office/drawing/2010/main" xmlns="" id="{A293D55B-F755-4A7E-AA22-B1E1C3B93A6B}"/>
                  </a:ext>
                </a:extLst>
              </p:cNvPr>
              <p:cNvSpPr txBox="1">
                <a:spLocks noRot="1" noChangeAspect="1" noMove="1" noResize="1" noEditPoints="1" noAdjustHandles="1" noChangeArrowheads="1" noChangeShapeType="1" noTextEdit="1"/>
              </p:cNvSpPr>
              <p:nvPr/>
            </p:nvSpPr>
            <p:spPr>
              <a:xfrm>
                <a:off x="3081897" y="3059668"/>
                <a:ext cx="429541" cy="369332"/>
              </a:xfrm>
              <a:prstGeom prst="rect">
                <a:avLst/>
              </a:prstGeom>
              <a:blipFill rotWithShape="0">
                <a:blip r:embed="rId4"/>
                <a:stretch>
                  <a:fillRect l="-17143" r="-7143" b="-16393"/>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0240B003-AC87-4F47-B025-3F7B624C6EF8}"/>
                  </a:ext>
                </a:extLst>
              </p:cNvPr>
              <p:cNvSpPr txBox="1"/>
              <p:nvPr/>
            </p:nvSpPr>
            <p:spPr>
              <a:xfrm>
                <a:off x="5145947" y="1132252"/>
                <a:ext cx="42954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smtClean="0">
                              <a:solidFill>
                                <a:schemeClr val="bg1"/>
                              </a:solidFill>
                              <a:latin typeface="Cambria Math" panose="02040503050406030204" pitchFamily="18" charset="0"/>
                            </a:rPr>
                            <m:t>𝑷</m:t>
                          </m:r>
                        </m:e>
                        <m:sub>
                          <m:r>
                            <a:rPr lang="en-IN" sz="2400" b="1" i="1" smtClean="0">
                              <a:solidFill>
                                <a:schemeClr val="bg1"/>
                              </a:solidFill>
                              <a:latin typeface="Cambria Math" panose="02040503050406030204" pitchFamily="18" charset="0"/>
                            </a:rPr>
                            <m:t>𝟐</m:t>
                          </m:r>
                        </m:sub>
                      </m:sSub>
                    </m:oMath>
                  </m:oMathPara>
                </a14:m>
                <a:endParaRPr lang="en-IN" sz="2400" b="1" dirty="0">
                  <a:solidFill>
                    <a:schemeClr val="bg1"/>
                  </a:solidFill>
                  <a:latin typeface="+mj-lt"/>
                </a:endParaRPr>
              </a:p>
            </p:txBody>
          </p:sp>
        </mc:Choice>
        <mc:Fallback xmlns="">
          <p:sp>
            <p:nvSpPr>
              <p:cNvPr id="62" name="TextBox 61">
                <a:extLst>
                  <a:ext uri="{FF2B5EF4-FFF2-40B4-BE49-F238E27FC236}">
                    <a16:creationId xmlns:a16="http://schemas.microsoft.com/office/drawing/2014/main" xmlns:a14="http://schemas.microsoft.com/office/drawing/2010/main" xmlns="" id="{0240B003-AC87-4F47-B025-3F7B624C6EF8}"/>
                  </a:ext>
                </a:extLst>
              </p:cNvPr>
              <p:cNvSpPr txBox="1">
                <a:spLocks noRot="1" noChangeAspect="1" noMove="1" noResize="1" noEditPoints="1" noAdjustHandles="1" noChangeArrowheads="1" noChangeShapeType="1" noTextEdit="1"/>
              </p:cNvSpPr>
              <p:nvPr/>
            </p:nvSpPr>
            <p:spPr>
              <a:xfrm>
                <a:off x="5145947" y="1132252"/>
                <a:ext cx="429541" cy="369332"/>
              </a:xfrm>
              <a:prstGeom prst="rect">
                <a:avLst/>
              </a:prstGeom>
              <a:blipFill rotWithShape="0">
                <a:blip r:embed="rId5"/>
                <a:stretch>
                  <a:fillRect l="-15493" r="-5634" b="-18333"/>
                </a:stretch>
              </a:blipFill>
            </p:spPr>
            <p:txBody>
              <a:bodyPr/>
              <a:lstStyle/>
              <a:p>
                <a:r>
                  <a:rPr lang="en-IN">
                    <a:noFill/>
                  </a:rPr>
                  <a:t> </a:t>
                </a:r>
              </a:p>
            </p:txBody>
          </p:sp>
        </mc:Fallback>
      </mc:AlternateContent>
      <p:cxnSp>
        <p:nvCxnSpPr>
          <p:cNvPr id="63" name="Straight Arrow Connector 62">
            <a:extLst>
              <a:ext uri="{FF2B5EF4-FFF2-40B4-BE49-F238E27FC236}">
                <a16:creationId xmlns:a16="http://schemas.microsoft.com/office/drawing/2014/main" id="{F87CCAB1-8706-4835-A8D4-0C6EB0D53B30}"/>
              </a:ext>
            </a:extLst>
          </p:cNvPr>
          <p:cNvCxnSpPr>
            <a:cxnSpLocks/>
          </p:cNvCxnSpPr>
          <p:nvPr/>
        </p:nvCxnSpPr>
        <p:spPr>
          <a:xfrm>
            <a:off x="3612889" y="3427513"/>
            <a:ext cx="1253350" cy="0"/>
          </a:xfrm>
          <a:prstGeom prst="straightConnector1">
            <a:avLst/>
          </a:prstGeom>
          <a:ln w="1905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3DE9EDB3-B937-4BB2-8284-3549755EC665}"/>
              </a:ext>
            </a:extLst>
          </p:cNvPr>
          <p:cNvCxnSpPr>
            <a:cxnSpLocks/>
          </p:cNvCxnSpPr>
          <p:nvPr/>
        </p:nvCxnSpPr>
        <p:spPr>
          <a:xfrm>
            <a:off x="3640793" y="3276600"/>
            <a:ext cx="1197543" cy="0"/>
          </a:xfrm>
          <a:prstGeom prst="straightConnector1">
            <a:avLst/>
          </a:prstGeom>
          <a:ln w="190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658ED15F-59CA-4ECD-B649-24DA6F924AAA}"/>
              </a:ext>
            </a:extLst>
          </p:cNvPr>
          <p:cNvCxnSpPr>
            <a:cxnSpLocks/>
          </p:cNvCxnSpPr>
          <p:nvPr/>
        </p:nvCxnSpPr>
        <p:spPr>
          <a:xfrm>
            <a:off x="3584986" y="3058856"/>
            <a:ext cx="1309156" cy="0"/>
          </a:xfrm>
          <a:prstGeom prst="straightConnector1">
            <a:avLst/>
          </a:prstGeom>
          <a:ln w="1905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DE3B924A-5AE3-46AE-A868-803B169AB8CF}"/>
              </a:ext>
            </a:extLst>
          </p:cNvPr>
          <p:cNvCxnSpPr/>
          <p:nvPr/>
        </p:nvCxnSpPr>
        <p:spPr>
          <a:xfrm>
            <a:off x="5788369" y="3497357"/>
            <a:ext cx="1309156" cy="0"/>
          </a:xfrm>
          <a:prstGeom prst="straightConnector1">
            <a:avLst/>
          </a:prstGeom>
          <a:ln w="190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8CC4C7DE-A0DB-46C2-8AB6-FDA45F7BC3AE}"/>
              </a:ext>
            </a:extLst>
          </p:cNvPr>
          <p:cNvCxnSpPr>
            <a:cxnSpLocks/>
          </p:cNvCxnSpPr>
          <p:nvPr/>
        </p:nvCxnSpPr>
        <p:spPr>
          <a:xfrm>
            <a:off x="5857408" y="3352800"/>
            <a:ext cx="1197543" cy="0"/>
          </a:xfrm>
          <a:prstGeom prst="straightConnector1">
            <a:avLst/>
          </a:prstGeom>
          <a:ln w="19050">
            <a:solidFill>
              <a:schemeClr val="tx1"/>
            </a:solidFill>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5179BCCD-8D2F-4D41-AEDF-60299D6078D2}"/>
              </a:ext>
            </a:extLst>
          </p:cNvPr>
          <p:cNvCxnSpPr/>
          <p:nvPr/>
        </p:nvCxnSpPr>
        <p:spPr>
          <a:xfrm>
            <a:off x="5801602" y="3119640"/>
            <a:ext cx="1309156" cy="0"/>
          </a:xfrm>
          <a:prstGeom prst="straightConnector1">
            <a:avLst/>
          </a:prstGeom>
          <a:ln w="190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sp>
        <p:nvSpPr>
          <p:cNvPr id="69" name="Text Box 46">
            <a:extLst>
              <a:ext uri="{FF2B5EF4-FFF2-40B4-BE49-F238E27FC236}">
                <a16:creationId xmlns:a16="http://schemas.microsoft.com/office/drawing/2014/main" id="{714148B8-339C-4150-A01E-C4C39D214735}"/>
              </a:ext>
            </a:extLst>
          </p:cNvPr>
          <p:cNvSpPr txBox="1">
            <a:spLocks noChangeArrowheads="1"/>
          </p:cNvSpPr>
          <p:nvPr/>
        </p:nvSpPr>
        <p:spPr bwMode="auto">
          <a:xfrm>
            <a:off x="3809698" y="3376576"/>
            <a:ext cx="1143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400" dirty="0">
                <a:latin typeface="+mj-lt"/>
              </a:rPr>
              <a:t>1 Request</a:t>
            </a:r>
          </a:p>
        </p:txBody>
      </p:sp>
      <p:sp>
        <p:nvSpPr>
          <p:cNvPr id="70" name="Text Box 24">
            <a:extLst>
              <a:ext uri="{FF2B5EF4-FFF2-40B4-BE49-F238E27FC236}">
                <a16:creationId xmlns:a16="http://schemas.microsoft.com/office/drawing/2014/main" id="{DFE288AB-55FC-4B62-9208-ECE286467E92}"/>
              </a:ext>
            </a:extLst>
          </p:cNvPr>
          <p:cNvSpPr txBox="1">
            <a:spLocks noChangeArrowheads="1"/>
          </p:cNvSpPr>
          <p:nvPr/>
        </p:nvSpPr>
        <p:spPr bwMode="auto">
          <a:xfrm>
            <a:off x="6081723" y="3071681"/>
            <a:ext cx="12034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400" dirty="0">
                <a:latin typeface="+mj-lt"/>
              </a:rPr>
              <a:t>8 Reply</a:t>
            </a:r>
          </a:p>
        </p:txBody>
      </p:sp>
      <p:sp>
        <p:nvSpPr>
          <p:cNvPr id="71" name="Text Box 25">
            <a:extLst>
              <a:ext uri="{FF2B5EF4-FFF2-40B4-BE49-F238E27FC236}">
                <a16:creationId xmlns:a16="http://schemas.microsoft.com/office/drawing/2014/main" id="{83AA7266-C72D-44B6-83D9-3A07D2538400}"/>
              </a:ext>
            </a:extLst>
          </p:cNvPr>
          <p:cNvSpPr txBox="1">
            <a:spLocks noChangeArrowheads="1"/>
          </p:cNvSpPr>
          <p:nvPr/>
        </p:nvSpPr>
        <p:spPr bwMode="auto">
          <a:xfrm>
            <a:off x="5982537" y="2818213"/>
            <a:ext cx="1143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400" dirty="0">
                <a:latin typeface="+mj-lt"/>
              </a:rPr>
              <a:t>9 Release</a:t>
            </a:r>
          </a:p>
        </p:txBody>
      </p:sp>
      <p:sp>
        <p:nvSpPr>
          <p:cNvPr id="72" name="Text Box 44">
            <a:extLst>
              <a:ext uri="{FF2B5EF4-FFF2-40B4-BE49-F238E27FC236}">
                <a16:creationId xmlns:a16="http://schemas.microsoft.com/office/drawing/2014/main" id="{2F1FBB50-01E7-4A00-B5F3-F02CC22B3548}"/>
              </a:ext>
            </a:extLst>
          </p:cNvPr>
          <p:cNvSpPr txBox="1">
            <a:spLocks noChangeArrowheads="1"/>
          </p:cNvSpPr>
          <p:nvPr/>
        </p:nvSpPr>
        <p:spPr bwMode="auto">
          <a:xfrm>
            <a:off x="3816043" y="2802944"/>
            <a:ext cx="90900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400" dirty="0">
                <a:latin typeface="+mj-lt"/>
              </a:rPr>
              <a:t>5 Release</a:t>
            </a:r>
          </a:p>
        </p:txBody>
      </p:sp>
      <p:sp>
        <p:nvSpPr>
          <p:cNvPr id="73" name="Text Box 45">
            <a:extLst>
              <a:ext uri="{FF2B5EF4-FFF2-40B4-BE49-F238E27FC236}">
                <a16:creationId xmlns:a16="http://schemas.microsoft.com/office/drawing/2014/main" id="{0B9DD912-F986-49A2-B371-4259189C6391}"/>
              </a:ext>
            </a:extLst>
          </p:cNvPr>
          <p:cNvSpPr txBox="1">
            <a:spLocks noChangeArrowheads="1"/>
          </p:cNvSpPr>
          <p:nvPr/>
        </p:nvSpPr>
        <p:spPr bwMode="auto">
          <a:xfrm>
            <a:off x="3874402" y="3004914"/>
            <a:ext cx="8655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400" dirty="0">
                <a:latin typeface="+mj-lt"/>
              </a:rPr>
              <a:t>2 Reply</a:t>
            </a:r>
          </a:p>
        </p:txBody>
      </p:sp>
      <p:sp>
        <p:nvSpPr>
          <p:cNvPr id="74" name="Text Box 47">
            <a:extLst>
              <a:ext uri="{FF2B5EF4-FFF2-40B4-BE49-F238E27FC236}">
                <a16:creationId xmlns:a16="http://schemas.microsoft.com/office/drawing/2014/main" id="{2513A10D-0DE5-4C2A-A905-AF0C3B0E3234}"/>
              </a:ext>
            </a:extLst>
          </p:cNvPr>
          <p:cNvSpPr txBox="1">
            <a:spLocks noChangeArrowheads="1"/>
          </p:cNvSpPr>
          <p:nvPr/>
        </p:nvSpPr>
        <p:spPr bwMode="auto">
          <a:xfrm>
            <a:off x="5919814" y="3447798"/>
            <a:ext cx="1143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400" dirty="0">
                <a:latin typeface="+mj-lt"/>
              </a:rPr>
              <a:t>4 Request</a:t>
            </a:r>
          </a:p>
        </p:txBody>
      </p:sp>
      <p:sp>
        <p:nvSpPr>
          <p:cNvPr id="75" name="Text Box 48">
            <a:extLst>
              <a:ext uri="{FF2B5EF4-FFF2-40B4-BE49-F238E27FC236}">
                <a16:creationId xmlns:a16="http://schemas.microsoft.com/office/drawing/2014/main" id="{C182DED7-FA4A-48D9-99C8-8AABB8B36BC6}"/>
              </a:ext>
            </a:extLst>
          </p:cNvPr>
          <p:cNvSpPr txBox="1">
            <a:spLocks noChangeArrowheads="1"/>
          </p:cNvSpPr>
          <p:nvPr/>
        </p:nvSpPr>
        <p:spPr bwMode="auto">
          <a:xfrm rot="16200000">
            <a:off x="4498417" y="2007708"/>
            <a:ext cx="99217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400" dirty="0">
                <a:latin typeface="+mj-lt"/>
              </a:rPr>
              <a:t>3 Request</a:t>
            </a:r>
          </a:p>
        </p:txBody>
      </p:sp>
      <p:sp>
        <p:nvSpPr>
          <p:cNvPr id="76" name="Rectangle 49">
            <a:extLst>
              <a:ext uri="{FF2B5EF4-FFF2-40B4-BE49-F238E27FC236}">
                <a16:creationId xmlns:a16="http://schemas.microsoft.com/office/drawing/2014/main" id="{4154AF20-B051-45CF-B3CA-67CAAED4F11C}"/>
              </a:ext>
            </a:extLst>
          </p:cNvPr>
          <p:cNvSpPr>
            <a:spLocks noChangeArrowheads="1"/>
          </p:cNvSpPr>
          <p:nvPr/>
        </p:nvSpPr>
        <p:spPr bwMode="auto">
          <a:xfrm rot="16200000">
            <a:off x="5208131" y="1989947"/>
            <a:ext cx="87883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400" dirty="0">
                <a:latin typeface="+mj-lt"/>
              </a:rPr>
              <a:t>7 Release</a:t>
            </a:r>
          </a:p>
        </p:txBody>
      </p:sp>
      <p:sp>
        <p:nvSpPr>
          <p:cNvPr id="77" name="Rectangle 50">
            <a:extLst>
              <a:ext uri="{FF2B5EF4-FFF2-40B4-BE49-F238E27FC236}">
                <a16:creationId xmlns:a16="http://schemas.microsoft.com/office/drawing/2014/main" id="{07146B3B-B8C1-4C2D-A9CE-F350A210F682}"/>
              </a:ext>
            </a:extLst>
          </p:cNvPr>
          <p:cNvSpPr>
            <a:spLocks noChangeArrowheads="1"/>
          </p:cNvSpPr>
          <p:nvPr/>
        </p:nvSpPr>
        <p:spPr bwMode="auto">
          <a:xfrm rot="16200000">
            <a:off x="4708026" y="1920561"/>
            <a:ext cx="11048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400" dirty="0">
                <a:latin typeface="+mj-lt"/>
              </a:rPr>
              <a:t>6 Reply</a:t>
            </a:r>
          </a:p>
        </p:txBody>
      </p:sp>
      <p:cxnSp>
        <p:nvCxnSpPr>
          <p:cNvPr id="78" name="Straight Arrow Connector 77">
            <a:extLst>
              <a:ext uri="{FF2B5EF4-FFF2-40B4-BE49-F238E27FC236}">
                <a16:creationId xmlns:a16="http://schemas.microsoft.com/office/drawing/2014/main" id="{6696DFA0-F540-4B37-B917-839B73FE4538}"/>
              </a:ext>
            </a:extLst>
          </p:cNvPr>
          <p:cNvCxnSpPr>
            <a:cxnSpLocks/>
          </p:cNvCxnSpPr>
          <p:nvPr/>
        </p:nvCxnSpPr>
        <p:spPr>
          <a:xfrm>
            <a:off x="5145947" y="1646558"/>
            <a:ext cx="0" cy="1171655"/>
          </a:xfrm>
          <a:prstGeom prst="straightConnector1">
            <a:avLst/>
          </a:prstGeom>
          <a:ln w="1905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7D031CCF-B957-4660-A54A-05A403C75B81}"/>
              </a:ext>
            </a:extLst>
          </p:cNvPr>
          <p:cNvCxnSpPr>
            <a:cxnSpLocks/>
          </p:cNvCxnSpPr>
          <p:nvPr/>
        </p:nvCxnSpPr>
        <p:spPr>
          <a:xfrm rot="5400000">
            <a:off x="4851302" y="2229341"/>
            <a:ext cx="1088675" cy="0"/>
          </a:xfrm>
          <a:prstGeom prst="straightConnector1">
            <a:avLst/>
          </a:prstGeom>
          <a:ln w="190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0C9B768A-91C6-456C-9776-A559C9A200FA}"/>
              </a:ext>
            </a:extLst>
          </p:cNvPr>
          <p:cNvCxnSpPr>
            <a:cxnSpLocks/>
          </p:cNvCxnSpPr>
          <p:nvPr/>
        </p:nvCxnSpPr>
        <p:spPr>
          <a:xfrm>
            <a:off x="5534001" y="1649277"/>
            <a:ext cx="0" cy="1166215"/>
          </a:xfrm>
          <a:prstGeom prst="straightConnector1">
            <a:avLst/>
          </a:prstGeom>
          <a:ln w="1905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81" name="Text Box 6">
            <a:extLst>
              <a:ext uri="{FF2B5EF4-FFF2-40B4-BE49-F238E27FC236}">
                <a16:creationId xmlns:a16="http://schemas.microsoft.com/office/drawing/2014/main" id="{70AD99AE-1189-4CC1-BBD6-D9ABE9D71C96}"/>
              </a:ext>
            </a:extLst>
          </p:cNvPr>
          <p:cNvSpPr txBox="1">
            <a:spLocks noChangeArrowheads="1"/>
          </p:cNvSpPr>
          <p:nvPr/>
        </p:nvSpPr>
        <p:spPr bwMode="auto">
          <a:xfrm>
            <a:off x="6251424" y="4103137"/>
            <a:ext cx="1371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800" dirty="0">
                <a:latin typeface="+mj-lt"/>
              </a:rPr>
              <a:t>Initial state</a:t>
            </a:r>
          </a:p>
        </p:txBody>
      </p:sp>
      <p:graphicFrame>
        <p:nvGraphicFramePr>
          <p:cNvPr id="82" name="Table 81">
            <a:extLst>
              <a:ext uri="{FF2B5EF4-FFF2-40B4-BE49-F238E27FC236}">
                <a16:creationId xmlns:a16="http://schemas.microsoft.com/office/drawing/2014/main" id="{1A77733E-DE02-45DC-9255-EF6645724DE4}"/>
              </a:ext>
            </a:extLst>
          </p:cNvPr>
          <p:cNvGraphicFramePr>
            <a:graphicFrameLocks noGrp="1"/>
          </p:cNvGraphicFramePr>
          <p:nvPr/>
        </p:nvGraphicFramePr>
        <p:xfrm>
          <a:off x="4425398" y="4109071"/>
          <a:ext cx="1810302" cy="368531"/>
        </p:xfrm>
        <a:graphic>
          <a:graphicData uri="http://schemas.openxmlformats.org/drawingml/2006/table">
            <a:tbl>
              <a:tblPr firstRow="1" bandRow="1">
                <a:tableStyleId>{5940675A-B579-460E-94D1-54222C63F5DA}</a:tableStyleId>
              </a:tblPr>
              <a:tblGrid>
                <a:gridCol w="1810302">
                  <a:extLst>
                    <a:ext uri="{9D8B030D-6E8A-4147-A177-3AD203B41FA5}">
                      <a16:colId xmlns:a16="http://schemas.microsoft.com/office/drawing/2014/main" val="1530787219"/>
                    </a:ext>
                  </a:extLst>
                </a:gridCol>
              </a:tblGrid>
              <a:tr h="368531">
                <a:tc>
                  <a:txBody>
                    <a:bodyPr/>
                    <a:lstStyle/>
                    <a:p>
                      <a:endParaRPr lang="en-IN" sz="1800" dirty="0"/>
                    </a:p>
                  </a:txBody>
                  <a:tcPr/>
                </a:tc>
                <a:extLst>
                  <a:ext uri="{0D108BD9-81ED-4DB2-BD59-A6C34878D82A}">
                    <a16:rowId xmlns:a16="http://schemas.microsoft.com/office/drawing/2014/main" val="4047261007"/>
                  </a:ext>
                </a:extLst>
              </a:tr>
            </a:tbl>
          </a:graphicData>
        </a:graphic>
      </p:graphicFrame>
      <p:graphicFrame>
        <p:nvGraphicFramePr>
          <p:cNvPr id="83" name="Table 82">
            <a:extLst>
              <a:ext uri="{FF2B5EF4-FFF2-40B4-BE49-F238E27FC236}">
                <a16:creationId xmlns:a16="http://schemas.microsoft.com/office/drawing/2014/main" id="{63530027-FAB0-48E0-ACCB-1B624CD19FBD}"/>
              </a:ext>
            </a:extLst>
          </p:cNvPr>
          <p:cNvGraphicFramePr>
            <a:graphicFrameLocks noGrp="1"/>
          </p:cNvGraphicFramePr>
          <p:nvPr/>
        </p:nvGraphicFramePr>
        <p:xfrm>
          <a:off x="4425398" y="4561495"/>
          <a:ext cx="1810302" cy="383001"/>
        </p:xfrm>
        <a:graphic>
          <a:graphicData uri="http://schemas.openxmlformats.org/drawingml/2006/table">
            <a:tbl>
              <a:tblPr firstRow="1" bandRow="1">
                <a:tableStyleId>{5940675A-B579-460E-94D1-54222C63F5DA}</a:tableStyleId>
              </a:tblPr>
              <a:tblGrid>
                <a:gridCol w="1810302">
                  <a:extLst>
                    <a:ext uri="{9D8B030D-6E8A-4147-A177-3AD203B41FA5}">
                      <a16:colId xmlns:a16="http://schemas.microsoft.com/office/drawing/2014/main" val="1530787219"/>
                    </a:ext>
                  </a:extLst>
                </a:gridCol>
              </a:tblGrid>
              <a:tr h="383001">
                <a:tc>
                  <a:txBody>
                    <a:bodyPr/>
                    <a:lstStyle/>
                    <a:p>
                      <a:endParaRPr lang="en-IN" sz="1800" dirty="0">
                        <a:solidFill>
                          <a:schemeClr val="tx1"/>
                        </a:solidFill>
                      </a:endParaRPr>
                    </a:p>
                  </a:txBody>
                  <a:tcPr/>
                </a:tc>
                <a:extLst>
                  <a:ext uri="{0D108BD9-81ED-4DB2-BD59-A6C34878D82A}">
                    <a16:rowId xmlns:a16="http://schemas.microsoft.com/office/drawing/2014/main" val="4047261007"/>
                  </a:ext>
                </a:extLst>
              </a:tr>
            </a:tbl>
          </a:graphicData>
        </a:graphic>
      </p:graphicFrame>
      <p:graphicFrame>
        <p:nvGraphicFramePr>
          <p:cNvPr id="84" name="Table 83">
            <a:extLst>
              <a:ext uri="{FF2B5EF4-FFF2-40B4-BE49-F238E27FC236}">
                <a16:creationId xmlns:a16="http://schemas.microsoft.com/office/drawing/2014/main" id="{ED23F189-BFEA-4096-89BC-F1E07F2CEC75}"/>
              </a:ext>
            </a:extLst>
          </p:cNvPr>
          <p:cNvGraphicFramePr>
            <a:graphicFrameLocks noGrp="1"/>
          </p:cNvGraphicFramePr>
          <p:nvPr/>
        </p:nvGraphicFramePr>
        <p:xfrm>
          <a:off x="4425398" y="5540937"/>
          <a:ext cx="1810302" cy="394022"/>
        </p:xfrm>
        <a:graphic>
          <a:graphicData uri="http://schemas.openxmlformats.org/drawingml/2006/table">
            <a:tbl>
              <a:tblPr firstRow="1" bandRow="1">
                <a:tableStyleId>{5940675A-B579-460E-94D1-54222C63F5DA}</a:tableStyleId>
              </a:tblPr>
              <a:tblGrid>
                <a:gridCol w="1810302">
                  <a:extLst>
                    <a:ext uri="{9D8B030D-6E8A-4147-A177-3AD203B41FA5}">
                      <a16:colId xmlns:a16="http://schemas.microsoft.com/office/drawing/2014/main" val="1530787219"/>
                    </a:ext>
                  </a:extLst>
                </a:gridCol>
              </a:tblGrid>
              <a:tr h="394022">
                <a:tc>
                  <a:txBody>
                    <a:bodyPr/>
                    <a:lstStyle/>
                    <a:p>
                      <a:endParaRPr lang="en-IN" sz="1800" dirty="0"/>
                    </a:p>
                  </a:txBody>
                  <a:tcPr/>
                </a:tc>
                <a:extLst>
                  <a:ext uri="{0D108BD9-81ED-4DB2-BD59-A6C34878D82A}">
                    <a16:rowId xmlns:a16="http://schemas.microsoft.com/office/drawing/2014/main" val="4047261007"/>
                  </a:ext>
                </a:extLst>
              </a:tr>
            </a:tbl>
          </a:graphicData>
        </a:graphic>
      </p:graphicFrame>
      <p:graphicFrame>
        <p:nvGraphicFramePr>
          <p:cNvPr id="85" name="Table 84">
            <a:extLst>
              <a:ext uri="{FF2B5EF4-FFF2-40B4-BE49-F238E27FC236}">
                <a16:creationId xmlns:a16="http://schemas.microsoft.com/office/drawing/2014/main" id="{7F6FEAE7-CC32-43EF-AE6E-D16C60AD7D71}"/>
              </a:ext>
            </a:extLst>
          </p:cNvPr>
          <p:cNvGraphicFramePr>
            <a:graphicFrameLocks noGrp="1"/>
          </p:cNvGraphicFramePr>
          <p:nvPr/>
        </p:nvGraphicFramePr>
        <p:xfrm>
          <a:off x="4436105" y="6047116"/>
          <a:ext cx="1810302" cy="368531"/>
        </p:xfrm>
        <a:graphic>
          <a:graphicData uri="http://schemas.openxmlformats.org/drawingml/2006/table">
            <a:tbl>
              <a:tblPr firstRow="1" bandRow="1">
                <a:tableStyleId>{5940675A-B579-460E-94D1-54222C63F5DA}</a:tableStyleId>
              </a:tblPr>
              <a:tblGrid>
                <a:gridCol w="1810302">
                  <a:extLst>
                    <a:ext uri="{9D8B030D-6E8A-4147-A177-3AD203B41FA5}">
                      <a16:colId xmlns:a16="http://schemas.microsoft.com/office/drawing/2014/main" val="1530787219"/>
                    </a:ext>
                  </a:extLst>
                </a:gridCol>
              </a:tblGrid>
              <a:tr h="368531">
                <a:tc>
                  <a:txBody>
                    <a:bodyPr/>
                    <a:lstStyle/>
                    <a:p>
                      <a:endParaRPr lang="en-IN" sz="1800" dirty="0"/>
                    </a:p>
                  </a:txBody>
                  <a:tcPr/>
                </a:tc>
                <a:extLst>
                  <a:ext uri="{0D108BD9-81ED-4DB2-BD59-A6C34878D82A}">
                    <a16:rowId xmlns:a16="http://schemas.microsoft.com/office/drawing/2014/main" val="4047261007"/>
                  </a:ext>
                </a:extLst>
              </a:tr>
            </a:tbl>
          </a:graphicData>
        </a:graphic>
      </p:graphicFrame>
      <p:sp>
        <p:nvSpPr>
          <p:cNvPr id="86" name="Text Box 19">
            <a:extLst>
              <a:ext uri="{FF2B5EF4-FFF2-40B4-BE49-F238E27FC236}">
                <a16:creationId xmlns:a16="http://schemas.microsoft.com/office/drawing/2014/main" id="{7C557AEF-B99F-4109-B8E4-F80E10399FB9}"/>
              </a:ext>
            </a:extLst>
          </p:cNvPr>
          <p:cNvSpPr txBox="1">
            <a:spLocks noChangeArrowheads="1"/>
          </p:cNvSpPr>
          <p:nvPr/>
        </p:nvSpPr>
        <p:spPr bwMode="auto">
          <a:xfrm>
            <a:off x="6216751" y="4575810"/>
            <a:ext cx="1676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800" dirty="0">
                <a:latin typeface="+mj-lt"/>
              </a:rPr>
              <a:t>Status after 3</a:t>
            </a:r>
          </a:p>
        </p:txBody>
      </p:sp>
      <p:sp>
        <p:nvSpPr>
          <p:cNvPr id="87" name="Text Box 20">
            <a:extLst>
              <a:ext uri="{FF2B5EF4-FFF2-40B4-BE49-F238E27FC236}">
                <a16:creationId xmlns:a16="http://schemas.microsoft.com/office/drawing/2014/main" id="{FAAD500B-DD13-4569-ABB3-BCB74C9819BA}"/>
              </a:ext>
            </a:extLst>
          </p:cNvPr>
          <p:cNvSpPr txBox="1">
            <a:spLocks noChangeArrowheads="1"/>
          </p:cNvSpPr>
          <p:nvPr/>
        </p:nvSpPr>
        <p:spPr bwMode="auto">
          <a:xfrm>
            <a:off x="6216751" y="5063533"/>
            <a:ext cx="1676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800" dirty="0">
                <a:latin typeface="+mj-lt"/>
              </a:rPr>
              <a:t>Status after 4</a:t>
            </a:r>
          </a:p>
        </p:txBody>
      </p:sp>
      <p:sp>
        <p:nvSpPr>
          <p:cNvPr id="88" name="Text Box 21">
            <a:extLst>
              <a:ext uri="{FF2B5EF4-FFF2-40B4-BE49-F238E27FC236}">
                <a16:creationId xmlns:a16="http://schemas.microsoft.com/office/drawing/2014/main" id="{904A0F44-F0A4-42B2-9199-8952EBE80B47}"/>
              </a:ext>
            </a:extLst>
          </p:cNvPr>
          <p:cNvSpPr txBox="1">
            <a:spLocks noChangeArrowheads="1"/>
          </p:cNvSpPr>
          <p:nvPr/>
        </p:nvSpPr>
        <p:spPr bwMode="auto">
          <a:xfrm>
            <a:off x="6224270" y="5544423"/>
            <a:ext cx="1676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800" dirty="0">
                <a:latin typeface="+mj-lt"/>
              </a:rPr>
              <a:t>Status after 5</a:t>
            </a:r>
          </a:p>
        </p:txBody>
      </p:sp>
      <p:sp>
        <p:nvSpPr>
          <p:cNvPr id="89" name="Text Box 22">
            <a:extLst>
              <a:ext uri="{FF2B5EF4-FFF2-40B4-BE49-F238E27FC236}">
                <a16:creationId xmlns:a16="http://schemas.microsoft.com/office/drawing/2014/main" id="{DEBBE077-D851-436A-B527-F26647CA2E14}"/>
              </a:ext>
            </a:extLst>
          </p:cNvPr>
          <p:cNvSpPr txBox="1">
            <a:spLocks noChangeArrowheads="1"/>
          </p:cNvSpPr>
          <p:nvPr/>
        </p:nvSpPr>
        <p:spPr bwMode="auto">
          <a:xfrm>
            <a:off x="6255657" y="6050926"/>
            <a:ext cx="1676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1800" dirty="0">
                <a:latin typeface="+mj-lt"/>
              </a:rPr>
              <a:t>Status after 7</a:t>
            </a:r>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18896A9B-5941-4CDE-98B8-8FDF706F026B}"/>
                  </a:ext>
                </a:extLst>
              </p:cNvPr>
              <p:cNvSpPr txBox="1"/>
              <p:nvPr/>
            </p:nvSpPr>
            <p:spPr>
              <a:xfrm>
                <a:off x="5776939" y="4565627"/>
                <a:ext cx="447331" cy="276999"/>
              </a:xfrm>
              <a:prstGeom prst="rect">
                <a:avLst/>
              </a:prstGeom>
              <a:solidFill>
                <a:schemeClr val="tx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𝑃</m:t>
                          </m:r>
                        </m:e>
                        <m:sub>
                          <m:r>
                            <a:rPr lang="en-IN" b="0" i="1" smtClean="0">
                              <a:latin typeface="Cambria Math" panose="02040503050406030204" pitchFamily="18" charset="0"/>
                            </a:rPr>
                            <m:t>2</m:t>
                          </m:r>
                        </m:sub>
                      </m:sSub>
                    </m:oMath>
                  </m:oMathPara>
                </a14:m>
                <a:endParaRPr lang="en-IN" dirty="0">
                  <a:latin typeface="+mj-lt"/>
                </a:endParaRPr>
              </a:p>
            </p:txBody>
          </p:sp>
        </mc:Choice>
        <mc:Fallback xmlns="">
          <p:sp>
            <p:nvSpPr>
              <p:cNvPr id="90" name="TextBox 89">
                <a:extLst>
                  <a:ext uri="{FF2B5EF4-FFF2-40B4-BE49-F238E27FC236}">
                    <a16:creationId xmlns:a16="http://schemas.microsoft.com/office/drawing/2014/main" xmlns:a14="http://schemas.microsoft.com/office/drawing/2010/main" xmlns="" id="{18896A9B-5941-4CDE-98B8-8FDF706F026B}"/>
                  </a:ext>
                </a:extLst>
              </p:cNvPr>
              <p:cNvSpPr txBox="1">
                <a:spLocks noRot="1" noChangeAspect="1" noMove="1" noResize="1" noEditPoints="1" noAdjustHandles="1" noChangeArrowheads="1" noChangeShapeType="1" noTextEdit="1"/>
              </p:cNvSpPr>
              <p:nvPr/>
            </p:nvSpPr>
            <p:spPr>
              <a:xfrm>
                <a:off x="5776939" y="4565627"/>
                <a:ext cx="447331" cy="276999"/>
              </a:xfrm>
              <a:prstGeom prst="rect">
                <a:avLst/>
              </a:prstGeom>
              <a:blipFill rotWithShape="0">
                <a:blip r:embed="rId6"/>
                <a:stretch>
                  <a:fillRect b="-20000"/>
                </a:stretch>
              </a:blipFill>
            </p:spPr>
            <p:txBody>
              <a:bodyPr/>
              <a:lstStyle/>
              <a:p>
                <a:r>
                  <a:rPr lang="en-IN">
                    <a:noFill/>
                  </a:rPr>
                  <a:t> </a:t>
                </a:r>
              </a:p>
            </p:txBody>
          </p:sp>
        </mc:Fallback>
      </mc:AlternateContent>
      <p:cxnSp>
        <p:nvCxnSpPr>
          <p:cNvPr id="91" name="Straight Connector 90">
            <a:extLst>
              <a:ext uri="{FF2B5EF4-FFF2-40B4-BE49-F238E27FC236}">
                <a16:creationId xmlns:a16="http://schemas.microsoft.com/office/drawing/2014/main" id="{39B12A88-7F7E-4825-ACF6-1023F654CA74}"/>
              </a:ext>
            </a:extLst>
          </p:cNvPr>
          <p:cNvCxnSpPr>
            <a:cxnSpLocks/>
          </p:cNvCxnSpPr>
          <p:nvPr/>
        </p:nvCxnSpPr>
        <p:spPr>
          <a:xfrm>
            <a:off x="5788369" y="4565627"/>
            <a:ext cx="0" cy="3795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92" name="Table 91">
            <a:extLst>
              <a:ext uri="{FF2B5EF4-FFF2-40B4-BE49-F238E27FC236}">
                <a16:creationId xmlns:a16="http://schemas.microsoft.com/office/drawing/2014/main" id="{96489BD0-3D4D-475D-BCC2-F460EA6D5AA1}"/>
              </a:ext>
            </a:extLst>
          </p:cNvPr>
          <p:cNvGraphicFramePr>
            <a:graphicFrameLocks noGrp="1"/>
          </p:cNvGraphicFramePr>
          <p:nvPr/>
        </p:nvGraphicFramePr>
        <p:xfrm>
          <a:off x="4422258" y="5053350"/>
          <a:ext cx="1810302" cy="383001"/>
        </p:xfrm>
        <a:graphic>
          <a:graphicData uri="http://schemas.openxmlformats.org/drawingml/2006/table">
            <a:tbl>
              <a:tblPr firstRow="1" bandRow="1">
                <a:tableStyleId>{5940675A-B579-460E-94D1-54222C63F5DA}</a:tableStyleId>
              </a:tblPr>
              <a:tblGrid>
                <a:gridCol w="1810302">
                  <a:extLst>
                    <a:ext uri="{9D8B030D-6E8A-4147-A177-3AD203B41FA5}">
                      <a16:colId xmlns:a16="http://schemas.microsoft.com/office/drawing/2014/main" val="1530787219"/>
                    </a:ext>
                  </a:extLst>
                </a:gridCol>
              </a:tblGrid>
              <a:tr h="383001">
                <a:tc>
                  <a:txBody>
                    <a:bodyPr/>
                    <a:lstStyle/>
                    <a:p>
                      <a:endParaRPr lang="en-IN" sz="1800" dirty="0">
                        <a:solidFill>
                          <a:schemeClr val="tx1"/>
                        </a:solidFill>
                      </a:endParaRPr>
                    </a:p>
                  </a:txBody>
                  <a:tcPr/>
                </a:tc>
                <a:extLst>
                  <a:ext uri="{0D108BD9-81ED-4DB2-BD59-A6C34878D82A}">
                    <a16:rowId xmlns:a16="http://schemas.microsoft.com/office/drawing/2014/main" val="4047261007"/>
                  </a:ext>
                </a:extLst>
              </a:tr>
            </a:tbl>
          </a:graphicData>
        </a:graphic>
      </p:graphicFrame>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FE89B8F9-E816-4017-847F-8AB45B60C517}"/>
                  </a:ext>
                </a:extLst>
              </p:cNvPr>
              <p:cNvSpPr txBox="1"/>
              <p:nvPr/>
            </p:nvSpPr>
            <p:spPr>
              <a:xfrm>
                <a:off x="5773799" y="5057482"/>
                <a:ext cx="447331" cy="276999"/>
              </a:xfrm>
              <a:prstGeom prst="rect">
                <a:avLst/>
              </a:prstGeom>
              <a:solidFill>
                <a:schemeClr val="tx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𝑃</m:t>
                          </m:r>
                        </m:e>
                        <m:sub>
                          <m:r>
                            <a:rPr lang="en-IN" b="0" i="1" smtClean="0">
                              <a:latin typeface="Cambria Math" panose="02040503050406030204" pitchFamily="18" charset="0"/>
                            </a:rPr>
                            <m:t>2</m:t>
                          </m:r>
                        </m:sub>
                      </m:sSub>
                    </m:oMath>
                  </m:oMathPara>
                </a14:m>
                <a:endParaRPr lang="en-IN" dirty="0">
                  <a:latin typeface="+mj-lt"/>
                </a:endParaRPr>
              </a:p>
            </p:txBody>
          </p:sp>
        </mc:Choice>
        <mc:Fallback xmlns="">
          <p:sp>
            <p:nvSpPr>
              <p:cNvPr id="93" name="TextBox 92">
                <a:extLst>
                  <a:ext uri="{FF2B5EF4-FFF2-40B4-BE49-F238E27FC236}">
                    <a16:creationId xmlns:a16="http://schemas.microsoft.com/office/drawing/2014/main" xmlns:a14="http://schemas.microsoft.com/office/drawing/2010/main" xmlns="" id="{FE89B8F9-E816-4017-847F-8AB45B60C517}"/>
                  </a:ext>
                </a:extLst>
              </p:cNvPr>
              <p:cNvSpPr txBox="1">
                <a:spLocks noRot="1" noChangeAspect="1" noMove="1" noResize="1" noEditPoints="1" noAdjustHandles="1" noChangeArrowheads="1" noChangeShapeType="1" noTextEdit="1"/>
              </p:cNvSpPr>
              <p:nvPr/>
            </p:nvSpPr>
            <p:spPr>
              <a:xfrm>
                <a:off x="5773799" y="5057482"/>
                <a:ext cx="447331" cy="276999"/>
              </a:xfrm>
              <a:prstGeom prst="rect">
                <a:avLst/>
              </a:prstGeom>
              <a:blipFill rotWithShape="0">
                <a:blip r:embed="rId7"/>
                <a:stretch>
                  <a:fillRect b="-20000"/>
                </a:stretch>
              </a:blipFill>
            </p:spPr>
            <p:txBody>
              <a:bodyPr/>
              <a:lstStyle/>
              <a:p>
                <a:r>
                  <a:rPr lang="en-IN">
                    <a:noFill/>
                  </a:rPr>
                  <a:t> </a:t>
                </a:r>
              </a:p>
            </p:txBody>
          </p:sp>
        </mc:Fallback>
      </mc:AlternateContent>
      <p:cxnSp>
        <p:nvCxnSpPr>
          <p:cNvPr id="94" name="Straight Connector 93">
            <a:extLst>
              <a:ext uri="{FF2B5EF4-FFF2-40B4-BE49-F238E27FC236}">
                <a16:creationId xmlns:a16="http://schemas.microsoft.com/office/drawing/2014/main" id="{C3C80CB5-54CB-4A28-85BB-49E121D50CA4}"/>
              </a:ext>
            </a:extLst>
          </p:cNvPr>
          <p:cNvCxnSpPr>
            <a:cxnSpLocks/>
          </p:cNvCxnSpPr>
          <p:nvPr/>
        </p:nvCxnSpPr>
        <p:spPr>
          <a:xfrm>
            <a:off x="5773799" y="5053350"/>
            <a:ext cx="0" cy="3795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27B668EB-F3AB-4252-8A25-FD27C88A7F5E}"/>
                  </a:ext>
                </a:extLst>
              </p:cNvPr>
              <p:cNvSpPr txBox="1"/>
              <p:nvPr/>
            </p:nvSpPr>
            <p:spPr>
              <a:xfrm>
                <a:off x="5322362" y="5063263"/>
                <a:ext cx="447331" cy="276999"/>
              </a:xfrm>
              <a:prstGeom prst="rect">
                <a:avLst/>
              </a:prstGeom>
              <a:solidFill>
                <a:schemeClr val="tx2">
                  <a:lumMod val="40000"/>
                  <a:lumOff val="6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𝑃</m:t>
                          </m:r>
                        </m:e>
                        <m:sub>
                          <m:r>
                            <a:rPr lang="en-IN" b="0" i="1" smtClean="0">
                              <a:latin typeface="Cambria Math" panose="02040503050406030204" pitchFamily="18" charset="0"/>
                            </a:rPr>
                            <m:t>3</m:t>
                          </m:r>
                        </m:sub>
                      </m:sSub>
                    </m:oMath>
                  </m:oMathPara>
                </a14:m>
                <a:endParaRPr lang="en-IN" dirty="0">
                  <a:latin typeface="+mj-lt"/>
                </a:endParaRPr>
              </a:p>
            </p:txBody>
          </p:sp>
        </mc:Choice>
        <mc:Fallback xmlns="">
          <p:sp>
            <p:nvSpPr>
              <p:cNvPr id="95" name="TextBox 94">
                <a:extLst>
                  <a:ext uri="{FF2B5EF4-FFF2-40B4-BE49-F238E27FC236}">
                    <a16:creationId xmlns:a16="http://schemas.microsoft.com/office/drawing/2014/main" xmlns:a14="http://schemas.microsoft.com/office/drawing/2010/main" xmlns="" id="{27B668EB-F3AB-4252-8A25-FD27C88A7F5E}"/>
                  </a:ext>
                </a:extLst>
              </p:cNvPr>
              <p:cNvSpPr txBox="1">
                <a:spLocks noRot="1" noChangeAspect="1" noMove="1" noResize="1" noEditPoints="1" noAdjustHandles="1" noChangeArrowheads="1" noChangeShapeType="1" noTextEdit="1"/>
              </p:cNvSpPr>
              <p:nvPr/>
            </p:nvSpPr>
            <p:spPr>
              <a:xfrm>
                <a:off x="5322362" y="5063263"/>
                <a:ext cx="447331" cy="276999"/>
              </a:xfrm>
              <a:prstGeom prst="rect">
                <a:avLst/>
              </a:prstGeom>
              <a:blipFill rotWithShape="0">
                <a:blip r:embed="rId8"/>
                <a:stretch>
                  <a:fillRect b="-20000"/>
                </a:stretch>
              </a:blipFill>
            </p:spPr>
            <p:txBody>
              <a:bodyPr/>
              <a:lstStyle/>
              <a:p>
                <a:r>
                  <a:rPr lang="en-IN">
                    <a:noFill/>
                  </a:rPr>
                  <a:t> </a:t>
                </a:r>
              </a:p>
            </p:txBody>
          </p:sp>
        </mc:Fallback>
      </mc:AlternateContent>
      <p:cxnSp>
        <p:nvCxnSpPr>
          <p:cNvPr id="96" name="Straight Connector 95">
            <a:extLst>
              <a:ext uri="{FF2B5EF4-FFF2-40B4-BE49-F238E27FC236}">
                <a16:creationId xmlns:a16="http://schemas.microsoft.com/office/drawing/2014/main" id="{2FEFB4DC-DA37-425C-AED8-D8B9DAC5AE62}"/>
              </a:ext>
            </a:extLst>
          </p:cNvPr>
          <p:cNvCxnSpPr>
            <a:cxnSpLocks/>
          </p:cNvCxnSpPr>
          <p:nvPr/>
        </p:nvCxnSpPr>
        <p:spPr>
          <a:xfrm>
            <a:off x="5321927" y="5053350"/>
            <a:ext cx="0" cy="3795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CB18132-86AC-4201-AD83-08AEDA97A925}"/>
                  </a:ext>
                </a:extLst>
              </p:cNvPr>
              <p:cNvSpPr txBox="1"/>
              <p:nvPr/>
            </p:nvSpPr>
            <p:spPr>
              <a:xfrm>
                <a:off x="5777238" y="5552094"/>
                <a:ext cx="447331" cy="276999"/>
              </a:xfrm>
              <a:prstGeom prst="rect">
                <a:avLst/>
              </a:prstGeom>
              <a:solidFill>
                <a:schemeClr val="tx2">
                  <a:lumMod val="40000"/>
                  <a:lumOff val="6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𝑃</m:t>
                          </m:r>
                        </m:e>
                        <m:sub>
                          <m:r>
                            <a:rPr lang="en-IN" b="0" i="1" smtClean="0">
                              <a:latin typeface="Cambria Math" panose="02040503050406030204" pitchFamily="18" charset="0"/>
                            </a:rPr>
                            <m:t>3</m:t>
                          </m:r>
                        </m:sub>
                      </m:sSub>
                    </m:oMath>
                  </m:oMathPara>
                </a14:m>
                <a:endParaRPr lang="en-IN" dirty="0">
                  <a:latin typeface="+mj-lt"/>
                </a:endParaRPr>
              </a:p>
            </p:txBody>
          </p:sp>
        </mc:Choice>
        <mc:Fallback xmlns="">
          <p:sp>
            <p:nvSpPr>
              <p:cNvPr id="97" name="TextBox 96">
                <a:extLst>
                  <a:ext uri="{FF2B5EF4-FFF2-40B4-BE49-F238E27FC236}">
                    <a16:creationId xmlns:a16="http://schemas.microsoft.com/office/drawing/2014/main" xmlns:a14="http://schemas.microsoft.com/office/drawing/2010/main" xmlns="" id="{7CB18132-86AC-4201-AD83-08AEDA97A925}"/>
                  </a:ext>
                </a:extLst>
              </p:cNvPr>
              <p:cNvSpPr txBox="1">
                <a:spLocks noRot="1" noChangeAspect="1" noMove="1" noResize="1" noEditPoints="1" noAdjustHandles="1" noChangeArrowheads="1" noChangeShapeType="1" noTextEdit="1"/>
              </p:cNvSpPr>
              <p:nvPr/>
            </p:nvSpPr>
            <p:spPr>
              <a:xfrm>
                <a:off x="5777238" y="5552094"/>
                <a:ext cx="447331" cy="276999"/>
              </a:xfrm>
              <a:prstGeom prst="rect">
                <a:avLst/>
              </a:prstGeom>
              <a:blipFill rotWithShape="0">
                <a:blip r:embed="rId9"/>
                <a:stretch>
                  <a:fillRect b="-20000"/>
                </a:stretch>
              </a:blipFill>
            </p:spPr>
            <p:txBody>
              <a:bodyPr/>
              <a:lstStyle/>
              <a:p>
                <a:r>
                  <a:rPr lang="en-IN">
                    <a:noFill/>
                  </a:rPr>
                  <a:t> </a:t>
                </a:r>
              </a:p>
            </p:txBody>
          </p:sp>
        </mc:Fallback>
      </mc:AlternateContent>
      <p:cxnSp>
        <p:nvCxnSpPr>
          <p:cNvPr id="98" name="Straight Connector 97">
            <a:extLst>
              <a:ext uri="{FF2B5EF4-FFF2-40B4-BE49-F238E27FC236}">
                <a16:creationId xmlns:a16="http://schemas.microsoft.com/office/drawing/2014/main" id="{6A53DF4A-69F2-4A7F-9B8F-8ED6205AA0B9}"/>
              </a:ext>
            </a:extLst>
          </p:cNvPr>
          <p:cNvCxnSpPr>
            <a:cxnSpLocks/>
          </p:cNvCxnSpPr>
          <p:nvPr/>
        </p:nvCxnSpPr>
        <p:spPr>
          <a:xfrm>
            <a:off x="5788369" y="5541265"/>
            <a:ext cx="0" cy="3795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a16="http://schemas.microsoft.com/office/drawing/2014/main" id="{4FE603AB-BC64-4829-93D3-4338F9AD1061}"/>
              </a:ext>
            </a:extLst>
          </p:cNvPr>
          <p:cNvSpPr/>
          <p:nvPr/>
        </p:nvSpPr>
        <p:spPr>
          <a:xfrm>
            <a:off x="6096000" y="964669"/>
            <a:ext cx="4165600" cy="923330"/>
          </a:xfrm>
          <a:prstGeom prst="rect">
            <a:avLst/>
          </a:prstGeom>
          <a:solidFill>
            <a:srgbClr val="1D3064"/>
          </a:solidFill>
          <a:ln>
            <a:noFill/>
          </a:ln>
        </p:spPr>
        <p:txBody>
          <a:bodyPr wrap="square">
            <a:spAutoFit/>
          </a:bodyPr>
          <a:lstStyle/>
          <a:p>
            <a:pPr algn="just">
              <a:lnSpc>
                <a:spcPct val="90000"/>
              </a:lnSpc>
            </a:pPr>
            <a:r>
              <a:rPr lang="en-US" altLang="en-US" sz="2000" dirty="0">
                <a:solidFill>
                  <a:schemeClr val="bg1"/>
                </a:solidFill>
                <a:latin typeface="+mj-lt"/>
              </a:rPr>
              <a:t>Process P</a:t>
            </a:r>
            <a:r>
              <a:rPr lang="en-US" altLang="en-US" sz="2000" baseline="-25000" dirty="0">
                <a:solidFill>
                  <a:schemeClr val="bg1"/>
                </a:solidFill>
                <a:latin typeface="+mj-lt"/>
              </a:rPr>
              <a:t>2</a:t>
            </a:r>
            <a:r>
              <a:rPr lang="en-US" altLang="en-US" sz="2000" dirty="0">
                <a:solidFill>
                  <a:schemeClr val="bg1"/>
                </a:solidFill>
                <a:latin typeface="+mj-lt"/>
              </a:rPr>
              <a:t> then asks permission to enter the same critical region.  The coordinator does not reply.</a:t>
            </a:r>
          </a:p>
        </p:txBody>
      </p:sp>
      <p:sp>
        <p:nvSpPr>
          <p:cNvPr id="100" name="Rectangle 99">
            <a:extLst>
              <a:ext uri="{FF2B5EF4-FFF2-40B4-BE49-F238E27FC236}">
                <a16:creationId xmlns:a16="http://schemas.microsoft.com/office/drawing/2014/main" id="{30734032-0FD3-4D23-9D08-E91BBE69CEAD}"/>
              </a:ext>
            </a:extLst>
          </p:cNvPr>
          <p:cNvSpPr/>
          <p:nvPr/>
        </p:nvSpPr>
        <p:spPr>
          <a:xfrm>
            <a:off x="1122260" y="3856420"/>
            <a:ext cx="3124189" cy="840230"/>
          </a:xfrm>
          <a:prstGeom prst="rect">
            <a:avLst/>
          </a:prstGeom>
          <a:solidFill>
            <a:schemeClr val="tx2">
              <a:lumMod val="20000"/>
              <a:lumOff val="80000"/>
            </a:schemeClr>
          </a:solidFill>
        </p:spPr>
        <p:txBody>
          <a:bodyPr wrap="square">
            <a:spAutoFit/>
          </a:bodyPr>
          <a:lstStyle/>
          <a:p>
            <a:pPr algn="just">
              <a:lnSpc>
                <a:spcPct val="90000"/>
              </a:lnSpc>
            </a:pPr>
            <a:r>
              <a:rPr lang="en-US" altLang="en-US" dirty="0">
                <a:latin typeface="+mj-lt"/>
              </a:rPr>
              <a:t>When process P</a:t>
            </a:r>
            <a:r>
              <a:rPr lang="en-US" altLang="en-US" baseline="-25000" dirty="0">
                <a:latin typeface="+mj-lt"/>
              </a:rPr>
              <a:t>1</a:t>
            </a:r>
            <a:r>
              <a:rPr lang="en-US" altLang="en-US" dirty="0">
                <a:latin typeface="+mj-lt"/>
              </a:rPr>
              <a:t> exits the  critical section sends a release message to P</a:t>
            </a:r>
            <a:r>
              <a:rPr lang="en-US" altLang="en-US" baseline="-25000" dirty="0">
                <a:latin typeface="+mj-lt"/>
              </a:rPr>
              <a:t>c </a:t>
            </a:r>
            <a:endParaRPr lang="en-US" altLang="en-US" dirty="0">
              <a:latin typeface="+mj-lt"/>
            </a:endParaRPr>
          </a:p>
        </p:txBody>
      </p:sp>
      <p:sp>
        <p:nvSpPr>
          <p:cNvPr id="101" name="Rectangle 100">
            <a:extLst>
              <a:ext uri="{FF2B5EF4-FFF2-40B4-BE49-F238E27FC236}">
                <a16:creationId xmlns:a16="http://schemas.microsoft.com/office/drawing/2014/main" id="{7F37BABD-7DC6-493A-A0C0-EDFF4658C68C}"/>
              </a:ext>
            </a:extLst>
          </p:cNvPr>
          <p:cNvSpPr/>
          <p:nvPr/>
        </p:nvSpPr>
        <p:spPr>
          <a:xfrm>
            <a:off x="576294" y="3856420"/>
            <a:ext cx="3694254" cy="923330"/>
          </a:xfrm>
          <a:prstGeom prst="rect">
            <a:avLst/>
          </a:prstGeom>
          <a:solidFill>
            <a:srgbClr val="1D3064"/>
          </a:solidFill>
          <a:ln>
            <a:noFill/>
          </a:ln>
        </p:spPr>
        <p:txBody>
          <a:bodyPr wrap="square">
            <a:spAutoFit/>
          </a:bodyPr>
          <a:lstStyle/>
          <a:p>
            <a:pPr algn="just">
              <a:lnSpc>
                <a:spcPct val="90000"/>
              </a:lnSpc>
            </a:pPr>
            <a:r>
              <a:rPr lang="en-US" altLang="en-US" sz="2000" dirty="0">
                <a:solidFill>
                  <a:schemeClr val="bg1"/>
                </a:solidFill>
                <a:latin typeface="+mj-lt"/>
              </a:rPr>
              <a:t>Process P</a:t>
            </a:r>
            <a:r>
              <a:rPr lang="en-US" altLang="en-US" sz="2000" baseline="-25000" dirty="0">
                <a:solidFill>
                  <a:schemeClr val="bg1"/>
                </a:solidFill>
                <a:latin typeface="+mj-lt"/>
              </a:rPr>
              <a:t>1</a:t>
            </a:r>
            <a:r>
              <a:rPr lang="en-US" altLang="en-US" sz="2000" dirty="0">
                <a:solidFill>
                  <a:schemeClr val="bg1"/>
                </a:solidFill>
                <a:latin typeface="+mj-lt"/>
              </a:rPr>
              <a:t> wants to enter a critical section for which it sends a request to P</a:t>
            </a:r>
            <a:r>
              <a:rPr lang="en-US" altLang="en-US" sz="2000" baseline="-25000" dirty="0">
                <a:solidFill>
                  <a:schemeClr val="bg1"/>
                </a:solidFill>
                <a:latin typeface="+mj-lt"/>
              </a:rPr>
              <a:t>c</a:t>
            </a:r>
          </a:p>
        </p:txBody>
      </p:sp>
      <p:sp>
        <p:nvSpPr>
          <p:cNvPr id="102" name="Rectangle 101">
            <a:extLst>
              <a:ext uri="{FF2B5EF4-FFF2-40B4-BE49-F238E27FC236}">
                <a16:creationId xmlns:a16="http://schemas.microsoft.com/office/drawing/2014/main" id="{808278FE-EE2F-4B4F-ABFB-65008D01804F}"/>
              </a:ext>
            </a:extLst>
          </p:cNvPr>
          <p:cNvSpPr/>
          <p:nvPr/>
        </p:nvSpPr>
        <p:spPr>
          <a:xfrm>
            <a:off x="589926" y="1712478"/>
            <a:ext cx="3680621" cy="923330"/>
          </a:xfrm>
          <a:prstGeom prst="rect">
            <a:avLst/>
          </a:prstGeom>
          <a:solidFill>
            <a:srgbClr val="1D3064"/>
          </a:solidFill>
        </p:spPr>
        <p:txBody>
          <a:bodyPr wrap="square">
            <a:spAutoFit/>
          </a:bodyPr>
          <a:lstStyle/>
          <a:p>
            <a:pPr algn="just">
              <a:lnSpc>
                <a:spcPct val="90000"/>
              </a:lnSpc>
            </a:pPr>
            <a:r>
              <a:rPr lang="en-US" altLang="en-US" sz="2000" dirty="0">
                <a:solidFill>
                  <a:schemeClr val="bg1"/>
                </a:solidFill>
                <a:latin typeface="+mj-lt"/>
              </a:rPr>
              <a:t>P</a:t>
            </a:r>
            <a:r>
              <a:rPr lang="en-US" altLang="en-US" sz="2000" baseline="-25000" dirty="0">
                <a:solidFill>
                  <a:schemeClr val="bg1"/>
                </a:solidFill>
                <a:latin typeface="+mj-lt"/>
              </a:rPr>
              <a:t>c  </a:t>
            </a:r>
            <a:r>
              <a:rPr lang="en-US" altLang="en-US" sz="2000" dirty="0">
                <a:solidFill>
                  <a:schemeClr val="bg1"/>
                </a:solidFill>
                <a:latin typeface="+mj-lt"/>
              </a:rPr>
              <a:t>sends back a reply message granting permission to P</a:t>
            </a:r>
            <a:r>
              <a:rPr lang="en-US" altLang="en-US" sz="2000" baseline="-25000" dirty="0">
                <a:solidFill>
                  <a:schemeClr val="bg1"/>
                </a:solidFill>
                <a:latin typeface="+mj-lt"/>
              </a:rPr>
              <a:t>1</a:t>
            </a:r>
            <a:r>
              <a:rPr lang="en-US" altLang="en-US" sz="2000" dirty="0">
                <a:solidFill>
                  <a:schemeClr val="bg1"/>
                </a:solidFill>
                <a:latin typeface="+mj-lt"/>
              </a:rPr>
              <a:t> as critical section is free.  </a:t>
            </a:r>
            <a:endParaRPr lang="en-US" altLang="en-US" sz="2000" baseline="-25000" dirty="0">
              <a:solidFill>
                <a:schemeClr val="bg1"/>
              </a:solidFill>
              <a:latin typeface="+mj-lt"/>
            </a:endParaRPr>
          </a:p>
        </p:txBody>
      </p:sp>
      <p:sp>
        <p:nvSpPr>
          <p:cNvPr id="103" name="Rectangle 102">
            <a:extLst>
              <a:ext uri="{FF2B5EF4-FFF2-40B4-BE49-F238E27FC236}">
                <a16:creationId xmlns:a16="http://schemas.microsoft.com/office/drawing/2014/main" id="{00F93438-7409-414A-AE3F-D9027E25EB0A}"/>
              </a:ext>
            </a:extLst>
          </p:cNvPr>
          <p:cNvSpPr/>
          <p:nvPr/>
        </p:nvSpPr>
        <p:spPr>
          <a:xfrm>
            <a:off x="561386" y="1718863"/>
            <a:ext cx="3678178" cy="923330"/>
          </a:xfrm>
          <a:prstGeom prst="rect">
            <a:avLst/>
          </a:prstGeom>
          <a:solidFill>
            <a:srgbClr val="1D3064"/>
          </a:solidFill>
          <a:ln>
            <a:noFill/>
          </a:ln>
        </p:spPr>
        <p:txBody>
          <a:bodyPr wrap="square">
            <a:spAutoFit/>
          </a:bodyPr>
          <a:lstStyle/>
          <a:p>
            <a:pPr algn="just">
              <a:lnSpc>
                <a:spcPct val="90000"/>
              </a:lnSpc>
            </a:pPr>
            <a:r>
              <a:rPr lang="en-US" altLang="en-US" sz="2000" dirty="0">
                <a:solidFill>
                  <a:schemeClr val="bg1"/>
                </a:solidFill>
                <a:latin typeface="+mj-lt"/>
              </a:rPr>
              <a:t>On receiving release message, P</a:t>
            </a:r>
            <a:r>
              <a:rPr lang="en-US" altLang="en-US" sz="2000" baseline="-25000" dirty="0">
                <a:solidFill>
                  <a:schemeClr val="bg1"/>
                </a:solidFill>
                <a:latin typeface="+mj-lt"/>
              </a:rPr>
              <a:t>c </a:t>
            </a:r>
            <a:r>
              <a:rPr lang="en-US" altLang="en-US" sz="2000" dirty="0">
                <a:solidFill>
                  <a:schemeClr val="bg1"/>
                </a:solidFill>
                <a:latin typeface="+mj-lt"/>
              </a:rPr>
              <a:t>takes the first request from the queue and sends a reply message.</a:t>
            </a:r>
          </a:p>
        </p:txBody>
      </p:sp>
    </p:spTree>
    <p:extLst>
      <p:ext uri="{BB962C8B-B14F-4D97-AF65-F5344CB8AC3E}">
        <p14:creationId xmlns:p14="http://schemas.microsoft.com/office/powerpoint/2010/main" val="37573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101"/>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7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102"/>
                                        </p:tgtEl>
                                        <p:attrNameLst>
                                          <p:attrName>style.visibility</p:attrName>
                                        </p:attrNameLst>
                                      </p:cBhvr>
                                      <p:to>
                                        <p:strVal val="hidden"/>
                                      </p:to>
                                    </p:set>
                                  </p:childTnLst>
                                </p:cTn>
                              </p:par>
                              <p:par>
                                <p:cTn id="55" presetID="1" presetClass="entr" presetSubtype="0" fill="hold" nodeType="withEffect">
                                  <p:stCondLst>
                                    <p:cond delay="0"/>
                                  </p:stCondLst>
                                  <p:childTnLst>
                                    <p:set>
                                      <p:cBhvr>
                                        <p:cTn id="56" dur="1" fill="hold">
                                          <p:stCondLst>
                                            <p:cond delay="0"/>
                                          </p:stCondLst>
                                        </p:cTn>
                                        <p:tgtEl>
                                          <p:spTgt spid="7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0"/>
                                          </p:stCondLst>
                                        </p:cTn>
                                        <p:tgtEl>
                                          <p:spTgt spid="99"/>
                                        </p:tgtEl>
                                        <p:attrNameLst>
                                          <p:attrName>style.visibility</p:attrName>
                                        </p:attrNameLst>
                                      </p:cBhvr>
                                      <p:to>
                                        <p:strVal val="hidden"/>
                                      </p:to>
                                    </p:set>
                                  </p:childTnLst>
                                </p:cTn>
                              </p:par>
                              <p:par>
                                <p:cTn id="67" presetID="1" presetClass="entr" presetSubtype="0" fill="hold" nodeType="withEffect">
                                  <p:stCondLst>
                                    <p:cond delay="0"/>
                                  </p:stCondLst>
                                  <p:childTnLst>
                                    <p:set>
                                      <p:cBhvr>
                                        <p:cTn id="68" dur="1" fill="hold">
                                          <p:stCondLst>
                                            <p:cond delay="0"/>
                                          </p:stCondLst>
                                        </p:cTn>
                                        <p:tgtEl>
                                          <p:spTgt spid="8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9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9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8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6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9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93"/>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9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95"/>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96"/>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87"/>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65"/>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72"/>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0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xit" presetSubtype="0" fill="hold" grpId="1" nodeType="clickEffect">
                                  <p:stCondLst>
                                    <p:cond delay="0"/>
                                  </p:stCondLst>
                                  <p:childTnLst>
                                    <p:set>
                                      <p:cBhvr>
                                        <p:cTn id="114" dur="1" fill="hold">
                                          <p:stCondLst>
                                            <p:cond delay="0"/>
                                          </p:stCondLst>
                                        </p:cTn>
                                        <p:tgtEl>
                                          <p:spTgt spid="100"/>
                                        </p:tgtEl>
                                        <p:attrNameLst>
                                          <p:attrName>style.visibility</p:attrName>
                                        </p:attrNameLst>
                                      </p:cBhvr>
                                      <p:to>
                                        <p:strVal val="hidden"/>
                                      </p:to>
                                    </p:set>
                                  </p:childTnLst>
                                </p:cTn>
                              </p:par>
                              <p:par>
                                <p:cTn id="115" presetID="1" presetClass="entr" presetSubtype="0" fill="hold" grpId="0" nodeType="withEffect">
                                  <p:stCondLst>
                                    <p:cond delay="0"/>
                                  </p:stCondLst>
                                  <p:childTnLst>
                                    <p:set>
                                      <p:cBhvr>
                                        <p:cTn id="116" dur="1" fill="hold">
                                          <p:stCondLst>
                                            <p:cond delay="0"/>
                                          </p:stCondLst>
                                        </p:cTn>
                                        <p:tgtEl>
                                          <p:spTgt spid="103"/>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xit" presetSubtype="0" fill="hold" grpId="1" nodeType="clickEffect">
                                  <p:stCondLst>
                                    <p:cond delay="0"/>
                                  </p:stCondLst>
                                  <p:childTnLst>
                                    <p:set>
                                      <p:cBhvr>
                                        <p:cTn id="120" dur="1" fill="hold">
                                          <p:stCondLst>
                                            <p:cond delay="0"/>
                                          </p:stCondLst>
                                        </p:cTn>
                                        <p:tgtEl>
                                          <p:spTgt spid="103"/>
                                        </p:tgtEl>
                                        <p:attrNameLst>
                                          <p:attrName>style.visibility</p:attrName>
                                        </p:attrNameLst>
                                      </p:cBhvr>
                                      <p:to>
                                        <p:strVal val="hidden"/>
                                      </p:to>
                                    </p:set>
                                  </p:childTnLst>
                                </p:cTn>
                              </p:par>
                              <p:par>
                                <p:cTn id="121" presetID="1" presetClass="entr" presetSubtype="0" fill="hold" grpId="0" nodeType="withEffect">
                                  <p:stCondLst>
                                    <p:cond delay="0"/>
                                  </p:stCondLst>
                                  <p:childTnLst>
                                    <p:set>
                                      <p:cBhvr>
                                        <p:cTn id="122" dur="1" fill="hold">
                                          <p:stCondLst>
                                            <p:cond delay="0"/>
                                          </p:stCondLst>
                                        </p:cTn>
                                        <p:tgtEl>
                                          <p:spTgt spid="77"/>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79"/>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84"/>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97"/>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98"/>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88"/>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80"/>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76"/>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67"/>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70"/>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85"/>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89"/>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nodeType="clickEffect">
                                  <p:stCondLst>
                                    <p:cond delay="0"/>
                                  </p:stCondLst>
                                  <p:childTnLst>
                                    <p:set>
                                      <p:cBhvr>
                                        <p:cTn id="160" dur="1" fill="hold">
                                          <p:stCondLst>
                                            <p:cond delay="0"/>
                                          </p:stCondLst>
                                        </p:cTn>
                                        <p:tgtEl>
                                          <p:spTgt spid="68"/>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animBg="1"/>
      <p:bldP spid="57" grpId="0" animBg="1"/>
      <p:bldP spid="58" grpId="0" animBg="1"/>
      <p:bldP spid="59" grpId="0"/>
      <p:bldP spid="60" grpId="0"/>
      <p:bldP spid="61" grpId="0"/>
      <p:bldP spid="62" grpId="0"/>
      <p:bldP spid="69" grpId="0"/>
      <p:bldP spid="70" grpId="0"/>
      <p:bldP spid="71" grpId="0"/>
      <p:bldP spid="72" grpId="0"/>
      <p:bldP spid="73" grpId="0"/>
      <p:bldP spid="74" grpId="0"/>
      <p:bldP spid="75" grpId="0"/>
      <p:bldP spid="76" grpId="0"/>
      <p:bldP spid="77" grpId="0"/>
      <p:bldP spid="81" grpId="0"/>
      <p:bldP spid="86" grpId="0"/>
      <p:bldP spid="87" grpId="0"/>
      <p:bldP spid="88" grpId="0"/>
      <p:bldP spid="89" grpId="0"/>
      <p:bldP spid="90" grpId="0" animBg="1"/>
      <p:bldP spid="93" grpId="0" animBg="1"/>
      <p:bldP spid="95" grpId="0" animBg="1"/>
      <p:bldP spid="97" grpId="0" animBg="1"/>
      <p:bldP spid="99" grpId="0" animBg="1"/>
      <p:bldP spid="99" grpId="1" animBg="1"/>
      <p:bldP spid="100" grpId="0" animBg="1"/>
      <p:bldP spid="100" grpId="1" animBg="1"/>
      <p:bldP spid="101" grpId="0" animBg="1"/>
      <p:bldP spid="101" grpId="1" animBg="1"/>
      <p:bldP spid="102" grpId="0" animBg="1"/>
      <p:bldP spid="102" grpId="1" animBg="1"/>
      <p:bldP spid="103" grpId="0" animBg="1"/>
      <p:bldP spid="103" grpId="1"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A Centralized Algorithm – Advantages and Disadvantages</a:t>
            </a:r>
          </a:p>
        </p:txBody>
      </p:sp>
      <p:sp>
        <p:nvSpPr>
          <p:cNvPr id="28" name="Content Placeholder 2">
            <a:extLst>
              <a:ext uri="{FF2B5EF4-FFF2-40B4-BE49-F238E27FC236}">
                <a16:creationId xmlns:a16="http://schemas.microsoft.com/office/drawing/2014/main" id="{05FF24D1-5277-417B-BCE3-776DD62CA93A}"/>
              </a:ext>
            </a:extLst>
          </p:cNvPr>
          <p:cNvSpPr>
            <a:spLocks noGrp="1"/>
          </p:cNvSpPr>
          <p:nvPr>
            <p:ph idx="1"/>
          </p:nvPr>
        </p:nvSpPr>
        <p:spPr/>
        <p:txBody>
          <a:bodyPr>
            <a:noAutofit/>
          </a:bodyPr>
          <a:lstStyle/>
          <a:p>
            <a:pPr marL="0" indent="0">
              <a:lnSpc>
                <a:spcPct val="100000"/>
              </a:lnSpc>
              <a:spcBef>
                <a:spcPts val="300"/>
              </a:spcBef>
              <a:spcAft>
                <a:spcPts val="300"/>
              </a:spcAft>
              <a:buNone/>
            </a:pPr>
            <a:r>
              <a:rPr lang="en-US" altLang="en-US" sz="2800" b="1" dirty="0">
                <a:latin typeface="+mj-lt"/>
                <a:ea typeface="MS PGothic" panose="020B0600070205080204" pitchFamily="34" charset="-128"/>
              </a:rPr>
              <a:t>Advantages</a:t>
            </a:r>
          </a:p>
          <a:p>
            <a:pPr>
              <a:lnSpc>
                <a:spcPct val="100000"/>
              </a:lnSpc>
              <a:spcBef>
                <a:spcPts val="300"/>
              </a:spcBef>
              <a:spcAft>
                <a:spcPts val="300"/>
              </a:spcAft>
            </a:pPr>
            <a:r>
              <a:rPr lang="en-US" altLang="en-US" dirty="0">
                <a:solidFill>
                  <a:srgbClr val="1D6199"/>
                </a:solidFill>
                <a:latin typeface="+mj-lt"/>
                <a:ea typeface="MS PGothic" panose="020B0600070205080204" pitchFamily="34" charset="-128"/>
              </a:rPr>
              <a:t>Flexibility </a:t>
            </a:r>
            <a:r>
              <a:rPr lang="en-US" altLang="en-US" dirty="0">
                <a:latin typeface="+mj-lt"/>
                <a:ea typeface="MS PGothic" panose="020B0600070205080204" pitchFamily="34" charset="-128"/>
              </a:rPr>
              <a:t>: </a:t>
            </a:r>
            <a:r>
              <a:rPr lang="en-US" altLang="en-US" dirty="0">
                <a:latin typeface="+mj-lt"/>
                <a:ea typeface="Arial" panose="020B0604020202020204" pitchFamily="34" charset="0"/>
              </a:rPr>
              <a:t>Blocking versus non-blocking requests</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The coordinator can block the requesting process until the resource is free</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Or, the coordinator can send a “permission-denied” message back to the process</a:t>
            </a:r>
          </a:p>
          <a:p>
            <a:pPr marL="265113" lvl="1" indent="-265113">
              <a:lnSpc>
                <a:spcPct val="100000"/>
              </a:lnSpc>
              <a:spcBef>
                <a:spcPts val="300"/>
              </a:spcBef>
              <a:spcAft>
                <a:spcPts val="300"/>
              </a:spcAft>
              <a:buFont typeface="Webdings" panose="05030102010509060703" pitchFamily="18" charset="2"/>
              <a:buChar char=""/>
            </a:pPr>
            <a:r>
              <a:rPr lang="en-US" altLang="en-US" sz="2400" dirty="0">
                <a:solidFill>
                  <a:srgbClr val="1D6199"/>
                </a:solidFill>
                <a:latin typeface="+mj-lt"/>
                <a:ea typeface="MS PGothic" panose="020B0600070205080204" pitchFamily="34" charset="-128"/>
              </a:rPr>
              <a:t>Simplicity</a:t>
            </a:r>
            <a:r>
              <a:rPr lang="en-US" altLang="en-US" sz="2400" dirty="0">
                <a:latin typeface="+mj-lt"/>
                <a:ea typeface="MS PGothic" panose="020B0600070205080204" pitchFamily="34" charset="-128"/>
              </a:rPr>
              <a:t> : </a:t>
            </a:r>
            <a:r>
              <a:rPr lang="en-US" altLang="en-US" sz="2400" dirty="0">
                <a:latin typeface="+mj-lt"/>
                <a:ea typeface="Arial" panose="020B0604020202020204" pitchFamily="34" charset="0"/>
              </a:rPr>
              <a:t>The algorithm guarantees mutual exclusion, and is simple to implement</a:t>
            </a:r>
          </a:p>
          <a:p>
            <a:pPr marL="0" indent="0">
              <a:lnSpc>
                <a:spcPct val="100000"/>
              </a:lnSpc>
              <a:spcBef>
                <a:spcPts val="300"/>
              </a:spcBef>
              <a:spcAft>
                <a:spcPts val="300"/>
              </a:spcAft>
              <a:buNone/>
            </a:pPr>
            <a:r>
              <a:rPr lang="en-US" altLang="en-US" sz="2800" b="1" dirty="0">
                <a:latin typeface="+mj-lt"/>
                <a:ea typeface="MS PGothic" panose="020B0600070205080204" pitchFamily="34" charset="-128"/>
              </a:rPr>
              <a:t>Disadvantages</a:t>
            </a:r>
          </a:p>
          <a:p>
            <a:pPr>
              <a:lnSpc>
                <a:spcPct val="110000"/>
              </a:lnSpc>
              <a:spcBef>
                <a:spcPts val="300"/>
              </a:spcBef>
              <a:spcAft>
                <a:spcPts val="300"/>
              </a:spcAft>
            </a:pPr>
            <a:r>
              <a:rPr lang="en-US" altLang="en-US" dirty="0">
                <a:solidFill>
                  <a:srgbClr val="1D6199"/>
                </a:solidFill>
                <a:latin typeface="+mj-lt"/>
                <a:ea typeface="MS PGothic" panose="020B0600070205080204" pitchFamily="34" charset="-128"/>
              </a:rPr>
              <a:t>Fault-Tolerance Deficiency </a:t>
            </a:r>
            <a:r>
              <a:rPr lang="en-US" altLang="en-US" dirty="0">
                <a:latin typeface="+mj-lt"/>
                <a:ea typeface="MS PGothic" panose="020B0600070205080204" pitchFamily="34" charset="-128"/>
              </a:rPr>
              <a:t>: </a:t>
            </a:r>
            <a:r>
              <a:rPr lang="en-US" altLang="en-US" dirty="0">
                <a:latin typeface="+mj-lt"/>
                <a:ea typeface="Arial" panose="020B0604020202020204" pitchFamily="34" charset="0"/>
              </a:rPr>
              <a:t>Centralized algorithm is vulnerable to a single-point of failure (at coordinator)</a:t>
            </a:r>
          </a:p>
          <a:p>
            <a:pPr lvl="1">
              <a:lnSpc>
                <a:spcPct val="11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If processes normally block after making a request, they cannot distinguish a dead coordinator from ‘‘permission denied’’ since no message comes back.</a:t>
            </a:r>
          </a:p>
          <a:p>
            <a:pPr marL="265113" lvl="1" indent="-265113">
              <a:lnSpc>
                <a:spcPct val="110000"/>
              </a:lnSpc>
              <a:spcBef>
                <a:spcPts val="300"/>
              </a:spcBef>
              <a:spcAft>
                <a:spcPts val="300"/>
              </a:spcAft>
              <a:buFont typeface="Webdings" panose="05030102010509060703" pitchFamily="18" charset="2"/>
              <a:buChar char=""/>
            </a:pPr>
            <a:r>
              <a:rPr lang="en-US" altLang="en-US" sz="2400" dirty="0">
                <a:solidFill>
                  <a:srgbClr val="1D6199"/>
                </a:solidFill>
                <a:latin typeface="+mj-lt"/>
                <a:ea typeface="MS PGothic" panose="020B0600070205080204" pitchFamily="34" charset="-128"/>
              </a:rPr>
              <a:t>Performance Bottleneck </a:t>
            </a:r>
            <a:r>
              <a:rPr lang="en-US" altLang="en-US" sz="2400" dirty="0">
                <a:latin typeface="+mj-lt"/>
                <a:ea typeface="MS PGothic" panose="020B0600070205080204" pitchFamily="34" charset="-128"/>
              </a:rPr>
              <a:t>: </a:t>
            </a:r>
            <a:r>
              <a:rPr lang="en-US" altLang="en-US" sz="2400" dirty="0">
                <a:latin typeface="+mj-lt"/>
                <a:ea typeface="Arial" panose="020B0604020202020204" pitchFamily="34" charset="0"/>
              </a:rPr>
              <a:t>In a large-scale system, single coordinator can be overwhelmed with requests</a:t>
            </a:r>
          </a:p>
        </p:txBody>
      </p:sp>
    </p:spTree>
    <p:extLst>
      <p:ext uri="{BB962C8B-B14F-4D97-AF65-F5344CB8AC3E}">
        <p14:creationId xmlns:p14="http://schemas.microsoft.com/office/powerpoint/2010/main" val="1568175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Distributed Mutual Exclusion Algorithm</a:t>
            </a:r>
          </a:p>
        </p:txBody>
      </p:sp>
      <p:sp>
        <p:nvSpPr>
          <p:cNvPr id="28" name="Content Placeholder 2">
            <a:extLst>
              <a:ext uri="{FF2B5EF4-FFF2-40B4-BE49-F238E27FC236}">
                <a16:creationId xmlns:a16="http://schemas.microsoft.com/office/drawing/2014/main" id="{05FF24D1-5277-417B-BCE3-776DD62CA93A}"/>
              </a:ext>
            </a:extLst>
          </p:cNvPr>
          <p:cNvSpPr>
            <a:spLocks noGrp="1"/>
          </p:cNvSpPr>
          <p:nvPr>
            <p:ph idx="1"/>
          </p:nvPr>
        </p:nvSpPr>
        <p:spPr/>
        <p:txBody>
          <a:bodyPr>
            <a:noAutofit/>
          </a:bodyPr>
          <a:lstStyle/>
          <a:p>
            <a:pPr>
              <a:lnSpc>
                <a:spcPct val="100000"/>
              </a:lnSpc>
              <a:spcBef>
                <a:spcPts val="300"/>
              </a:spcBef>
              <a:spcAft>
                <a:spcPts val="300"/>
              </a:spcAft>
            </a:pPr>
            <a:r>
              <a:rPr lang="en-US" altLang="en-US" dirty="0">
                <a:latin typeface="+mj-lt"/>
                <a:ea typeface="MS PGothic" panose="020B0600070205080204" pitchFamily="34" charset="-128"/>
              </a:rPr>
              <a:t>When a process wants to enter the </a:t>
            </a:r>
            <a:r>
              <a:rPr lang="en-US" altLang="en-US" b="1" dirty="0">
                <a:solidFill>
                  <a:srgbClr val="1D6199"/>
                </a:solidFill>
                <a:latin typeface="+mj-lt"/>
                <a:ea typeface="MS PGothic" panose="020B0600070205080204" pitchFamily="34" charset="-128"/>
              </a:rPr>
              <a:t>CS (critical section) </a:t>
            </a:r>
            <a:r>
              <a:rPr lang="en-US" altLang="en-US" dirty="0">
                <a:latin typeface="+mj-lt"/>
                <a:ea typeface="MS PGothic" panose="020B0600070205080204" pitchFamily="34" charset="-128"/>
              </a:rPr>
              <a:t>, it sends a request message to all other processes, and when it receives reply from all processes, then only it is allowed to enter the CS.</a:t>
            </a:r>
          </a:p>
          <a:p>
            <a:pPr>
              <a:lnSpc>
                <a:spcPct val="100000"/>
              </a:lnSpc>
              <a:spcBef>
                <a:spcPts val="300"/>
              </a:spcBef>
              <a:spcAft>
                <a:spcPts val="300"/>
              </a:spcAft>
            </a:pPr>
            <a:r>
              <a:rPr lang="en-US" altLang="en-US" dirty="0">
                <a:latin typeface="+mj-lt"/>
                <a:ea typeface="MS PGothic" panose="020B0600070205080204" pitchFamily="34" charset="-128"/>
              </a:rPr>
              <a:t>The request message contains following information:</a:t>
            </a:r>
          </a:p>
          <a:p>
            <a:pPr lvl="1">
              <a:lnSpc>
                <a:spcPct val="100000"/>
              </a:lnSpc>
              <a:spcBef>
                <a:spcPts val="200"/>
              </a:spcBef>
              <a:spcAft>
                <a:spcPts val="200"/>
              </a:spcAft>
              <a:buFont typeface="Wingdings" panose="05000000000000000000" pitchFamily="2" charset="2"/>
              <a:buChar char="§"/>
            </a:pPr>
            <a:r>
              <a:rPr lang="en-US" altLang="en-US" sz="2400" dirty="0">
                <a:solidFill>
                  <a:srgbClr val="1D6199"/>
                </a:solidFill>
                <a:latin typeface="+mj-lt"/>
                <a:ea typeface="Arial" panose="020B0604020202020204" pitchFamily="34" charset="0"/>
              </a:rPr>
              <a:t>Process identifier</a:t>
            </a:r>
          </a:p>
          <a:p>
            <a:pPr lvl="1">
              <a:lnSpc>
                <a:spcPct val="100000"/>
              </a:lnSpc>
              <a:spcBef>
                <a:spcPts val="200"/>
              </a:spcBef>
              <a:spcAft>
                <a:spcPts val="200"/>
              </a:spcAft>
              <a:buFont typeface="Wingdings" panose="05000000000000000000" pitchFamily="2" charset="2"/>
              <a:buChar char="§"/>
            </a:pPr>
            <a:r>
              <a:rPr lang="en-US" altLang="en-US" sz="2400" dirty="0">
                <a:solidFill>
                  <a:srgbClr val="1D6199"/>
                </a:solidFill>
                <a:latin typeface="+mj-lt"/>
                <a:ea typeface="Arial" panose="020B0604020202020204" pitchFamily="34" charset="0"/>
              </a:rPr>
              <a:t>Name of CS</a:t>
            </a:r>
          </a:p>
          <a:p>
            <a:pPr lvl="1">
              <a:lnSpc>
                <a:spcPct val="100000"/>
              </a:lnSpc>
              <a:spcBef>
                <a:spcPts val="200"/>
              </a:spcBef>
              <a:spcAft>
                <a:spcPts val="200"/>
              </a:spcAft>
              <a:buFont typeface="Wingdings" panose="05000000000000000000" pitchFamily="2" charset="2"/>
              <a:buChar char="§"/>
            </a:pPr>
            <a:r>
              <a:rPr lang="en-US" altLang="en-US" sz="2400" dirty="0">
                <a:solidFill>
                  <a:srgbClr val="1D6199"/>
                </a:solidFill>
                <a:latin typeface="+mj-lt"/>
                <a:ea typeface="Arial" panose="020B0604020202020204" pitchFamily="34" charset="0"/>
              </a:rPr>
              <a:t>Unique time stamp generated by process for request message</a:t>
            </a:r>
          </a:p>
        </p:txBody>
      </p:sp>
    </p:spTree>
    <p:extLst>
      <p:ext uri="{BB962C8B-B14F-4D97-AF65-F5344CB8AC3E}">
        <p14:creationId xmlns:p14="http://schemas.microsoft.com/office/powerpoint/2010/main" val="2961971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Distributed Mutual Exclusion Algorithm</a:t>
            </a:r>
          </a:p>
        </p:txBody>
      </p:sp>
      <p:sp>
        <p:nvSpPr>
          <p:cNvPr id="28" name="Content Placeholder 2">
            <a:extLst>
              <a:ext uri="{FF2B5EF4-FFF2-40B4-BE49-F238E27FC236}">
                <a16:creationId xmlns:a16="http://schemas.microsoft.com/office/drawing/2014/main" id="{05FF24D1-5277-417B-BCE3-776DD62CA93A}"/>
              </a:ext>
            </a:extLst>
          </p:cNvPr>
          <p:cNvSpPr>
            <a:spLocks noGrp="1"/>
          </p:cNvSpPr>
          <p:nvPr>
            <p:ph idx="1"/>
          </p:nvPr>
        </p:nvSpPr>
        <p:spPr/>
        <p:txBody>
          <a:bodyPr>
            <a:noAutofit/>
          </a:bodyPr>
          <a:lstStyle/>
          <a:p>
            <a:pPr>
              <a:lnSpc>
                <a:spcPct val="113000"/>
              </a:lnSpc>
            </a:pPr>
            <a:r>
              <a:rPr lang="en-US" altLang="en-US" dirty="0"/>
              <a:t>The decision whether receiving process replies immediately to a request message or defers its reply is based on three cases:</a:t>
            </a:r>
          </a:p>
          <a:p>
            <a:pPr marL="914400" lvl="1" indent="-457200">
              <a:lnSpc>
                <a:spcPct val="113000"/>
              </a:lnSpc>
              <a:buFont typeface="+mj-lt"/>
              <a:buAutoNum type="arabicPeriod"/>
            </a:pPr>
            <a:r>
              <a:rPr lang="en-US" altLang="en-US" sz="2400" dirty="0"/>
              <a:t>If </a:t>
            </a:r>
            <a:r>
              <a:rPr lang="en-US" altLang="en-US" sz="2400" dirty="0">
                <a:solidFill>
                  <a:srgbClr val="1D6199"/>
                </a:solidFill>
              </a:rPr>
              <a:t>receiver </a:t>
            </a:r>
            <a:r>
              <a:rPr lang="en-US" altLang="en-US" sz="2400" dirty="0"/>
              <a:t>process is in its </a:t>
            </a:r>
            <a:r>
              <a:rPr lang="en-US" altLang="en-US" sz="2400" dirty="0">
                <a:solidFill>
                  <a:srgbClr val="1D6199"/>
                </a:solidFill>
              </a:rPr>
              <a:t>critical section, </a:t>
            </a:r>
            <a:r>
              <a:rPr lang="en-US" altLang="en-US" sz="2400" dirty="0"/>
              <a:t>then it </a:t>
            </a:r>
            <a:r>
              <a:rPr lang="en-US" altLang="en-US" sz="2400" dirty="0">
                <a:solidFill>
                  <a:srgbClr val="1D6199"/>
                </a:solidFill>
              </a:rPr>
              <a:t>defers its reply.</a:t>
            </a:r>
          </a:p>
          <a:p>
            <a:pPr marL="914400" lvl="1" indent="-457200">
              <a:lnSpc>
                <a:spcPct val="113000"/>
              </a:lnSpc>
              <a:buFont typeface="+mj-lt"/>
              <a:buAutoNum type="arabicPeriod"/>
            </a:pPr>
            <a:r>
              <a:rPr lang="en-US" altLang="en-US" sz="2400" dirty="0"/>
              <a:t>If </a:t>
            </a:r>
            <a:r>
              <a:rPr lang="en-US" altLang="en-US" sz="2400" dirty="0">
                <a:solidFill>
                  <a:srgbClr val="1D6199"/>
                </a:solidFill>
              </a:rPr>
              <a:t>receiver</a:t>
            </a:r>
            <a:r>
              <a:rPr lang="en-US" altLang="en-US" sz="2400" dirty="0">
                <a:solidFill>
                  <a:schemeClr val="accent6"/>
                </a:solidFill>
              </a:rPr>
              <a:t> </a:t>
            </a:r>
            <a:r>
              <a:rPr lang="en-US" altLang="en-US" sz="2400" dirty="0"/>
              <a:t>process does </a:t>
            </a:r>
            <a:r>
              <a:rPr lang="en-US" altLang="en-US" sz="2400" dirty="0">
                <a:solidFill>
                  <a:srgbClr val="1D6199"/>
                </a:solidFill>
              </a:rPr>
              <a:t>not want to enter its critical section</a:t>
            </a:r>
            <a:r>
              <a:rPr lang="en-US" altLang="en-US" sz="2400" dirty="0"/>
              <a:t>, then it immediately </a:t>
            </a:r>
            <a:r>
              <a:rPr lang="en-US" altLang="en-US" sz="2400" dirty="0">
                <a:solidFill>
                  <a:srgbClr val="1D6199"/>
                </a:solidFill>
              </a:rPr>
              <a:t>sends a reply.</a:t>
            </a:r>
          </a:p>
          <a:p>
            <a:pPr marL="914400" lvl="1" indent="-457200">
              <a:lnSpc>
                <a:spcPct val="113000"/>
              </a:lnSpc>
              <a:buFont typeface="+mj-lt"/>
              <a:buAutoNum type="arabicPeriod"/>
            </a:pPr>
            <a:r>
              <a:rPr lang="en-US" altLang="en-US" sz="2400" dirty="0"/>
              <a:t>If </a:t>
            </a:r>
            <a:r>
              <a:rPr lang="en-US" altLang="en-US" sz="2400" dirty="0">
                <a:solidFill>
                  <a:srgbClr val="1D6199"/>
                </a:solidFill>
              </a:rPr>
              <a:t>receiver</a:t>
            </a:r>
            <a:r>
              <a:rPr lang="en-US" altLang="en-US" sz="2400" dirty="0">
                <a:solidFill>
                  <a:schemeClr val="accent6"/>
                </a:solidFill>
              </a:rPr>
              <a:t> </a:t>
            </a:r>
            <a:r>
              <a:rPr lang="en-US" altLang="en-US" sz="2400" dirty="0"/>
              <a:t>process itself is </a:t>
            </a:r>
            <a:r>
              <a:rPr lang="en-US" altLang="en-US" sz="2400" dirty="0">
                <a:solidFill>
                  <a:srgbClr val="1D6199"/>
                </a:solidFill>
              </a:rPr>
              <a:t>waiting to enter critical section</a:t>
            </a:r>
            <a:r>
              <a:rPr lang="en-US" altLang="en-US" sz="2400" dirty="0"/>
              <a:t>, then it compares its own request timestamp with the timestamp in request message</a:t>
            </a:r>
          </a:p>
          <a:p>
            <a:pPr lvl="3">
              <a:lnSpc>
                <a:spcPct val="113000"/>
              </a:lnSpc>
            </a:pPr>
            <a:r>
              <a:rPr lang="en-US" altLang="en-US" sz="2400" dirty="0"/>
              <a:t>If its </a:t>
            </a:r>
            <a:r>
              <a:rPr lang="en-US" altLang="en-US" sz="2400" dirty="0">
                <a:solidFill>
                  <a:srgbClr val="1D6199"/>
                </a:solidFill>
              </a:rPr>
              <a:t>own request timestamp is greater </a:t>
            </a:r>
            <a:r>
              <a:rPr lang="en-US" altLang="en-US" sz="2400" dirty="0"/>
              <a:t>than timestamp in request message, then it </a:t>
            </a:r>
            <a:r>
              <a:rPr lang="en-US" altLang="en-US" sz="2400" dirty="0">
                <a:solidFill>
                  <a:srgbClr val="1D6199"/>
                </a:solidFill>
              </a:rPr>
              <a:t>sends a reply </a:t>
            </a:r>
            <a:r>
              <a:rPr lang="en-US" altLang="en-US" sz="2400" dirty="0"/>
              <a:t>immediately.</a:t>
            </a:r>
          </a:p>
          <a:p>
            <a:pPr lvl="3">
              <a:lnSpc>
                <a:spcPct val="113000"/>
              </a:lnSpc>
            </a:pPr>
            <a:r>
              <a:rPr lang="en-US" altLang="en-US" sz="2400" dirty="0"/>
              <a:t>Otherwise, the </a:t>
            </a:r>
            <a:r>
              <a:rPr lang="en-US" altLang="en-US" sz="2400" dirty="0">
                <a:solidFill>
                  <a:srgbClr val="1D6199"/>
                </a:solidFill>
              </a:rPr>
              <a:t>reply is deferred.</a:t>
            </a:r>
          </a:p>
        </p:txBody>
      </p:sp>
    </p:spTree>
    <p:extLst>
      <p:ext uri="{BB962C8B-B14F-4D97-AF65-F5344CB8AC3E}">
        <p14:creationId xmlns:p14="http://schemas.microsoft.com/office/powerpoint/2010/main" val="3990758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Distributed Mutual Exclusion Algorithm</a:t>
            </a:r>
          </a:p>
        </p:txBody>
      </p:sp>
      <p:sp>
        <p:nvSpPr>
          <p:cNvPr id="100" name="Line 16">
            <a:extLst>
              <a:ext uri="{FF2B5EF4-FFF2-40B4-BE49-F238E27FC236}">
                <a16:creationId xmlns:a16="http://schemas.microsoft.com/office/drawing/2014/main" id="{FD39C400-AC4C-438A-A087-D09E994DD81C}"/>
              </a:ext>
            </a:extLst>
          </p:cNvPr>
          <p:cNvSpPr>
            <a:spLocks noChangeShapeType="1"/>
          </p:cNvSpPr>
          <p:nvPr/>
        </p:nvSpPr>
        <p:spPr bwMode="auto">
          <a:xfrm>
            <a:off x="6831230" y="1358767"/>
            <a:ext cx="1927226" cy="0"/>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IN" sz="2000">
              <a:latin typeface="+mj-lt"/>
            </a:endParaRPr>
          </a:p>
        </p:txBody>
      </p:sp>
      <p:sp>
        <p:nvSpPr>
          <p:cNvPr id="101" name="Line 17">
            <a:extLst>
              <a:ext uri="{FF2B5EF4-FFF2-40B4-BE49-F238E27FC236}">
                <a16:creationId xmlns:a16="http://schemas.microsoft.com/office/drawing/2014/main" id="{C10AFD12-45B3-465C-A3E1-26E27892333E}"/>
              </a:ext>
            </a:extLst>
          </p:cNvPr>
          <p:cNvSpPr>
            <a:spLocks noChangeShapeType="1"/>
          </p:cNvSpPr>
          <p:nvPr/>
        </p:nvSpPr>
        <p:spPr bwMode="auto">
          <a:xfrm>
            <a:off x="8944194" y="1673092"/>
            <a:ext cx="0" cy="981075"/>
          </a:xfrm>
          <a:prstGeom prst="line">
            <a:avLst/>
          </a:prstGeom>
          <a:noFill/>
          <a:ln w="19050">
            <a:solidFill>
              <a:schemeClr val="tx1"/>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en-IN" sz="2000">
              <a:latin typeface="+mj-lt"/>
            </a:endParaRPr>
          </a:p>
        </p:txBody>
      </p:sp>
      <p:sp>
        <p:nvSpPr>
          <p:cNvPr id="102" name="Text Box 25">
            <a:extLst>
              <a:ext uri="{FF2B5EF4-FFF2-40B4-BE49-F238E27FC236}">
                <a16:creationId xmlns:a16="http://schemas.microsoft.com/office/drawing/2014/main" id="{F66B6F85-764C-46E9-B4FA-CD5B265657E4}"/>
              </a:ext>
            </a:extLst>
          </p:cNvPr>
          <p:cNvSpPr txBox="1">
            <a:spLocks noChangeArrowheads="1"/>
          </p:cNvSpPr>
          <p:nvPr/>
        </p:nvSpPr>
        <p:spPr bwMode="auto">
          <a:xfrm>
            <a:off x="7602756" y="1047617"/>
            <a:ext cx="8382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OK</a:t>
            </a:r>
          </a:p>
        </p:txBody>
      </p:sp>
      <p:sp>
        <p:nvSpPr>
          <p:cNvPr id="103" name="Text Box 26">
            <a:extLst>
              <a:ext uri="{FF2B5EF4-FFF2-40B4-BE49-F238E27FC236}">
                <a16:creationId xmlns:a16="http://schemas.microsoft.com/office/drawing/2014/main" id="{39171B83-E0F8-4E6E-A265-14EEDC3B909B}"/>
              </a:ext>
            </a:extLst>
          </p:cNvPr>
          <p:cNvSpPr txBox="1">
            <a:spLocks noChangeArrowheads="1"/>
          </p:cNvSpPr>
          <p:nvPr/>
        </p:nvSpPr>
        <p:spPr bwMode="auto">
          <a:xfrm rot="1832236">
            <a:off x="7475755" y="1914362"/>
            <a:ext cx="8382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OK</a:t>
            </a:r>
          </a:p>
        </p:txBody>
      </p:sp>
      <p:sp>
        <p:nvSpPr>
          <p:cNvPr id="104" name="Text Box 28">
            <a:extLst>
              <a:ext uri="{FF2B5EF4-FFF2-40B4-BE49-F238E27FC236}">
                <a16:creationId xmlns:a16="http://schemas.microsoft.com/office/drawing/2014/main" id="{84B2CF4C-09AD-45A2-BE41-C2FFE84081E5}"/>
              </a:ext>
            </a:extLst>
          </p:cNvPr>
          <p:cNvSpPr txBox="1">
            <a:spLocks noChangeArrowheads="1"/>
          </p:cNvSpPr>
          <p:nvPr/>
        </p:nvSpPr>
        <p:spPr bwMode="auto">
          <a:xfrm>
            <a:off x="7585293" y="3276467"/>
            <a:ext cx="685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b="1" dirty="0">
                <a:latin typeface="+mj-lt"/>
              </a:rPr>
              <a:t>(b)</a:t>
            </a:r>
          </a:p>
        </p:txBody>
      </p:sp>
      <p:grpSp>
        <p:nvGrpSpPr>
          <p:cNvPr id="105" name="Group 104">
            <a:extLst>
              <a:ext uri="{FF2B5EF4-FFF2-40B4-BE49-F238E27FC236}">
                <a16:creationId xmlns:a16="http://schemas.microsoft.com/office/drawing/2014/main" id="{F2745FAF-46B1-4625-A30A-7F3CD38E62A7}"/>
              </a:ext>
            </a:extLst>
          </p:cNvPr>
          <p:cNvGrpSpPr/>
          <p:nvPr/>
        </p:nvGrpSpPr>
        <p:grpSpPr>
          <a:xfrm>
            <a:off x="6381635" y="1213375"/>
            <a:ext cx="469464" cy="445408"/>
            <a:chOff x="4738503" y="1597348"/>
            <a:chExt cx="469464" cy="445408"/>
          </a:xfrm>
        </p:grpSpPr>
        <p:sp>
          <p:nvSpPr>
            <p:cNvPr id="106" name="Oval 105">
              <a:extLst>
                <a:ext uri="{FF2B5EF4-FFF2-40B4-BE49-F238E27FC236}">
                  <a16:creationId xmlns:a16="http://schemas.microsoft.com/office/drawing/2014/main" id="{D7ED1FFC-AE31-4EDA-ADF5-C5357DA922D3}"/>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07" name="TextBox 106">
              <a:extLst>
                <a:ext uri="{FF2B5EF4-FFF2-40B4-BE49-F238E27FC236}">
                  <a16:creationId xmlns:a16="http://schemas.microsoft.com/office/drawing/2014/main" id="{88ECCCFC-3F6E-4388-B8E4-3B4B00237FA9}"/>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1</a:t>
              </a:r>
            </a:p>
          </p:txBody>
        </p:sp>
      </p:grpSp>
      <p:grpSp>
        <p:nvGrpSpPr>
          <p:cNvPr id="108" name="Group 107">
            <a:extLst>
              <a:ext uri="{FF2B5EF4-FFF2-40B4-BE49-F238E27FC236}">
                <a16:creationId xmlns:a16="http://schemas.microsoft.com/office/drawing/2014/main" id="{ED252FBB-F4CF-47CF-832D-A5032645A6D8}"/>
              </a:ext>
            </a:extLst>
          </p:cNvPr>
          <p:cNvGrpSpPr/>
          <p:nvPr/>
        </p:nvGrpSpPr>
        <p:grpSpPr>
          <a:xfrm>
            <a:off x="6381635" y="2657978"/>
            <a:ext cx="469464" cy="445408"/>
            <a:chOff x="4738503" y="1597348"/>
            <a:chExt cx="469464" cy="445408"/>
          </a:xfrm>
        </p:grpSpPr>
        <p:sp>
          <p:nvSpPr>
            <p:cNvPr id="109" name="Oval 108">
              <a:extLst>
                <a:ext uri="{FF2B5EF4-FFF2-40B4-BE49-F238E27FC236}">
                  <a16:creationId xmlns:a16="http://schemas.microsoft.com/office/drawing/2014/main" id="{10689058-652A-4262-8F03-EBD58F850BF6}"/>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10" name="TextBox 109">
              <a:extLst>
                <a:ext uri="{FF2B5EF4-FFF2-40B4-BE49-F238E27FC236}">
                  <a16:creationId xmlns:a16="http://schemas.microsoft.com/office/drawing/2014/main" id="{DE9EAF3D-83E5-4A09-B218-926BCCCDDE1A}"/>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4</a:t>
              </a:r>
            </a:p>
          </p:txBody>
        </p:sp>
      </p:grpSp>
      <p:grpSp>
        <p:nvGrpSpPr>
          <p:cNvPr id="111" name="Group 110">
            <a:extLst>
              <a:ext uri="{FF2B5EF4-FFF2-40B4-BE49-F238E27FC236}">
                <a16:creationId xmlns:a16="http://schemas.microsoft.com/office/drawing/2014/main" id="{39FC72C4-0D01-44E6-92AD-F702790448DE}"/>
              </a:ext>
            </a:extLst>
          </p:cNvPr>
          <p:cNvGrpSpPr/>
          <p:nvPr/>
        </p:nvGrpSpPr>
        <p:grpSpPr>
          <a:xfrm>
            <a:off x="8719829" y="2650960"/>
            <a:ext cx="469464" cy="445408"/>
            <a:chOff x="4738503" y="1597348"/>
            <a:chExt cx="469464" cy="445408"/>
          </a:xfrm>
        </p:grpSpPr>
        <p:sp>
          <p:nvSpPr>
            <p:cNvPr id="112" name="Oval 111">
              <a:extLst>
                <a:ext uri="{FF2B5EF4-FFF2-40B4-BE49-F238E27FC236}">
                  <a16:creationId xmlns:a16="http://schemas.microsoft.com/office/drawing/2014/main" id="{2DD5B06F-80F8-4387-94F7-A1E4D3B908B7}"/>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13" name="TextBox 112">
              <a:extLst>
                <a:ext uri="{FF2B5EF4-FFF2-40B4-BE49-F238E27FC236}">
                  <a16:creationId xmlns:a16="http://schemas.microsoft.com/office/drawing/2014/main" id="{5487F23E-F07A-4AC1-8236-9629D94AFB15}"/>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3</a:t>
              </a:r>
            </a:p>
          </p:txBody>
        </p:sp>
      </p:grpSp>
      <p:grpSp>
        <p:nvGrpSpPr>
          <p:cNvPr id="114" name="Group 113">
            <a:extLst>
              <a:ext uri="{FF2B5EF4-FFF2-40B4-BE49-F238E27FC236}">
                <a16:creationId xmlns:a16="http://schemas.microsoft.com/office/drawing/2014/main" id="{150DC674-EB76-4024-AEE1-6776FD93A494}"/>
              </a:ext>
            </a:extLst>
          </p:cNvPr>
          <p:cNvGrpSpPr/>
          <p:nvPr/>
        </p:nvGrpSpPr>
        <p:grpSpPr>
          <a:xfrm>
            <a:off x="8743835" y="1230180"/>
            <a:ext cx="469464" cy="445408"/>
            <a:chOff x="4738503" y="1597348"/>
            <a:chExt cx="469464" cy="445408"/>
          </a:xfrm>
        </p:grpSpPr>
        <p:sp>
          <p:nvSpPr>
            <p:cNvPr id="115" name="Oval 114">
              <a:extLst>
                <a:ext uri="{FF2B5EF4-FFF2-40B4-BE49-F238E27FC236}">
                  <a16:creationId xmlns:a16="http://schemas.microsoft.com/office/drawing/2014/main" id="{2310EC49-44D7-4A12-9CD2-E27C119C8110}"/>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16" name="TextBox 115">
              <a:extLst>
                <a:ext uri="{FF2B5EF4-FFF2-40B4-BE49-F238E27FC236}">
                  <a16:creationId xmlns:a16="http://schemas.microsoft.com/office/drawing/2014/main" id="{EB965F07-EAA5-4D56-8807-73475DED05BC}"/>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2</a:t>
              </a:r>
            </a:p>
          </p:txBody>
        </p:sp>
      </p:grpSp>
      <p:sp>
        <p:nvSpPr>
          <p:cNvPr id="117" name="Line 18">
            <a:extLst>
              <a:ext uri="{FF2B5EF4-FFF2-40B4-BE49-F238E27FC236}">
                <a16:creationId xmlns:a16="http://schemas.microsoft.com/office/drawing/2014/main" id="{56C9ACCF-819C-4F49-AA63-A279A211DABA}"/>
              </a:ext>
            </a:extLst>
          </p:cNvPr>
          <p:cNvSpPr>
            <a:spLocks noChangeShapeType="1"/>
          </p:cNvSpPr>
          <p:nvPr/>
        </p:nvSpPr>
        <p:spPr bwMode="auto">
          <a:xfrm>
            <a:off x="740599" y="1593040"/>
            <a:ext cx="1927844" cy="1206377"/>
          </a:xfrm>
          <a:prstGeom prst="line">
            <a:avLst/>
          </a:prstGeom>
          <a:noFill/>
          <a:ln w="19050">
            <a:solidFill>
              <a:schemeClr val="tx1"/>
            </a:solidFill>
            <a:round/>
            <a:headEnd w="lg" len="lg"/>
            <a:tailEnd type="triangle" w="lg" len="lg"/>
          </a:ln>
          <a:extLst>
            <a:ext uri="{909E8E84-426E-40DD-AFC4-6F175D3DCCD1}">
              <a14:hiddenFill xmlns:a14="http://schemas.microsoft.com/office/drawing/2010/main">
                <a:noFill/>
              </a14:hiddenFill>
            </a:ext>
          </a:extLst>
        </p:spPr>
        <p:txBody>
          <a:bodyPr/>
          <a:lstStyle/>
          <a:p>
            <a:endParaRPr lang="en-IN" sz="2000" dirty="0">
              <a:latin typeface="+mj-lt"/>
            </a:endParaRPr>
          </a:p>
        </p:txBody>
      </p:sp>
      <p:sp>
        <p:nvSpPr>
          <p:cNvPr id="118" name="Line 15">
            <a:extLst>
              <a:ext uri="{FF2B5EF4-FFF2-40B4-BE49-F238E27FC236}">
                <a16:creationId xmlns:a16="http://schemas.microsoft.com/office/drawing/2014/main" id="{2C0605B5-E928-4DC3-8FE2-295F5817DB1F}"/>
              </a:ext>
            </a:extLst>
          </p:cNvPr>
          <p:cNvSpPr>
            <a:spLocks noChangeShapeType="1"/>
          </p:cNvSpPr>
          <p:nvPr/>
        </p:nvSpPr>
        <p:spPr bwMode="auto">
          <a:xfrm>
            <a:off x="558400" y="1648601"/>
            <a:ext cx="0" cy="965200"/>
          </a:xfrm>
          <a:prstGeom prst="line">
            <a:avLst/>
          </a:prstGeom>
          <a:noFill/>
          <a:ln w="19050">
            <a:solidFill>
              <a:schemeClr val="tx1"/>
            </a:solidFill>
            <a:round/>
            <a:headEnd w="lg" len="lg"/>
            <a:tailEnd type="triangle" w="lg" len="lg"/>
          </a:ln>
          <a:extLst>
            <a:ext uri="{909E8E84-426E-40DD-AFC4-6F175D3DCCD1}">
              <a14:hiddenFill xmlns:a14="http://schemas.microsoft.com/office/drawing/2010/main">
                <a:noFill/>
              </a14:hiddenFill>
            </a:ext>
          </a:extLst>
        </p:spPr>
        <p:txBody>
          <a:bodyPr/>
          <a:lstStyle/>
          <a:p>
            <a:endParaRPr lang="en-IN" sz="2000" dirty="0">
              <a:latin typeface="+mj-lt"/>
            </a:endParaRPr>
          </a:p>
        </p:txBody>
      </p:sp>
      <p:sp>
        <p:nvSpPr>
          <p:cNvPr id="119" name="Line 16">
            <a:extLst>
              <a:ext uri="{FF2B5EF4-FFF2-40B4-BE49-F238E27FC236}">
                <a16:creationId xmlns:a16="http://schemas.microsoft.com/office/drawing/2014/main" id="{DE08BA16-2632-4EE6-B22A-CDCA7CA94BB1}"/>
              </a:ext>
            </a:extLst>
          </p:cNvPr>
          <p:cNvSpPr>
            <a:spLocks noChangeShapeType="1"/>
          </p:cNvSpPr>
          <p:nvPr/>
        </p:nvSpPr>
        <p:spPr bwMode="auto">
          <a:xfrm>
            <a:off x="782238" y="1364439"/>
            <a:ext cx="1927227" cy="0"/>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IN" sz="2000">
              <a:latin typeface="+mj-lt"/>
            </a:endParaRPr>
          </a:p>
        </p:txBody>
      </p:sp>
      <p:sp>
        <p:nvSpPr>
          <p:cNvPr id="120" name="Line 17">
            <a:extLst>
              <a:ext uri="{FF2B5EF4-FFF2-40B4-BE49-F238E27FC236}">
                <a16:creationId xmlns:a16="http://schemas.microsoft.com/office/drawing/2014/main" id="{2F18B920-747F-456F-A7A0-64DB3F055155}"/>
              </a:ext>
            </a:extLst>
          </p:cNvPr>
          <p:cNvSpPr>
            <a:spLocks noChangeShapeType="1"/>
          </p:cNvSpPr>
          <p:nvPr/>
        </p:nvSpPr>
        <p:spPr bwMode="auto">
          <a:xfrm>
            <a:off x="2895202" y="1637489"/>
            <a:ext cx="0" cy="976312"/>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IN" sz="2000">
              <a:latin typeface="+mj-lt"/>
            </a:endParaRPr>
          </a:p>
        </p:txBody>
      </p:sp>
      <p:sp>
        <p:nvSpPr>
          <p:cNvPr id="121" name="Line 18">
            <a:extLst>
              <a:ext uri="{FF2B5EF4-FFF2-40B4-BE49-F238E27FC236}">
                <a16:creationId xmlns:a16="http://schemas.microsoft.com/office/drawing/2014/main" id="{BCD458AA-CAC0-497B-892F-21BABF339816}"/>
              </a:ext>
            </a:extLst>
          </p:cNvPr>
          <p:cNvSpPr>
            <a:spLocks noChangeShapeType="1"/>
          </p:cNvSpPr>
          <p:nvPr/>
        </p:nvSpPr>
        <p:spPr bwMode="auto">
          <a:xfrm flipH="1">
            <a:off x="760013" y="1596214"/>
            <a:ext cx="1981202" cy="1123950"/>
          </a:xfrm>
          <a:prstGeom prst="line">
            <a:avLst/>
          </a:prstGeom>
          <a:noFill/>
          <a:ln w="19050">
            <a:solidFill>
              <a:schemeClr val="tx1"/>
            </a:solidFill>
            <a:round/>
            <a:headEnd w="lg" len="lg"/>
            <a:tailEnd type="triangle" w="lg" len="lg"/>
          </a:ln>
          <a:extLst>
            <a:ext uri="{909E8E84-426E-40DD-AFC4-6F175D3DCCD1}">
              <a14:hiddenFill xmlns:a14="http://schemas.microsoft.com/office/drawing/2010/main">
                <a:noFill/>
              </a14:hiddenFill>
            </a:ext>
          </a:extLst>
        </p:spPr>
        <p:txBody>
          <a:bodyPr/>
          <a:lstStyle/>
          <a:p>
            <a:endParaRPr lang="en-IN" sz="2000">
              <a:latin typeface="+mj-lt"/>
            </a:endParaRPr>
          </a:p>
        </p:txBody>
      </p:sp>
      <p:sp>
        <p:nvSpPr>
          <p:cNvPr id="122" name="Line 20">
            <a:extLst>
              <a:ext uri="{FF2B5EF4-FFF2-40B4-BE49-F238E27FC236}">
                <a16:creationId xmlns:a16="http://schemas.microsoft.com/office/drawing/2014/main" id="{703AE779-29DD-40DC-A722-27C630225102}"/>
              </a:ext>
            </a:extLst>
          </p:cNvPr>
          <p:cNvSpPr>
            <a:spLocks noChangeShapeType="1"/>
          </p:cNvSpPr>
          <p:nvPr/>
        </p:nvSpPr>
        <p:spPr bwMode="auto">
          <a:xfrm flipH="1">
            <a:off x="782238" y="1516839"/>
            <a:ext cx="1927227" cy="0"/>
          </a:xfrm>
          <a:prstGeom prst="line">
            <a:avLst/>
          </a:prstGeom>
          <a:noFill/>
          <a:ln w="190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IN" sz="2000" dirty="0">
              <a:latin typeface="+mj-lt"/>
            </a:endParaRPr>
          </a:p>
        </p:txBody>
      </p:sp>
      <p:sp>
        <p:nvSpPr>
          <p:cNvPr id="123" name="Text Box 21">
            <a:extLst>
              <a:ext uri="{FF2B5EF4-FFF2-40B4-BE49-F238E27FC236}">
                <a16:creationId xmlns:a16="http://schemas.microsoft.com/office/drawing/2014/main" id="{3C01C808-319F-48E9-A282-9DA2B300C43C}"/>
              </a:ext>
            </a:extLst>
          </p:cNvPr>
          <p:cNvSpPr txBox="1">
            <a:spLocks noChangeArrowheads="1"/>
          </p:cNvSpPr>
          <p:nvPr/>
        </p:nvSpPr>
        <p:spPr bwMode="auto">
          <a:xfrm>
            <a:off x="1398189" y="1477151"/>
            <a:ext cx="8382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TS=4</a:t>
            </a:r>
          </a:p>
        </p:txBody>
      </p:sp>
      <p:sp>
        <p:nvSpPr>
          <p:cNvPr id="124" name="Text Box 22">
            <a:extLst>
              <a:ext uri="{FF2B5EF4-FFF2-40B4-BE49-F238E27FC236}">
                <a16:creationId xmlns:a16="http://schemas.microsoft.com/office/drawing/2014/main" id="{8EDC85FC-2961-4B11-A723-ED86971B43EC}"/>
              </a:ext>
            </a:extLst>
          </p:cNvPr>
          <p:cNvSpPr txBox="1">
            <a:spLocks noChangeArrowheads="1"/>
          </p:cNvSpPr>
          <p:nvPr/>
        </p:nvSpPr>
        <p:spPr bwMode="auto">
          <a:xfrm rot="19802312">
            <a:off x="914001" y="2062909"/>
            <a:ext cx="8382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TS=4</a:t>
            </a:r>
          </a:p>
        </p:txBody>
      </p:sp>
      <p:sp>
        <p:nvSpPr>
          <p:cNvPr id="125" name="Text Box 23">
            <a:extLst>
              <a:ext uri="{FF2B5EF4-FFF2-40B4-BE49-F238E27FC236}">
                <a16:creationId xmlns:a16="http://schemas.microsoft.com/office/drawing/2014/main" id="{9C15E90C-6933-429D-86AC-DBB1BC214A49}"/>
              </a:ext>
            </a:extLst>
          </p:cNvPr>
          <p:cNvSpPr txBox="1">
            <a:spLocks noChangeArrowheads="1"/>
          </p:cNvSpPr>
          <p:nvPr/>
        </p:nvSpPr>
        <p:spPr bwMode="auto">
          <a:xfrm rot="16200000">
            <a:off x="90088" y="1894633"/>
            <a:ext cx="6985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TS=6</a:t>
            </a:r>
          </a:p>
        </p:txBody>
      </p:sp>
      <p:sp>
        <p:nvSpPr>
          <p:cNvPr id="126" name="Text Box 24">
            <a:extLst>
              <a:ext uri="{FF2B5EF4-FFF2-40B4-BE49-F238E27FC236}">
                <a16:creationId xmlns:a16="http://schemas.microsoft.com/office/drawing/2014/main" id="{CF617A1E-A2E5-4CD2-B26D-DD3109C1CB20}"/>
              </a:ext>
            </a:extLst>
          </p:cNvPr>
          <p:cNvSpPr txBox="1">
            <a:spLocks noChangeArrowheads="1"/>
          </p:cNvSpPr>
          <p:nvPr/>
        </p:nvSpPr>
        <p:spPr bwMode="auto">
          <a:xfrm rot="5400000">
            <a:off x="2674143" y="2002583"/>
            <a:ext cx="7159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TS=4</a:t>
            </a:r>
          </a:p>
        </p:txBody>
      </p:sp>
      <p:sp>
        <p:nvSpPr>
          <p:cNvPr id="127" name="Text Box 25">
            <a:extLst>
              <a:ext uri="{FF2B5EF4-FFF2-40B4-BE49-F238E27FC236}">
                <a16:creationId xmlns:a16="http://schemas.microsoft.com/office/drawing/2014/main" id="{82E42D3A-15AE-4650-B9E7-DD18092C7F82}"/>
              </a:ext>
            </a:extLst>
          </p:cNvPr>
          <p:cNvSpPr txBox="1">
            <a:spLocks noChangeArrowheads="1"/>
          </p:cNvSpPr>
          <p:nvPr/>
        </p:nvSpPr>
        <p:spPr bwMode="auto">
          <a:xfrm>
            <a:off x="1434701" y="1083451"/>
            <a:ext cx="8382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TS=6</a:t>
            </a:r>
          </a:p>
        </p:txBody>
      </p:sp>
      <p:sp>
        <p:nvSpPr>
          <p:cNvPr id="128" name="Text Box 26">
            <a:extLst>
              <a:ext uri="{FF2B5EF4-FFF2-40B4-BE49-F238E27FC236}">
                <a16:creationId xmlns:a16="http://schemas.microsoft.com/office/drawing/2014/main" id="{76B7BDE3-B13D-453F-B83A-CD875B2E181C}"/>
              </a:ext>
            </a:extLst>
          </p:cNvPr>
          <p:cNvSpPr txBox="1">
            <a:spLocks noChangeArrowheads="1"/>
          </p:cNvSpPr>
          <p:nvPr/>
        </p:nvSpPr>
        <p:spPr bwMode="auto">
          <a:xfrm rot="1832236">
            <a:off x="1877614" y="2207371"/>
            <a:ext cx="8382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TS=6</a:t>
            </a:r>
          </a:p>
        </p:txBody>
      </p:sp>
      <p:sp>
        <p:nvSpPr>
          <p:cNvPr id="129" name="Text Box 27">
            <a:extLst>
              <a:ext uri="{FF2B5EF4-FFF2-40B4-BE49-F238E27FC236}">
                <a16:creationId xmlns:a16="http://schemas.microsoft.com/office/drawing/2014/main" id="{4606B615-5F79-4A03-9F4D-9EBB94C8F27C}"/>
              </a:ext>
            </a:extLst>
          </p:cNvPr>
          <p:cNvSpPr txBox="1">
            <a:spLocks noChangeArrowheads="1"/>
          </p:cNvSpPr>
          <p:nvPr/>
        </p:nvSpPr>
        <p:spPr bwMode="auto">
          <a:xfrm>
            <a:off x="37700" y="3101164"/>
            <a:ext cx="17584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Already in CS</a:t>
            </a:r>
          </a:p>
        </p:txBody>
      </p:sp>
      <p:sp>
        <p:nvSpPr>
          <p:cNvPr id="130" name="Text Box 28">
            <a:extLst>
              <a:ext uri="{FF2B5EF4-FFF2-40B4-BE49-F238E27FC236}">
                <a16:creationId xmlns:a16="http://schemas.microsoft.com/office/drawing/2014/main" id="{E90B095F-BFE9-4A68-A13F-B977B8511D23}"/>
              </a:ext>
            </a:extLst>
          </p:cNvPr>
          <p:cNvSpPr txBox="1">
            <a:spLocks noChangeArrowheads="1"/>
          </p:cNvSpPr>
          <p:nvPr/>
        </p:nvSpPr>
        <p:spPr bwMode="auto">
          <a:xfrm>
            <a:off x="1536301" y="3282139"/>
            <a:ext cx="6858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b="1" dirty="0">
                <a:latin typeface="+mj-lt"/>
              </a:rPr>
              <a:t>(a)</a:t>
            </a:r>
          </a:p>
        </p:txBody>
      </p:sp>
      <p:grpSp>
        <p:nvGrpSpPr>
          <p:cNvPr id="131" name="Group 130">
            <a:extLst>
              <a:ext uri="{FF2B5EF4-FFF2-40B4-BE49-F238E27FC236}">
                <a16:creationId xmlns:a16="http://schemas.microsoft.com/office/drawing/2014/main" id="{AD838CAE-6C75-42AF-B9E2-7B9DCB4A93DB}"/>
              </a:ext>
            </a:extLst>
          </p:cNvPr>
          <p:cNvGrpSpPr/>
          <p:nvPr/>
        </p:nvGrpSpPr>
        <p:grpSpPr>
          <a:xfrm>
            <a:off x="336680" y="1230180"/>
            <a:ext cx="469464" cy="445408"/>
            <a:chOff x="4738503" y="1597348"/>
            <a:chExt cx="469464" cy="445408"/>
          </a:xfrm>
        </p:grpSpPr>
        <p:sp>
          <p:nvSpPr>
            <p:cNvPr id="132" name="Oval 131">
              <a:extLst>
                <a:ext uri="{FF2B5EF4-FFF2-40B4-BE49-F238E27FC236}">
                  <a16:creationId xmlns:a16="http://schemas.microsoft.com/office/drawing/2014/main" id="{B0EA3C09-49C0-4931-BEEF-A3A62F832E81}"/>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33" name="TextBox 132">
              <a:extLst>
                <a:ext uri="{FF2B5EF4-FFF2-40B4-BE49-F238E27FC236}">
                  <a16:creationId xmlns:a16="http://schemas.microsoft.com/office/drawing/2014/main" id="{FB850769-1D3D-40FA-9046-E8EBC1583AB7}"/>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1</a:t>
              </a:r>
            </a:p>
          </p:txBody>
        </p:sp>
      </p:grpSp>
      <p:grpSp>
        <p:nvGrpSpPr>
          <p:cNvPr id="134" name="Group 133">
            <a:extLst>
              <a:ext uri="{FF2B5EF4-FFF2-40B4-BE49-F238E27FC236}">
                <a16:creationId xmlns:a16="http://schemas.microsoft.com/office/drawing/2014/main" id="{E8CBC897-CCB5-4989-AF2A-1C9B6B9AF5CA}"/>
              </a:ext>
            </a:extLst>
          </p:cNvPr>
          <p:cNvGrpSpPr/>
          <p:nvPr/>
        </p:nvGrpSpPr>
        <p:grpSpPr>
          <a:xfrm>
            <a:off x="336398" y="2614389"/>
            <a:ext cx="469464" cy="445408"/>
            <a:chOff x="4738503" y="1597348"/>
            <a:chExt cx="469464" cy="445408"/>
          </a:xfrm>
        </p:grpSpPr>
        <p:sp>
          <p:nvSpPr>
            <p:cNvPr id="135" name="Oval 134">
              <a:extLst>
                <a:ext uri="{FF2B5EF4-FFF2-40B4-BE49-F238E27FC236}">
                  <a16:creationId xmlns:a16="http://schemas.microsoft.com/office/drawing/2014/main" id="{E153B669-D8C9-42CD-AB10-477196A03ABA}"/>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36" name="TextBox 135">
              <a:extLst>
                <a:ext uri="{FF2B5EF4-FFF2-40B4-BE49-F238E27FC236}">
                  <a16:creationId xmlns:a16="http://schemas.microsoft.com/office/drawing/2014/main" id="{14E094D5-D742-4939-BD1D-4C0883C5AD65}"/>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4</a:t>
              </a:r>
            </a:p>
          </p:txBody>
        </p:sp>
      </p:grpSp>
      <p:grpSp>
        <p:nvGrpSpPr>
          <p:cNvPr id="137" name="Group 136">
            <a:extLst>
              <a:ext uri="{FF2B5EF4-FFF2-40B4-BE49-F238E27FC236}">
                <a16:creationId xmlns:a16="http://schemas.microsoft.com/office/drawing/2014/main" id="{7254F6E6-71C9-45A8-9FB1-F5AD4BDC409E}"/>
              </a:ext>
            </a:extLst>
          </p:cNvPr>
          <p:cNvGrpSpPr/>
          <p:nvPr/>
        </p:nvGrpSpPr>
        <p:grpSpPr>
          <a:xfrm>
            <a:off x="2678644" y="2617429"/>
            <a:ext cx="470702" cy="443186"/>
            <a:chOff x="4738503" y="1597348"/>
            <a:chExt cx="470702" cy="443186"/>
          </a:xfrm>
        </p:grpSpPr>
        <p:sp>
          <p:nvSpPr>
            <p:cNvPr id="138" name="Oval 137">
              <a:extLst>
                <a:ext uri="{FF2B5EF4-FFF2-40B4-BE49-F238E27FC236}">
                  <a16:creationId xmlns:a16="http://schemas.microsoft.com/office/drawing/2014/main" id="{3F989999-169F-49F6-AD2D-07DB9DE11941}"/>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39" name="TextBox 138">
              <a:extLst>
                <a:ext uri="{FF2B5EF4-FFF2-40B4-BE49-F238E27FC236}">
                  <a16:creationId xmlns:a16="http://schemas.microsoft.com/office/drawing/2014/main" id="{34F0764C-DF1D-4618-98CB-577267141154}"/>
                </a:ext>
              </a:extLst>
            </p:cNvPr>
            <p:cNvSpPr txBox="1"/>
            <p:nvPr/>
          </p:nvSpPr>
          <p:spPr>
            <a:xfrm>
              <a:off x="4796913" y="162266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3</a:t>
              </a:r>
            </a:p>
          </p:txBody>
        </p:sp>
      </p:grpSp>
      <p:grpSp>
        <p:nvGrpSpPr>
          <p:cNvPr id="140" name="Group 139">
            <a:extLst>
              <a:ext uri="{FF2B5EF4-FFF2-40B4-BE49-F238E27FC236}">
                <a16:creationId xmlns:a16="http://schemas.microsoft.com/office/drawing/2014/main" id="{E57419BA-A44C-4220-AFD3-181AF7316CC3}"/>
              </a:ext>
            </a:extLst>
          </p:cNvPr>
          <p:cNvGrpSpPr/>
          <p:nvPr/>
        </p:nvGrpSpPr>
        <p:grpSpPr>
          <a:xfrm>
            <a:off x="2698880" y="1230180"/>
            <a:ext cx="469464" cy="445408"/>
            <a:chOff x="4738503" y="1597348"/>
            <a:chExt cx="469464" cy="445408"/>
          </a:xfrm>
        </p:grpSpPr>
        <p:sp>
          <p:nvSpPr>
            <p:cNvPr id="141" name="Oval 140">
              <a:extLst>
                <a:ext uri="{FF2B5EF4-FFF2-40B4-BE49-F238E27FC236}">
                  <a16:creationId xmlns:a16="http://schemas.microsoft.com/office/drawing/2014/main" id="{643BAE87-6D3E-42C7-A3D3-80E11B6B4958}"/>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42" name="TextBox 141">
              <a:extLst>
                <a:ext uri="{FF2B5EF4-FFF2-40B4-BE49-F238E27FC236}">
                  <a16:creationId xmlns:a16="http://schemas.microsoft.com/office/drawing/2014/main" id="{603BEEDE-FC1D-422E-B480-EE79B84E59D9}"/>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2</a:t>
              </a:r>
            </a:p>
          </p:txBody>
        </p:sp>
      </p:grpSp>
      <p:sp>
        <p:nvSpPr>
          <p:cNvPr id="143" name="Line 18">
            <a:extLst>
              <a:ext uri="{FF2B5EF4-FFF2-40B4-BE49-F238E27FC236}">
                <a16:creationId xmlns:a16="http://schemas.microsoft.com/office/drawing/2014/main" id="{BA672243-6CD2-47CE-A3E1-D8F746D379A2}"/>
              </a:ext>
            </a:extLst>
          </p:cNvPr>
          <p:cNvSpPr>
            <a:spLocks noChangeShapeType="1"/>
          </p:cNvSpPr>
          <p:nvPr/>
        </p:nvSpPr>
        <p:spPr bwMode="auto">
          <a:xfrm>
            <a:off x="6777598" y="1596605"/>
            <a:ext cx="1952467" cy="1221785"/>
          </a:xfrm>
          <a:prstGeom prst="line">
            <a:avLst/>
          </a:prstGeom>
          <a:noFill/>
          <a:ln w="19050">
            <a:solidFill>
              <a:schemeClr val="tx1"/>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en-IN" sz="2000">
              <a:latin typeface="+mj-lt"/>
            </a:endParaRPr>
          </a:p>
        </p:txBody>
      </p:sp>
      <p:graphicFrame>
        <p:nvGraphicFramePr>
          <p:cNvPr id="144" name="Table 143">
            <a:extLst>
              <a:ext uri="{FF2B5EF4-FFF2-40B4-BE49-F238E27FC236}">
                <a16:creationId xmlns:a16="http://schemas.microsoft.com/office/drawing/2014/main" id="{B1875DB1-3B97-4FBA-B63E-CB663FFA4BEF}"/>
              </a:ext>
            </a:extLst>
          </p:cNvPr>
          <p:cNvGraphicFramePr>
            <a:graphicFrameLocks noGrp="1"/>
          </p:cNvGraphicFramePr>
          <p:nvPr/>
        </p:nvGraphicFramePr>
        <p:xfrm>
          <a:off x="4935973" y="2745857"/>
          <a:ext cx="1354112" cy="326968"/>
        </p:xfrm>
        <a:graphic>
          <a:graphicData uri="http://schemas.openxmlformats.org/drawingml/2006/table">
            <a:tbl>
              <a:tblPr firstRow="1" bandRow="1">
                <a:tableStyleId>{5940675A-B579-460E-94D1-54222C63F5DA}</a:tableStyleId>
              </a:tblPr>
              <a:tblGrid>
                <a:gridCol w="1354112">
                  <a:extLst>
                    <a:ext uri="{9D8B030D-6E8A-4147-A177-3AD203B41FA5}">
                      <a16:colId xmlns:a16="http://schemas.microsoft.com/office/drawing/2014/main" val="1530787219"/>
                    </a:ext>
                  </a:extLst>
                </a:gridCol>
              </a:tblGrid>
              <a:tr h="290920">
                <a:tc>
                  <a:txBody>
                    <a:bodyPr/>
                    <a:lstStyle/>
                    <a:p>
                      <a:endParaRPr lang="en-IN" sz="1600" dirty="0">
                        <a:solidFill>
                          <a:schemeClr val="tx1"/>
                        </a:solidFill>
                      </a:endParaRPr>
                    </a:p>
                  </a:txBody>
                  <a:tcPr marL="83127" marR="83127" marT="41564" marB="41564"/>
                </a:tc>
                <a:extLst>
                  <a:ext uri="{0D108BD9-81ED-4DB2-BD59-A6C34878D82A}">
                    <a16:rowId xmlns:a16="http://schemas.microsoft.com/office/drawing/2014/main" val="4047261007"/>
                  </a:ext>
                </a:extLst>
              </a:tr>
            </a:tbl>
          </a:graphicData>
        </a:graphic>
      </p:graphicFrame>
      <mc:AlternateContent xmlns:mc="http://schemas.openxmlformats.org/markup-compatibility/2006" xmlns:a14="http://schemas.microsoft.com/office/drawing/2010/main">
        <mc:Choice Requires="a14">
          <p:sp>
            <p:nvSpPr>
              <p:cNvPr id="145" name="TextBox 144">
                <a:extLst>
                  <a:ext uri="{FF2B5EF4-FFF2-40B4-BE49-F238E27FC236}">
                    <a16:creationId xmlns:a16="http://schemas.microsoft.com/office/drawing/2014/main" id="{DF51A6E0-6E13-464A-B155-59646C621545}"/>
                  </a:ext>
                </a:extLst>
              </p:cNvPr>
              <p:cNvSpPr txBox="1"/>
              <p:nvPr/>
            </p:nvSpPr>
            <p:spPr>
              <a:xfrm>
                <a:off x="5902475" y="2759777"/>
                <a:ext cx="379043" cy="30777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𝑃</m:t>
                          </m:r>
                        </m:e>
                        <m:sub>
                          <m:r>
                            <a:rPr lang="en-IN" sz="2000" b="0" i="1" smtClean="0">
                              <a:latin typeface="Cambria Math" panose="02040503050406030204" pitchFamily="18" charset="0"/>
                            </a:rPr>
                            <m:t>1</m:t>
                          </m:r>
                        </m:sub>
                      </m:sSub>
                    </m:oMath>
                  </m:oMathPara>
                </a14:m>
                <a:endParaRPr lang="en-IN" sz="2000" dirty="0">
                  <a:latin typeface="+mj-lt"/>
                </a:endParaRPr>
              </a:p>
            </p:txBody>
          </p:sp>
        </mc:Choice>
        <mc:Fallback xmlns="">
          <p:sp>
            <p:nvSpPr>
              <p:cNvPr id="145" name="TextBox 144">
                <a:extLst>
                  <a:ext uri="{FF2B5EF4-FFF2-40B4-BE49-F238E27FC236}">
                    <a16:creationId xmlns:a16="http://schemas.microsoft.com/office/drawing/2014/main" xmlns:a14="http://schemas.microsoft.com/office/drawing/2010/main" xmlns="" id="{DF51A6E0-6E13-464A-B155-59646C621545}"/>
                  </a:ext>
                </a:extLst>
              </p:cNvPr>
              <p:cNvSpPr txBox="1">
                <a:spLocks noRot="1" noChangeAspect="1" noMove="1" noResize="1" noEditPoints="1" noAdjustHandles="1" noChangeArrowheads="1" noChangeShapeType="1" noTextEdit="1"/>
              </p:cNvSpPr>
              <p:nvPr/>
            </p:nvSpPr>
            <p:spPr>
              <a:xfrm>
                <a:off x="5902475" y="2759777"/>
                <a:ext cx="379043" cy="307777"/>
              </a:xfrm>
              <a:prstGeom prst="rect">
                <a:avLst/>
              </a:prstGeom>
              <a:blipFill rotWithShape="0">
                <a:blip r:embed="rId2"/>
                <a:stretch>
                  <a:fillRect l="-8065" r="-1613" b="-20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6" name="TextBox 145">
                <a:extLst>
                  <a:ext uri="{FF2B5EF4-FFF2-40B4-BE49-F238E27FC236}">
                    <a16:creationId xmlns:a16="http://schemas.microsoft.com/office/drawing/2014/main" id="{E1DB8A5D-FAD9-4EEF-9E7B-51ECBBFBD698}"/>
                  </a:ext>
                </a:extLst>
              </p:cNvPr>
              <p:cNvSpPr txBox="1"/>
              <p:nvPr/>
            </p:nvSpPr>
            <p:spPr>
              <a:xfrm>
                <a:off x="5454827" y="2759777"/>
                <a:ext cx="354922" cy="30777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𝑃</m:t>
                          </m:r>
                        </m:e>
                        <m:sub>
                          <m:r>
                            <a:rPr lang="en-IN" sz="2000" b="0" i="1" smtClean="0">
                              <a:latin typeface="Cambria Math" panose="02040503050406030204" pitchFamily="18" charset="0"/>
                            </a:rPr>
                            <m:t>2</m:t>
                          </m:r>
                        </m:sub>
                      </m:sSub>
                    </m:oMath>
                  </m:oMathPara>
                </a14:m>
                <a:endParaRPr lang="en-IN" sz="2000" dirty="0">
                  <a:latin typeface="+mj-lt"/>
                </a:endParaRPr>
              </a:p>
            </p:txBody>
          </p:sp>
        </mc:Choice>
        <mc:Fallback xmlns="">
          <p:sp>
            <p:nvSpPr>
              <p:cNvPr id="146" name="TextBox 145">
                <a:extLst>
                  <a:ext uri="{FF2B5EF4-FFF2-40B4-BE49-F238E27FC236}">
                    <a16:creationId xmlns:a16="http://schemas.microsoft.com/office/drawing/2014/main" xmlns:a14="http://schemas.microsoft.com/office/drawing/2010/main" xmlns="" id="{E1DB8A5D-FAD9-4EEF-9E7B-51ECBBFBD698}"/>
                  </a:ext>
                </a:extLst>
              </p:cNvPr>
              <p:cNvSpPr txBox="1">
                <a:spLocks noRot="1" noChangeAspect="1" noMove="1" noResize="1" noEditPoints="1" noAdjustHandles="1" noChangeArrowheads="1" noChangeShapeType="1" noTextEdit="1"/>
              </p:cNvSpPr>
              <p:nvPr/>
            </p:nvSpPr>
            <p:spPr>
              <a:xfrm>
                <a:off x="5454827" y="2759777"/>
                <a:ext cx="354922" cy="307777"/>
              </a:xfrm>
              <a:prstGeom prst="rect">
                <a:avLst/>
              </a:prstGeom>
              <a:blipFill rotWithShape="0">
                <a:blip r:embed="rId3"/>
                <a:stretch>
                  <a:fillRect l="-13793" r="-5172" b="-20000"/>
                </a:stretch>
              </a:blipFill>
            </p:spPr>
            <p:txBody>
              <a:bodyPr/>
              <a:lstStyle/>
              <a:p>
                <a:r>
                  <a:rPr lang="en-IN">
                    <a:noFill/>
                  </a:rPr>
                  <a:t> </a:t>
                </a:r>
              </a:p>
            </p:txBody>
          </p:sp>
        </mc:Fallback>
      </mc:AlternateContent>
      <p:cxnSp>
        <p:nvCxnSpPr>
          <p:cNvPr id="147" name="Straight Connector 146">
            <a:extLst>
              <a:ext uri="{FF2B5EF4-FFF2-40B4-BE49-F238E27FC236}">
                <a16:creationId xmlns:a16="http://schemas.microsoft.com/office/drawing/2014/main" id="{3E6FA454-339E-44BA-A21C-72F8E3545370}"/>
              </a:ext>
            </a:extLst>
          </p:cNvPr>
          <p:cNvCxnSpPr>
            <a:cxnSpLocks/>
          </p:cNvCxnSpPr>
          <p:nvPr/>
        </p:nvCxnSpPr>
        <p:spPr>
          <a:xfrm>
            <a:off x="5382316" y="2748949"/>
            <a:ext cx="0" cy="3238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6C155487-9DD2-4747-A443-F381992DF5C5}"/>
              </a:ext>
            </a:extLst>
          </p:cNvPr>
          <p:cNvCxnSpPr>
            <a:cxnSpLocks/>
          </p:cNvCxnSpPr>
          <p:nvPr/>
        </p:nvCxnSpPr>
        <p:spPr>
          <a:xfrm>
            <a:off x="5825620" y="2745856"/>
            <a:ext cx="0" cy="3269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49" name="Table 148">
            <a:extLst>
              <a:ext uri="{FF2B5EF4-FFF2-40B4-BE49-F238E27FC236}">
                <a16:creationId xmlns:a16="http://schemas.microsoft.com/office/drawing/2014/main" id="{8182535C-AACE-43DD-A921-3168F3C476AE}"/>
              </a:ext>
            </a:extLst>
          </p:cNvPr>
          <p:cNvGraphicFramePr>
            <a:graphicFrameLocks noGrp="1"/>
          </p:cNvGraphicFramePr>
          <p:nvPr/>
        </p:nvGraphicFramePr>
        <p:xfrm>
          <a:off x="9255761" y="1266072"/>
          <a:ext cx="1020346" cy="326968"/>
        </p:xfrm>
        <a:graphic>
          <a:graphicData uri="http://schemas.openxmlformats.org/drawingml/2006/table">
            <a:tbl>
              <a:tblPr firstRow="1" bandRow="1">
                <a:tableStyleId>{5940675A-B579-460E-94D1-54222C63F5DA}</a:tableStyleId>
              </a:tblPr>
              <a:tblGrid>
                <a:gridCol w="1020346">
                  <a:extLst>
                    <a:ext uri="{9D8B030D-6E8A-4147-A177-3AD203B41FA5}">
                      <a16:colId xmlns:a16="http://schemas.microsoft.com/office/drawing/2014/main" val="1530787219"/>
                    </a:ext>
                  </a:extLst>
                </a:gridCol>
              </a:tblGrid>
              <a:tr h="290920">
                <a:tc>
                  <a:txBody>
                    <a:bodyPr/>
                    <a:lstStyle/>
                    <a:p>
                      <a:endParaRPr lang="en-IN" sz="1600" dirty="0">
                        <a:solidFill>
                          <a:schemeClr val="tx1"/>
                        </a:solidFill>
                      </a:endParaRPr>
                    </a:p>
                  </a:txBody>
                  <a:tcPr marL="83127" marR="83127" marT="41564" marB="41564"/>
                </a:tc>
                <a:extLst>
                  <a:ext uri="{0D108BD9-81ED-4DB2-BD59-A6C34878D82A}">
                    <a16:rowId xmlns:a16="http://schemas.microsoft.com/office/drawing/2014/main" val="4047261007"/>
                  </a:ext>
                </a:extLst>
              </a:tr>
            </a:tbl>
          </a:graphicData>
        </a:graphic>
      </p:graphicFrame>
      <p:cxnSp>
        <p:nvCxnSpPr>
          <p:cNvPr id="150" name="Straight Connector 149">
            <a:extLst>
              <a:ext uri="{FF2B5EF4-FFF2-40B4-BE49-F238E27FC236}">
                <a16:creationId xmlns:a16="http://schemas.microsoft.com/office/drawing/2014/main" id="{07458D08-5BA5-44A8-962C-78E8F7A046B2}"/>
              </a:ext>
            </a:extLst>
          </p:cNvPr>
          <p:cNvCxnSpPr>
            <a:cxnSpLocks/>
          </p:cNvCxnSpPr>
          <p:nvPr/>
        </p:nvCxnSpPr>
        <p:spPr>
          <a:xfrm>
            <a:off x="9895107" y="1266072"/>
            <a:ext cx="0" cy="3193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1" name="TextBox 150">
                <a:extLst>
                  <a:ext uri="{FF2B5EF4-FFF2-40B4-BE49-F238E27FC236}">
                    <a16:creationId xmlns:a16="http://schemas.microsoft.com/office/drawing/2014/main" id="{E97853ED-0EB1-4EAE-AA3C-FE9F16DE4415}"/>
                  </a:ext>
                </a:extLst>
              </p:cNvPr>
              <p:cNvSpPr txBox="1"/>
              <p:nvPr/>
            </p:nvSpPr>
            <p:spPr>
              <a:xfrm>
                <a:off x="9942049" y="1282682"/>
                <a:ext cx="304801" cy="30777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𝑃</m:t>
                          </m:r>
                        </m:e>
                        <m:sub>
                          <m:r>
                            <a:rPr lang="en-IN" sz="2000" b="0" i="1" smtClean="0">
                              <a:latin typeface="Cambria Math" panose="02040503050406030204" pitchFamily="18" charset="0"/>
                            </a:rPr>
                            <m:t>1</m:t>
                          </m:r>
                        </m:sub>
                      </m:sSub>
                    </m:oMath>
                  </m:oMathPara>
                </a14:m>
                <a:endParaRPr lang="en-IN" sz="2000" dirty="0">
                  <a:latin typeface="+mj-lt"/>
                </a:endParaRPr>
              </a:p>
            </p:txBody>
          </p:sp>
        </mc:Choice>
        <mc:Fallback xmlns="">
          <p:sp>
            <p:nvSpPr>
              <p:cNvPr id="151" name="TextBox 150">
                <a:extLst>
                  <a:ext uri="{FF2B5EF4-FFF2-40B4-BE49-F238E27FC236}">
                    <a16:creationId xmlns:a16="http://schemas.microsoft.com/office/drawing/2014/main" xmlns:a14="http://schemas.microsoft.com/office/drawing/2010/main" xmlns="" id="{E97853ED-0EB1-4EAE-AA3C-FE9F16DE4415}"/>
                  </a:ext>
                </a:extLst>
              </p:cNvPr>
              <p:cNvSpPr txBox="1">
                <a:spLocks noRot="1" noChangeAspect="1" noMove="1" noResize="1" noEditPoints="1" noAdjustHandles="1" noChangeArrowheads="1" noChangeShapeType="1" noTextEdit="1"/>
              </p:cNvSpPr>
              <p:nvPr/>
            </p:nvSpPr>
            <p:spPr>
              <a:xfrm>
                <a:off x="9942049" y="1282682"/>
                <a:ext cx="304801" cy="307777"/>
              </a:xfrm>
              <a:prstGeom prst="rect">
                <a:avLst/>
              </a:prstGeom>
              <a:blipFill rotWithShape="0">
                <a:blip r:embed="rId4"/>
                <a:stretch>
                  <a:fillRect l="-24000" r="-14000" b="-17647"/>
                </a:stretch>
              </a:blipFill>
            </p:spPr>
            <p:txBody>
              <a:bodyPr/>
              <a:lstStyle/>
              <a:p>
                <a:r>
                  <a:rPr lang="en-IN">
                    <a:noFill/>
                  </a:rPr>
                  <a:t> </a:t>
                </a:r>
              </a:p>
            </p:txBody>
          </p:sp>
        </mc:Fallback>
      </mc:AlternateContent>
      <p:sp>
        <p:nvSpPr>
          <p:cNvPr id="152" name="Text Box 27">
            <a:extLst>
              <a:ext uri="{FF2B5EF4-FFF2-40B4-BE49-F238E27FC236}">
                <a16:creationId xmlns:a16="http://schemas.microsoft.com/office/drawing/2014/main" id="{90C1BF61-99ED-45C5-AF6E-B4243E5545EC}"/>
              </a:ext>
            </a:extLst>
          </p:cNvPr>
          <p:cNvSpPr txBox="1">
            <a:spLocks noChangeArrowheads="1"/>
          </p:cNvSpPr>
          <p:nvPr/>
        </p:nvSpPr>
        <p:spPr bwMode="auto">
          <a:xfrm>
            <a:off x="4585089" y="3072825"/>
            <a:ext cx="193851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Defers sending a reply to P</a:t>
            </a:r>
            <a:r>
              <a:rPr lang="en-US" altLang="en-US" sz="2000" baseline="-25000" dirty="0">
                <a:latin typeface="+mj-lt"/>
              </a:rPr>
              <a:t>1</a:t>
            </a:r>
            <a:r>
              <a:rPr lang="en-US" altLang="en-US" sz="2000" dirty="0">
                <a:latin typeface="+mj-lt"/>
              </a:rPr>
              <a:t> and P</a:t>
            </a:r>
            <a:r>
              <a:rPr lang="en-US" altLang="en-US" sz="2000" baseline="-25000" dirty="0">
                <a:latin typeface="+mj-lt"/>
              </a:rPr>
              <a:t>2</a:t>
            </a:r>
          </a:p>
        </p:txBody>
      </p:sp>
      <p:sp>
        <p:nvSpPr>
          <p:cNvPr id="153" name="Text Box 27">
            <a:extLst>
              <a:ext uri="{FF2B5EF4-FFF2-40B4-BE49-F238E27FC236}">
                <a16:creationId xmlns:a16="http://schemas.microsoft.com/office/drawing/2014/main" id="{EEBE911E-CC67-41DF-9483-118DA1F10CC5}"/>
              </a:ext>
            </a:extLst>
          </p:cNvPr>
          <p:cNvSpPr txBox="1">
            <a:spLocks noChangeArrowheads="1"/>
          </p:cNvSpPr>
          <p:nvPr/>
        </p:nvSpPr>
        <p:spPr bwMode="auto">
          <a:xfrm>
            <a:off x="9356486" y="1585432"/>
            <a:ext cx="191696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Defers sending a reply to P</a:t>
            </a:r>
            <a:r>
              <a:rPr lang="en-US" altLang="en-US" sz="2000" baseline="-25000" dirty="0">
                <a:latin typeface="+mj-lt"/>
              </a:rPr>
              <a:t>1</a:t>
            </a:r>
            <a:r>
              <a:rPr lang="en-US" altLang="en-US" sz="2000" dirty="0">
                <a:latin typeface="+mj-lt"/>
              </a:rPr>
              <a:t> </a:t>
            </a:r>
            <a:endParaRPr lang="en-US" altLang="en-US" sz="2000" baseline="-25000" dirty="0">
              <a:latin typeface="+mj-lt"/>
            </a:endParaRPr>
          </a:p>
        </p:txBody>
      </p:sp>
      <p:grpSp>
        <p:nvGrpSpPr>
          <p:cNvPr id="154" name="Group 153">
            <a:extLst>
              <a:ext uri="{FF2B5EF4-FFF2-40B4-BE49-F238E27FC236}">
                <a16:creationId xmlns:a16="http://schemas.microsoft.com/office/drawing/2014/main" id="{994F03A8-615F-4FFA-94CA-7FBF72240F09}"/>
              </a:ext>
            </a:extLst>
          </p:cNvPr>
          <p:cNvGrpSpPr/>
          <p:nvPr/>
        </p:nvGrpSpPr>
        <p:grpSpPr>
          <a:xfrm>
            <a:off x="304800" y="4055811"/>
            <a:ext cx="469464" cy="445408"/>
            <a:chOff x="4738503" y="1597348"/>
            <a:chExt cx="469464" cy="445408"/>
          </a:xfrm>
        </p:grpSpPr>
        <p:sp>
          <p:nvSpPr>
            <p:cNvPr id="155" name="Oval 154">
              <a:extLst>
                <a:ext uri="{FF2B5EF4-FFF2-40B4-BE49-F238E27FC236}">
                  <a16:creationId xmlns:a16="http://schemas.microsoft.com/office/drawing/2014/main" id="{01DA3CC5-D3ED-40C3-8BC7-AB3573AEB1F1}"/>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56" name="TextBox 155">
              <a:extLst>
                <a:ext uri="{FF2B5EF4-FFF2-40B4-BE49-F238E27FC236}">
                  <a16:creationId xmlns:a16="http://schemas.microsoft.com/office/drawing/2014/main" id="{E28BDC9E-09C2-42AD-82DC-239C0E2BBED7}"/>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1</a:t>
              </a:r>
            </a:p>
          </p:txBody>
        </p:sp>
      </p:grpSp>
      <p:grpSp>
        <p:nvGrpSpPr>
          <p:cNvPr id="157" name="Group 156">
            <a:extLst>
              <a:ext uri="{FF2B5EF4-FFF2-40B4-BE49-F238E27FC236}">
                <a16:creationId xmlns:a16="http://schemas.microsoft.com/office/drawing/2014/main" id="{D776F84A-7716-47EF-9B3D-266F5A512AB5}"/>
              </a:ext>
            </a:extLst>
          </p:cNvPr>
          <p:cNvGrpSpPr/>
          <p:nvPr/>
        </p:nvGrpSpPr>
        <p:grpSpPr>
          <a:xfrm>
            <a:off x="304800" y="5500414"/>
            <a:ext cx="469464" cy="445408"/>
            <a:chOff x="4738503" y="1597348"/>
            <a:chExt cx="469464" cy="445408"/>
          </a:xfrm>
        </p:grpSpPr>
        <p:sp>
          <p:nvSpPr>
            <p:cNvPr id="158" name="Oval 157">
              <a:extLst>
                <a:ext uri="{FF2B5EF4-FFF2-40B4-BE49-F238E27FC236}">
                  <a16:creationId xmlns:a16="http://schemas.microsoft.com/office/drawing/2014/main" id="{DF9B1320-FD96-4950-979D-A4FEC4009D49}"/>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59" name="TextBox 158">
              <a:extLst>
                <a:ext uri="{FF2B5EF4-FFF2-40B4-BE49-F238E27FC236}">
                  <a16:creationId xmlns:a16="http://schemas.microsoft.com/office/drawing/2014/main" id="{B419BF69-4A93-4B5F-BD22-57BAA6B5D9D9}"/>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4</a:t>
              </a:r>
            </a:p>
          </p:txBody>
        </p:sp>
      </p:grpSp>
      <p:grpSp>
        <p:nvGrpSpPr>
          <p:cNvPr id="160" name="Group 159">
            <a:extLst>
              <a:ext uri="{FF2B5EF4-FFF2-40B4-BE49-F238E27FC236}">
                <a16:creationId xmlns:a16="http://schemas.microsoft.com/office/drawing/2014/main" id="{7835A3E5-2CCD-4446-93F4-089C6A2513FF}"/>
              </a:ext>
            </a:extLst>
          </p:cNvPr>
          <p:cNvGrpSpPr/>
          <p:nvPr/>
        </p:nvGrpSpPr>
        <p:grpSpPr>
          <a:xfrm>
            <a:off x="2642994" y="5493396"/>
            <a:ext cx="469464" cy="445408"/>
            <a:chOff x="4738503" y="1597348"/>
            <a:chExt cx="469464" cy="445408"/>
          </a:xfrm>
        </p:grpSpPr>
        <p:sp>
          <p:nvSpPr>
            <p:cNvPr id="161" name="Oval 160">
              <a:extLst>
                <a:ext uri="{FF2B5EF4-FFF2-40B4-BE49-F238E27FC236}">
                  <a16:creationId xmlns:a16="http://schemas.microsoft.com/office/drawing/2014/main" id="{7F1FAA7E-FC6B-4E2A-94C6-72325CF28390}"/>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62" name="TextBox 161">
              <a:extLst>
                <a:ext uri="{FF2B5EF4-FFF2-40B4-BE49-F238E27FC236}">
                  <a16:creationId xmlns:a16="http://schemas.microsoft.com/office/drawing/2014/main" id="{D81C884D-2FEB-41BB-9945-4A66D1CB4CFC}"/>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3</a:t>
              </a:r>
            </a:p>
          </p:txBody>
        </p:sp>
      </p:grpSp>
      <p:grpSp>
        <p:nvGrpSpPr>
          <p:cNvPr id="163" name="Group 162">
            <a:extLst>
              <a:ext uri="{FF2B5EF4-FFF2-40B4-BE49-F238E27FC236}">
                <a16:creationId xmlns:a16="http://schemas.microsoft.com/office/drawing/2014/main" id="{5D808F2C-4579-4E97-948B-717DD19E15AF}"/>
              </a:ext>
            </a:extLst>
          </p:cNvPr>
          <p:cNvGrpSpPr/>
          <p:nvPr/>
        </p:nvGrpSpPr>
        <p:grpSpPr>
          <a:xfrm>
            <a:off x="2667000" y="4072616"/>
            <a:ext cx="469464" cy="445408"/>
            <a:chOff x="4738503" y="1597348"/>
            <a:chExt cx="469464" cy="445408"/>
          </a:xfrm>
        </p:grpSpPr>
        <p:sp>
          <p:nvSpPr>
            <p:cNvPr id="164" name="Oval 163">
              <a:extLst>
                <a:ext uri="{FF2B5EF4-FFF2-40B4-BE49-F238E27FC236}">
                  <a16:creationId xmlns:a16="http://schemas.microsoft.com/office/drawing/2014/main" id="{D27AE14E-4210-4504-B81C-CDD98E615927}"/>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65" name="TextBox 164">
              <a:extLst>
                <a:ext uri="{FF2B5EF4-FFF2-40B4-BE49-F238E27FC236}">
                  <a16:creationId xmlns:a16="http://schemas.microsoft.com/office/drawing/2014/main" id="{6C9FBE9B-76B4-443A-A6DE-1185414D2726}"/>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2</a:t>
              </a:r>
            </a:p>
          </p:txBody>
        </p:sp>
      </p:grpSp>
      <p:grpSp>
        <p:nvGrpSpPr>
          <p:cNvPr id="166" name="Group 165">
            <a:extLst>
              <a:ext uri="{FF2B5EF4-FFF2-40B4-BE49-F238E27FC236}">
                <a16:creationId xmlns:a16="http://schemas.microsoft.com/office/drawing/2014/main" id="{6FE7B8F2-D1C6-4906-9C85-63935EF54461}"/>
              </a:ext>
            </a:extLst>
          </p:cNvPr>
          <p:cNvGrpSpPr/>
          <p:nvPr/>
        </p:nvGrpSpPr>
        <p:grpSpPr>
          <a:xfrm>
            <a:off x="6389907" y="4055811"/>
            <a:ext cx="469464" cy="445408"/>
            <a:chOff x="4738503" y="1597348"/>
            <a:chExt cx="469464" cy="445408"/>
          </a:xfrm>
        </p:grpSpPr>
        <p:sp>
          <p:nvSpPr>
            <p:cNvPr id="167" name="Oval 166">
              <a:extLst>
                <a:ext uri="{FF2B5EF4-FFF2-40B4-BE49-F238E27FC236}">
                  <a16:creationId xmlns:a16="http://schemas.microsoft.com/office/drawing/2014/main" id="{02A46C59-33B8-4578-AAFB-0B150F7AD9D5}"/>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68" name="TextBox 167">
              <a:extLst>
                <a:ext uri="{FF2B5EF4-FFF2-40B4-BE49-F238E27FC236}">
                  <a16:creationId xmlns:a16="http://schemas.microsoft.com/office/drawing/2014/main" id="{D9C52172-55C5-4E64-B7FA-A6DF99A8689F}"/>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1</a:t>
              </a:r>
            </a:p>
          </p:txBody>
        </p:sp>
      </p:grpSp>
      <p:grpSp>
        <p:nvGrpSpPr>
          <p:cNvPr id="169" name="Group 168">
            <a:extLst>
              <a:ext uri="{FF2B5EF4-FFF2-40B4-BE49-F238E27FC236}">
                <a16:creationId xmlns:a16="http://schemas.microsoft.com/office/drawing/2014/main" id="{1C0D0EC5-F6CE-4DDB-AC3C-669B131031A3}"/>
              </a:ext>
            </a:extLst>
          </p:cNvPr>
          <p:cNvGrpSpPr/>
          <p:nvPr/>
        </p:nvGrpSpPr>
        <p:grpSpPr>
          <a:xfrm>
            <a:off x="6389907" y="5500414"/>
            <a:ext cx="469464" cy="445408"/>
            <a:chOff x="4738503" y="1597348"/>
            <a:chExt cx="469464" cy="445408"/>
          </a:xfrm>
        </p:grpSpPr>
        <p:sp>
          <p:nvSpPr>
            <p:cNvPr id="170" name="Oval 169">
              <a:extLst>
                <a:ext uri="{FF2B5EF4-FFF2-40B4-BE49-F238E27FC236}">
                  <a16:creationId xmlns:a16="http://schemas.microsoft.com/office/drawing/2014/main" id="{ECC1ACE8-7901-427F-81EC-C7A455911C36}"/>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71" name="TextBox 170">
              <a:extLst>
                <a:ext uri="{FF2B5EF4-FFF2-40B4-BE49-F238E27FC236}">
                  <a16:creationId xmlns:a16="http://schemas.microsoft.com/office/drawing/2014/main" id="{AF8AEAA8-A60B-4A30-A977-20E09DF3CF2E}"/>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4</a:t>
              </a:r>
            </a:p>
          </p:txBody>
        </p:sp>
      </p:grpSp>
      <p:grpSp>
        <p:nvGrpSpPr>
          <p:cNvPr id="172" name="Group 171">
            <a:extLst>
              <a:ext uri="{FF2B5EF4-FFF2-40B4-BE49-F238E27FC236}">
                <a16:creationId xmlns:a16="http://schemas.microsoft.com/office/drawing/2014/main" id="{7BE6556A-54B7-4FA9-B51C-48206FE155A8}"/>
              </a:ext>
            </a:extLst>
          </p:cNvPr>
          <p:cNvGrpSpPr/>
          <p:nvPr/>
        </p:nvGrpSpPr>
        <p:grpSpPr>
          <a:xfrm>
            <a:off x="8728101" y="5493396"/>
            <a:ext cx="469464" cy="445408"/>
            <a:chOff x="4738503" y="1597348"/>
            <a:chExt cx="469464" cy="445408"/>
          </a:xfrm>
        </p:grpSpPr>
        <p:sp>
          <p:nvSpPr>
            <p:cNvPr id="173" name="Oval 172">
              <a:extLst>
                <a:ext uri="{FF2B5EF4-FFF2-40B4-BE49-F238E27FC236}">
                  <a16:creationId xmlns:a16="http://schemas.microsoft.com/office/drawing/2014/main" id="{735A3307-8195-4BFA-8F54-C50CD5104385}"/>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74" name="TextBox 173">
              <a:extLst>
                <a:ext uri="{FF2B5EF4-FFF2-40B4-BE49-F238E27FC236}">
                  <a16:creationId xmlns:a16="http://schemas.microsoft.com/office/drawing/2014/main" id="{EC31513E-6F49-4D92-A6A2-D6DDB128CC0B}"/>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3</a:t>
              </a:r>
            </a:p>
          </p:txBody>
        </p:sp>
      </p:grpSp>
      <p:grpSp>
        <p:nvGrpSpPr>
          <p:cNvPr id="175" name="Group 174">
            <a:extLst>
              <a:ext uri="{FF2B5EF4-FFF2-40B4-BE49-F238E27FC236}">
                <a16:creationId xmlns:a16="http://schemas.microsoft.com/office/drawing/2014/main" id="{2A6ADF42-7A1A-4312-AF35-3E9001078BD1}"/>
              </a:ext>
            </a:extLst>
          </p:cNvPr>
          <p:cNvGrpSpPr/>
          <p:nvPr/>
        </p:nvGrpSpPr>
        <p:grpSpPr>
          <a:xfrm>
            <a:off x="8752107" y="4072616"/>
            <a:ext cx="469464" cy="445408"/>
            <a:chOff x="4738503" y="1597348"/>
            <a:chExt cx="469464" cy="445408"/>
          </a:xfrm>
        </p:grpSpPr>
        <p:sp>
          <p:nvSpPr>
            <p:cNvPr id="176" name="Oval 175">
              <a:extLst>
                <a:ext uri="{FF2B5EF4-FFF2-40B4-BE49-F238E27FC236}">
                  <a16:creationId xmlns:a16="http://schemas.microsoft.com/office/drawing/2014/main" id="{C8E3AB7A-E61C-4056-A9FB-F1F6B73C4652}"/>
                </a:ext>
              </a:extLst>
            </p:cNvPr>
            <p:cNvSpPr/>
            <p:nvPr/>
          </p:nvSpPr>
          <p:spPr>
            <a:xfrm>
              <a:off x="4738503" y="1597348"/>
              <a:ext cx="445556" cy="443186"/>
            </a:xfrm>
            <a:prstGeom prst="ellipse">
              <a:avLst/>
            </a:prstGeom>
            <a:solidFill>
              <a:schemeClr val="tx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baseline="-25000" dirty="0">
                <a:solidFill>
                  <a:schemeClr val="tx1"/>
                </a:solidFill>
                <a:latin typeface="+mj-lt"/>
              </a:endParaRPr>
            </a:p>
          </p:txBody>
        </p:sp>
        <p:sp>
          <p:nvSpPr>
            <p:cNvPr id="177" name="TextBox 176">
              <a:extLst>
                <a:ext uri="{FF2B5EF4-FFF2-40B4-BE49-F238E27FC236}">
                  <a16:creationId xmlns:a16="http://schemas.microsoft.com/office/drawing/2014/main" id="{808FC77B-BABF-4CF4-B86D-4F4E41A6C9AE}"/>
                </a:ext>
              </a:extLst>
            </p:cNvPr>
            <p:cNvSpPr txBox="1"/>
            <p:nvPr/>
          </p:nvSpPr>
          <p:spPr>
            <a:xfrm>
              <a:off x="4795675" y="1642646"/>
              <a:ext cx="412292" cy="400110"/>
            </a:xfrm>
            <a:prstGeom prst="rect">
              <a:avLst/>
            </a:prstGeom>
            <a:noFill/>
          </p:spPr>
          <p:txBody>
            <a:bodyPr wrap="none" rtlCol="0">
              <a:spAutoFit/>
            </a:bodyPr>
            <a:lstStyle/>
            <a:p>
              <a:r>
                <a:rPr lang="en-IN" sz="2000" dirty="0">
                  <a:latin typeface="+mj-lt"/>
                </a:rPr>
                <a:t>P</a:t>
              </a:r>
              <a:r>
                <a:rPr lang="en-IN" sz="2000" baseline="-25000" dirty="0">
                  <a:latin typeface="+mj-lt"/>
                </a:rPr>
                <a:t>2</a:t>
              </a:r>
            </a:p>
          </p:txBody>
        </p:sp>
      </p:grpSp>
      <p:sp>
        <p:nvSpPr>
          <p:cNvPr id="178" name="Text Box 27">
            <a:extLst>
              <a:ext uri="{FF2B5EF4-FFF2-40B4-BE49-F238E27FC236}">
                <a16:creationId xmlns:a16="http://schemas.microsoft.com/office/drawing/2014/main" id="{A33E94FE-FDE1-433C-A127-68BE970CB425}"/>
              </a:ext>
            </a:extLst>
          </p:cNvPr>
          <p:cNvSpPr txBox="1">
            <a:spLocks noChangeArrowheads="1"/>
          </p:cNvSpPr>
          <p:nvPr/>
        </p:nvSpPr>
        <p:spPr bwMode="auto">
          <a:xfrm>
            <a:off x="81950" y="5986462"/>
            <a:ext cx="10356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Exits CS</a:t>
            </a:r>
          </a:p>
        </p:txBody>
      </p:sp>
      <p:sp>
        <p:nvSpPr>
          <p:cNvPr id="179" name="Text Box 27">
            <a:extLst>
              <a:ext uri="{FF2B5EF4-FFF2-40B4-BE49-F238E27FC236}">
                <a16:creationId xmlns:a16="http://schemas.microsoft.com/office/drawing/2014/main" id="{9398DE82-A8AB-48B7-9B87-C96F5B7888C7}"/>
              </a:ext>
            </a:extLst>
          </p:cNvPr>
          <p:cNvSpPr txBox="1">
            <a:spLocks noChangeArrowheads="1"/>
          </p:cNvSpPr>
          <p:nvPr/>
        </p:nvSpPr>
        <p:spPr bwMode="auto">
          <a:xfrm>
            <a:off x="3162981" y="4409938"/>
            <a:ext cx="11975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Enters CS</a:t>
            </a:r>
          </a:p>
        </p:txBody>
      </p:sp>
      <p:sp>
        <p:nvSpPr>
          <p:cNvPr id="180" name="Text Box 27">
            <a:extLst>
              <a:ext uri="{FF2B5EF4-FFF2-40B4-BE49-F238E27FC236}">
                <a16:creationId xmlns:a16="http://schemas.microsoft.com/office/drawing/2014/main" id="{1AF3D781-982B-4D17-AD74-F14E99916633}"/>
              </a:ext>
            </a:extLst>
          </p:cNvPr>
          <p:cNvSpPr txBox="1">
            <a:spLocks noChangeArrowheads="1"/>
          </p:cNvSpPr>
          <p:nvPr/>
        </p:nvSpPr>
        <p:spPr bwMode="auto">
          <a:xfrm>
            <a:off x="9267584" y="4101109"/>
            <a:ext cx="12089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Exits CS</a:t>
            </a:r>
          </a:p>
        </p:txBody>
      </p:sp>
      <p:cxnSp>
        <p:nvCxnSpPr>
          <p:cNvPr id="181" name="Straight Arrow Connector 180">
            <a:extLst>
              <a:ext uri="{FF2B5EF4-FFF2-40B4-BE49-F238E27FC236}">
                <a16:creationId xmlns:a16="http://schemas.microsoft.com/office/drawing/2014/main" id="{C399C32C-73C4-445E-BFDE-CB2A3F8DAAFD}"/>
              </a:ext>
            </a:extLst>
          </p:cNvPr>
          <p:cNvCxnSpPr>
            <a:stCxn id="158" idx="0"/>
            <a:endCxn id="155" idx="4"/>
          </p:cNvCxnSpPr>
          <p:nvPr/>
        </p:nvCxnSpPr>
        <p:spPr>
          <a:xfrm flipV="1">
            <a:off x="527578" y="4498997"/>
            <a:ext cx="0" cy="1001417"/>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2" name="Straight Arrow Connector 181">
            <a:extLst>
              <a:ext uri="{FF2B5EF4-FFF2-40B4-BE49-F238E27FC236}">
                <a16:creationId xmlns:a16="http://schemas.microsoft.com/office/drawing/2014/main" id="{0FE39E2B-0721-4376-98FE-750C2039E463}"/>
              </a:ext>
            </a:extLst>
          </p:cNvPr>
          <p:cNvCxnSpPr>
            <a:cxnSpLocks/>
            <a:endCxn id="164" idx="3"/>
          </p:cNvCxnSpPr>
          <p:nvPr/>
        </p:nvCxnSpPr>
        <p:spPr>
          <a:xfrm flipV="1">
            <a:off x="715113" y="4450899"/>
            <a:ext cx="2017137" cy="1131623"/>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a16="http://schemas.microsoft.com/office/drawing/2014/main" id="{A182A3BC-E1C2-4CB7-AC2A-9CDADBBDE6D5}"/>
              </a:ext>
            </a:extLst>
          </p:cNvPr>
          <p:cNvCxnSpPr>
            <a:stCxn id="176" idx="2"/>
            <a:endCxn id="167" idx="6"/>
          </p:cNvCxnSpPr>
          <p:nvPr/>
        </p:nvCxnSpPr>
        <p:spPr>
          <a:xfrm flipH="1" flipV="1">
            <a:off x="6835463" y="4277404"/>
            <a:ext cx="1916644" cy="16805"/>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4" name="Text Box 28">
            <a:extLst>
              <a:ext uri="{FF2B5EF4-FFF2-40B4-BE49-F238E27FC236}">
                <a16:creationId xmlns:a16="http://schemas.microsoft.com/office/drawing/2014/main" id="{4BBBA9F5-8948-40C5-B0B4-08A11AF1AC6F}"/>
              </a:ext>
            </a:extLst>
          </p:cNvPr>
          <p:cNvSpPr txBox="1">
            <a:spLocks noChangeArrowheads="1"/>
          </p:cNvSpPr>
          <p:nvPr/>
        </p:nvSpPr>
        <p:spPr bwMode="auto">
          <a:xfrm>
            <a:off x="1407713" y="6047135"/>
            <a:ext cx="6858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b="1" dirty="0">
                <a:latin typeface="+mj-lt"/>
              </a:rPr>
              <a:t>(c)</a:t>
            </a:r>
          </a:p>
        </p:txBody>
      </p:sp>
      <p:sp>
        <p:nvSpPr>
          <p:cNvPr id="185" name="Text Box 28">
            <a:extLst>
              <a:ext uri="{FF2B5EF4-FFF2-40B4-BE49-F238E27FC236}">
                <a16:creationId xmlns:a16="http://schemas.microsoft.com/office/drawing/2014/main" id="{0AB314BF-D0D8-494A-8001-4EBF50E05C85}"/>
              </a:ext>
            </a:extLst>
          </p:cNvPr>
          <p:cNvSpPr txBox="1">
            <a:spLocks noChangeArrowheads="1"/>
          </p:cNvSpPr>
          <p:nvPr/>
        </p:nvSpPr>
        <p:spPr bwMode="auto">
          <a:xfrm>
            <a:off x="7678955" y="6047135"/>
            <a:ext cx="6858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b="1" dirty="0">
                <a:latin typeface="+mj-lt"/>
              </a:rPr>
              <a:t>(d)</a:t>
            </a:r>
          </a:p>
        </p:txBody>
      </p:sp>
      <p:graphicFrame>
        <p:nvGraphicFramePr>
          <p:cNvPr id="186" name="Table 185">
            <a:extLst>
              <a:ext uri="{FF2B5EF4-FFF2-40B4-BE49-F238E27FC236}">
                <a16:creationId xmlns:a16="http://schemas.microsoft.com/office/drawing/2014/main" id="{9BEAC188-4DF5-4D90-9CB4-20FEBA20E2FB}"/>
              </a:ext>
            </a:extLst>
          </p:cNvPr>
          <p:cNvGraphicFramePr>
            <a:graphicFrameLocks noGrp="1"/>
          </p:cNvGraphicFramePr>
          <p:nvPr/>
        </p:nvGraphicFramePr>
        <p:xfrm>
          <a:off x="3200400" y="4114800"/>
          <a:ext cx="1020346" cy="326968"/>
        </p:xfrm>
        <a:graphic>
          <a:graphicData uri="http://schemas.openxmlformats.org/drawingml/2006/table">
            <a:tbl>
              <a:tblPr firstRow="1" bandRow="1">
                <a:tableStyleId>{5940675A-B579-460E-94D1-54222C63F5DA}</a:tableStyleId>
              </a:tblPr>
              <a:tblGrid>
                <a:gridCol w="1020346">
                  <a:extLst>
                    <a:ext uri="{9D8B030D-6E8A-4147-A177-3AD203B41FA5}">
                      <a16:colId xmlns:a16="http://schemas.microsoft.com/office/drawing/2014/main" val="1530787219"/>
                    </a:ext>
                  </a:extLst>
                </a:gridCol>
              </a:tblGrid>
              <a:tr h="290920">
                <a:tc>
                  <a:txBody>
                    <a:bodyPr/>
                    <a:lstStyle/>
                    <a:p>
                      <a:endParaRPr lang="en-IN" sz="1600" dirty="0">
                        <a:solidFill>
                          <a:schemeClr val="tx1"/>
                        </a:solidFill>
                      </a:endParaRPr>
                    </a:p>
                  </a:txBody>
                  <a:tcPr marL="83127" marR="83127" marT="41564" marB="41564"/>
                </a:tc>
                <a:extLst>
                  <a:ext uri="{0D108BD9-81ED-4DB2-BD59-A6C34878D82A}">
                    <a16:rowId xmlns:a16="http://schemas.microsoft.com/office/drawing/2014/main" val="4047261007"/>
                  </a:ext>
                </a:extLst>
              </a:tr>
            </a:tbl>
          </a:graphicData>
        </a:graphic>
      </p:graphicFrame>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D08AE8CE-506B-43D2-92C2-22688D2FA668}"/>
                  </a:ext>
                </a:extLst>
              </p:cNvPr>
              <p:cNvSpPr txBox="1"/>
              <p:nvPr/>
            </p:nvSpPr>
            <p:spPr>
              <a:xfrm>
                <a:off x="3841703" y="4126297"/>
                <a:ext cx="331351" cy="30777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𝑃</m:t>
                          </m:r>
                        </m:e>
                        <m:sub>
                          <m:r>
                            <a:rPr lang="en-IN" sz="2000" b="0" i="1" smtClean="0">
                              <a:latin typeface="Cambria Math" panose="02040503050406030204" pitchFamily="18" charset="0"/>
                            </a:rPr>
                            <m:t>1</m:t>
                          </m:r>
                        </m:sub>
                      </m:sSub>
                    </m:oMath>
                  </m:oMathPara>
                </a14:m>
                <a:endParaRPr lang="en-IN" sz="2000" dirty="0">
                  <a:latin typeface="+mj-lt"/>
                </a:endParaRPr>
              </a:p>
            </p:txBody>
          </p:sp>
        </mc:Choice>
        <mc:Fallback xmlns="">
          <p:sp>
            <p:nvSpPr>
              <p:cNvPr id="187" name="TextBox 186">
                <a:extLst>
                  <a:ext uri="{FF2B5EF4-FFF2-40B4-BE49-F238E27FC236}">
                    <a16:creationId xmlns:a16="http://schemas.microsoft.com/office/drawing/2014/main" xmlns:a14="http://schemas.microsoft.com/office/drawing/2010/main" xmlns="" id="{D08AE8CE-506B-43D2-92C2-22688D2FA668}"/>
                  </a:ext>
                </a:extLst>
              </p:cNvPr>
              <p:cNvSpPr txBox="1">
                <a:spLocks noRot="1" noChangeAspect="1" noMove="1" noResize="1" noEditPoints="1" noAdjustHandles="1" noChangeArrowheads="1" noChangeShapeType="1" noTextEdit="1"/>
              </p:cNvSpPr>
              <p:nvPr/>
            </p:nvSpPr>
            <p:spPr>
              <a:xfrm>
                <a:off x="3841703" y="4126297"/>
                <a:ext cx="331351" cy="307777"/>
              </a:xfrm>
              <a:prstGeom prst="rect">
                <a:avLst/>
              </a:prstGeom>
              <a:blipFill rotWithShape="0">
                <a:blip r:embed="rId5"/>
                <a:stretch>
                  <a:fillRect l="-16364" r="-7273" b="-20000"/>
                </a:stretch>
              </a:blipFill>
            </p:spPr>
            <p:txBody>
              <a:bodyPr/>
              <a:lstStyle/>
              <a:p>
                <a:r>
                  <a:rPr lang="en-IN">
                    <a:noFill/>
                  </a:rPr>
                  <a:t> </a:t>
                </a:r>
              </a:p>
            </p:txBody>
          </p:sp>
        </mc:Fallback>
      </mc:AlternateContent>
      <p:cxnSp>
        <p:nvCxnSpPr>
          <p:cNvPr id="188" name="Straight Connector 187">
            <a:extLst>
              <a:ext uri="{FF2B5EF4-FFF2-40B4-BE49-F238E27FC236}">
                <a16:creationId xmlns:a16="http://schemas.microsoft.com/office/drawing/2014/main" id="{9FB973FC-0E9E-4BC3-8084-C7B290FBB19F}"/>
              </a:ext>
            </a:extLst>
          </p:cNvPr>
          <p:cNvCxnSpPr>
            <a:cxnSpLocks/>
          </p:cNvCxnSpPr>
          <p:nvPr/>
        </p:nvCxnSpPr>
        <p:spPr>
          <a:xfrm>
            <a:off x="3841703" y="4114800"/>
            <a:ext cx="0" cy="3244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9" name="Text Box 27">
            <a:extLst>
              <a:ext uri="{FF2B5EF4-FFF2-40B4-BE49-F238E27FC236}">
                <a16:creationId xmlns:a16="http://schemas.microsoft.com/office/drawing/2014/main" id="{DF8C9320-88AF-41F3-9A30-41A835A14401}"/>
              </a:ext>
            </a:extLst>
          </p:cNvPr>
          <p:cNvSpPr txBox="1">
            <a:spLocks noChangeArrowheads="1"/>
          </p:cNvSpPr>
          <p:nvPr/>
        </p:nvSpPr>
        <p:spPr bwMode="auto">
          <a:xfrm>
            <a:off x="6127963" y="4538624"/>
            <a:ext cx="13042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Enters CS</a:t>
            </a:r>
          </a:p>
        </p:txBody>
      </p:sp>
      <p:sp>
        <p:nvSpPr>
          <p:cNvPr id="190" name="Text Box 25">
            <a:extLst>
              <a:ext uri="{FF2B5EF4-FFF2-40B4-BE49-F238E27FC236}">
                <a16:creationId xmlns:a16="http://schemas.microsoft.com/office/drawing/2014/main" id="{536EA586-3450-4A99-91B1-B8FA08E056C8}"/>
              </a:ext>
            </a:extLst>
          </p:cNvPr>
          <p:cNvSpPr txBox="1">
            <a:spLocks noChangeArrowheads="1"/>
          </p:cNvSpPr>
          <p:nvPr/>
        </p:nvSpPr>
        <p:spPr bwMode="auto">
          <a:xfrm>
            <a:off x="7602756" y="3969903"/>
            <a:ext cx="8382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OK</a:t>
            </a:r>
          </a:p>
        </p:txBody>
      </p:sp>
      <p:sp>
        <p:nvSpPr>
          <p:cNvPr id="191" name="Text Box 25">
            <a:extLst>
              <a:ext uri="{FF2B5EF4-FFF2-40B4-BE49-F238E27FC236}">
                <a16:creationId xmlns:a16="http://schemas.microsoft.com/office/drawing/2014/main" id="{1B79C53E-6C5A-4101-B851-6B38FE266A26}"/>
              </a:ext>
            </a:extLst>
          </p:cNvPr>
          <p:cNvSpPr txBox="1">
            <a:spLocks noChangeArrowheads="1"/>
          </p:cNvSpPr>
          <p:nvPr/>
        </p:nvSpPr>
        <p:spPr bwMode="auto">
          <a:xfrm>
            <a:off x="139299" y="4841309"/>
            <a:ext cx="8382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OK</a:t>
            </a:r>
          </a:p>
        </p:txBody>
      </p:sp>
      <p:sp>
        <p:nvSpPr>
          <p:cNvPr id="192" name="Text Box 25">
            <a:extLst>
              <a:ext uri="{FF2B5EF4-FFF2-40B4-BE49-F238E27FC236}">
                <a16:creationId xmlns:a16="http://schemas.microsoft.com/office/drawing/2014/main" id="{691B2B25-BC93-4EA2-B0C9-C6C540DE352D}"/>
              </a:ext>
            </a:extLst>
          </p:cNvPr>
          <p:cNvSpPr txBox="1">
            <a:spLocks noChangeArrowheads="1"/>
          </p:cNvSpPr>
          <p:nvPr/>
        </p:nvSpPr>
        <p:spPr bwMode="auto">
          <a:xfrm>
            <a:off x="8905833" y="1988364"/>
            <a:ext cx="8382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OK</a:t>
            </a:r>
          </a:p>
        </p:txBody>
      </p:sp>
      <p:sp>
        <p:nvSpPr>
          <p:cNvPr id="193" name="Text Box 25">
            <a:extLst>
              <a:ext uri="{FF2B5EF4-FFF2-40B4-BE49-F238E27FC236}">
                <a16:creationId xmlns:a16="http://schemas.microsoft.com/office/drawing/2014/main" id="{EAA84DA5-1D4E-4290-9591-8F4ABC6A6D66}"/>
              </a:ext>
            </a:extLst>
          </p:cNvPr>
          <p:cNvSpPr txBox="1">
            <a:spLocks noChangeArrowheads="1"/>
          </p:cNvSpPr>
          <p:nvPr/>
        </p:nvSpPr>
        <p:spPr bwMode="auto">
          <a:xfrm rot="19694017">
            <a:off x="1310659" y="4641254"/>
            <a:ext cx="8382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50000"/>
              </a:spcBef>
            </a:pPr>
            <a:r>
              <a:rPr lang="en-US" altLang="en-US" sz="2000" dirty="0">
                <a:latin typeface="+mj-lt"/>
              </a:rPr>
              <a:t>OK</a:t>
            </a:r>
          </a:p>
        </p:txBody>
      </p:sp>
    </p:spTree>
    <p:extLst>
      <p:ext uri="{BB962C8B-B14F-4D97-AF65-F5344CB8AC3E}">
        <p14:creationId xmlns:p14="http://schemas.microsoft.com/office/powerpoint/2010/main" val="185652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3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0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1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0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1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4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4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46"/>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4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5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4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4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0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01"/>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92"/>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00"/>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0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51"/>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50"/>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49"/>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53"/>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104"/>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154"/>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157"/>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163"/>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160"/>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178"/>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91"/>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181"/>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nodeType="clickEffect">
                                  <p:stCondLst>
                                    <p:cond delay="0"/>
                                  </p:stCondLst>
                                  <p:childTnLst>
                                    <p:set>
                                      <p:cBhvr>
                                        <p:cTn id="136" dur="1" fill="hold">
                                          <p:stCondLst>
                                            <p:cond delay="0"/>
                                          </p:stCondLst>
                                        </p:cTn>
                                        <p:tgtEl>
                                          <p:spTgt spid="182"/>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93"/>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86"/>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188"/>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79"/>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87"/>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184"/>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nodeType="clickEffect">
                                  <p:stCondLst>
                                    <p:cond delay="0"/>
                                  </p:stCondLst>
                                  <p:childTnLst>
                                    <p:set>
                                      <p:cBhvr>
                                        <p:cTn id="156" dur="1" fill="hold">
                                          <p:stCondLst>
                                            <p:cond delay="0"/>
                                          </p:stCondLst>
                                        </p:cTn>
                                        <p:tgtEl>
                                          <p:spTgt spid="166"/>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169"/>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172"/>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175"/>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180"/>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190"/>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183"/>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0" nodeType="clickEffect">
                                  <p:stCondLst>
                                    <p:cond delay="0"/>
                                  </p:stCondLst>
                                  <p:childTnLst>
                                    <p:set>
                                      <p:cBhvr>
                                        <p:cTn id="176" dur="1" fill="hold">
                                          <p:stCondLst>
                                            <p:cond delay="0"/>
                                          </p:stCondLst>
                                        </p:cTn>
                                        <p:tgtEl>
                                          <p:spTgt spid="189"/>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1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1" grpId="0" animBg="1"/>
      <p:bldP spid="102" grpId="0"/>
      <p:bldP spid="103" grpId="0"/>
      <p:bldP spid="104" grpId="0"/>
      <p:bldP spid="117" grpId="0" animBg="1"/>
      <p:bldP spid="118" grpId="0" animBg="1"/>
      <p:bldP spid="119" grpId="0" animBg="1"/>
      <p:bldP spid="120" grpId="0" animBg="1"/>
      <p:bldP spid="121" grpId="0" animBg="1"/>
      <p:bldP spid="122" grpId="0" animBg="1"/>
      <p:bldP spid="123" grpId="0"/>
      <p:bldP spid="124" grpId="0"/>
      <p:bldP spid="125" grpId="0"/>
      <p:bldP spid="126" grpId="0"/>
      <p:bldP spid="127" grpId="0"/>
      <p:bldP spid="128" grpId="0"/>
      <p:bldP spid="129" grpId="0"/>
      <p:bldP spid="130" grpId="0"/>
      <p:bldP spid="143" grpId="0" animBg="1"/>
      <p:bldP spid="145" grpId="0" animBg="1"/>
      <p:bldP spid="146" grpId="0" animBg="1"/>
      <p:bldP spid="151" grpId="0" animBg="1"/>
      <p:bldP spid="152" grpId="0"/>
      <p:bldP spid="153" grpId="0"/>
      <p:bldP spid="178" grpId="0"/>
      <p:bldP spid="179" grpId="0"/>
      <p:bldP spid="180" grpId="0"/>
      <p:bldP spid="184" grpId="0"/>
      <p:bldP spid="185" grpId="0"/>
      <p:bldP spid="187" grpId="0" animBg="1"/>
      <p:bldP spid="189" grpId="0"/>
      <p:bldP spid="190" grpId="0"/>
      <p:bldP spid="191" grpId="0"/>
      <p:bldP spid="192" grpId="0"/>
      <p:bldP spid="19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A Token Ring Algorithm</a:t>
            </a:r>
          </a:p>
        </p:txBody>
      </p:sp>
      <p:sp>
        <p:nvSpPr>
          <p:cNvPr id="28" name="Content Placeholder 2">
            <a:extLst>
              <a:ext uri="{FF2B5EF4-FFF2-40B4-BE49-F238E27FC236}">
                <a16:creationId xmlns:a16="http://schemas.microsoft.com/office/drawing/2014/main" id="{05FF24D1-5277-417B-BCE3-776DD62CA93A}"/>
              </a:ext>
            </a:extLst>
          </p:cNvPr>
          <p:cNvSpPr>
            <a:spLocks noGrp="1"/>
          </p:cNvSpPr>
          <p:nvPr>
            <p:ph idx="1"/>
          </p:nvPr>
        </p:nvSpPr>
        <p:spPr>
          <a:xfrm>
            <a:off x="131181" y="863444"/>
            <a:ext cx="6937276" cy="5590565"/>
          </a:xfrm>
        </p:spPr>
        <p:txBody>
          <a:bodyPr>
            <a:normAutofit fontScale="92500"/>
          </a:bodyPr>
          <a:lstStyle/>
          <a:p>
            <a:pPr>
              <a:lnSpc>
                <a:spcPct val="100000"/>
              </a:lnSpc>
              <a:spcBef>
                <a:spcPts val="300"/>
              </a:spcBef>
              <a:spcAft>
                <a:spcPts val="300"/>
              </a:spcAft>
            </a:pPr>
            <a:r>
              <a:rPr lang="en-US" altLang="en-US" dirty="0">
                <a:solidFill>
                  <a:srgbClr val="1D6199"/>
                </a:solidFill>
                <a:latin typeface="+mj-lt"/>
                <a:ea typeface="MS PGothic" panose="020B0600070205080204" pitchFamily="34" charset="-128"/>
              </a:rPr>
              <a:t>With a token ring algorithm:</a:t>
            </a:r>
          </a:p>
          <a:p>
            <a:pPr lvl="1">
              <a:lnSpc>
                <a:spcPct val="11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Each resource is associated with a token</a:t>
            </a:r>
          </a:p>
          <a:p>
            <a:pPr lvl="1">
              <a:lnSpc>
                <a:spcPct val="11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The token is circulated among the processes</a:t>
            </a:r>
          </a:p>
          <a:p>
            <a:pPr lvl="1">
              <a:lnSpc>
                <a:spcPct val="11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The process with the token can access the resource</a:t>
            </a:r>
          </a:p>
          <a:p>
            <a:pPr>
              <a:lnSpc>
                <a:spcPct val="100000"/>
              </a:lnSpc>
              <a:spcBef>
                <a:spcPts val="300"/>
              </a:spcBef>
              <a:spcAft>
                <a:spcPts val="300"/>
              </a:spcAft>
            </a:pPr>
            <a:r>
              <a:rPr lang="en-US" altLang="en-US" dirty="0">
                <a:solidFill>
                  <a:srgbClr val="1D6199"/>
                </a:solidFill>
                <a:latin typeface="+mj-lt"/>
                <a:ea typeface="MS PGothic" panose="020B0600070205080204" pitchFamily="34" charset="-128"/>
              </a:rPr>
              <a:t>How is the token circulated among processes?</a:t>
            </a:r>
          </a:p>
          <a:p>
            <a:pPr lvl="1">
              <a:lnSpc>
                <a:spcPct val="11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All processes form a logical ring where each process </a:t>
            </a:r>
            <a:br>
              <a:rPr lang="en-US" altLang="en-US" sz="2400" dirty="0">
                <a:latin typeface="+mj-lt"/>
                <a:ea typeface="Arial" panose="020B0604020202020204" pitchFamily="34" charset="0"/>
              </a:rPr>
            </a:br>
            <a:r>
              <a:rPr lang="en-US" altLang="en-US" sz="2400" dirty="0">
                <a:latin typeface="+mj-lt"/>
                <a:ea typeface="Arial" panose="020B0604020202020204" pitchFamily="34" charset="0"/>
              </a:rPr>
              <a:t>knows its next process</a:t>
            </a:r>
          </a:p>
          <a:p>
            <a:pPr lvl="1">
              <a:lnSpc>
                <a:spcPct val="11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One process is given the token to access the resource</a:t>
            </a:r>
          </a:p>
          <a:p>
            <a:pPr lvl="1">
              <a:lnSpc>
                <a:spcPct val="11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The process with the token has the right to access </a:t>
            </a:r>
            <a:br>
              <a:rPr lang="en-US" altLang="en-US" sz="2400" dirty="0">
                <a:latin typeface="+mj-lt"/>
                <a:ea typeface="Arial" panose="020B0604020202020204" pitchFamily="34" charset="0"/>
              </a:rPr>
            </a:br>
            <a:r>
              <a:rPr lang="en-US" altLang="en-US" sz="2400" dirty="0">
                <a:latin typeface="+mj-lt"/>
                <a:ea typeface="Arial" panose="020B0604020202020204" pitchFamily="34" charset="0"/>
              </a:rPr>
              <a:t>the resource</a:t>
            </a:r>
          </a:p>
          <a:p>
            <a:pPr lvl="1">
              <a:lnSpc>
                <a:spcPct val="11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If the process has finished accessing the resource </a:t>
            </a:r>
            <a:br>
              <a:rPr lang="en-US" altLang="en-US" sz="2400" dirty="0">
                <a:latin typeface="+mj-lt"/>
                <a:ea typeface="Arial" panose="020B0604020202020204" pitchFamily="34" charset="0"/>
              </a:rPr>
            </a:br>
            <a:r>
              <a:rPr lang="en-US" altLang="en-US" sz="2400" dirty="0">
                <a:latin typeface="+mj-lt"/>
                <a:ea typeface="Arial" panose="020B0604020202020204" pitchFamily="34" charset="0"/>
              </a:rPr>
              <a:t>OR does not want to access the resource:</a:t>
            </a:r>
          </a:p>
          <a:p>
            <a:pPr lvl="1">
              <a:lnSpc>
                <a:spcPct val="11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It passes the token to the next process in the ring</a:t>
            </a:r>
          </a:p>
        </p:txBody>
      </p:sp>
      <p:graphicFrame>
        <p:nvGraphicFramePr>
          <p:cNvPr id="49" name="Diagram 48">
            <a:extLst>
              <a:ext uri="{FF2B5EF4-FFF2-40B4-BE49-F238E27FC236}">
                <a16:creationId xmlns:a16="http://schemas.microsoft.com/office/drawing/2014/main" id="{D69DFE13-72C5-48BC-8C0B-81EB3FF2F421}"/>
              </a:ext>
            </a:extLst>
          </p:cNvPr>
          <p:cNvGraphicFramePr/>
          <p:nvPr/>
        </p:nvGraphicFramePr>
        <p:xfrm>
          <a:off x="7358742" y="2159904"/>
          <a:ext cx="4206240" cy="29001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0" name="Rectangle 49">
            <a:extLst>
              <a:ext uri="{FF2B5EF4-FFF2-40B4-BE49-F238E27FC236}">
                <a16:creationId xmlns:a16="http://schemas.microsoft.com/office/drawing/2014/main" id="{F587C1B7-D2C9-4BC0-A3B4-EEC8CCAC2597}"/>
              </a:ext>
            </a:extLst>
          </p:cNvPr>
          <p:cNvSpPr/>
          <p:nvPr/>
        </p:nvSpPr>
        <p:spPr bwMode="auto">
          <a:xfrm>
            <a:off x="10424205" y="1612896"/>
            <a:ext cx="1676401" cy="477157"/>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sz="2800" dirty="0">
                <a:solidFill>
                  <a:schemeClr val="tx1"/>
                </a:solidFill>
                <a:latin typeface="+mj-lt"/>
              </a:rPr>
              <a:t>Resource</a:t>
            </a:r>
          </a:p>
        </p:txBody>
      </p:sp>
      <p:cxnSp>
        <p:nvCxnSpPr>
          <p:cNvPr id="51" name="Straight Arrow Connector 50">
            <a:extLst>
              <a:ext uri="{FF2B5EF4-FFF2-40B4-BE49-F238E27FC236}">
                <a16:creationId xmlns:a16="http://schemas.microsoft.com/office/drawing/2014/main" id="{8BF99851-9AED-4857-9978-A443D4B9D071}"/>
              </a:ext>
            </a:extLst>
          </p:cNvPr>
          <p:cNvCxnSpPr/>
          <p:nvPr/>
        </p:nvCxnSpPr>
        <p:spPr>
          <a:xfrm flipV="1">
            <a:off x="9416142" y="1861453"/>
            <a:ext cx="914400" cy="107950"/>
          </a:xfrm>
          <a:prstGeom prst="straightConnector1">
            <a:avLst/>
          </a:prstGeom>
          <a:ln w="381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5FC88094-610B-471B-994D-BE8E06A1A96D}"/>
              </a:ext>
            </a:extLst>
          </p:cNvPr>
          <p:cNvSpPr/>
          <p:nvPr/>
        </p:nvSpPr>
        <p:spPr>
          <a:xfrm>
            <a:off x="9281206" y="1419107"/>
            <a:ext cx="1036638" cy="345282"/>
          </a:xfrm>
          <a:prstGeom prst="rect">
            <a:avLst/>
          </a:prstGeom>
          <a:solidFill>
            <a:srgbClr val="FFFF00"/>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dirty="0">
                <a:solidFill>
                  <a:schemeClr val="tx1"/>
                </a:solidFill>
                <a:latin typeface="+mj-lt"/>
              </a:rPr>
              <a:t>Access</a:t>
            </a:r>
          </a:p>
        </p:txBody>
      </p:sp>
      <p:sp>
        <p:nvSpPr>
          <p:cNvPr id="53" name="Rectangle 52">
            <a:extLst>
              <a:ext uri="{FF2B5EF4-FFF2-40B4-BE49-F238E27FC236}">
                <a16:creationId xmlns:a16="http://schemas.microsoft.com/office/drawing/2014/main" id="{688CF0D5-10B3-478B-96BC-7C7E8027D446}"/>
              </a:ext>
            </a:extLst>
          </p:cNvPr>
          <p:cNvSpPr/>
          <p:nvPr/>
        </p:nvSpPr>
        <p:spPr>
          <a:xfrm>
            <a:off x="10893311" y="2469466"/>
            <a:ext cx="324000" cy="360000"/>
          </a:xfrm>
          <a:prstGeom prst="rect">
            <a:avLst/>
          </a:prstGeom>
          <a:solidFill>
            <a:srgbClr val="1D3064"/>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b="1" dirty="0">
                <a:solidFill>
                  <a:schemeClr val="bg1"/>
                </a:solidFill>
                <a:latin typeface="+mj-lt"/>
              </a:rPr>
              <a:t>T</a:t>
            </a:r>
          </a:p>
        </p:txBody>
      </p:sp>
      <p:sp>
        <p:nvSpPr>
          <p:cNvPr id="54" name="Rectangle 53">
            <a:extLst>
              <a:ext uri="{FF2B5EF4-FFF2-40B4-BE49-F238E27FC236}">
                <a16:creationId xmlns:a16="http://schemas.microsoft.com/office/drawing/2014/main" id="{735348B7-5AA5-4EC8-B696-7FF94D9DFAE0}"/>
              </a:ext>
            </a:extLst>
          </p:cNvPr>
          <p:cNvSpPr/>
          <p:nvPr/>
        </p:nvSpPr>
        <p:spPr>
          <a:xfrm>
            <a:off x="11139374" y="3506102"/>
            <a:ext cx="324000" cy="360000"/>
          </a:xfrm>
          <a:prstGeom prst="rect">
            <a:avLst/>
          </a:prstGeom>
          <a:solidFill>
            <a:srgbClr val="1D3064"/>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b="1" dirty="0">
                <a:solidFill>
                  <a:schemeClr val="bg1"/>
                </a:solidFill>
                <a:latin typeface="+mj-lt"/>
              </a:rPr>
              <a:t>T</a:t>
            </a:r>
          </a:p>
        </p:txBody>
      </p:sp>
      <p:sp>
        <p:nvSpPr>
          <p:cNvPr id="55" name="Rectangle 54">
            <a:extLst>
              <a:ext uri="{FF2B5EF4-FFF2-40B4-BE49-F238E27FC236}">
                <a16:creationId xmlns:a16="http://schemas.microsoft.com/office/drawing/2014/main" id="{3CCCFED0-C224-4C69-A6AB-6A0381C7C1AE}"/>
              </a:ext>
            </a:extLst>
          </p:cNvPr>
          <p:cNvSpPr/>
          <p:nvPr/>
        </p:nvSpPr>
        <p:spPr>
          <a:xfrm>
            <a:off x="10714152" y="4661115"/>
            <a:ext cx="324000" cy="360000"/>
          </a:xfrm>
          <a:prstGeom prst="rect">
            <a:avLst/>
          </a:prstGeom>
          <a:solidFill>
            <a:srgbClr val="1D3064"/>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b="1" dirty="0">
                <a:solidFill>
                  <a:schemeClr val="bg1"/>
                </a:solidFill>
                <a:latin typeface="+mj-lt"/>
              </a:rPr>
              <a:t>T</a:t>
            </a:r>
          </a:p>
        </p:txBody>
      </p:sp>
      <p:sp>
        <p:nvSpPr>
          <p:cNvPr id="56" name="Rectangle 55">
            <a:extLst>
              <a:ext uri="{FF2B5EF4-FFF2-40B4-BE49-F238E27FC236}">
                <a16:creationId xmlns:a16="http://schemas.microsoft.com/office/drawing/2014/main" id="{C06EE6D3-EC83-4EC0-956A-BFCAC8A66675}"/>
              </a:ext>
            </a:extLst>
          </p:cNvPr>
          <p:cNvSpPr/>
          <p:nvPr/>
        </p:nvSpPr>
        <p:spPr>
          <a:xfrm>
            <a:off x="9416142" y="5242894"/>
            <a:ext cx="324000" cy="360000"/>
          </a:xfrm>
          <a:prstGeom prst="rect">
            <a:avLst/>
          </a:prstGeom>
          <a:solidFill>
            <a:srgbClr val="1D3064"/>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b="1" dirty="0">
                <a:solidFill>
                  <a:schemeClr val="bg1"/>
                </a:solidFill>
                <a:latin typeface="+mj-lt"/>
              </a:rPr>
              <a:t>T</a:t>
            </a:r>
          </a:p>
        </p:txBody>
      </p:sp>
      <p:sp>
        <p:nvSpPr>
          <p:cNvPr id="57" name="Rectangle 56">
            <a:extLst>
              <a:ext uri="{FF2B5EF4-FFF2-40B4-BE49-F238E27FC236}">
                <a16:creationId xmlns:a16="http://schemas.microsoft.com/office/drawing/2014/main" id="{709EE3FB-8E71-477B-B4CC-B546F13FF45E}"/>
              </a:ext>
            </a:extLst>
          </p:cNvPr>
          <p:cNvSpPr/>
          <p:nvPr/>
        </p:nvSpPr>
        <p:spPr>
          <a:xfrm>
            <a:off x="7930356" y="4606010"/>
            <a:ext cx="324000" cy="360000"/>
          </a:xfrm>
          <a:prstGeom prst="rect">
            <a:avLst/>
          </a:prstGeom>
          <a:solidFill>
            <a:srgbClr val="1D3064"/>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b="1" dirty="0">
                <a:solidFill>
                  <a:schemeClr val="bg1"/>
                </a:solidFill>
                <a:latin typeface="+mj-lt"/>
              </a:rPr>
              <a:t>T</a:t>
            </a:r>
          </a:p>
        </p:txBody>
      </p:sp>
      <p:sp>
        <p:nvSpPr>
          <p:cNvPr id="58" name="Rectangle 57">
            <a:extLst>
              <a:ext uri="{FF2B5EF4-FFF2-40B4-BE49-F238E27FC236}">
                <a16:creationId xmlns:a16="http://schemas.microsoft.com/office/drawing/2014/main" id="{FDCEA44A-36EA-40F6-A7D7-E80DBE1B6FAC}"/>
              </a:ext>
            </a:extLst>
          </p:cNvPr>
          <p:cNvSpPr/>
          <p:nvPr/>
        </p:nvSpPr>
        <p:spPr>
          <a:xfrm>
            <a:off x="7487104" y="3506102"/>
            <a:ext cx="324000" cy="360000"/>
          </a:xfrm>
          <a:prstGeom prst="rect">
            <a:avLst/>
          </a:prstGeom>
          <a:solidFill>
            <a:srgbClr val="1D3064"/>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b="1" dirty="0">
                <a:solidFill>
                  <a:schemeClr val="bg1"/>
                </a:solidFill>
                <a:latin typeface="+mj-lt"/>
              </a:rPr>
              <a:t>T</a:t>
            </a:r>
          </a:p>
        </p:txBody>
      </p:sp>
      <p:sp>
        <p:nvSpPr>
          <p:cNvPr id="59" name="Rectangle 58">
            <a:extLst>
              <a:ext uri="{FF2B5EF4-FFF2-40B4-BE49-F238E27FC236}">
                <a16:creationId xmlns:a16="http://schemas.microsoft.com/office/drawing/2014/main" id="{245CD068-A43A-4C2A-A425-C9BAB734505F}"/>
              </a:ext>
            </a:extLst>
          </p:cNvPr>
          <p:cNvSpPr/>
          <p:nvPr/>
        </p:nvSpPr>
        <p:spPr>
          <a:xfrm>
            <a:off x="7618509" y="2274205"/>
            <a:ext cx="311847" cy="368748"/>
          </a:xfrm>
          <a:prstGeom prst="rect">
            <a:avLst/>
          </a:prstGeom>
          <a:solidFill>
            <a:srgbClr val="1D3064"/>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2000" dirty="0">
                <a:solidFill>
                  <a:schemeClr val="bg1"/>
                </a:solidFill>
                <a:latin typeface="+mj-lt"/>
              </a:rPr>
              <a:t>T</a:t>
            </a:r>
          </a:p>
        </p:txBody>
      </p:sp>
      <p:cxnSp>
        <p:nvCxnSpPr>
          <p:cNvPr id="60" name="Straight Arrow Connector 59">
            <a:extLst>
              <a:ext uri="{FF2B5EF4-FFF2-40B4-BE49-F238E27FC236}">
                <a16:creationId xmlns:a16="http://schemas.microsoft.com/office/drawing/2014/main" id="{BC112490-4430-4307-BE85-AFA3EE3AB547}"/>
              </a:ext>
            </a:extLst>
          </p:cNvPr>
          <p:cNvCxnSpPr/>
          <p:nvPr/>
        </p:nvCxnSpPr>
        <p:spPr>
          <a:xfrm flipV="1">
            <a:off x="10317844" y="1961468"/>
            <a:ext cx="182562" cy="507998"/>
          </a:xfrm>
          <a:prstGeom prst="straightConnector1">
            <a:avLst/>
          </a:prstGeom>
          <a:ln w="381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9F665CD8-AD38-4998-9A0D-ED6F02271931}"/>
              </a:ext>
            </a:extLst>
          </p:cNvPr>
          <p:cNvSpPr/>
          <p:nvPr/>
        </p:nvSpPr>
        <p:spPr>
          <a:xfrm>
            <a:off x="8646849" y="1584389"/>
            <a:ext cx="324000" cy="360000"/>
          </a:xfrm>
          <a:prstGeom prst="rect">
            <a:avLst/>
          </a:prstGeom>
          <a:solidFill>
            <a:srgbClr val="1D3064"/>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b="1" dirty="0">
                <a:solidFill>
                  <a:schemeClr val="bg1"/>
                </a:solidFill>
                <a:latin typeface="+mj-lt"/>
              </a:rPr>
              <a:t>T</a:t>
            </a:r>
          </a:p>
        </p:txBody>
      </p:sp>
    </p:spTree>
    <p:extLst>
      <p:ext uri="{BB962C8B-B14F-4D97-AF65-F5344CB8AC3E}">
        <p14:creationId xmlns:p14="http://schemas.microsoft.com/office/powerpoint/2010/main" val="1430439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par>
                                <p:cTn id="31" presetID="22" presetClass="entr" presetSubtype="8" fill="hold" nodeType="withEffect">
                                  <p:stCondLst>
                                    <p:cond delay="0"/>
                                  </p:stCondLst>
                                  <p:childTnLst>
                                    <p:set>
                                      <p:cBhvr>
                                        <p:cTn id="32" dur="1" fill="hold">
                                          <p:stCondLst>
                                            <p:cond delay="0"/>
                                          </p:stCondLst>
                                        </p:cTn>
                                        <p:tgtEl>
                                          <p:spTgt spid="51"/>
                                        </p:tgtEl>
                                        <p:attrNameLst>
                                          <p:attrName>style.visibility</p:attrName>
                                        </p:attrNameLst>
                                      </p:cBhvr>
                                      <p:to>
                                        <p:strVal val="visible"/>
                                      </p:to>
                                    </p:set>
                                    <p:animEffect transition="in" filter="wipe(left)">
                                      <p:cBhvr>
                                        <p:cTn id="33" dur="500"/>
                                        <p:tgtEl>
                                          <p:spTgt spid="51"/>
                                        </p:tgtEl>
                                      </p:cBhvr>
                                    </p:animEffect>
                                  </p:childTnLst>
                                  <p:subTnLst>
                                    <p:set>
                                      <p:cBhvr override="childStyle">
                                        <p:cTn dur="1" fill="hold" display="0" masterRel="nextClick" afterEffect="1"/>
                                        <p:tgtEl>
                                          <p:spTgt spid="51"/>
                                        </p:tgtEl>
                                        <p:attrNameLst>
                                          <p:attrName>style.visibility</p:attrName>
                                        </p:attrNameLst>
                                      </p:cBhvr>
                                      <p:to>
                                        <p:strVal val="hidden"/>
                                      </p:to>
                                    </p:set>
                                  </p:sub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52"/>
                                        </p:tgtEl>
                                        <p:attrNameLst>
                                          <p:attrName>style.visibility</p:attrName>
                                        </p:attrNameLst>
                                      </p:cBhvr>
                                      <p:to>
                                        <p:strVal val="visible"/>
                                      </p:to>
                                    </p:set>
                                  </p:childTnLst>
                                </p:cTn>
                              </p:par>
                              <p:par>
                                <p:cTn id="38" presetID="1" presetClass="exit" presetSubtype="0" fill="hold" grpId="1" nodeType="withEffect">
                                  <p:stCondLst>
                                    <p:cond delay="0"/>
                                  </p:stCondLst>
                                  <p:childTnLst>
                                    <p:set>
                                      <p:cBhvr>
                                        <p:cTn id="39" dur="1" fill="hold">
                                          <p:stCondLst>
                                            <p:cond delay="0"/>
                                          </p:stCondLst>
                                        </p:cTn>
                                        <p:tgtEl>
                                          <p:spTgt spid="52"/>
                                        </p:tgtEl>
                                        <p:attrNameLst>
                                          <p:attrName>style.visibility</p:attrName>
                                        </p:attrNameLst>
                                      </p:cBhvr>
                                      <p:to>
                                        <p:strVal val="hidden"/>
                                      </p:to>
                                    </p:set>
                                  </p:childTnLst>
                                </p:cTn>
                              </p:par>
                              <p:par>
                                <p:cTn id="40" presetID="0" presetClass="path" presetSubtype="0" accel="50000" decel="50000" fill="hold" grpId="1" nodeType="withEffect">
                                  <p:stCondLst>
                                    <p:cond delay="0"/>
                                  </p:stCondLst>
                                  <p:childTnLst>
                                    <p:animMotion origin="layout" path="M 3.95833E-6 4.07407E-6 C 0.01028 0.00046 0.01393 0.00023 0.02382 0.00185 C 0.0263 0.00231 0.03086 0.00324 0.03086 0.00347 C 0.0345 0.00555 0.03671 0.00578 0.04114 0.00625 C 0.04674 0.00972 0.05442 0.01226 0.06093 0.01365 C 0.06289 0.01481 0.06562 0.01458 0.06692 0.0162 C 0.06783 0.01666 0.0677 0.01782 0.06796 0.01875 C 0.06966 0.02338 0.07096 0.02754 0.07252 0.03217 C 0.07343 0.03912 0.07317 0.03564 0.07317 0.04351 " pathEditMode="relative" rAng="0" ptsTypes="AAAAAAAAA">
                                      <p:cBhvr>
                                        <p:cTn id="41" dur="2000" fill="hold"/>
                                        <p:tgtEl>
                                          <p:spTgt spid="62"/>
                                        </p:tgtEl>
                                        <p:attrNameLst>
                                          <p:attrName>ppt_x</p:attrName>
                                          <p:attrName>ppt_y</p:attrName>
                                        </p:attrNameLst>
                                      </p:cBhvr>
                                      <p:rCtr x="3659" y="2176"/>
                                    </p:animMotion>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60"/>
                                        </p:tgtEl>
                                        <p:attrNameLst>
                                          <p:attrName>style.visibility</p:attrName>
                                        </p:attrNameLst>
                                      </p:cBhvr>
                                      <p:to>
                                        <p:strVal val="visible"/>
                                      </p:to>
                                    </p:set>
                                    <p:animEffect transition="in" filter="wipe(left)">
                                      <p:cBhvr>
                                        <p:cTn id="46" dur="500"/>
                                        <p:tgtEl>
                                          <p:spTgt spid="60"/>
                                        </p:tgtEl>
                                      </p:cBhvr>
                                    </p:animEffect>
                                  </p:childTnLst>
                                  <p:subTnLst>
                                    <p:set>
                                      <p:cBhvr override="childStyle">
                                        <p:cTn dur="1" fill="hold" display="0" masterRel="nextClick" afterEffect="1"/>
                                        <p:tgtEl>
                                          <p:spTgt spid="60"/>
                                        </p:tgtEl>
                                        <p:attrNameLst>
                                          <p:attrName>style.visibility</p:attrName>
                                        </p:attrNameLst>
                                      </p:cBhvr>
                                      <p:to>
                                        <p:strVal val="hidden"/>
                                      </p:to>
                                    </p:set>
                                  </p:subTnLst>
                                </p:cTn>
                              </p:par>
                              <p:par>
                                <p:cTn id="47" presetID="1" presetClass="entr" presetSubtype="0" fill="hold" grpId="0" nodeType="withEffect">
                                  <p:stCondLst>
                                    <p:cond delay="0"/>
                                  </p:stCondLst>
                                  <p:childTnLst>
                                    <p:set>
                                      <p:cBhvr>
                                        <p:cTn id="48" dur="1" fill="hold">
                                          <p:stCondLst>
                                            <p:cond delay="0"/>
                                          </p:stCondLst>
                                        </p:cTn>
                                        <p:tgtEl>
                                          <p:spTgt spid="53"/>
                                        </p:tgtEl>
                                        <p:attrNameLst>
                                          <p:attrName>style.visibility</p:attrName>
                                        </p:attrNameLst>
                                      </p:cBhvr>
                                      <p:to>
                                        <p:strVal val="visible"/>
                                      </p:to>
                                    </p:set>
                                  </p:childTnLst>
                                </p:cTn>
                              </p:par>
                              <p:par>
                                <p:cTn id="49" presetID="1" presetClass="exit" presetSubtype="0" fill="hold" grpId="2" nodeType="withEffect">
                                  <p:stCondLst>
                                    <p:cond delay="0"/>
                                  </p:stCondLst>
                                  <p:childTnLst>
                                    <p:set>
                                      <p:cBhvr>
                                        <p:cTn id="50" dur="1" fill="hold">
                                          <p:stCondLst>
                                            <p:cond delay="0"/>
                                          </p:stCondLst>
                                        </p:cTn>
                                        <p:tgtEl>
                                          <p:spTgt spid="62"/>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53"/>
                                        </p:tgtEl>
                                        <p:attrNameLst>
                                          <p:attrName>style.visibility</p:attrName>
                                        </p:attrNameLst>
                                      </p:cBhvr>
                                      <p:to>
                                        <p:strVal val="hidden"/>
                                      </p:to>
                                    </p:set>
                                  </p:childTnLst>
                                </p:cTn>
                              </p:par>
                              <p:par>
                                <p:cTn id="55" presetID="1" presetClass="entr" presetSubtype="0" fill="hold" grpId="0" nodeType="withEffect">
                                  <p:stCondLst>
                                    <p:cond delay="0"/>
                                  </p:stCondLst>
                                  <p:childTnLst>
                                    <p:set>
                                      <p:cBhvr>
                                        <p:cTn id="56" dur="1" fill="hold">
                                          <p:stCondLst>
                                            <p:cond delay="0"/>
                                          </p:stCondLst>
                                        </p:cTn>
                                        <p:tgtEl>
                                          <p:spTgt spid="5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54"/>
                                        </p:tgtEl>
                                        <p:attrNameLst>
                                          <p:attrName>style.visibility</p:attrName>
                                        </p:attrNameLst>
                                      </p:cBhvr>
                                      <p:to>
                                        <p:strVal val="hidden"/>
                                      </p:to>
                                    </p:set>
                                  </p:childTnLst>
                                </p:cTn>
                              </p:par>
                              <p:par>
                                <p:cTn id="61" presetID="1" presetClass="entr" presetSubtype="0" fill="hold" grpId="0" nodeType="withEffect">
                                  <p:stCondLst>
                                    <p:cond delay="0"/>
                                  </p:stCondLst>
                                  <p:childTnLst>
                                    <p:set>
                                      <p:cBhvr>
                                        <p:cTn id="62" dur="1" fill="hold">
                                          <p:stCondLst>
                                            <p:cond delay="0"/>
                                          </p:stCondLst>
                                        </p:cTn>
                                        <p:tgtEl>
                                          <p:spTgt spid="5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0"/>
                                          </p:stCondLst>
                                        </p:cTn>
                                        <p:tgtEl>
                                          <p:spTgt spid="55"/>
                                        </p:tgtEl>
                                        <p:attrNameLst>
                                          <p:attrName>style.visibility</p:attrName>
                                        </p:attrNameLst>
                                      </p:cBhvr>
                                      <p:to>
                                        <p:strVal val="hidden"/>
                                      </p:to>
                                    </p:set>
                                  </p:childTnLst>
                                </p:cTn>
                              </p:par>
                              <p:par>
                                <p:cTn id="67" presetID="1" presetClass="entr" presetSubtype="0" fill="hold" grpId="0" nodeType="withEffect">
                                  <p:stCondLst>
                                    <p:cond delay="0"/>
                                  </p:stCondLst>
                                  <p:childTnLst>
                                    <p:set>
                                      <p:cBhvr>
                                        <p:cTn id="68" dur="1" fill="hold">
                                          <p:stCondLst>
                                            <p:cond delay="0"/>
                                          </p:stCondLst>
                                        </p:cTn>
                                        <p:tgtEl>
                                          <p:spTgt spid="5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xit" presetSubtype="0" fill="hold" grpId="1" nodeType="clickEffect">
                                  <p:stCondLst>
                                    <p:cond delay="0"/>
                                  </p:stCondLst>
                                  <p:childTnLst>
                                    <p:set>
                                      <p:cBhvr>
                                        <p:cTn id="72" dur="1" fill="hold">
                                          <p:stCondLst>
                                            <p:cond delay="0"/>
                                          </p:stCondLst>
                                        </p:cTn>
                                        <p:tgtEl>
                                          <p:spTgt spid="56"/>
                                        </p:tgtEl>
                                        <p:attrNameLst>
                                          <p:attrName>style.visibility</p:attrName>
                                        </p:attrNameLst>
                                      </p:cBhvr>
                                      <p:to>
                                        <p:strVal val="hidden"/>
                                      </p:to>
                                    </p:set>
                                  </p:childTnLst>
                                </p:cTn>
                              </p:par>
                              <p:par>
                                <p:cTn id="73" presetID="1" presetClass="entr" presetSubtype="0" fill="hold" grpId="0" nodeType="withEffect">
                                  <p:stCondLst>
                                    <p:cond delay="0"/>
                                  </p:stCondLst>
                                  <p:childTnLst>
                                    <p:set>
                                      <p:cBhvr>
                                        <p:cTn id="74" dur="1" fill="hold">
                                          <p:stCondLst>
                                            <p:cond delay="0"/>
                                          </p:stCondLst>
                                        </p:cTn>
                                        <p:tgtEl>
                                          <p:spTgt spid="5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57"/>
                                        </p:tgtEl>
                                        <p:attrNameLst>
                                          <p:attrName>style.visibility</p:attrName>
                                        </p:attrNameLst>
                                      </p:cBhvr>
                                      <p:to>
                                        <p:strVal val="hidden"/>
                                      </p:to>
                                    </p:set>
                                  </p:childTnLst>
                                </p:cTn>
                              </p:par>
                              <p:par>
                                <p:cTn id="79" presetID="1" presetClass="entr" presetSubtype="0" fill="hold" grpId="0" nodeType="withEffect">
                                  <p:stCondLst>
                                    <p:cond delay="0"/>
                                  </p:stCondLst>
                                  <p:childTnLst>
                                    <p:set>
                                      <p:cBhvr>
                                        <p:cTn id="80" dur="1" fill="hold">
                                          <p:stCondLst>
                                            <p:cond delay="0"/>
                                          </p:stCondLst>
                                        </p:cTn>
                                        <p:tgtEl>
                                          <p:spTgt spid="5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grpId="1" nodeType="clickEffect">
                                  <p:stCondLst>
                                    <p:cond delay="0"/>
                                  </p:stCondLst>
                                  <p:childTnLst>
                                    <p:set>
                                      <p:cBhvr>
                                        <p:cTn id="84" dur="1" fill="hold">
                                          <p:stCondLst>
                                            <p:cond delay="0"/>
                                          </p:stCondLst>
                                        </p:cTn>
                                        <p:tgtEl>
                                          <p:spTgt spid="58"/>
                                        </p:tgtEl>
                                        <p:attrNameLst>
                                          <p:attrName>style.visibility</p:attrName>
                                        </p:attrNameLst>
                                      </p:cBhvr>
                                      <p:to>
                                        <p:strVal val="hidden"/>
                                      </p:to>
                                    </p:set>
                                  </p:childTnLst>
                                </p:cTn>
                              </p:par>
                              <p:par>
                                <p:cTn id="85" presetID="1" presetClass="entr" presetSubtype="0" fill="hold" grpId="0" nodeType="withEffect">
                                  <p:stCondLst>
                                    <p:cond delay="0"/>
                                  </p:stCondLst>
                                  <p:childTnLst>
                                    <p:set>
                                      <p:cBhvr>
                                        <p:cTn id="86" dur="1" fill="hold">
                                          <p:stCondLst>
                                            <p:cond delay="0"/>
                                          </p:stCondLst>
                                        </p:cTn>
                                        <p:tgtEl>
                                          <p:spTgt spid="5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1" nodeType="clickEffect">
                                  <p:stCondLst>
                                    <p:cond delay="0"/>
                                  </p:stCondLst>
                                  <p:childTnLst>
                                    <p:set>
                                      <p:cBhvr>
                                        <p:cTn id="90" dur="1" fill="hold">
                                          <p:stCondLst>
                                            <p:cond delay="0"/>
                                          </p:stCondLst>
                                        </p:cTn>
                                        <p:tgtEl>
                                          <p:spTgt spid="59"/>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2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9" grpId="0">
        <p:bldAsOne/>
      </p:bldGraphic>
      <p:bldP spid="52" grpId="0" animBg="1"/>
      <p:bldP spid="52" grpId="1" animBg="1"/>
      <p:bldP spid="53" grpId="0" animBg="1"/>
      <p:bldP spid="53" grpId="1" animBg="1"/>
      <p:bldP spid="54" grpId="0" animBg="1"/>
      <p:bldP spid="54" grpId="1" animBg="1"/>
      <p:bldP spid="55" grpId="0" animBg="1"/>
      <p:bldP spid="55" grpId="1" animBg="1"/>
      <p:bldP spid="56" grpId="0" animBg="1"/>
      <p:bldP spid="56" grpId="1" animBg="1"/>
      <p:bldP spid="57" grpId="0" animBg="1"/>
      <p:bldP spid="57" grpId="1" animBg="1"/>
      <p:bldP spid="58" grpId="0" animBg="1"/>
      <p:bldP spid="58" grpId="1" animBg="1"/>
      <p:bldP spid="59" grpId="0" animBg="1"/>
      <p:bldP spid="59" grpId="1" animBg="1"/>
      <p:bldP spid="62" grpId="0" animBg="1"/>
      <p:bldP spid="62" grpId="1" animBg="1"/>
      <p:bldP spid="62" grpId="2"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Failure in Token Ring Algorithm</a:t>
            </a:r>
          </a:p>
        </p:txBody>
      </p:sp>
      <p:sp>
        <p:nvSpPr>
          <p:cNvPr id="28" name="Content Placeholder 2">
            <a:extLst>
              <a:ext uri="{FF2B5EF4-FFF2-40B4-BE49-F238E27FC236}">
                <a16:creationId xmlns:a16="http://schemas.microsoft.com/office/drawing/2014/main" id="{05FF24D1-5277-417B-BCE3-776DD62CA93A}"/>
              </a:ext>
            </a:extLst>
          </p:cNvPr>
          <p:cNvSpPr>
            <a:spLocks noGrp="1"/>
          </p:cNvSpPr>
          <p:nvPr>
            <p:ph idx="1"/>
          </p:nvPr>
        </p:nvSpPr>
        <p:spPr/>
        <p:txBody>
          <a:bodyPr>
            <a:normAutofit/>
          </a:bodyPr>
          <a:lstStyle/>
          <a:p>
            <a:pPr marL="0" indent="0">
              <a:lnSpc>
                <a:spcPct val="100000"/>
              </a:lnSpc>
              <a:spcBef>
                <a:spcPts val="300"/>
              </a:spcBef>
              <a:spcAft>
                <a:spcPts val="300"/>
              </a:spcAft>
              <a:buNone/>
            </a:pPr>
            <a:r>
              <a:rPr lang="en-US" altLang="en-US" b="1" dirty="0">
                <a:latin typeface="+mj-lt"/>
                <a:ea typeface="MS PGothic" panose="020B0600070205080204" pitchFamily="34" charset="-128"/>
              </a:rPr>
              <a:t>Two types of failure can occur:</a:t>
            </a:r>
          </a:p>
          <a:p>
            <a:pPr marL="457200" indent="-457200">
              <a:lnSpc>
                <a:spcPct val="100000"/>
              </a:lnSpc>
              <a:spcBef>
                <a:spcPts val="300"/>
              </a:spcBef>
              <a:spcAft>
                <a:spcPts val="300"/>
              </a:spcAft>
              <a:buFont typeface="+mj-lt"/>
              <a:buAutoNum type="arabicPeriod"/>
            </a:pPr>
            <a:r>
              <a:rPr lang="en-US" altLang="en-US" b="1" dirty="0">
                <a:solidFill>
                  <a:srgbClr val="1D6199"/>
                </a:solidFill>
                <a:latin typeface="+mj-lt"/>
                <a:ea typeface="MS PGothic" panose="020B0600070205080204" pitchFamily="34" charset="-128"/>
              </a:rPr>
              <a:t>Process failure</a:t>
            </a:r>
          </a:p>
          <a:p>
            <a:pPr marL="457200" indent="-457200">
              <a:lnSpc>
                <a:spcPct val="100000"/>
              </a:lnSpc>
              <a:spcBef>
                <a:spcPts val="300"/>
              </a:spcBef>
              <a:spcAft>
                <a:spcPts val="300"/>
              </a:spcAft>
              <a:buFont typeface="+mj-lt"/>
              <a:buAutoNum type="arabicPeriod"/>
            </a:pPr>
            <a:r>
              <a:rPr lang="en-US" altLang="en-US" b="1" dirty="0">
                <a:solidFill>
                  <a:srgbClr val="1D6199"/>
                </a:solidFill>
                <a:latin typeface="+mj-lt"/>
                <a:ea typeface="MS PGothic" panose="020B0600070205080204" pitchFamily="34" charset="-128"/>
              </a:rPr>
              <a:t>Lost token</a:t>
            </a:r>
          </a:p>
          <a:p>
            <a:pPr>
              <a:lnSpc>
                <a:spcPct val="100000"/>
              </a:lnSpc>
              <a:spcBef>
                <a:spcPts val="300"/>
              </a:spcBef>
              <a:spcAft>
                <a:spcPts val="300"/>
              </a:spcAft>
            </a:pPr>
            <a:endParaRPr lang="en-US" altLang="en-US" dirty="0">
              <a:latin typeface="+mj-lt"/>
              <a:ea typeface="MS PGothic" panose="020B0600070205080204" pitchFamily="34" charset="-128"/>
            </a:endParaRPr>
          </a:p>
        </p:txBody>
      </p:sp>
    </p:spTree>
    <p:extLst>
      <p:ext uri="{BB962C8B-B14F-4D97-AF65-F5344CB8AC3E}">
        <p14:creationId xmlns:p14="http://schemas.microsoft.com/office/powerpoint/2010/main" val="3337987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Failure in Token Ring Algorithm</a:t>
            </a:r>
          </a:p>
        </p:txBody>
      </p:sp>
      <p:sp>
        <p:nvSpPr>
          <p:cNvPr id="28" name="Content Placeholder 2">
            <a:extLst>
              <a:ext uri="{FF2B5EF4-FFF2-40B4-BE49-F238E27FC236}">
                <a16:creationId xmlns:a16="http://schemas.microsoft.com/office/drawing/2014/main" id="{05FF24D1-5277-417B-BCE3-776DD62CA93A}"/>
              </a:ext>
            </a:extLst>
          </p:cNvPr>
          <p:cNvSpPr>
            <a:spLocks noGrp="1"/>
          </p:cNvSpPr>
          <p:nvPr>
            <p:ph idx="1"/>
          </p:nvPr>
        </p:nvSpPr>
        <p:spPr/>
        <p:txBody>
          <a:bodyPr>
            <a:noAutofit/>
          </a:bodyPr>
          <a:lstStyle/>
          <a:p>
            <a:pPr>
              <a:lnSpc>
                <a:spcPct val="100000"/>
              </a:lnSpc>
              <a:spcBef>
                <a:spcPts val="300"/>
              </a:spcBef>
              <a:spcAft>
                <a:spcPts val="300"/>
              </a:spcAft>
            </a:pPr>
            <a:r>
              <a:rPr lang="en-IN" b="1" dirty="0">
                <a:solidFill>
                  <a:srgbClr val="1D6199"/>
                </a:solidFill>
                <a:latin typeface="+mj-lt"/>
                <a:ea typeface="MS PGothic" panose="020B0600070205080204" pitchFamily="34" charset="-128"/>
              </a:rPr>
              <a:t>Process failure: </a:t>
            </a:r>
            <a:r>
              <a:rPr lang="en-IN" dirty="0">
                <a:solidFill>
                  <a:srgbClr val="1D3064"/>
                </a:solidFill>
                <a:latin typeface="+mj-lt"/>
                <a:ea typeface="MS PGothic" panose="020B0600070205080204" pitchFamily="34" charset="-128"/>
              </a:rPr>
              <a:t>A process failure in the system causes the logical ring to break.</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Requires detection of failed process &amp; dynamic reconfiguration of logical ring.</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Process receiving token sends back acknowledgement to neighbor.</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When a process detects failure of neighbor, it </a:t>
            </a:r>
            <a:r>
              <a:rPr lang="en-US" altLang="en-US" sz="2400" dirty="0">
                <a:solidFill>
                  <a:srgbClr val="1D6199"/>
                </a:solidFill>
                <a:latin typeface="+mj-lt"/>
                <a:ea typeface="Arial" panose="020B0604020202020204" pitchFamily="34" charset="0"/>
              </a:rPr>
              <a:t>removes failed process by skipping it </a:t>
            </a:r>
            <a:r>
              <a:rPr lang="en-US" altLang="en-US" sz="2400" dirty="0">
                <a:latin typeface="+mj-lt"/>
                <a:ea typeface="Arial" panose="020B0604020202020204" pitchFamily="34" charset="0"/>
              </a:rPr>
              <a:t>&amp; passing token to process after it.</a:t>
            </a:r>
          </a:p>
          <a:p>
            <a:pPr lvl="1">
              <a:lnSpc>
                <a:spcPct val="100000"/>
              </a:lnSpc>
              <a:spcBef>
                <a:spcPts val="200"/>
              </a:spcBef>
              <a:spcAft>
                <a:spcPts val="200"/>
              </a:spcAft>
              <a:buFont typeface="Wingdings" panose="05000000000000000000" pitchFamily="2" charset="2"/>
              <a:buChar char="§"/>
            </a:pPr>
            <a:r>
              <a:rPr lang="en-IN" sz="2400" dirty="0">
                <a:latin typeface="+mj-lt"/>
                <a:ea typeface="Arial" panose="020B0604020202020204" pitchFamily="34" charset="0"/>
              </a:rPr>
              <a:t>When a process becomes alive after recovery, It informs the neighbour previous to it so that it gets the token during the next round of circulation.</a:t>
            </a:r>
          </a:p>
          <a:p>
            <a:pPr>
              <a:lnSpc>
                <a:spcPct val="100000"/>
              </a:lnSpc>
              <a:spcBef>
                <a:spcPts val="300"/>
              </a:spcBef>
              <a:spcAft>
                <a:spcPts val="300"/>
              </a:spcAft>
            </a:pPr>
            <a:r>
              <a:rPr lang="en-IN" b="1" dirty="0">
                <a:solidFill>
                  <a:srgbClr val="1D6199"/>
                </a:solidFill>
                <a:latin typeface="+mj-lt"/>
                <a:ea typeface="MS PGothic" panose="020B0600070205080204" pitchFamily="34" charset="-128"/>
              </a:rPr>
              <a:t>Lost token: </a:t>
            </a:r>
            <a:r>
              <a:rPr lang="en-IN" dirty="0">
                <a:solidFill>
                  <a:srgbClr val="1D3064"/>
                </a:solidFill>
                <a:latin typeface="+mj-lt"/>
                <a:ea typeface="MS PGothic" panose="020B0600070205080204" pitchFamily="34" charset="-128"/>
              </a:rPr>
              <a:t>If the token is lost, a new token must be generated.</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Must have mechanism to detect &amp; regenerate token.</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Designate process as monitor. Monitor periodically </a:t>
            </a:r>
            <a:r>
              <a:rPr lang="en-US" altLang="en-US" sz="2400" dirty="0">
                <a:solidFill>
                  <a:srgbClr val="1D6199"/>
                </a:solidFill>
                <a:latin typeface="+mj-lt"/>
                <a:ea typeface="Arial" panose="020B0604020202020204" pitchFamily="34" charset="0"/>
              </a:rPr>
              <a:t>circulates “who has token”.</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Owner of token writes its process identifier in message &amp; passes on.</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On receipt of message, monitor checks process identifier field. If empty generate new token &amp; passes it.</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Multiple monitors can be used.</a:t>
            </a:r>
          </a:p>
        </p:txBody>
      </p:sp>
    </p:spTree>
    <p:extLst>
      <p:ext uri="{BB962C8B-B14F-4D97-AF65-F5344CB8AC3E}">
        <p14:creationId xmlns:p14="http://schemas.microsoft.com/office/powerpoint/2010/main" val="1748420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Comparison of Mutual Exclusion Algorithms</a:t>
            </a:r>
          </a:p>
        </p:txBody>
      </p:sp>
      <p:sp>
        <p:nvSpPr>
          <p:cNvPr id="5" name="AutoShape 3"/>
          <p:cNvSpPr>
            <a:spLocks noChangeAspect="1" noChangeArrowheads="1" noTextEdit="1"/>
          </p:cNvSpPr>
          <p:nvPr/>
        </p:nvSpPr>
        <p:spPr bwMode="auto">
          <a:xfrm>
            <a:off x="0" y="1216025"/>
            <a:ext cx="12192000" cy="442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6" name="Line 15"/>
          <p:cNvSpPr>
            <a:spLocks noChangeShapeType="1"/>
          </p:cNvSpPr>
          <p:nvPr/>
        </p:nvSpPr>
        <p:spPr bwMode="auto">
          <a:xfrm>
            <a:off x="2016125" y="1216025"/>
            <a:ext cx="0" cy="4306888"/>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7" name="Line 16"/>
          <p:cNvSpPr>
            <a:spLocks noChangeShapeType="1"/>
          </p:cNvSpPr>
          <p:nvPr/>
        </p:nvSpPr>
        <p:spPr bwMode="auto">
          <a:xfrm>
            <a:off x="4957763" y="1216025"/>
            <a:ext cx="0" cy="4306888"/>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8" name="Line 17"/>
          <p:cNvSpPr>
            <a:spLocks noChangeShapeType="1"/>
          </p:cNvSpPr>
          <p:nvPr/>
        </p:nvSpPr>
        <p:spPr bwMode="auto">
          <a:xfrm>
            <a:off x="8101013" y="1216025"/>
            <a:ext cx="0" cy="4306888"/>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2" name="Line 21"/>
          <p:cNvSpPr>
            <a:spLocks noChangeShapeType="1"/>
          </p:cNvSpPr>
          <p:nvPr/>
        </p:nvSpPr>
        <p:spPr bwMode="auto">
          <a:xfrm>
            <a:off x="6350" y="1216025"/>
            <a:ext cx="0" cy="4306888"/>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3" name="Line 22"/>
          <p:cNvSpPr>
            <a:spLocks noChangeShapeType="1"/>
          </p:cNvSpPr>
          <p:nvPr/>
        </p:nvSpPr>
        <p:spPr bwMode="auto">
          <a:xfrm>
            <a:off x="12055475" y="1216025"/>
            <a:ext cx="0" cy="4306888"/>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75" name="Group 74"/>
          <p:cNvGrpSpPr/>
          <p:nvPr/>
        </p:nvGrpSpPr>
        <p:grpSpPr>
          <a:xfrm>
            <a:off x="0" y="1222375"/>
            <a:ext cx="12060238" cy="1666875"/>
            <a:chOff x="0" y="1222375"/>
            <a:chExt cx="12060238" cy="1666875"/>
          </a:xfrm>
        </p:grpSpPr>
        <p:sp>
          <p:nvSpPr>
            <p:cNvPr id="16" name="Rectangle 5"/>
            <p:cNvSpPr>
              <a:spLocks noChangeArrowheads="1"/>
            </p:cNvSpPr>
            <p:nvPr/>
          </p:nvSpPr>
          <p:spPr bwMode="auto">
            <a:xfrm>
              <a:off x="6350" y="1222375"/>
              <a:ext cx="2009775" cy="1666875"/>
            </a:xfrm>
            <a:prstGeom prst="rect">
              <a:avLst/>
            </a:prstGeom>
            <a:solidFill>
              <a:srgbClr val="1D30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7" name="Rectangle 6"/>
            <p:cNvSpPr>
              <a:spLocks noChangeArrowheads="1"/>
            </p:cNvSpPr>
            <p:nvPr/>
          </p:nvSpPr>
          <p:spPr bwMode="auto">
            <a:xfrm>
              <a:off x="2016125" y="1222375"/>
              <a:ext cx="2941638" cy="1666875"/>
            </a:xfrm>
            <a:prstGeom prst="rect">
              <a:avLst/>
            </a:prstGeom>
            <a:solidFill>
              <a:srgbClr val="1D30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8" name="Rectangle 7"/>
            <p:cNvSpPr>
              <a:spLocks noChangeArrowheads="1"/>
            </p:cNvSpPr>
            <p:nvPr/>
          </p:nvSpPr>
          <p:spPr bwMode="auto">
            <a:xfrm>
              <a:off x="4957763" y="1222375"/>
              <a:ext cx="3143250" cy="1666875"/>
            </a:xfrm>
            <a:prstGeom prst="rect">
              <a:avLst/>
            </a:prstGeom>
            <a:solidFill>
              <a:srgbClr val="1D30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9" name="Rectangle 8"/>
            <p:cNvSpPr>
              <a:spLocks noChangeArrowheads="1"/>
            </p:cNvSpPr>
            <p:nvPr/>
          </p:nvSpPr>
          <p:spPr bwMode="auto">
            <a:xfrm>
              <a:off x="8101013" y="1222375"/>
              <a:ext cx="3954463" cy="1666875"/>
            </a:xfrm>
            <a:prstGeom prst="rect">
              <a:avLst/>
            </a:prstGeom>
            <a:solidFill>
              <a:srgbClr val="1D30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9" name="Line 18"/>
            <p:cNvSpPr>
              <a:spLocks noChangeShapeType="1"/>
            </p:cNvSpPr>
            <p:nvPr/>
          </p:nvSpPr>
          <p:spPr bwMode="auto">
            <a:xfrm>
              <a:off x="0" y="2889250"/>
              <a:ext cx="12060238" cy="0"/>
            </a:xfrm>
            <a:prstGeom prst="line">
              <a:avLst/>
            </a:prstGeom>
            <a:noFill/>
            <a:ln w="381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4" name="Line 23"/>
            <p:cNvSpPr>
              <a:spLocks noChangeShapeType="1"/>
            </p:cNvSpPr>
            <p:nvPr/>
          </p:nvSpPr>
          <p:spPr bwMode="auto">
            <a:xfrm>
              <a:off x="0" y="1222375"/>
              <a:ext cx="12060238" cy="0"/>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6" name="Rectangle 25"/>
            <p:cNvSpPr>
              <a:spLocks noChangeArrowheads="1"/>
            </p:cNvSpPr>
            <p:nvPr/>
          </p:nvSpPr>
          <p:spPr bwMode="auto">
            <a:xfrm>
              <a:off x="406400" y="1873250"/>
              <a:ext cx="13652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FFFFFF"/>
                  </a:solidFill>
                  <a:effectLst/>
                  <a:latin typeface="Roboto Condensed" panose="02000000000000000000" pitchFamily="2" charset="0"/>
                </a:rPr>
                <a:t>Algorithm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 name="Rectangle 26"/>
            <p:cNvSpPr>
              <a:spLocks noChangeArrowheads="1"/>
            </p:cNvSpPr>
            <p:nvPr/>
          </p:nvSpPr>
          <p:spPr bwMode="auto">
            <a:xfrm>
              <a:off x="2193925" y="1325563"/>
              <a:ext cx="28098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FFFFFF"/>
                  </a:solidFill>
                  <a:effectLst/>
                  <a:latin typeface="Roboto Condensed" panose="02000000000000000000" pitchFamily="2" charset="0"/>
                </a:rPr>
                <a:t>Number of messages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 name="Rectangle 27"/>
            <p:cNvSpPr>
              <a:spLocks noChangeArrowheads="1"/>
            </p:cNvSpPr>
            <p:nvPr/>
          </p:nvSpPr>
          <p:spPr bwMode="auto">
            <a:xfrm>
              <a:off x="2139950" y="1690688"/>
              <a:ext cx="29225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FFFFFF"/>
                  </a:solidFill>
                  <a:effectLst/>
                  <a:latin typeface="Roboto Condensed" panose="02000000000000000000" pitchFamily="2" charset="0"/>
                </a:rPr>
                <a:t>required for a process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 name="Rectangle 28"/>
            <p:cNvSpPr>
              <a:spLocks noChangeArrowheads="1"/>
            </p:cNvSpPr>
            <p:nvPr/>
          </p:nvSpPr>
          <p:spPr bwMode="auto">
            <a:xfrm>
              <a:off x="2166938" y="2055813"/>
              <a:ext cx="28702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FFFFFF"/>
                  </a:solidFill>
                  <a:effectLst/>
                  <a:latin typeface="Roboto Condensed" panose="02000000000000000000" pitchFamily="2" charset="0"/>
                </a:rPr>
                <a:t>to access and release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 name="Rectangle 29"/>
            <p:cNvSpPr>
              <a:spLocks noChangeArrowheads="1"/>
            </p:cNvSpPr>
            <p:nvPr/>
          </p:nvSpPr>
          <p:spPr bwMode="auto">
            <a:xfrm>
              <a:off x="2270125" y="2422525"/>
              <a:ext cx="25892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FFFFFF"/>
                  </a:solidFill>
                  <a:effectLst/>
                  <a:latin typeface="Roboto Condensed" panose="02000000000000000000" pitchFamily="2" charset="0"/>
                </a:rPr>
                <a:t>the shared resource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 name="Rectangle 30"/>
            <p:cNvSpPr>
              <a:spLocks noChangeArrowheads="1"/>
            </p:cNvSpPr>
            <p:nvPr/>
          </p:nvSpPr>
          <p:spPr bwMode="auto">
            <a:xfrm>
              <a:off x="5135563" y="1508125"/>
              <a:ext cx="30194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FFFFFF"/>
                  </a:solidFill>
                  <a:effectLst/>
                  <a:latin typeface="Roboto Condensed" panose="02000000000000000000" pitchFamily="2" charset="0"/>
                </a:rPr>
                <a:t>Delay before a process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 name="Rectangle 31"/>
            <p:cNvSpPr>
              <a:spLocks noChangeArrowheads="1"/>
            </p:cNvSpPr>
            <p:nvPr/>
          </p:nvSpPr>
          <p:spPr bwMode="auto">
            <a:xfrm>
              <a:off x="5054600" y="1873250"/>
              <a:ext cx="31797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FFFFFF"/>
                  </a:solidFill>
                  <a:effectLst/>
                  <a:latin typeface="Roboto Condensed" panose="02000000000000000000" pitchFamily="2" charset="0"/>
                </a:rPr>
                <a:t>can access the resource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 name="Rectangle 32"/>
            <p:cNvSpPr>
              <a:spLocks noChangeArrowheads="1"/>
            </p:cNvSpPr>
            <p:nvPr/>
          </p:nvSpPr>
          <p:spPr bwMode="auto">
            <a:xfrm>
              <a:off x="5364163" y="2239963"/>
              <a:ext cx="24923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FFFFFF"/>
                  </a:solidFill>
                  <a:effectLst/>
                  <a:latin typeface="Roboto Condensed" panose="02000000000000000000" pitchFamily="2" charset="0"/>
                </a:rPr>
                <a:t>(in message times)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 name="Rectangle 33"/>
            <p:cNvSpPr>
              <a:spLocks noChangeArrowheads="1"/>
            </p:cNvSpPr>
            <p:nvPr/>
          </p:nvSpPr>
          <p:spPr bwMode="auto">
            <a:xfrm>
              <a:off x="9496425" y="1873250"/>
              <a:ext cx="13208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FFFFFF"/>
                  </a:solidFill>
                  <a:effectLst/>
                  <a:latin typeface="Roboto Condensed" panose="02000000000000000000" pitchFamily="2" charset="0"/>
                </a:rPr>
                <a:t>Problems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76" name="Group 75"/>
          <p:cNvGrpSpPr/>
          <p:nvPr/>
        </p:nvGrpSpPr>
        <p:grpSpPr>
          <a:xfrm>
            <a:off x="0" y="2889250"/>
            <a:ext cx="12060238" cy="674688"/>
            <a:chOff x="0" y="2889250"/>
            <a:chExt cx="12060238" cy="674688"/>
          </a:xfrm>
        </p:grpSpPr>
        <p:sp>
          <p:nvSpPr>
            <p:cNvPr id="20" name="Rectangle 9"/>
            <p:cNvSpPr>
              <a:spLocks noChangeArrowheads="1"/>
            </p:cNvSpPr>
            <p:nvPr/>
          </p:nvSpPr>
          <p:spPr bwMode="auto">
            <a:xfrm>
              <a:off x="6350" y="2889250"/>
              <a:ext cx="2009775" cy="674688"/>
            </a:xfrm>
            <a:prstGeom prst="rect">
              <a:avLst/>
            </a:prstGeom>
            <a:solidFill>
              <a:srgbClr val="1D30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30" name="Line 19"/>
            <p:cNvSpPr>
              <a:spLocks noChangeShapeType="1"/>
            </p:cNvSpPr>
            <p:nvPr/>
          </p:nvSpPr>
          <p:spPr bwMode="auto">
            <a:xfrm>
              <a:off x="0" y="3563938"/>
              <a:ext cx="12060238" cy="0"/>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5" name="Rectangle 34"/>
            <p:cNvSpPr>
              <a:spLocks noChangeArrowheads="1"/>
            </p:cNvSpPr>
            <p:nvPr/>
          </p:nvSpPr>
          <p:spPr bwMode="auto">
            <a:xfrm>
              <a:off x="98425" y="3044825"/>
              <a:ext cx="15509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FFFFFF"/>
                  </a:solidFill>
                  <a:effectLst/>
                  <a:latin typeface="Roboto Condensed" panose="02000000000000000000" pitchFamily="2" charset="0"/>
                </a:rPr>
                <a:t>Centralized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9" name="Rectangle 38"/>
            <p:cNvSpPr>
              <a:spLocks noChangeArrowheads="1"/>
            </p:cNvSpPr>
            <p:nvPr/>
          </p:nvSpPr>
          <p:spPr bwMode="auto">
            <a:xfrm>
              <a:off x="6727825" y="2898775"/>
              <a:ext cx="3032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 name="Rectangle 39"/>
            <p:cNvSpPr>
              <a:spLocks noChangeArrowheads="1"/>
            </p:cNvSpPr>
            <p:nvPr/>
          </p:nvSpPr>
          <p:spPr bwMode="auto">
            <a:xfrm>
              <a:off x="3400425" y="2924175"/>
              <a:ext cx="3032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 name="Rectangle 40"/>
            <p:cNvSpPr>
              <a:spLocks noChangeArrowheads="1"/>
            </p:cNvSpPr>
            <p:nvPr/>
          </p:nvSpPr>
          <p:spPr bwMode="auto">
            <a:xfrm>
              <a:off x="8170863" y="2942317"/>
              <a:ext cx="2540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 name="Rectangle 41"/>
            <p:cNvSpPr>
              <a:spLocks noChangeArrowheads="1"/>
            </p:cNvSpPr>
            <p:nvPr/>
          </p:nvSpPr>
          <p:spPr bwMode="auto">
            <a:xfrm>
              <a:off x="8456613" y="2942317"/>
              <a:ext cx="25908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121"/>
                  </a:solidFill>
                  <a:effectLst/>
                  <a:latin typeface="Roboto Condensed" panose="02000000000000000000" pitchFamily="2" charset="0"/>
                </a:rPr>
                <a:t>Coordinator crashes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grpSp>
        <p:nvGrpSpPr>
          <p:cNvPr id="77" name="Group 76"/>
          <p:cNvGrpSpPr/>
          <p:nvPr/>
        </p:nvGrpSpPr>
        <p:grpSpPr>
          <a:xfrm>
            <a:off x="0" y="3563938"/>
            <a:ext cx="12060238" cy="976313"/>
            <a:chOff x="0" y="3563938"/>
            <a:chExt cx="12060238" cy="976313"/>
          </a:xfrm>
        </p:grpSpPr>
        <p:sp>
          <p:nvSpPr>
            <p:cNvPr id="21" name="Rectangle 10"/>
            <p:cNvSpPr>
              <a:spLocks noChangeArrowheads="1"/>
            </p:cNvSpPr>
            <p:nvPr/>
          </p:nvSpPr>
          <p:spPr bwMode="auto">
            <a:xfrm>
              <a:off x="6350" y="3563938"/>
              <a:ext cx="2009775" cy="976313"/>
            </a:xfrm>
            <a:prstGeom prst="rect">
              <a:avLst/>
            </a:prstGeom>
            <a:solidFill>
              <a:srgbClr val="1D30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2" name="Rectangle 11"/>
            <p:cNvSpPr>
              <a:spLocks noChangeArrowheads="1"/>
            </p:cNvSpPr>
            <p:nvPr/>
          </p:nvSpPr>
          <p:spPr bwMode="auto">
            <a:xfrm>
              <a:off x="2016125" y="3563938"/>
              <a:ext cx="2941638" cy="97631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3" name="Rectangle 12"/>
            <p:cNvSpPr>
              <a:spLocks noChangeArrowheads="1"/>
            </p:cNvSpPr>
            <p:nvPr/>
          </p:nvSpPr>
          <p:spPr bwMode="auto">
            <a:xfrm>
              <a:off x="4957763" y="3563938"/>
              <a:ext cx="3143250" cy="97631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4" name="Rectangle 13"/>
            <p:cNvSpPr>
              <a:spLocks noChangeArrowheads="1"/>
            </p:cNvSpPr>
            <p:nvPr/>
          </p:nvSpPr>
          <p:spPr bwMode="auto">
            <a:xfrm>
              <a:off x="8101013" y="3563938"/>
              <a:ext cx="3954463" cy="97631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31" name="Line 20"/>
            <p:cNvSpPr>
              <a:spLocks noChangeShapeType="1"/>
            </p:cNvSpPr>
            <p:nvPr/>
          </p:nvSpPr>
          <p:spPr bwMode="auto">
            <a:xfrm>
              <a:off x="0" y="4540250"/>
              <a:ext cx="12060238" cy="0"/>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6" name="Rectangle 35"/>
            <p:cNvSpPr>
              <a:spLocks noChangeArrowheads="1"/>
            </p:cNvSpPr>
            <p:nvPr/>
          </p:nvSpPr>
          <p:spPr bwMode="auto">
            <a:xfrm>
              <a:off x="98425" y="3871913"/>
              <a:ext cx="183673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FFFFFF"/>
                  </a:solidFill>
                  <a:effectLst/>
                  <a:latin typeface="Roboto Condensed" panose="02000000000000000000" pitchFamily="2" charset="0"/>
                </a:rPr>
                <a:t>Decentralized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3" name="Rectangle 42"/>
            <p:cNvSpPr>
              <a:spLocks noChangeArrowheads="1"/>
            </p:cNvSpPr>
            <p:nvPr/>
          </p:nvSpPr>
          <p:spPr bwMode="auto">
            <a:xfrm>
              <a:off x="6392863" y="3798887"/>
              <a:ext cx="5476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121"/>
                  </a:solidFill>
                  <a:effectLst/>
                  <a:latin typeface="Roboto Condensed" panose="02000000000000000000" pitchFamily="2" charset="0"/>
                </a:rPr>
                <a:t>2(n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4" name="Rectangle 43"/>
            <p:cNvSpPr>
              <a:spLocks noChangeArrowheads="1"/>
            </p:cNvSpPr>
            <p:nvPr/>
          </p:nvSpPr>
          <p:spPr bwMode="auto">
            <a:xfrm>
              <a:off x="6816725" y="3787777"/>
              <a:ext cx="2286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121"/>
                  </a:solidFill>
                  <a:effectLst/>
                  <a:latin typeface="Roboto Condensed" panose="02000000000000000000" pitchFamily="2"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5" name="Rectangle 44"/>
            <p:cNvSpPr>
              <a:spLocks noChangeArrowheads="1"/>
            </p:cNvSpPr>
            <p:nvPr/>
          </p:nvSpPr>
          <p:spPr bwMode="auto">
            <a:xfrm>
              <a:off x="6862763" y="3798887"/>
              <a:ext cx="4000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121"/>
                  </a:solidFill>
                  <a:effectLst/>
                  <a:latin typeface="Roboto Condensed" panose="02000000000000000000" pitchFamily="2" charset="0"/>
                </a:rPr>
                <a:t>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6" name="Rectangle 45"/>
            <p:cNvSpPr>
              <a:spLocks noChangeArrowheads="1"/>
            </p:cNvSpPr>
            <p:nvPr/>
          </p:nvSpPr>
          <p:spPr bwMode="auto">
            <a:xfrm>
              <a:off x="3233738" y="3819530"/>
              <a:ext cx="5476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121"/>
                  </a:solidFill>
                  <a:effectLst/>
                  <a:latin typeface="Roboto Condensed" panose="02000000000000000000" pitchFamily="2" charset="0"/>
                </a:rPr>
                <a:t>2(n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7" name="Rectangle 46"/>
            <p:cNvSpPr>
              <a:spLocks noChangeArrowheads="1"/>
            </p:cNvSpPr>
            <p:nvPr/>
          </p:nvSpPr>
          <p:spPr bwMode="auto">
            <a:xfrm>
              <a:off x="3641727" y="3831431"/>
              <a:ext cx="2286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121"/>
                  </a:solidFill>
                  <a:effectLst/>
                  <a:latin typeface="Roboto Condensed" panose="02000000000000000000" pitchFamily="2"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8" name="Rectangle 47"/>
            <p:cNvSpPr>
              <a:spLocks noChangeArrowheads="1"/>
            </p:cNvSpPr>
            <p:nvPr/>
          </p:nvSpPr>
          <p:spPr bwMode="auto">
            <a:xfrm>
              <a:off x="3703638" y="3819530"/>
              <a:ext cx="4000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121"/>
                  </a:solidFill>
                  <a:effectLst/>
                  <a:latin typeface="Roboto Condensed" panose="02000000000000000000" pitchFamily="2" charset="0"/>
                </a:rPr>
                <a:t>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9" name="Rectangle 48"/>
            <p:cNvSpPr>
              <a:spLocks noChangeArrowheads="1"/>
            </p:cNvSpPr>
            <p:nvPr/>
          </p:nvSpPr>
          <p:spPr bwMode="auto">
            <a:xfrm>
              <a:off x="8170863" y="3590244"/>
              <a:ext cx="2540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121"/>
                  </a:solidFill>
                  <a:effectLst/>
                  <a:latin typeface="Roboto Condensed" panose="02000000000000000000" pitchFamily="2"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0" name="Rectangle 49"/>
            <p:cNvSpPr>
              <a:spLocks noChangeArrowheads="1"/>
            </p:cNvSpPr>
            <p:nvPr/>
          </p:nvSpPr>
          <p:spPr bwMode="auto">
            <a:xfrm>
              <a:off x="8456613" y="3590244"/>
              <a:ext cx="26860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121"/>
                  </a:solidFill>
                  <a:effectLst/>
                  <a:latin typeface="Roboto Condensed" panose="02000000000000000000" pitchFamily="2" charset="0"/>
                </a:rPr>
                <a:t>Crash of any process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1" name="Rectangle 50"/>
            <p:cNvSpPr>
              <a:spLocks noChangeArrowheads="1"/>
            </p:cNvSpPr>
            <p:nvPr/>
          </p:nvSpPr>
          <p:spPr bwMode="auto">
            <a:xfrm>
              <a:off x="8170863" y="3955369"/>
              <a:ext cx="2540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121"/>
                  </a:solidFill>
                  <a:effectLst/>
                  <a:latin typeface="Roboto Condensed" panose="02000000000000000000" pitchFamily="2"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2" name="Rectangle 51"/>
            <p:cNvSpPr>
              <a:spLocks noChangeArrowheads="1"/>
            </p:cNvSpPr>
            <p:nvPr/>
          </p:nvSpPr>
          <p:spPr bwMode="auto">
            <a:xfrm>
              <a:off x="8456613" y="3940855"/>
              <a:ext cx="9001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121"/>
                  </a:solidFill>
                  <a:effectLst/>
                  <a:latin typeface="Roboto Condensed" panose="02000000000000000000" pitchFamily="2" charset="0"/>
                </a:rPr>
                <a:t>Large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3" name="Rectangle 52"/>
            <p:cNvSpPr>
              <a:spLocks noChangeArrowheads="1"/>
            </p:cNvSpPr>
            <p:nvPr/>
          </p:nvSpPr>
          <p:spPr bwMode="auto">
            <a:xfrm>
              <a:off x="9204325" y="3955369"/>
              <a:ext cx="26797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121"/>
                  </a:solidFill>
                  <a:effectLst/>
                  <a:latin typeface="Roboto Condensed" panose="02000000000000000000" pitchFamily="2" charset="0"/>
                </a:rPr>
                <a:t>number of messages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grpSp>
        <p:nvGrpSpPr>
          <p:cNvPr id="78" name="Group 77"/>
          <p:cNvGrpSpPr/>
          <p:nvPr/>
        </p:nvGrpSpPr>
        <p:grpSpPr>
          <a:xfrm>
            <a:off x="0" y="4507590"/>
            <a:ext cx="12163426" cy="1173163"/>
            <a:chOff x="0" y="4507590"/>
            <a:chExt cx="12163426" cy="1173163"/>
          </a:xfrm>
        </p:grpSpPr>
        <p:sp>
          <p:nvSpPr>
            <p:cNvPr id="25" name="Rectangle 14"/>
            <p:cNvSpPr>
              <a:spLocks noChangeArrowheads="1"/>
            </p:cNvSpPr>
            <p:nvPr/>
          </p:nvSpPr>
          <p:spPr bwMode="auto">
            <a:xfrm>
              <a:off x="6350" y="4540250"/>
              <a:ext cx="2009775" cy="974725"/>
            </a:xfrm>
            <a:prstGeom prst="rect">
              <a:avLst/>
            </a:prstGeom>
            <a:solidFill>
              <a:srgbClr val="1D30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35" name="Line 24"/>
            <p:cNvSpPr>
              <a:spLocks noChangeShapeType="1"/>
            </p:cNvSpPr>
            <p:nvPr/>
          </p:nvSpPr>
          <p:spPr bwMode="auto">
            <a:xfrm>
              <a:off x="0" y="5514975"/>
              <a:ext cx="12060238" cy="0"/>
            </a:xfrm>
            <a:prstGeom prst="line">
              <a:avLst/>
            </a:prstGeom>
            <a:noFill/>
            <a:ln w="1270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7" name="Rectangle 36"/>
            <p:cNvSpPr>
              <a:spLocks noChangeArrowheads="1"/>
            </p:cNvSpPr>
            <p:nvPr/>
          </p:nvSpPr>
          <p:spPr bwMode="auto">
            <a:xfrm>
              <a:off x="98425" y="4846638"/>
              <a:ext cx="9874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FFFFFF"/>
                  </a:solidFill>
                  <a:effectLst/>
                  <a:latin typeface="Roboto Condensed" panose="02000000000000000000" pitchFamily="2" charset="0"/>
                </a:rPr>
                <a:t>Token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8" name="Rectangle 37"/>
            <p:cNvSpPr>
              <a:spLocks noChangeArrowheads="1"/>
            </p:cNvSpPr>
            <p:nvPr/>
          </p:nvSpPr>
          <p:spPr bwMode="auto">
            <a:xfrm>
              <a:off x="930275" y="4846638"/>
              <a:ext cx="7048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FFFFFF"/>
                  </a:solidFill>
                  <a:effectLst/>
                  <a:latin typeface="Roboto Condensed" panose="02000000000000000000" pitchFamily="2" charset="0"/>
                </a:rPr>
                <a:t>Ring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4" name="Rectangle 53"/>
            <p:cNvSpPr>
              <a:spLocks noChangeArrowheads="1"/>
            </p:cNvSpPr>
            <p:nvPr/>
          </p:nvSpPr>
          <p:spPr bwMode="auto">
            <a:xfrm>
              <a:off x="6226175" y="4859337"/>
              <a:ext cx="3032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5" name="Rectangle 54"/>
            <p:cNvSpPr>
              <a:spLocks noChangeArrowheads="1"/>
            </p:cNvSpPr>
            <p:nvPr/>
          </p:nvSpPr>
          <p:spPr bwMode="auto">
            <a:xfrm>
              <a:off x="6446838" y="4859337"/>
              <a:ext cx="46513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121"/>
                  </a:solidFill>
                  <a:effectLst/>
                  <a:latin typeface="Roboto Condensed" panose="02000000000000000000" pitchFamily="2" charset="0"/>
                </a:rPr>
                <a:t>to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6" name="Rectangle 55"/>
            <p:cNvSpPr>
              <a:spLocks noChangeArrowheads="1"/>
            </p:cNvSpPr>
            <p:nvPr/>
          </p:nvSpPr>
          <p:spPr bwMode="auto">
            <a:xfrm>
              <a:off x="6759575" y="4845049"/>
              <a:ext cx="39687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7" name="Rectangle 56"/>
            <p:cNvSpPr>
              <a:spLocks noChangeArrowheads="1"/>
            </p:cNvSpPr>
            <p:nvPr/>
          </p:nvSpPr>
          <p:spPr bwMode="auto">
            <a:xfrm>
              <a:off x="7004050" y="4845049"/>
              <a:ext cx="2286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8" name="Rectangle 57"/>
            <p:cNvSpPr>
              <a:spLocks noChangeArrowheads="1"/>
            </p:cNvSpPr>
            <p:nvPr/>
          </p:nvSpPr>
          <p:spPr bwMode="auto">
            <a:xfrm>
              <a:off x="7080250" y="4859337"/>
              <a:ext cx="4714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121"/>
                  </a:solidFill>
                  <a:effectLst/>
                  <a:latin typeface="Roboto Condensed" panose="02000000000000000000" pitchFamily="2" charset="0"/>
                </a:rPr>
                <a:t>1)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9" name="Rectangle 58"/>
            <p:cNvSpPr>
              <a:spLocks noChangeArrowheads="1"/>
            </p:cNvSpPr>
            <p:nvPr/>
          </p:nvSpPr>
          <p:spPr bwMode="auto">
            <a:xfrm>
              <a:off x="3160714" y="4831324"/>
              <a:ext cx="8079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121"/>
                  </a:solidFill>
                  <a:effectLst/>
                  <a:latin typeface="Roboto Condensed" panose="02000000000000000000" pitchFamily="2" charset="0"/>
                </a:rPr>
                <a:t>1 to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0" name="Rectangle 59"/>
            <p:cNvSpPr>
              <a:spLocks noChangeArrowheads="1"/>
            </p:cNvSpPr>
            <p:nvPr/>
          </p:nvSpPr>
          <p:spPr bwMode="auto">
            <a:xfrm>
              <a:off x="8170863" y="4507590"/>
              <a:ext cx="2540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1" name="Rectangle 60"/>
            <p:cNvSpPr>
              <a:spLocks noChangeArrowheads="1"/>
            </p:cNvSpPr>
            <p:nvPr/>
          </p:nvSpPr>
          <p:spPr bwMode="auto">
            <a:xfrm>
              <a:off x="8456613" y="4507590"/>
              <a:ext cx="23479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121"/>
                  </a:solidFill>
                  <a:effectLst/>
                  <a:latin typeface="Roboto Condensed" panose="02000000000000000000" pitchFamily="2" charset="0"/>
                </a:rPr>
                <a:t>Token may be lost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2" name="Rectangle 61"/>
            <p:cNvSpPr>
              <a:spLocks noChangeArrowheads="1"/>
            </p:cNvSpPr>
            <p:nvPr/>
          </p:nvSpPr>
          <p:spPr bwMode="auto">
            <a:xfrm>
              <a:off x="8170863" y="4872715"/>
              <a:ext cx="2540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3" name="Rectangle 62"/>
            <p:cNvSpPr>
              <a:spLocks noChangeArrowheads="1"/>
            </p:cNvSpPr>
            <p:nvPr/>
          </p:nvSpPr>
          <p:spPr bwMode="auto">
            <a:xfrm>
              <a:off x="8456613" y="4872715"/>
              <a:ext cx="37068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121"/>
                  </a:solidFill>
                  <a:effectLst/>
                  <a:latin typeface="Roboto Condensed" panose="02000000000000000000" pitchFamily="2" charset="0"/>
                </a:rPr>
                <a:t>Ring can cease to exist since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4" name="Rectangle 63"/>
            <p:cNvSpPr>
              <a:spLocks noChangeArrowheads="1"/>
            </p:cNvSpPr>
            <p:nvPr/>
          </p:nvSpPr>
          <p:spPr bwMode="auto">
            <a:xfrm>
              <a:off x="8456613" y="5239428"/>
              <a:ext cx="21272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121"/>
                  </a:solidFill>
                  <a:effectLst/>
                  <a:latin typeface="Roboto Condensed" panose="02000000000000000000" pitchFamily="2" charset="0"/>
                </a:rPr>
                <a:t>processes crash</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225491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Need for a Coordinator</a:t>
            </a:r>
          </a:p>
        </p:txBody>
      </p:sp>
      <p:sp>
        <p:nvSpPr>
          <p:cNvPr id="28" name="Content Placeholder 2">
            <a:extLst>
              <a:ext uri="{FF2B5EF4-FFF2-40B4-BE49-F238E27FC236}">
                <a16:creationId xmlns:a16="http://schemas.microsoft.com/office/drawing/2014/main" id="{05FF24D1-5277-417B-BCE3-776DD62CA93A}"/>
              </a:ext>
            </a:extLst>
          </p:cNvPr>
          <p:cNvSpPr>
            <a:spLocks noGrp="1"/>
          </p:cNvSpPr>
          <p:nvPr>
            <p:ph idx="1"/>
          </p:nvPr>
        </p:nvSpPr>
        <p:spPr/>
        <p:txBody>
          <a:bodyPr>
            <a:normAutofit/>
          </a:bodyPr>
          <a:lstStyle/>
          <a:p>
            <a:pPr>
              <a:lnSpc>
                <a:spcPct val="110000"/>
              </a:lnSpc>
              <a:spcBef>
                <a:spcPts val="200"/>
              </a:spcBef>
              <a:spcAft>
                <a:spcPts val="200"/>
              </a:spcAft>
            </a:pPr>
            <a:r>
              <a:rPr lang="en-US" altLang="en-US" dirty="0">
                <a:latin typeface="+mj-lt"/>
              </a:rPr>
              <a:t>Many algorithms used in distributed systems require a coordinator</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For example, see the centralized mutual exclusion algorithm.</a:t>
            </a:r>
          </a:p>
          <a:p>
            <a:pPr>
              <a:lnSpc>
                <a:spcPct val="110000"/>
              </a:lnSpc>
              <a:spcBef>
                <a:spcPts val="200"/>
              </a:spcBef>
              <a:spcAft>
                <a:spcPts val="200"/>
              </a:spcAft>
            </a:pPr>
            <a:r>
              <a:rPr lang="en-US" altLang="en-US" dirty="0">
                <a:latin typeface="+mj-lt"/>
              </a:rPr>
              <a:t>In general, all processes in the distributed system are equally suitable for the role</a:t>
            </a:r>
          </a:p>
          <a:p>
            <a:pPr>
              <a:lnSpc>
                <a:spcPct val="110000"/>
              </a:lnSpc>
              <a:spcBef>
                <a:spcPts val="200"/>
              </a:spcBef>
              <a:spcAft>
                <a:spcPts val="200"/>
              </a:spcAft>
            </a:pPr>
            <a:r>
              <a:rPr lang="en-US" altLang="en-US" dirty="0">
                <a:latin typeface="+mj-lt"/>
              </a:rPr>
              <a:t>Election algorithms are designed to choose a coordinator.</a:t>
            </a:r>
          </a:p>
          <a:p>
            <a:pPr>
              <a:lnSpc>
                <a:spcPct val="110000"/>
              </a:lnSpc>
              <a:spcBef>
                <a:spcPts val="200"/>
              </a:spcBef>
              <a:spcAft>
                <a:spcPts val="200"/>
              </a:spcAft>
            </a:pPr>
            <a:endParaRPr lang="en-US" altLang="en-US" dirty="0">
              <a:latin typeface="+mj-lt"/>
            </a:endParaRPr>
          </a:p>
        </p:txBody>
      </p:sp>
    </p:spTree>
    <p:extLst>
      <p:ext uri="{BB962C8B-B14F-4D97-AF65-F5344CB8AC3E}">
        <p14:creationId xmlns:p14="http://schemas.microsoft.com/office/powerpoint/2010/main" val="4207797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3DC79-8B12-49B2-D869-87FFD698F001}"/>
              </a:ext>
            </a:extLst>
          </p:cNvPr>
          <p:cNvSpPr>
            <a:spLocks noGrp="1"/>
          </p:cNvSpPr>
          <p:nvPr>
            <p:ph type="title"/>
          </p:nvPr>
        </p:nvSpPr>
        <p:spPr/>
        <p:txBody>
          <a:bodyPr>
            <a:normAutofit/>
          </a:bodyPr>
          <a:lstStyle/>
          <a:p>
            <a:pPr>
              <a:spcBef>
                <a:spcPts val="1000"/>
              </a:spcBef>
              <a:buClr>
                <a:srgbClr val="1D6199"/>
              </a:buClr>
              <a:defRPr/>
            </a:pPr>
            <a:r>
              <a:rPr lang="en-IN" sz="6000" dirty="0"/>
              <a:t>Election Algorithms</a:t>
            </a:r>
          </a:p>
        </p:txBody>
      </p:sp>
      <p:sp>
        <p:nvSpPr>
          <p:cNvPr id="3" name="Text Placeholder 2">
            <a:extLst>
              <a:ext uri="{FF2B5EF4-FFF2-40B4-BE49-F238E27FC236}">
                <a16:creationId xmlns:a16="http://schemas.microsoft.com/office/drawing/2014/main" id="{7336A222-FE8E-8548-6B81-0F4C891F3E0A}"/>
              </a:ext>
            </a:extLst>
          </p:cNvPr>
          <p:cNvSpPr>
            <a:spLocks noGrp="1"/>
          </p:cNvSpPr>
          <p:nvPr>
            <p:ph type="body" idx="1"/>
          </p:nvPr>
        </p:nvSpPr>
        <p:spPr/>
        <p:txBody>
          <a:bodyPr/>
          <a:lstStyle/>
          <a:p>
            <a:r>
              <a:rPr lang="en-US" dirty="0"/>
              <a:t>Section - 5</a:t>
            </a:r>
            <a:endParaRPr lang="en-IN" dirty="0"/>
          </a:p>
        </p:txBody>
      </p:sp>
    </p:spTree>
    <p:extLst>
      <p:ext uri="{BB962C8B-B14F-4D97-AF65-F5344CB8AC3E}">
        <p14:creationId xmlns:p14="http://schemas.microsoft.com/office/powerpoint/2010/main" val="39156755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Election in Distributed Systems</a:t>
            </a:r>
          </a:p>
        </p:txBody>
      </p:sp>
      <p:sp>
        <p:nvSpPr>
          <p:cNvPr id="28" name="Content Placeholder 2">
            <a:extLst>
              <a:ext uri="{FF2B5EF4-FFF2-40B4-BE49-F238E27FC236}">
                <a16:creationId xmlns:a16="http://schemas.microsoft.com/office/drawing/2014/main" id="{05FF24D1-5277-417B-BCE3-776DD62CA93A}"/>
              </a:ext>
            </a:extLst>
          </p:cNvPr>
          <p:cNvSpPr>
            <a:spLocks noGrp="1"/>
          </p:cNvSpPr>
          <p:nvPr>
            <p:ph idx="1"/>
          </p:nvPr>
        </p:nvSpPr>
        <p:spPr/>
        <p:txBody>
          <a:bodyPr>
            <a:normAutofit/>
          </a:bodyPr>
          <a:lstStyle/>
          <a:p>
            <a:pPr>
              <a:lnSpc>
                <a:spcPct val="110000"/>
              </a:lnSpc>
              <a:spcBef>
                <a:spcPts val="200"/>
              </a:spcBef>
              <a:spcAft>
                <a:spcPts val="200"/>
              </a:spcAft>
            </a:pPr>
            <a:r>
              <a:rPr lang="en-US" altLang="en-US" dirty="0">
                <a:latin typeface="+mj-lt"/>
              </a:rPr>
              <a:t>Many distributed algorithms require one process to act as a coordinator</a:t>
            </a:r>
          </a:p>
          <a:p>
            <a:pPr>
              <a:lnSpc>
                <a:spcPct val="110000"/>
              </a:lnSpc>
              <a:spcBef>
                <a:spcPts val="200"/>
              </a:spcBef>
              <a:spcAft>
                <a:spcPts val="200"/>
              </a:spcAft>
            </a:pPr>
            <a:r>
              <a:rPr lang="en-US" altLang="en-US" dirty="0">
                <a:latin typeface="+mj-lt"/>
              </a:rPr>
              <a:t>Typically, it does not matter which process is elected as the coordinator</a:t>
            </a:r>
          </a:p>
          <a:p>
            <a:pPr>
              <a:lnSpc>
                <a:spcPct val="110000"/>
              </a:lnSpc>
              <a:spcBef>
                <a:spcPts val="200"/>
              </a:spcBef>
              <a:spcAft>
                <a:spcPts val="200"/>
              </a:spcAft>
            </a:pPr>
            <a:endParaRPr lang="en-US" altLang="en-US" dirty="0">
              <a:latin typeface="+mj-lt"/>
            </a:endParaRPr>
          </a:p>
          <a:p>
            <a:pPr>
              <a:lnSpc>
                <a:spcPct val="100000"/>
              </a:lnSpc>
              <a:spcBef>
                <a:spcPts val="300"/>
              </a:spcBef>
              <a:spcAft>
                <a:spcPts val="300"/>
              </a:spcAft>
            </a:pPr>
            <a:endParaRPr lang="en-US" altLang="en-US" sz="2400" b="1" dirty="0">
              <a:latin typeface="+mj-lt"/>
              <a:ea typeface="MS PGothic" panose="020B0600070205080204" pitchFamily="34" charset="-128"/>
            </a:endParaRPr>
          </a:p>
        </p:txBody>
      </p:sp>
      <p:grpSp>
        <p:nvGrpSpPr>
          <p:cNvPr id="4" name="Group 171">
            <a:extLst>
              <a:ext uri="{FF2B5EF4-FFF2-40B4-BE49-F238E27FC236}">
                <a16:creationId xmlns:a16="http://schemas.microsoft.com/office/drawing/2014/main" id="{2B122C02-D3FC-408B-B623-523D04499EAF}"/>
              </a:ext>
            </a:extLst>
          </p:cNvPr>
          <p:cNvGrpSpPr>
            <a:grpSpLocks/>
          </p:cNvGrpSpPr>
          <p:nvPr/>
        </p:nvGrpSpPr>
        <p:grpSpPr bwMode="auto">
          <a:xfrm>
            <a:off x="8296930" y="2614613"/>
            <a:ext cx="2681180" cy="1697647"/>
            <a:chOff x="4381116" y="5105400"/>
            <a:chExt cx="1943484" cy="1027161"/>
          </a:xfrm>
        </p:grpSpPr>
        <p:grpSp>
          <p:nvGrpSpPr>
            <p:cNvPr id="5" name="Group 4">
              <a:extLst>
                <a:ext uri="{FF2B5EF4-FFF2-40B4-BE49-F238E27FC236}">
                  <a16:creationId xmlns:a16="http://schemas.microsoft.com/office/drawing/2014/main" id="{893E9F2F-52A5-4CDA-9DA0-3A7929BA2F69}"/>
                </a:ext>
              </a:extLst>
            </p:cNvPr>
            <p:cNvGrpSpPr>
              <a:grpSpLocks/>
            </p:cNvGrpSpPr>
            <p:nvPr/>
          </p:nvGrpSpPr>
          <p:grpSpPr bwMode="auto">
            <a:xfrm>
              <a:off x="4381116" y="5373809"/>
              <a:ext cx="685800" cy="417562"/>
              <a:chOff x="5105400" y="3962397"/>
              <a:chExt cx="3276600" cy="1075038"/>
            </a:xfrm>
          </p:grpSpPr>
          <p:sp>
            <p:nvSpPr>
              <p:cNvPr id="18" name="Rectangle 17">
                <a:extLst>
                  <a:ext uri="{FF2B5EF4-FFF2-40B4-BE49-F238E27FC236}">
                    <a16:creationId xmlns:a16="http://schemas.microsoft.com/office/drawing/2014/main" id="{EECFE8B3-2FEE-4D0B-92CB-92E8DA61660E}"/>
                  </a:ext>
                </a:extLst>
              </p:cNvPr>
              <p:cNvSpPr/>
              <p:nvPr/>
            </p:nvSpPr>
            <p:spPr>
              <a:xfrm>
                <a:off x="5105400" y="3962151"/>
                <a:ext cx="3277681" cy="1076442"/>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b="1" dirty="0">
                  <a:latin typeface="+mj-lt"/>
                </a:endParaRPr>
              </a:p>
            </p:txBody>
          </p:sp>
          <p:sp>
            <p:nvSpPr>
              <p:cNvPr id="19" name="Rectangle 18">
                <a:extLst>
                  <a:ext uri="{FF2B5EF4-FFF2-40B4-BE49-F238E27FC236}">
                    <a16:creationId xmlns:a16="http://schemas.microsoft.com/office/drawing/2014/main" id="{BB6BD663-8134-4DBB-9A24-EAB1599DFDF7}"/>
                  </a:ext>
                </a:extLst>
              </p:cNvPr>
              <p:cNvSpPr/>
              <p:nvPr/>
            </p:nvSpPr>
            <p:spPr bwMode="auto">
              <a:xfrm>
                <a:off x="5105400" y="3962151"/>
                <a:ext cx="3277681" cy="48736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600" b="1" dirty="0">
                    <a:solidFill>
                      <a:schemeClr val="bg1"/>
                    </a:solidFill>
                    <a:latin typeface="+mj-lt"/>
                  </a:rPr>
                  <a:t>Client 1</a:t>
                </a:r>
              </a:p>
            </p:txBody>
          </p:sp>
        </p:grpSp>
        <p:grpSp>
          <p:nvGrpSpPr>
            <p:cNvPr id="6" name="Group 7">
              <a:extLst>
                <a:ext uri="{FF2B5EF4-FFF2-40B4-BE49-F238E27FC236}">
                  <a16:creationId xmlns:a16="http://schemas.microsoft.com/office/drawing/2014/main" id="{C5A759E1-8540-40E5-8B4D-29765E6D3785}"/>
                </a:ext>
              </a:extLst>
            </p:cNvPr>
            <p:cNvGrpSpPr>
              <a:grpSpLocks/>
            </p:cNvGrpSpPr>
            <p:nvPr/>
          </p:nvGrpSpPr>
          <p:grpSpPr bwMode="auto">
            <a:xfrm>
              <a:off x="5562600" y="5638800"/>
              <a:ext cx="762000" cy="493761"/>
              <a:chOff x="5105400" y="3962397"/>
              <a:chExt cx="3640667" cy="1271217"/>
            </a:xfrm>
          </p:grpSpPr>
          <p:sp>
            <p:nvSpPr>
              <p:cNvPr id="16" name="Rectangle 15">
                <a:extLst>
                  <a:ext uri="{FF2B5EF4-FFF2-40B4-BE49-F238E27FC236}">
                    <a16:creationId xmlns:a16="http://schemas.microsoft.com/office/drawing/2014/main" id="{926853C2-01C5-4B0B-8F4D-A9E872A145EE}"/>
                  </a:ext>
                </a:extLst>
              </p:cNvPr>
              <p:cNvSpPr/>
              <p:nvPr/>
            </p:nvSpPr>
            <p:spPr>
              <a:xfrm>
                <a:off x="5103395" y="3962226"/>
                <a:ext cx="3642672" cy="1271388"/>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b="1" dirty="0">
                  <a:latin typeface="+mj-lt"/>
                </a:endParaRPr>
              </a:p>
            </p:txBody>
          </p:sp>
          <p:sp>
            <p:nvSpPr>
              <p:cNvPr id="17" name="Rectangle 16">
                <a:extLst>
                  <a:ext uri="{FF2B5EF4-FFF2-40B4-BE49-F238E27FC236}">
                    <a16:creationId xmlns:a16="http://schemas.microsoft.com/office/drawing/2014/main" id="{64A896D5-0641-47DB-9CAA-9D3510141287}"/>
                  </a:ext>
                </a:extLst>
              </p:cNvPr>
              <p:cNvSpPr/>
              <p:nvPr/>
            </p:nvSpPr>
            <p:spPr bwMode="auto">
              <a:xfrm>
                <a:off x="5103395" y="3962226"/>
                <a:ext cx="3642672" cy="48736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b="1" dirty="0">
                    <a:solidFill>
                      <a:schemeClr val="bg1"/>
                    </a:solidFill>
                    <a:latin typeface="+mj-lt"/>
                  </a:rPr>
                  <a:t>Server</a:t>
                </a:r>
              </a:p>
            </p:txBody>
          </p:sp>
        </p:grpSp>
        <p:sp>
          <p:nvSpPr>
            <p:cNvPr id="7" name="Rectangle 6">
              <a:extLst>
                <a:ext uri="{FF2B5EF4-FFF2-40B4-BE49-F238E27FC236}">
                  <a16:creationId xmlns:a16="http://schemas.microsoft.com/office/drawing/2014/main" id="{6D2DB351-9F4D-48D6-8E5E-32A250404770}"/>
                </a:ext>
              </a:extLst>
            </p:cNvPr>
            <p:cNvSpPr/>
            <p:nvPr/>
          </p:nvSpPr>
          <p:spPr bwMode="auto">
            <a:xfrm>
              <a:off x="5606364" y="5867748"/>
              <a:ext cx="685800" cy="228601"/>
            </a:xfrm>
            <a:prstGeom prst="rect">
              <a:avLst/>
            </a:prstGeom>
            <a:solidFill>
              <a:schemeClr val="accent2">
                <a:lumMod val="60000"/>
                <a:lumOff val="40000"/>
              </a:schemeClr>
            </a:solidFill>
          </p:spPr>
          <p:style>
            <a:lnRef idx="0">
              <a:schemeClr val="accent6"/>
            </a:lnRef>
            <a:fillRef idx="3">
              <a:schemeClr val="accent6"/>
            </a:fillRef>
            <a:effectRef idx="3">
              <a:schemeClr val="accent6"/>
            </a:effectRef>
            <a:fontRef idx="minor">
              <a:schemeClr val="lt1"/>
            </a:fontRef>
          </p:style>
          <p:txBody>
            <a:bodyPr/>
            <a:lstStyle/>
            <a:p>
              <a:pPr algn="ctr" eaLnBrk="1" hangingPunct="1">
                <a:defRPr/>
              </a:pPr>
              <a:r>
                <a:rPr lang="en-US" sz="1600" b="1" dirty="0">
                  <a:solidFill>
                    <a:schemeClr val="tx1"/>
                  </a:solidFill>
                  <a:latin typeface="+mj-lt"/>
                </a:rPr>
                <a:t>Resource</a:t>
              </a:r>
            </a:p>
          </p:txBody>
        </p:sp>
        <p:sp>
          <p:nvSpPr>
            <p:cNvPr id="8" name="Oval 7">
              <a:extLst>
                <a:ext uri="{FF2B5EF4-FFF2-40B4-BE49-F238E27FC236}">
                  <a16:creationId xmlns:a16="http://schemas.microsoft.com/office/drawing/2014/main" id="{60C2A3CF-F132-4C59-9E8A-ACE4A75AC851}"/>
                </a:ext>
              </a:extLst>
            </p:cNvPr>
            <p:cNvSpPr/>
            <p:nvPr/>
          </p:nvSpPr>
          <p:spPr>
            <a:xfrm>
              <a:off x="4466678" y="5589351"/>
              <a:ext cx="484344" cy="169548"/>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eaLnBrk="1" hangingPunct="1">
                <a:defRPr/>
              </a:pPr>
              <a:r>
                <a:rPr lang="en-US" b="1" dirty="0">
                  <a:solidFill>
                    <a:schemeClr val="tx1"/>
                  </a:solidFill>
                  <a:latin typeface="+mj-lt"/>
                </a:rPr>
                <a:t>P1</a:t>
              </a:r>
            </a:p>
          </p:txBody>
        </p:sp>
        <p:grpSp>
          <p:nvGrpSpPr>
            <p:cNvPr id="9" name="Group 12">
              <a:extLst>
                <a:ext uri="{FF2B5EF4-FFF2-40B4-BE49-F238E27FC236}">
                  <a16:creationId xmlns:a16="http://schemas.microsoft.com/office/drawing/2014/main" id="{BFFE1B1A-AE96-4B1E-BE5A-E20820094CA0}"/>
                </a:ext>
              </a:extLst>
            </p:cNvPr>
            <p:cNvGrpSpPr>
              <a:grpSpLocks/>
            </p:cNvGrpSpPr>
            <p:nvPr/>
          </p:nvGrpSpPr>
          <p:grpSpPr bwMode="auto">
            <a:xfrm>
              <a:off x="5513559" y="5105400"/>
              <a:ext cx="811041" cy="420639"/>
              <a:chOff x="5105400" y="3962397"/>
              <a:chExt cx="4004734" cy="933842"/>
            </a:xfrm>
          </p:grpSpPr>
          <p:sp>
            <p:nvSpPr>
              <p:cNvPr id="14" name="Rectangle 13">
                <a:extLst>
                  <a:ext uri="{FF2B5EF4-FFF2-40B4-BE49-F238E27FC236}">
                    <a16:creationId xmlns:a16="http://schemas.microsoft.com/office/drawing/2014/main" id="{B5443020-1AF2-48A7-91D8-659A56081D10}"/>
                  </a:ext>
                </a:extLst>
              </p:cNvPr>
              <p:cNvSpPr/>
              <p:nvPr/>
            </p:nvSpPr>
            <p:spPr>
              <a:xfrm>
                <a:off x="5104060" y="3962397"/>
                <a:ext cx="4006074" cy="935529"/>
              </a:xfrm>
              <a:prstGeom prst="rect">
                <a:avLst/>
              </a:prstGeom>
            </p:spPr>
            <p:style>
              <a:lnRef idx="2">
                <a:schemeClr val="accent4"/>
              </a:lnRef>
              <a:fillRef idx="1">
                <a:schemeClr val="lt1"/>
              </a:fillRef>
              <a:effectRef idx="0">
                <a:schemeClr val="accent4"/>
              </a:effectRef>
              <a:fontRef idx="minor">
                <a:schemeClr val="dk1"/>
              </a:fontRef>
            </p:style>
            <p:txBody>
              <a:bodyPr anchor="ctr"/>
              <a:lstStyle/>
              <a:p>
                <a:pPr algn="ctr" eaLnBrk="1" hangingPunct="1">
                  <a:defRPr/>
                </a:pPr>
                <a:endParaRPr lang="en-US" b="1" dirty="0">
                  <a:latin typeface="+mj-lt"/>
                </a:endParaRPr>
              </a:p>
            </p:txBody>
          </p:sp>
          <p:sp>
            <p:nvSpPr>
              <p:cNvPr id="15" name="Rectangle 14">
                <a:extLst>
                  <a:ext uri="{FF2B5EF4-FFF2-40B4-BE49-F238E27FC236}">
                    <a16:creationId xmlns:a16="http://schemas.microsoft.com/office/drawing/2014/main" id="{1C1728B2-4DC0-4A68-A514-3062EB3D41AB}"/>
                  </a:ext>
                </a:extLst>
              </p:cNvPr>
              <p:cNvSpPr/>
              <p:nvPr/>
            </p:nvSpPr>
            <p:spPr bwMode="auto">
              <a:xfrm>
                <a:off x="5104060" y="3962397"/>
                <a:ext cx="4006074" cy="48603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1400" b="1" dirty="0">
                    <a:solidFill>
                      <a:schemeClr val="bg1"/>
                    </a:solidFill>
                    <a:latin typeface="+mj-lt"/>
                  </a:rPr>
                  <a:t>Coordinator</a:t>
                </a:r>
              </a:p>
            </p:txBody>
          </p:sp>
        </p:grpSp>
        <p:sp>
          <p:nvSpPr>
            <p:cNvPr id="10" name="Oval 9">
              <a:extLst>
                <a:ext uri="{FF2B5EF4-FFF2-40B4-BE49-F238E27FC236}">
                  <a16:creationId xmlns:a16="http://schemas.microsoft.com/office/drawing/2014/main" id="{E965EF88-C2FA-4743-A3B2-3F481FDCE335}"/>
                </a:ext>
              </a:extLst>
            </p:cNvPr>
            <p:cNvSpPr/>
            <p:nvPr/>
          </p:nvSpPr>
          <p:spPr>
            <a:xfrm>
              <a:off x="5656910" y="5334207"/>
              <a:ext cx="484343" cy="161317"/>
            </a:xfrm>
            <a:prstGeom prst="ellipse">
              <a:avLst/>
            </a:prstGeom>
          </p:spPr>
          <p:style>
            <a:lnRef idx="1">
              <a:schemeClr val="accent4"/>
            </a:lnRef>
            <a:fillRef idx="2">
              <a:schemeClr val="accent4"/>
            </a:fillRef>
            <a:effectRef idx="1">
              <a:schemeClr val="accent4"/>
            </a:effectRef>
            <a:fontRef idx="minor">
              <a:schemeClr val="dk1"/>
            </a:fontRef>
          </p:style>
          <p:txBody>
            <a:bodyPr anchor="ctr"/>
            <a:lstStyle/>
            <a:p>
              <a:pPr algn="ctr" eaLnBrk="1" hangingPunct="1">
                <a:defRPr/>
              </a:pPr>
              <a:r>
                <a:rPr lang="en-US" b="1" dirty="0">
                  <a:solidFill>
                    <a:schemeClr val="tx1"/>
                  </a:solidFill>
                  <a:latin typeface="+mj-lt"/>
                </a:rPr>
                <a:t>C1</a:t>
              </a:r>
            </a:p>
          </p:txBody>
        </p:sp>
        <p:cxnSp>
          <p:nvCxnSpPr>
            <p:cNvPr id="11" name="Straight Arrow Connector 10">
              <a:extLst>
                <a:ext uri="{FF2B5EF4-FFF2-40B4-BE49-F238E27FC236}">
                  <a16:creationId xmlns:a16="http://schemas.microsoft.com/office/drawing/2014/main" id="{B8D46DAD-93C3-4621-BA4C-083F6A41C81B}"/>
                </a:ext>
              </a:extLst>
            </p:cNvPr>
            <p:cNvCxnSpPr>
              <a:endCxn id="15" idx="1"/>
            </p:cNvCxnSpPr>
            <p:nvPr/>
          </p:nvCxnSpPr>
          <p:spPr>
            <a:xfrm flipV="1">
              <a:off x="5067142" y="5215689"/>
              <a:ext cx="446146" cy="15802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7942535-B689-458C-96EB-F81257BE60FB}"/>
                </a:ext>
              </a:extLst>
            </p:cNvPr>
            <p:cNvCxnSpPr>
              <a:endCxn id="18" idx="3"/>
            </p:cNvCxnSpPr>
            <p:nvPr/>
          </p:nvCxnSpPr>
          <p:spPr>
            <a:xfrm flipH="1">
              <a:off x="5067142" y="5467540"/>
              <a:ext cx="446146" cy="11522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20DF557-5EEA-45EC-AAD2-13BC30D89D18}"/>
                </a:ext>
              </a:extLst>
            </p:cNvPr>
            <p:cNvCxnSpPr/>
            <p:nvPr/>
          </p:nvCxnSpPr>
          <p:spPr>
            <a:xfrm>
              <a:off x="5067142" y="5714454"/>
              <a:ext cx="495038" cy="268313"/>
            </a:xfrm>
            <a:prstGeom prst="straightConnector1">
              <a:avLst/>
            </a:prstGeom>
            <a:ln w="38100">
              <a:solidFill>
                <a:srgbClr val="0000FF"/>
              </a:solidFill>
              <a:tailEnd type="arrow"/>
            </a:ln>
          </p:spPr>
          <p:style>
            <a:lnRef idx="1">
              <a:schemeClr val="accent1"/>
            </a:lnRef>
            <a:fillRef idx="0">
              <a:schemeClr val="accent1"/>
            </a:fillRef>
            <a:effectRef idx="0">
              <a:schemeClr val="accent1"/>
            </a:effectRef>
            <a:fontRef idx="minor">
              <a:schemeClr val="tx1"/>
            </a:fontRef>
          </p:style>
        </p:cxnSp>
      </p:grpSp>
      <p:sp>
        <p:nvSpPr>
          <p:cNvPr id="20" name="Rectangle 19">
            <a:extLst>
              <a:ext uri="{FF2B5EF4-FFF2-40B4-BE49-F238E27FC236}">
                <a16:creationId xmlns:a16="http://schemas.microsoft.com/office/drawing/2014/main" id="{26889378-E80F-4A2F-9919-B2083819FDAC}"/>
              </a:ext>
            </a:extLst>
          </p:cNvPr>
          <p:cNvSpPr/>
          <p:nvPr/>
        </p:nvSpPr>
        <p:spPr>
          <a:xfrm>
            <a:off x="8098594" y="4615689"/>
            <a:ext cx="3520501" cy="838330"/>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400" dirty="0">
                <a:latin typeface="+mj-lt"/>
              </a:rPr>
              <a:t>A Centralized Mutual Exclusion Algorithm</a:t>
            </a:r>
          </a:p>
        </p:txBody>
      </p:sp>
      <p:grpSp>
        <p:nvGrpSpPr>
          <p:cNvPr id="21" name="Group 119">
            <a:extLst>
              <a:ext uri="{FF2B5EF4-FFF2-40B4-BE49-F238E27FC236}">
                <a16:creationId xmlns:a16="http://schemas.microsoft.com/office/drawing/2014/main" id="{C4609E58-0860-40AE-83A4-AF823D2E99EC}"/>
              </a:ext>
            </a:extLst>
          </p:cNvPr>
          <p:cNvGrpSpPr>
            <a:grpSpLocks/>
          </p:cNvGrpSpPr>
          <p:nvPr/>
        </p:nvGrpSpPr>
        <p:grpSpPr bwMode="auto">
          <a:xfrm>
            <a:off x="4376049" y="2887270"/>
            <a:ext cx="1948615" cy="1387866"/>
            <a:chOff x="2805110" y="3169719"/>
            <a:chExt cx="2772571" cy="1984721"/>
          </a:xfrm>
        </p:grpSpPr>
        <p:cxnSp>
          <p:nvCxnSpPr>
            <p:cNvPr id="22" name="Straight Connector 21">
              <a:extLst>
                <a:ext uri="{FF2B5EF4-FFF2-40B4-BE49-F238E27FC236}">
                  <a16:creationId xmlns:a16="http://schemas.microsoft.com/office/drawing/2014/main" id="{ECEF93F0-3940-4986-99F4-56FC0A3957C9}"/>
                </a:ext>
              </a:extLst>
            </p:cNvPr>
            <p:cNvCxnSpPr/>
            <p:nvPr/>
          </p:nvCxnSpPr>
          <p:spPr>
            <a:xfrm>
              <a:off x="4481686" y="4012423"/>
              <a:ext cx="0" cy="22896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E58E531-0481-4CDA-9CB3-27DD2A11B9E5}"/>
                </a:ext>
              </a:extLst>
            </p:cNvPr>
            <p:cNvCxnSpPr/>
            <p:nvPr/>
          </p:nvCxnSpPr>
          <p:spPr>
            <a:xfrm>
              <a:off x="3825863" y="4241391"/>
              <a:ext cx="0" cy="22614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45EF260-B2D0-43FB-BB2C-1F92F5B0353B}"/>
                </a:ext>
              </a:extLst>
            </p:cNvPr>
            <p:cNvCxnSpPr/>
            <p:nvPr/>
          </p:nvCxnSpPr>
          <p:spPr>
            <a:xfrm>
              <a:off x="5119785" y="4241391"/>
              <a:ext cx="0" cy="22614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Group 20">
              <a:extLst>
                <a:ext uri="{FF2B5EF4-FFF2-40B4-BE49-F238E27FC236}">
                  <a16:creationId xmlns:a16="http://schemas.microsoft.com/office/drawing/2014/main" id="{0FA77723-8606-4211-AAFF-D3CBC3EFD6C4}"/>
                </a:ext>
              </a:extLst>
            </p:cNvPr>
            <p:cNvGrpSpPr>
              <a:grpSpLocks/>
            </p:cNvGrpSpPr>
            <p:nvPr/>
          </p:nvGrpSpPr>
          <p:grpSpPr bwMode="auto">
            <a:xfrm>
              <a:off x="4129881" y="3401840"/>
              <a:ext cx="690563" cy="762000"/>
              <a:chOff x="6243638" y="4572000"/>
              <a:chExt cx="690562" cy="762000"/>
            </a:xfrm>
          </p:grpSpPr>
          <p:sp>
            <p:nvSpPr>
              <p:cNvPr id="44" name="Rectangle 43">
                <a:extLst>
                  <a:ext uri="{FF2B5EF4-FFF2-40B4-BE49-F238E27FC236}">
                    <a16:creationId xmlns:a16="http://schemas.microsoft.com/office/drawing/2014/main" id="{2E6CFE6C-40FE-4735-B41D-69B2372A52C4}"/>
                  </a:ext>
                </a:extLst>
              </p:cNvPr>
              <p:cNvSpPr/>
              <p:nvPr/>
            </p:nvSpPr>
            <p:spPr>
              <a:xfrm>
                <a:off x="6248400" y="4572000"/>
                <a:ext cx="685800" cy="685800"/>
              </a:xfrm>
              <a:prstGeom prst="rect">
                <a:avLst/>
              </a:prstGeom>
              <a:solidFill>
                <a:srgbClr val="FF0000"/>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dirty="0">
                  <a:latin typeface="+mj-lt"/>
                </a:endParaRPr>
              </a:p>
            </p:txBody>
          </p:sp>
          <p:grpSp>
            <p:nvGrpSpPr>
              <p:cNvPr id="45" name="Group 18">
                <a:extLst>
                  <a:ext uri="{FF2B5EF4-FFF2-40B4-BE49-F238E27FC236}">
                    <a16:creationId xmlns:a16="http://schemas.microsoft.com/office/drawing/2014/main" id="{415F4C1E-E6D2-4F8C-A0F0-A1113505CF40}"/>
                  </a:ext>
                </a:extLst>
              </p:cNvPr>
              <p:cNvGrpSpPr>
                <a:grpSpLocks/>
              </p:cNvGrpSpPr>
              <p:nvPr/>
            </p:nvGrpSpPr>
            <p:grpSpPr bwMode="auto">
              <a:xfrm>
                <a:off x="6243638" y="4629150"/>
                <a:ext cx="690562" cy="704850"/>
                <a:chOff x="6243638" y="4629150"/>
                <a:chExt cx="1681162" cy="1681162"/>
              </a:xfrm>
            </p:grpSpPr>
            <p:pic>
              <p:nvPicPr>
                <p:cNvPr id="46" name="Picture 3" descr="C:\Documents and Settings\dd\Local Settings\Temporary Internet Files\Content.IE5\QNWT6PGV\MC900431586[1].png">
                  <a:extLst>
                    <a:ext uri="{FF2B5EF4-FFF2-40B4-BE49-F238E27FC236}">
                      <a16:creationId xmlns:a16="http://schemas.microsoft.com/office/drawing/2014/main" id="{1198FACF-D04C-49F6-88C5-35C4BAA0F6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3638" y="4629150"/>
                  <a:ext cx="1681162" cy="168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Oval 46">
                  <a:extLst>
                    <a:ext uri="{FF2B5EF4-FFF2-40B4-BE49-F238E27FC236}">
                      <a16:creationId xmlns:a16="http://schemas.microsoft.com/office/drawing/2014/main" id="{5A5B418F-F382-4193-BB78-B4AC2D04B083}"/>
                    </a:ext>
                  </a:extLst>
                </p:cNvPr>
                <p:cNvSpPr/>
                <p:nvPr/>
              </p:nvSpPr>
              <p:spPr>
                <a:xfrm>
                  <a:off x="6553199" y="4876801"/>
                  <a:ext cx="1066801" cy="1066799"/>
                </a:xfrm>
                <a:prstGeom prst="ellipse">
                  <a:avLst/>
                </a:prstGeom>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anchor="ctr"/>
                <a:lstStyle/>
                <a:p>
                  <a:pPr algn="ctr" eaLnBrk="1" hangingPunct="1">
                    <a:defRPr/>
                  </a:pPr>
                  <a:endParaRPr lang="en-US" dirty="0">
                    <a:latin typeface="+mj-lt"/>
                  </a:endParaRPr>
                </a:p>
              </p:txBody>
            </p:sp>
            <p:cxnSp>
              <p:nvCxnSpPr>
                <p:cNvPr id="48" name="Straight Connector 47">
                  <a:extLst>
                    <a:ext uri="{FF2B5EF4-FFF2-40B4-BE49-F238E27FC236}">
                      <a16:creationId xmlns:a16="http://schemas.microsoft.com/office/drawing/2014/main" id="{011B028F-64F0-4B39-B863-43F49E5EDC2F}"/>
                    </a:ext>
                  </a:extLst>
                </p:cNvPr>
                <p:cNvCxnSpPr/>
                <p:nvPr/>
              </p:nvCxnSpPr>
              <p:spPr>
                <a:xfrm>
                  <a:off x="7085716" y="4877145"/>
                  <a:ext cx="0" cy="532638"/>
                </a:xfrm>
                <a:prstGeom prst="line">
                  <a:avLst/>
                </a:prstGeom>
                <a:ln w="31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41199703-8344-485B-AD1C-49156AC5E9CB}"/>
                    </a:ext>
                  </a:extLst>
                </p:cNvPr>
                <p:cNvCxnSpPr/>
                <p:nvPr/>
              </p:nvCxnSpPr>
              <p:spPr>
                <a:xfrm flipH="1">
                  <a:off x="7085716" y="5409784"/>
                  <a:ext cx="388360" cy="0"/>
                </a:xfrm>
                <a:prstGeom prst="line">
                  <a:avLst/>
                </a:prstGeom>
                <a:ln w="31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grpSp>
          <p:nvGrpSpPr>
            <p:cNvPr id="26" name="Group 23">
              <a:extLst>
                <a:ext uri="{FF2B5EF4-FFF2-40B4-BE49-F238E27FC236}">
                  <a16:creationId xmlns:a16="http://schemas.microsoft.com/office/drawing/2014/main" id="{9DDF6CE3-B29A-4AF4-A6AC-38C981553088}"/>
                </a:ext>
              </a:extLst>
            </p:cNvPr>
            <p:cNvGrpSpPr>
              <a:grpSpLocks/>
            </p:cNvGrpSpPr>
            <p:nvPr/>
          </p:nvGrpSpPr>
          <p:grpSpPr bwMode="auto">
            <a:xfrm>
              <a:off x="3467894" y="4392440"/>
              <a:ext cx="690562" cy="762000"/>
              <a:chOff x="6243641" y="4572000"/>
              <a:chExt cx="690563" cy="762000"/>
            </a:xfrm>
          </p:grpSpPr>
          <p:sp>
            <p:nvSpPr>
              <p:cNvPr id="38" name="Rectangle 37">
                <a:extLst>
                  <a:ext uri="{FF2B5EF4-FFF2-40B4-BE49-F238E27FC236}">
                    <a16:creationId xmlns:a16="http://schemas.microsoft.com/office/drawing/2014/main" id="{71E54C16-55F7-4CC0-AC50-0D06169F1ED1}"/>
                  </a:ext>
                </a:extLst>
              </p:cNvPr>
              <p:cNvSpPr/>
              <p:nvPr/>
            </p:nvSpPr>
            <p:spPr>
              <a:xfrm>
                <a:off x="6248400" y="4572000"/>
                <a:ext cx="685800" cy="685800"/>
              </a:xfrm>
              <a:prstGeom prst="rect">
                <a:avLst/>
              </a:prstGeom>
              <a:solidFill>
                <a:schemeClr val="tx1">
                  <a:lumMod val="75000"/>
                  <a:lumOff val="25000"/>
                </a:schemeClr>
              </a:solidFill>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dirty="0">
                  <a:latin typeface="+mj-lt"/>
                </a:endParaRPr>
              </a:p>
            </p:txBody>
          </p:sp>
          <p:grpSp>
            <p:nvGrpSpPr>
              <p:cNvPr id="39" name="Group 18">
                <a:extLst>
                  <a:ext uri="{FF2B5EF4-FFF2-40B4-BE49-F238E27FC236}">
                    <a16:creationId xmlns:a16="http://schemas.microsoft.com/office/drawing/2014/main" id="{B7152C81-A6B7-44B8-A9FD-764E32EA0521}"/>
                  </a:ext>
                </a:extLst>
              </p:cNvPr>
              <p:cNvGrpSpPr>
                <a:grpSpLocks/>
              </p:cNvGrpSpPr>
              <p:nvPr/>
            </p:nvGrpSpPr>
            <p:grpSpPr bwMode="auto">
              <a:xfrm>
                <a:off x="6243641" y="4629150"/>
                <a:ext cx="690563" cy="704850"/>
                <a:chOff x="6243638" y="4629150"/>
                <a:chExt cx="1681162" cy="1681162"/>
              </a:xfrm>
            </p:grpSpPr>
            <p:pic>
              <p:nvPicPr>
                <p:cNvPr id="40" name="Picture 3" descr="C:\Documents and Settings\dd\Local Settings\Temporary Internet Files\Content.IE5\QNWT6PGV\MC900431586[1].png">
                  <a:extLst>
                    <a:ext uri="{FF2B5EF4-FFF2-40B4-BE49-F238E27FC236}">
                      <a16:creationId xmlns:a16="http://schemas.microsoft.com/office/drawing/2014/main" id="{0BAE9863-DCD6-4185-9719-0869CD0F90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3638" y="4629150"/>
                  <a:ext cx="1681162" cy="168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Oval 40">
                  <a:extLst>
                    <a:ext uri="{FF2B5EF4-FFF2-40B4-BE49-F238E27FC236}">
                      <a16:creationId xmlns:a16="http://schemas.microsoft.com/office/drawing/2014/main" id="{9F9AECAC-BD82-44B2-BE8F-8A365DDE2597}"/>
                    </a:ext>
                  </a:extLst>
                </p:cNvPr>
                <p:cNvSpPr/>
                <p:nvPr/>
              </p:nvSpPr>
              <p:spPr>
                <a:xfrm>
                  <a:off x="6553199" y="4876801"/>
                  <a:ext cx="1066801" cy="1066799"/>
                </a:xfrm>
                <a:prstGeom prst="ellipse">
                  <a:avLst/>
                </a:prstGeom>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anchor="ctr"/>
                <a:lstStyle/>
                <a:p>
                  <a:pPr algn="ctr" eaLnBrk="1" hangingPunct="1">
                    <a:defRPr/>
                  </a:pPr>
                  <a:endParaRPr lang="en-US" dirty="0">
                    <a:latin typeface="+mj-lt"/>
                  </a:endParaRPr>
                </a:p>
              </p:txBody>
            </p:sp>
            <p:cxnSp>
              <p:nvCxnSpPr>
                <p:cNvPr id="42" name="Straight Connector 41">
                  <a:extLst>
                    <a:ext uri="{FF2B5EF4-FFF2-40B4-BE49-F238E27FC236}">
                      <a16:creationId xmlns:a16="http://schemas.microsoft.com/office/drawing/2014/main" id="{826FA20C-552B-488A-AA61-9A6166AE558E}"/>
                    </a:ext>
                  </a:extLst>
                </p:cNvPr>
                <p:cNvCxnSpPr/>
                <p:nvPr/>
              </p:nvCxnSpPr>
              <p:spPr>
                <a:xfrm>
                  <a:off x="6769896" y="4665208"/>
                  <a:ext cx="345209" cy="714676"/>
                </a:xfrm>
                <a:prstGeom prst="line">
                  <a:avLst/>
                </a:prstGeom>
                <a:ln w="31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B864AD5A-90A0-41B6-9CF2-0FE9959F495C}"/>
                    </a:ext>
                  </a:extLst>
                </p:cNvPr>
                <p:cNvCxnSpPr/>
                <p:nvPr/>
              </p:nvCxnSpPr>
              <p:spPr>
                <a:xfrm flipH="1">
                  <a:off x="7115104" y="5191102"/>
                  <a:ext cx="373976" cy="182038"/>
                </a:xfrm>
                <a:prstGeom prst="line">
                  <a:avLst/>
                </a:prstGeom>
                <a:ln w="31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grpSp>
          <p:nvGrpSpPr>
            <p:cNvPr id="27" name="Group 30">
              <a:extLst>
                <a:ext uri="{FF2B5EF4-FFF2-40B4-BE49-F238E27FC236}">
                  <a16:creationId xmlns:a16="http://schemas.microsoft.com/office/drawing/2014/main" id="{A85408A8-4CEA-4104-8D2A-ABD405CC153E}"/>
                </a:ext>
              </a:extLst>
            </p:cNvPr>
            <p:cNvGrpSpPr>
              <a:grpSpLocks/>
            </p:cNvGrpSpPr>
            <p:nvPr/>
          </p:nvGrpSpPr>
          <p:grpSpPr bwMode="auto">
            <a:xfrm>
              <a:off x="4782344" y="4392440"/>
              <a:ext cx="690562" cy="762000"/>
              <a:chOff x="6243638" y="4572000"/>
              <a:chExt cx="690562" cy="762000"/>
            </a:xfrm>
          </p:grpSpPr>
          <p:sp>
            <p:nvSpPr>
              <p:cNvPr id="32" name="Rectangle 31">
                <a:extLst>
                  <a:ext uri="{FF2B5EF4-FFF2-40B4-BE49-F238E27FC236}">
                    <a16:creationId xmlns:a16="http://schemas.microsoft.com/office/drawing/2014/main" id="{AD1F7359-7543-4AF5-96F2-7F4705D5D517}"/>
                  </a:ext>
                </a:extLst>
              </p:cNvPr>
              <p:cNvSpPr/>
              <p:nvPr/>
            </p:nvSpPr>
            <p:spPr>
              <a:xfrm>
                <a:off x="6248400" y="4572000"/>
                <a:ext cx="685800" cy="685800"/>
              </a:xfrm>
              <a:prstGeom prst="rect">
                <a:avLst/>
              </a:prstGeom>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dirty="0">
                  <a:latin typeface="+mj-lt"/>
                </a:endParaRPr>
              </a:p>
            </p:txBody>
          </p:sp>
          <p:grpSp>
            <p:nvGrpSpPr>
              <p:cNvPr id="33" name="Group 18">
                <a:extLst>
                  <a:ext uri="{FF2B5EF4-FFF2-40B4-BE49-F238E27FC236}">
                    <a16:creationId xmlns:a16="http://schemas.microsoft.com/office/drawing/2014/main" id="{308C762D-455B-43E6-B9CE-346CCFADFEB5}"/>
                  </a:ext>
                </a:extLst>
              </p:cNvPr>
              <p:cNvGrpSpPr>
                <a:grpSpLocks/>
              </p:cNvGrpSpPr>
              <p:nvPr/>
            </p:nvGrpSpPr>
            <p:grpSpPr bwMode="auto">
              <a:xfrm>
                <a:off x="6243638" y="4629150"/>
                <a:ext cx="690562" cy="704850"/>
                <a:chOff x="6243638" y="4629150"/>
                <a:chExt cx="1681162" cy="1681162"/>
              </a:xfrm>
            </p:grpSpPr>
            <p:pic>
              <p:nvPicPr>
                <p:cNvPr id="34" name="Picture 3" descr="C:\Documents and Settings\dd\Local Settings\Temporary Internet Files\Content.IE5\QNWT6PGV\MC900431586[1].png">
                  <a:extLst>
                    <a:ext uri="{FF2B5EF4-FFF2-40B4-BE49-F238E27FC236}">
                      <a16:creationId xmlns:a16="http://schemas.microsoft.com/office/drawing/2014/main" id="{7727DDB2-337B-4A08-B3E3-452E574FCC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3638" y="4629150"/>
                  <a:ext cx="1681162" cy="168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Oval 34">
                  <a:extLst>
                    <a:ext uri="{FF2B5EF4-FFF2-40B4-BE49-F238E27FC236}">
                      <a16:creationId xmlns:a16="http://schemas.microsoft.com/office/drawing/2014/main" id="{3C678E9B-6BFD-47B1-981F-7D732E9CD47E}"/>
                    </a:ext>
                  </a:extLst>
                </p:cNvPr>
                <p:cNvSpPr/>
                <p:nvPr/>
              </p:nvSpPr>
              <p:spPr>
                <a:xfrm>
                  <a:off x="6553199" y="4876801"/>
                  <a:ext cx="1066801" cy="1066799"/>
                </a:xfrm>
                <a:prstGeom prst="ellipse">
                  <a:avLst/>
                </a:prstGeom>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anchor="ctr"/>
                <a:lstStyle/>
                <a:p>
                  <a:pPr algn="ctr" eaLnBrk="1" hangingPunct="1">
                    <a:defRPr/>
                  </a:pPr>
                  <a:endParaRPr lang="en-US" dirty="0">
                    <a:latin typeface="+mj-lt"/>
                  </a:endParaRPr>
                </a:p>
              </p:txBody>
            </p:sp>
            <p:cxnSp>
              <p:nvCxnSpPr>
                <p:cNvPr id="36" name="Straight Connector 35">
                  <a:extLst>
                    <a:ext uri="{FF2B5EF4-FFF2-40B4-BE49-F238E27FC236}">
                      <a16:creationId xmlns:a16="http://schemas.microsoft.com/office/drawing/2014/main" id="{AABA1D49-C512-4F2B-B306-77B73BF28629}"/>
                    </a:ext>
                  </a:extLst>
                </p:cNvPr>
                <p:cNvCxnSpPr/>
                <p:nvPr/>
              </p:nvCxnSpPr>
              <p:spPr>
                <a:xfrm flipH="1" flipV="1">
                  <a:off x="7072325" y="5400109"/>
                  <a:ext cx="179794" cy="546123"/>
                </a:xfrm>
                <a:prstGeom prst="line">
                  <a:avLst/>
                </a:prstGeom>
                <a:ln w="31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DA2E67D4-5D42-4D56-B30E-57C903BC651A}"/>
                    </a:ext>
                  </a:extLst>
                </p:cNvPr>
                <p:cNvCxnSpPr/>
                <p:nvPr/>
              </p:nvCxnSpPr>
              <p:spPr>
                <a:xfrm flipH="1">
                  <a:off x="7086708" y="5406853"/>
                  <a:ext cx="388360" cy="0"/>
                </a:xfrm>
                <a:prstGeom prst="line">
                  <a:avLst/>
                </a:prstGeom>
                <a:ln w="3175">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cxnSp>
          <p:nvCxnSpPr>
            <p:cNvPr id="29" name="Straight Connector 28">
              <a:extLst>
                <a:ext uri="{FF2B5EF4-FFF2-40B4-BE49-F238E27FC236}">
                  <a16:creationId xmlns:a16="http://schemas.microsoft.com/office/drawing/2014/main" id="{A1028F80-6B6A-47A6-8ADB-25A6FB300C6F}"/>
                </a:ext>
              </a:extLst>
            </p:cNvPr>
            <p:cNvCxnSpPr/>
            <p:nvPr/>
          </p:nvCxnSpPr>
          <p:spPr>
            <a:xfrm>
              <a:off x="3444777" y="4241391"/>
              <a:ext cx="213290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101">
              <a:extLst>
                <a:ext uri="{FF2B5EF4-FFF2-40B4-BE49-F238E27FC236}">
                  <a16:creationId xmlns:a16="http://schemas.microsoft.com/office/drawing/2014/main" id="{9A63741D-3C82-4996-AB9D-B718B03E159D}"/>
                </a:ext>
              </a:extLst>
            </p:cNvPr>
            <p:cNvSpPr txBox="1">
              <a:spLocks noChangeArrowheads="1"/>
            </p:cNvSpPr>
            <p:nvPr/>
          </p:nvSpPr>
          <p:spPr bwMode="auto">
            <a:xfrm>
              <a:off x="2805110" y="3169719"/>
              <a:ext cx="1139712" cy="836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3"/>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3"/>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3"/>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3"/>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b="1" dirty="0">
                  <a:solidFill>
                    <a:schemeClr val="tx1"/>
                  </a:solidFill>
                  <a:latin typeface="+mj-lt"/>
                </a:rPr>
                <a:t>Time server</a:t>
              </a:r>
            </a:p>
          </p:txBody>
        </p:sp>
        <p:cxnSp>
          <p:nvCxnSpPr>
            <p:cNvPr id="31" name="Straight Arrow Connector 30">
              <a:extLst>
                <a:ext uri="{FF2B5EF4-FFF2-40B4-BE49-F238E27FC236}">
                  <a16:creationId xmlns:a16="http://schemas.microsoft.com/office/drawing/2014/main" id="{2781F1BA-000B-4945-8037-B366471C7A7A}"/>
                </a:ext>
              </a:extLst>
            </p:cNvPr>
            <p:cNvCxnSpPr/>
            <p:nvPr/>
          </p:nvCxnSpPr>
          <p:spPr>
            <a:xfrm>
              <a:off x="3825863" y="3630808"/>
              <a:ext cx="304279" cy="228970"/>
            </a:xfrm>
            <a:prstGeom prst="straightConnector1">
              <a:avLst/>
            </a:prstGeom>
            <a:ln>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grpSp>
      <p:sp>
        <p:nvSpPr>
          <p:cNvPr id="50" name="Rectangle 49">
            <a:extLst>
              <a:ext uri="{FF2B5EF4-FFF2-40B4-BE49-F238E27FC236}">
                <a16:creationId xmlns:a16="http://schemas.microsoft.com/office/drawing/2014/main" id="{3DB4A108-0CCA-402D-90DC-9538F20BDBD5}"/>
              </a:ext>
            </a:extLst>
          </p:cNvPr>
          <p:cNvSpPr/>
          <p:nvPr/>
        </p:nvSpPr>
        <p:spPr>
          <a:xfrm>
            <a:off x="3720175" y="4624628"/>
            <a:ext cx="3659235" cy="871243"/>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400" dirty="0">
                <a:latin typeface="+mj-lt"/>
              </a:rPr>
              <a:t>Berkeley Clock Synchronization Algorithm</a:t>
            </a:r>
          </a:p>
        </p:txBody>
      </p:sp>
      <p:grpSp>
        <p:nvGrpSpPr>
          <p:cNvPr id="51" name="Group 132">
            <a:extLst>
              <a:ext uri="{FF2B5EF4-FFF2-40B4-BE49-F238E27FC236}">
                <a16:creationId xmlns:a16="http://schemas.microsoft.com/office/drawing/2014/main" id="{1957E094-EFF1-4822-9961-644B48FAD457}"/>
              </a:ext>
            </a:extLst>
          </p:cNvPr>
          <p:cNvGrpSpPr>
            <a:grpSpLocks/>
          </p:cNvGrpSpPr>
          <p:nvPr/>
        </p:nvGrpSpPr>
        <p:grpSpPr bwMode="auto">
          <a:xfrm>
            <a:off x="399190" y="2976453"/>
            <a:ext cx="2673171" cy="1196980"/>
            <a:chOff x="3081069" y="4648200"/>
            <a:chExt cx="3922534" cy="1928026"/>
          </a:xfrm>
        </p:grpSpPr>
        <p:pic>
          <p:nvPicPr>
            <p:cNvPr id="52" name="Picture 2" descr="http://igcministries.org/images/WorldMap.gif">
              <a:extLst>
                <a:ext uri="{FF2B5EF4-FFF2-40B4-BE49-F238E27FC236}">
                  <a16:creationId xmlns:a16="http://schemas.microsoft.com/office/drawing/2014/main" id="{F2122A46-EF83-4716-BE1D-83B92FF29782}"/>
                </a:ext>
              </a:extLst>
            </p:cNvPr>
            <p:cNvPicPr>
              <a:picLocks noChangeAspect="1" noChangeArrowheads="1"/>
            </p:cNvPicPr>
            <p:nvPr/>
          </p:nvPicPr>
          <p:blipFill>
            <a:blip r:embed="rId4" cstate="print">
              <a:duotone>
                <a:schemeClr val="accent3">
                  <a:shade val="45000"/>
                  <a:satMod val="135000"/>
                </a:schemeClr>
                <a:prstClr val="white"/>
              </a:duotone>
            </a:blip>
            <a:srcRect/>
            <a:stretch>
              <a:fillRect/>
            </a:stretch>
          </p:blipFill>
          <p:spPr bwMode="auto">
            <a:xfrm>
              <a:off x="3081069" y="4648200"/>
              <a:ext cx="3922534" cy="1928026"/>
            </a:xfrm>
            <a:prstGeom prst="rect">
              <a:avLst/>
            </a:prstGeom>
            <a:noFill/>
          </p:spPr>
        </p:pic>
        <p:pic>
          <p:nvPicPr>
            <p:cNvPr id="53" name="Picture 4" descr="C:\Users\vkolar\AppData\Local\Microsoft\Windows\Temporary Internet Files\Content.IE5\VTHTR7LA\MC900330866[1].wmf">
              <a:extLst>
                <a:ext uri="{FF2B5EF4-FFF2-40B4-BE49-F238E27FC236}">
                  <a16:creationId xmlns:a16="http://schemas.microsoft.com/office/drawing/2014/main" id="{FAD34B4B-0E79-466F-8045-245A477801C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16987" y="4840760"/>
              <a:ext cx="435876" cy="732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 name="Picture 3" descr="C:\Users\vkolar\AppData\Local\Microsoft\Windows\Temporary Internet Files\Content.IE5\HRUY4RJ7\MC900442122[1].png">
              <a:extLst>
                <a:ext uri="{FF2B5EF4-FFF2-40B4-BE49-F238E27FC236}">
                  <a16:creationId xmlns:a16="http://schemas.microsoft.com/office/drawing/2014/main" id="{5060FF7A-841B-42F9-B423-69B356CDFD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1263" y="5151438"/>
              <a:ext cx="477837"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Picture 5" descr="C:\Users\vkolar\AppData\Local\Microsoft\Windows\Temporary Internet Files\Content.IE5\HRUY4RJ7\MC900331642[1].wmf">
              <a:extLst>
                <a:ext uri="{FF2B5EF4-FFF2-40B4-BE49-F238E27FC236}">
                  <a16:creationId xmlns:a16="http://schemas.microsoft.com/office/drawing/2014/main" id="{2BE5507A-92FA-46CC-A18A-EC3B7C8BC24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37303" y="5714857"/>
              <a:ext cx="458207" cy="585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6" name="Straight Arrow Connector 55">
              <a:extLst>
                <a:ext uri="{FF2B5EF4-FFF2-40B4-BE49-F238E27FC236}">
                  <a16:creationId xmlns:a16="http://schemas.microsoft.com/office/drawing/2014/main" id="{AB5D2CB4-7160-4DCB-842D-2CE40618264A}"/>
                </a:ext>
              </a:extLst>
            </p:cNvPr>
            <p:cNvCxnSpPr/>
            <p:nvPr/>
          </p:nvCxnSpPr>
          <p:spPr>
            <a:xfrm flipH="1" flipV="1">
              <a:off x="5499314" y="5388326"/>
              <a:ext cx="739698" cy="658712"/>
            </a:xfrm>
            <a:prstGeom prst="straightConnector1">
              <a:avLst/>
            </a:prstGeom>
            <a:ln w="19050">
              <a:solidFill>
                <a:schemeClr val="tx1"/>
              </a:solidFill>
              <a:prstDash val="sysDash"/>
              <a:tailEnd type="arrow"/>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F1157817-D01A-4C60-BB69-287A8938D4F3}"/>
                </a:ext>
              </a:extLst>
            </p:cNvPr>
            <p:cNvCxnSpPr/>
            <p:nvPr/>
          </p:nvCxnSpPr>
          <p:spPr>
            <a:xfrm flipH="1">
              <a:off x="3774535" y="5388326"/>
              <a:ext cx="1248242" cy="14803"/>
            </a:xfrm>
            <a:prstGeom prst="straightConnector1">
              <a:avLst/>
            </a:prstGeom>
            <a:ln w="19050">
              <a:solidFill>
                <a:schemeClr val="tx1"/>
              </a:solidFill>
              <a:prstDash val="sysDash"/>
              <a:tailEnd type="arrow"/>
            </a:ln>
          </p:spPr>
          <p:style>
            <a:lnRef idx="1">
              <a:schemeClr val="dk1"/>
            </a:lnRef>
            <a:fillRef idx="0">
              <a:schemeClr val="dk1"/>
            </a:fillRef>
            <a:effectRef idx="0">
              <a:schemeClr val="dk1"/>
            </a:effectRef>
            <a:fontRef idx="minor">
              <a:schemeClr val="tx1"/>
            </a:fontRef>
          </p:style>
        </p:cxnSp>
      </p:grpSp>
      <p:sp>
        <p:nvSpPr>
          <p:cNvPr id="58" name="Rectangle 57">
            <a:extLst>
              <a:ext uri="{FF2B5EF4-FFF2-40B4-BE49-F238E27FC236}">
                <a16:creationId xmlns:a16="http://schemas.microsoft.com/office/drawing/2014/main" id="{23D8A8C5-1BF4-4FA2-AF8A-792B7AA45FFC}"/>
              </a:ext>
            </a:extLst>
          </p:cNvPr>
          <p:cNvSpPr/>
          <p:nvPr/>
        </p:nvSpPr>
        <p:spPr>
          <a:xfrm>
            <a:off x="367501" y="4632927"/>
            <a:ext cx="2704860" cy="862944"/>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400" dirty="0">
                <a:latin typeface="+mj-lt"/>
              </a:rPr>
              <a:t>Home Node Selection in Naming</a:t>
            </a:r>
          </a:p>
        </p:txBody>
      </p:sp>
    </p:spTree>
    <p:extLst>
      <p:ext uri="{BB962C8B-B14F-4D97-AF65-F5344CB8AC3E}">
        <p14:creationId xmlns:p14="http://schemas.microsoft.com/office/powerpoint/2010/main" val="2770962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50" grpId="0" animBg="1"/>
      <p:bldP spid="58"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Election Algorithms</a:t>
            </a:r>
          </a:p>
        </p:txBody>
      </p:sp>
      <p:sp>
        <p:nvSpPr>
          <p:cNvPr id="28" name="Content Placeholder 2">
            <a:extLst>
              <a:ext uri="{FF2B5EF4-FFF2-40B4-BE49-F238E27FC236}">
                <a16:creationId xmlns:a16="http://schemas.microsoft.com/office/drawing/2014/main" id="{05FF24D1-5277-417B-BCE3-776DD62CA93A}"/>
              </a:ext>
            </a:extLst>
          </p:cNvPr>
          <p:cNvSpPr>
            <a:spLocks noGrp="1"/>
          </p:cNvSpPr>
          <p:nvPr>
            <p:ph idx="1"/>
          </p:nvPr>
        </p:nvSpPr>
        <p:spPr/>
        <p:txBody>
          <a:bodyPr>
            <a:normAutofit/>
          </a:bodyPr>
          <a:lstStyle/>
          <a:p>
            <a:pPr>
              <a:lnSpc>
                <a:spcPct val="110000"/>
              </a:lnSpc>
              <a:spcBef>
                <a:spcPts val="200"/>
              </a:spcBef>
              <a:spcAft>
                <a:spcPts val="200"/>
              </a:spcAft>
            </a:pPr>
            <a:r>
              <a:rPr lang="en-US" altLang="en-US" dirty="0">
                <a:latin typeface="+mj-lt"/>
              </a:rPr>
              <a:t>What is Election?</a:t>
            </a:r>
          </a:p>
          <a:p>
            <a:pPr>
              <a:lnSpc>
                <a:spcPct val="110000"/>
              </a:lnSpc>
              <a:spcBef>
                <a:spcPts val="200"/>
              </a:spcBef>
              <a:spcAft>
                <a:spcPts val="200"/>
              </a:spcAft>
            </a:pPr>
            <a:r>
              <a:rPr lang="en-US" altLang="en-US" dirty="0">
                <a:latin typeface="+mj-lt"/>
              </a:rPr>
              <a:t>In a group of processes, elect a leader to undertake special tasks.</a:t>
            </a:r>
          </a:p>
          <a:p>
            <a:pPr>
              <a:lnSpc>
                <a:spcPct val="110000"/>
              </a:lnSpc>
              <a:spcBef>
                <a:spcPts val="200"/>
              </a:spcBef>
              <a:spcAft>
                <a:spcPts val="200"/>
              </a:spcAft>
            </a:pPr>
            <a:r>
              <a:rPr lang="en-US" altLang="en-US" dirty="0">
                <a:latin typeface="+mj-lt"/>
              </a:rPr>
              <a:t>What happens when a </a:t>
            </a:r>
            <a:r>
              <a:rPr lang="en-US" altLang="en-US" dirty="0">
                <a:solidFill>
                  <a:srgbClr val="1D6199"/>
                </a:solidFill>
                <a:latin typeface="+mj-lt"/>
              </a:rPr>
              <a:t>leader fails (crashes)</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Some process detects this (how?)</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Then what?</a:t>
            </a:r>
          </a:p>
          <a:p>
            <a:pPr>
              <a:lnSpc>
                <a:spcPct val="110000"/>
              </a:lnSpc>
              <a:spcBef>
                <a:spcPts val="200"/>
              </a:spcBef>
              <a:spcAft>
                <a:spcPts val="200"/>
              </a:spcAft>
            </a:pPr>
            <a:r>
              <a:rPr lang="en-US" altLang="en-US" dirty="0">
                <a:latin typeface="+mj-lt"/>
              </a:rPr>
              <a:t>Any process can </a:t>
            </a:r>
            <a:r>
              <a:rPr lang="en-US" altLang="en-US" dirty="0">
                <a:solidFill>
                  <a:srgbClr val="1D6199"/>
                </a:solidFill>
                <a:latin typeface="+mj-lt"/>
              </a:rPr>
              <a:t>serve as coordinator</a:t>
            </a:r>
          </a:p>
          <a:p>
            <a:pPr>
              <a:lnSpc>
                <a:spcPct val="110000"/>
              </a:lnSpc>
              <a:spcBef>
                <a:spcPts val="200"/>
              </a:spcBef>
              <a:spcAft>
                <a:spcPts val="200"/>
              </a:spcAft>
            </a:pPr>
            <a:r>
              <a:rPr lang="en-US" altLang="en-US" dirty="0">
                <a:latin typeface="+mj-lt"/>
              </a:rPr>
              <a:t>Any process can “</a:t>
            </a:r>
            <a:r>
              <a:rPr lang="en-US" altLang="en-US" dirty="0">
                <a:solidFill>
                  <a:srgbClr val="1D6199"/>
                </a:solidFill>
                <a:latin typeface="+mj-lt"/>
              </a:rPr>
              <a:t>call an election</a:t>
            </a:r>
            <a:r>
              <a:rPr lang="en-US" altLang="en-US" dirty="0">
                <a:latin typeface="+mj-lt"/>
              </a:rPr>
              <a:t>” (initiate the algorithm to choose a </a:t>
            </a:r>
            <a:r>
              <a:rPr lang="en-US" altLang="en-US" dirty="0">
                <a:solidFill>
                  <a:srgbClr val="1D6199"/>
                </a:solidFill>
                <a:latin typeface="+mj-lt"/>
              </a:rPr>
              <a:t>new coordinator</a:t>
            </a:r>
            <a:r>
              <a:rPr lang="en-US" altLang="en-US" dirty="0">
                <a:latin typeface="+mj-lt"/>
              </a:rPr>
              <a:t>). </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There is no harm (other than extra message traffic) in having multiple concurrent elections. </a:t>
            </a:r>
          </a:p>
          <a:p>
            <a:pPr>
              <a:lnSpc>
                <a:spcPct val="110000"/>
              </a:lnSpc>
              <a:spcBef>
                <a:spcPts val="200"/>
              </a:spcBef>
              <a:spcAft>
                <a:spcPts val="200"/>
              </a:spcAft>
            </a:pPr>
            <a:r>
              <a:rPr lang="en-US" altLang="en-US" dirty="0">
                <a:latin typeface="+mj-lt"/>
              </a:rPr>
              <a:t>Elections may be needed when the system is initialized, or if the coordinator crashes or retires.</a:t>
            </a:r>
          </a:p>
          <a:p>
            <a:pPr>
              <a:lnSpc>
                <a:spcPct val="110000"/>
              </a:lnSpc>
              <a:spcBef>
                <a:spcPts val="200"/>
              </a:spcBef>
              <a:spcAft>
                <a:spcPts val="200"/>
              </a:spcAft>
            </a:pPr>
            <a:r>
              <a:rPr lang="en-US" altLang="en-US" dirty="0">
                <a:latin typeface="+mj-lt"/>
              </a:rPr>
              <a:t>An algorithm for choosing a unique process to play a particular role.</a:t>
            </a:r>
          </a:p>
        </p:txBody>
      </p:sp>
      <p:pic>
        <p:nvPicPr>
          <p:cNvPr id="3" name="Picture 2"/>
          <p:cNvPicPr>
            <a:picLocks noChangeAspect="1"/>
          </p:cNvPicPr>
          <p:nvPr/>
        </p:nvPicPr>
        <p:blipFill rotWithShape="1">
          <a:blip r:embed="rId2"/>
          <a:srcRect l="6793" t="18778" r="2283"/>
          <a:stretch/>
        </p:blipFill>
        <p:spPr>
          <a:xfrm>
            <a:off x="8386760" y="768353"/>
            <a:ext cx="3748332" cy="2589212"/>
          </a:xfrm>
          <a:prstGeom prst="rect">
            <a:avLst/>
          </a:prstGeom>
        </p:spPr>
      </p:pic>
    </p:spTree>
    <p:extLst>
      <p:ext uri="{BB962C8B-B14F-4D97-AF65-F5344CB8AC3E}">
        <p14:creationId xmlns:p14="http://schemas.microsoft.com/office/powerpoint/2010/main" val="2537526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Assumptions</a:t>
            </a:r>
          </a:p>
        </p:txBody>
      </p:sp>
      <p:sp>
        <p:nvSpPr>
          <p:cNvPr id="28" name="Content Placeholder 2">
            <a:extLst>
              <a:ext uri="{FF2B5EF4-FFF2-40B4-BE49-F238E27FC236}">
                <a16:creationId xmlns:a16="http://schemas.microsoft.com/office/drawing/2014/main" id="{05FF24D1-5277-417B-BCE3-776DD62CA93A}"/>
              </a:ext>
            </a:extLst>
          </p:cNvPr>
          <p:cNvSpPr>
            <a:spLocks noGrp="1"/>
          </p:cNvSpPr>
          <p:nvPr>
            <p:ph idx="1"/>
          </p:nvPr>
        </p:nvSpPr>
        <p:spPr/>
        <p:txBody>
          <a:bodyPr>
            <a:noAutofit/>
          </a:bodyPr>
          <a:lstStyle/>
          <a:p>
            <a:pPr>
              <a:lnSpc>
                <a:spcPct val="110000"/>
              </a:lnSpc>
              <a:spcBef>
                <a:spcPts val="200"/>
              </a:spcBef>
              <a:spcAft>
                <a:spcPts val="200"/>
              </a:spcAft>
            </a:pPr>
            <a:r>
              <a:rPr lang="en-US" altLang="en-US" dirty="0">
                <a:latin typeface="+mj-lt"/>
              </a:rPr>
              <a:t>Any process can call for an election. </a:t>
            </a:r>
          </a:p>
          <a:p>
            <a:pPr>
              <a:lnSpc>
                <a:spcPct val="110000"/>
              </a:lnSpc>
              <a:spcBef>
                <a:spcPts val="200"/>
              </a:spcBef>
              <a:spcAft>
                <a:spcPts val="200"/>
              </a:spcAft>
            </a:pPr>
            <a:r>
              <a:rPr lang="en-US" altLang="en-US" dirty="0">
                <a:latin typeface="+mj-lt"/>
              </a:rPr>
              <a:t>A process can call for at most one election at a time. </a:t>
            </a:r>
          </a:p>
          <a:p>
            <a:pPr>
              <a:lnSpc>
                <a:spcPct val="110000"/>
              </a:lnSpc>
              <a:spcBef>
                <a:spcPts val="200"/>
              </a:spcBef>
              <a:spcAft>
                <a:spcPts val="200"/>
              </a:spcAft>
            </a:pPr>
            <a:r>
              <a:rPr lang="en-US" altLang="en-US" dirty="0">
                <a:latin typeface="+mj-lt"/>
              </a:rPr>
              <a:t>Every process/site has a unique ID; e.g.</a:t>
            </a:r>
          </a:p>
          <a:p>
            <a:pPr lvl="1">
              <a:lnSpc>
                <a:spcPct val="100000"/>
              </a:lnSpc>
              <a:spcBef>
                <a:spcPts val="200"/>
              </a:spcBef>
              <a:spcAft>
                <a:spcPts val="200"/>
              </a:spcAft>
              <a:buFont typeface="Wingdings" panose="05000000000000000000" pitchFamily="2" charset="2"/>
              <a:buChar char="§"/>
            </a:pPr>
            <a:r>
              <a:rPr lang="en-US" altLang="en-US" sz="2400" dirty="0">
                <a:solidFill>
                  <a:srgbClr val="1D6199"/>
                </a:solidFill>
                <a:latin typeface="+mj-lt"/>
                <a:ea typeface="Arial" panose="020B0604020202020204" pitchFamily="34" charset="0"/>
              </a:rPr>
              <a:t>The network address</a:t>
            </a:r>
          </a:p>
          <a:p>
            <a:pPr lvl="1">
              <a:lnSpc>
                <a:spcPct val="100000"/>
              </a:lnSpc>
              <a:spcBef>
                <a:spcPts val="200"/>
              </a:spcBef>
              <a:spcAft>
                <a:spcPts val="200"/>
              </a:spcAft>
              <a:buFont typeface="Wingdings" panose="05000000000000000000" pitchFamily="2" charset="2"/>
              <a:buChar char="§"/>
            </a:pPr>
            <a:r>
              <a:rPr lang="en-US" altLang="en-US" sz="2400" dirty="0">
                <a:solidFill>
                  <a:srgbClr val="1D6199"/>
                </a:solidFill>
                <a:latin typeface="+mj-lt"/>
                <a:ea typeface="Arial" panose="020B0604020202020204" pitchFamily="34" charset="0"/>
              </a:rPr>
              <a:t>A process number</a:t>
            </a:r>
          </a:p>
          <a:p>
            <a:pPr>
              <a:lnSpc>
                <a:spcPct val="110000"/>
              </a:lnSpc>
              <a:spcBef>
                <a:spcPts val="200"/>
              </a:spcBef>
              <a:spcAft>
                <a:spcPts val="200"/>
              </a:spcAft>
            </a:pPr>
            <a:r>
              <a:rPr lang="en-US" altLang="en-US" dirty="0">
                <a:latin typeface="+mj-lt"/>
              </a:rPr>
              <a:t>Every process in the system should know the values in the set of ID numbers, although not which processors are up or down.</a:t>
            </a:r>
          </a:p>
          <a:p>
            <a:pPr>
              <a:lnSpc>
                <a:spcPct val="110000"/>
              </a:lnSpc>
              <a:spcBef>
                <a:spcPts val="200"/>
              </a:spcBef>
              <a:spcAft>
                <a:spcPts val="200"/>
              </a:spcAft>
            </a:pPr>
            <a:r>
              <a:rPr lang="en-US" altLang="en-US" dirty="0">
                <a:latin typeface="+mj-lt"/>
              </a:rPr>
              <a:t>The process with the </a:t>
            </a:r>
            <a:r>
              <a:rPr lang="en-US" altLang="en-US" dirty="0">
                <a:solidFill>
                  <a:srgbClr val="1D6199"/>
                </a:solidFill>
                <a:latin typeface="+mj-lt"/>
              </a:rPr>
              <a:t>highest ID number </a:t>
            </a:r>
            <a:r>
              <a:rPr lang="en-US" altLang="en-US" dirty="0">
                <a:latin typeface="+mj-lt"/>
              </a:rPr>
              <a:t>will be the new coordinator.</a:t>
            </a:r>
          </a:p>
          <a:p>
            <a:pPr>
              <a:lnSpc>
                <a:spcPct val="110000"/>
              </a:lnSpc>
              <a:spcBef>
                <a:spcPts val="200"/>
              </a:spcBef>
              <a:spcAft>
                <a:spcPts val="200"/>
              </a:spcAft>
            </a:pPr>
            <a:r>
              <a:rPr lang="en-US" altLang="en-US" dirty="0">
                <a:latin typeface="+mj-lt"/>
              </a:rPr>
              <a:t>Multiple processes can call an election simultaneously.</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All of them together must yield a single leader only</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The result of an election should not depend on which </a:t>
            </a:r>
            <a:r>
              <a:rPr lang="en-US" altLang="en-US" sz="2400" dirty="0">
                <a:latin typeface="+mj-lt"/>
              </a:rPr>
              <a:t>process calls for it.</a:t>
            </a:r>
          </a:p>
          <a:p>
            <a:pPr>
              <a:lnSpc>
                <a:spcPct val="110000"/>
              </a:lnSpc>
              <a:spcBef>
                <a:spcPts val="200"/>
              </a:spcBef>
              <a:spcAft>
                <a:spcPts val="200"/>
              </a:spcAft>
            </a:pPr>
            <a:r>
              <a:rPr lang="en-US" altLang="en-US" dirty="0">
                <a:latin typeface="+mj-lt"/>
              </a:rPr>
              <a:t>Messages are eventually delivered. </a:t>
            </a:r>
          </a:p>
          <a:p>
            <a:pPr>
              <a:lnSpc>
                <a:spcPct val="110000"/>
              </a:lnSpc>
              <a:spcBef>
                <a:spcPts val="200"/>
              </a:spcBef>
              <a:spcAft>
                <a:spcPts val="200"/>
              </a:spcAft>
            </a:pPr>
            <a:r>
              <a:rPr lang="en-US" altLang="en-US" dirty="0">
                <a:latin typeface="+mj-lt"/>
              </a:rPr>
              <a:t>Process groups (as with ISIS toolkit or MPI) satisfy these requirements.</a:t>
            </a:r>
          </a:p>
        </p:txBody>
      </p:sp>
    </p:spTree>
    <p:extLst>
      <p:ext uri="{BB962C8B-B14F-4D97-AF65-F5344CB8AC3E}">
        <p14:creationId xmlns:p14="http://schemas.microsoft.com/office/powerpoint/2010/main" val="1324448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Election Algorithms</a:t>
            </a:r>
          </a:p>
        </p:txBody>
      </p:sp>
      <p:sp>
        <p:nvSpPr>
          <p:cNvPr id="28" name="Content Placeholder 2">
            <a:extLst>
              <a:ext uri="{FF2B5EF4-FFF2-40B4-BE49-F238E27FC236}">
                <a16:creationId xmlns:a16="http://schemas.microsoft.com/office/drawing/2014/main" id="{05FF24D1-5277-417B-BCE3-776DD62CA93A}"/>
              </a:ext>
            </a:extLst>
          </p:cNvPr>
          <p:cNvSpPr>
            <a:spLocks noGrp="1"/>
          </p:cNvSpPr>
          <p:nvPr>
            <p:ph idx="1"/>
          </p:nvPr>
        </p:nvSpPr>
        <p:spPr/>
        <p:txBody>
          <a:bodyPr>
            <a:normAutofit/>
          </a:bodyPr>
          <a:lstStyle/>
          <a:p>
            <a:pPr marL="457200" indent="-457200">
              <a:lnSpc>
                <a:spcPct val="110000"/>
              </a:lnSpc>
              <a:spcBef>
                <a:spcPts val="200"/>
              </a:spcBef>
              <a:spcAft>
                <a:spcPts val="200"/>
              </a:spcAft>
              <a:buFont typeface="+mj-lt"/>
              <a:buAutoNum type="arabicPeriod"/>
            </a:pPr>
            <a:r>
              <a:rPr lang="en-US" altLang="en-US" b="1" dirty="0">
                <a:solidFill>
                  <a:srgbClr val="1D6199"/>
                </a:solidFill>
                <a:latin typeface="+mj-lt"/>
              </a:rPr>
              <a:t>Bully Algorithm</a:t>
            </a:r>
          </a:p>
          <a:p>
            <a:pPr marL="457200" indent="-457200">
              <a:lnSpc>
                <a:spcPct val="110000"/>
              </a:lnSpc>
              <a:spcBef>
                <a:spcPts val="200"/>
              </a:spcBef>
              <a:spcAft>
                <a:spcPts val="200"/>
              </a:spcAft>
              <a:buFont typeface="+mj-lt"/>
              <a:buAutoNum type="arabicPeriod"/>
            </a:pPr>
            <a:r>
              <a:rPr lang="en-US" altLang="en-US" b="1" dirty="0">
                <a:solidFill>
                  <a:srgbClr val="1D6199"/>
                </a:solidFill>
                <a:latin typeface="+mj-lt"/>
              </a:rPr>
              <a:t>Ring Algorithm</a:t>
            </a:r>
          </a:p>
          <a:p>
            <a:pPr>
              <a:lnSpc>
                <a:spcPct val="100000"/>
              </a:lnSpc>
              <a:spcBef>
                <a:spcPts val="300"/>
              </a:spcBef>
              <a:spcAft>
                <a:spcPts val="300"/>
              </a:spcAft>
            </a:pPr>
            <a:endParaRPr lang="en-US" altLang="en-US" sz="2400" b="1" dirty="0">
              <a:latin typeface="+mj-lt"/>
              <a:ea typeface="MS PGothic" panose="020B0600070205080204" pitchFamily="34" charset="-128"/>
            </a:endParaRPr>
          </a:p>
        </p:txBody>
      </p:sp>
    </p:spTree>
    <p:extLst>
      <p:ext uri="{BB962C8B-B14F-4D97-AF65-F5344CB8AC3E}">
        <p14:creationId xmlns:p14="http://schemas.microsoft.com/office/powerpoint/2010/main" val="31286598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Bully Algorithm</a:t>
            </a:r>
          </a:p>
        </p:txBody>
      </p:sp>
      <p:sp>
        <p:nvSpPr>
          <p:cNvPr id="28" name="Content Placeholder 2">
            <a:extLst>
              <a:ext uri="{FF2B5EF4-FFF2-40B4-BE49-F238E27FC236}">
                <a16:creationId xmlns:a16="http://schemas.microsoft.com/office/drawing/2014/main" id="{05FF24D1-5277-417B-BCE3-776DD62CA93A}"/>
              </a:ext>
            </a:extLst>
          </p:cNvPr>
          <p:cNvSpPr>
            <a:spLocks noGrp="1"/>
          </p:cNvSpPr>
          <p:nvPr>
            <p:ph idx="1"/>
          </p:nvPr>
        </p:nvSpPr>
        <p:spPr/>
        <p:txBody>
          <a:bodyPr>
            <a:noAutofit/>
          </a:bodyPr>
          <a:lstStyle/>
          <a:p>
            <a:pPr>
              <a:lnSpc>
                <a:spcPct val="110000"/>
              </a:lnSpc>
              <a:spcBef>
                <a:spcPts val="200"/>
              </a:spcBef>
              <a:spcAft>
                <a:spcPts val="200"/>
              </a:spcAft>
            </a:pPr>
            <a:r>
              <a:rPr lang="en-US" altLang="en-US" dirty="0">
                <a:latin typeface="+mj-lt"/>
              </a:rPr>
              <a:t>Bully algorithm specifies the process with the </a:t>
            </a:r>
            <a:r>
              <a:rPr lang="en-US" altLang="en-US" dirty="0">
                <a:solidFill>
                  <a:srgbClr val="1D6199"/>
                </a:solidFill>
                <a:latin typeface="+mj-lt"/>
              </a:rPr>
              <a:t>highest identifier </a:t>
            </a:r>
            <a:r>
              <a:rPr lang="en-US" altLang="en-US" dirty="0">
                <a:latin typeface="+mj-lt"/>
              </a:rPr>
              <a:t>will be the </a:t>
            </a:r>
            <a:r>
              <a:rPr lang="en-US" altLang="en-US" dirty="0">
                <a:solidFill>
                  <a:srgbClr val="1D6199"/>
                </a:solidFill>
                <a:latin typeface="+mj-lt"/>
              </a:rPr>
              <a:t>coordinator</a:t>
            </a:r>
            <a:r>
              <a:rPr lang="en-US" altLang="en-US" dirty="0">
                <a:latin typeface="+mj-lt"/>
              </a:rPr>
              <a:t> of the group. It works as follows:</a:t>
            </a:r>
          </a:p>
          <a:p>
            <a:pPr>
              <a:lnSpc>
                <a:spcPct val="110000"/>
              </a:lnSpc>
              <a:spcBef>
                <a:spcPts val="200"/>
              </a:spcBef>
              <a:spcAft>
                <a:spcPts val="200"/>
              </a:spcAft>
            </a:pPr>
            <a:r>
              <a:rPr lang="en-US" altLang="en-US" dirty="0">
                <a:latin typeface="+mj-lt"/>
              </a:rPr>
              <a:t>When a process p detects that the coordinator is not responding to requests, it initiates an election:</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p sends an </a:t>
            </a:r>
            <a:r>
              <a:rPr lang="en-US" altLang="en-US" sz="2400" dirty="0">
                <a:solidFill>
                  <a:srgbClr val="1D6199"/>
                </a:solidFill>
                <a:latin typeface="+mj-lt"/>
                <a:ea typeface="Arial" panose="020B0604020202020204" pitchFamily="34" charset="0"/>
              </a:rPr>
              <a:t>election message </a:t>
            </a:r>
            <a:r>
              <a:rPr lang="en-US" altLang="en-US" sz="2400" dirty="0">
                <a:latin typeface="+mj-lt"/>
                <a:ea typeface="Arial" panose="020B0604020202020204" pitchFamily="34" charset="0"/>
              </a:rPr>
              <a:t>to all processes with </a:t>
            </a:r>
            <a:r>
              <a:rPr lang="en-US" altLang="en-US" sz="2400" dirty="0">
                <a:solidFill>
                  <a:srgbClr val="1D6199"/>
                </a:solidFill>
                <a:latin typeface="+mj-lt"/>
                <a:ea typeface="Arial" panose="020B0604020202020204" pitchFamily="34" charset="0"/>
              </a:rPr>
              <a:t>higher numbers.</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If </a:t>
            </a:r>
            <a:r>
              <a:rPr lang="en-US" altLang="en-US" sz="2400" dirty="0">
                <a:solidFill>
                  <a:srgbClr val="1D6199"/>
                </a:solidFill>
                <a:latin typeface="+mj-lt"/>
                <a:ea typeface="Arial" panose="020B0604020202020204" pitchFamily="34" charset="0"/>
              </a:rPr>
              <a:t>nobody responds</a:t>
            </a:r>
            <a:r>
              <a:rPr lang="en-US" altLang="en-US" sz="2400" dirty="0">
                <a:latin typeface="+mj-lt"/>
                <a:ea typeface="Arial" panose="020B0604020202020204" pitchFamily="34" charset="0"/>
              </a:rPr>
              <a:t>, then p </a:t>
            </a:r>
            <a:r>
              <a:rPr lang="en-US" altLang="en-US" sz="2400" dirty="0">
                <a:solidFill>
                  <a:srgbClr val="1D6199"/>
                </a:solidFill>
                <a:latin typeface="+mj-lt"/>
                <a:ea typeface="Arial" panose="020B0604020202020204" pitchFamily="34" charset="0"/>
              </a:rPr>
              <a:t>wins and takes over</a:t>
            </a:r>
            <a:r>
              <a:rPr lang="en-US" altLang="en-US" sz="2400" dirty="0">
                <a:latin typeface="+mj-lt"/>
                <a:ea typeface="Arial" panose="020B0604020202020204" pitchFamily="34" charset="0"/>
              </a:rPr>
              <a:t>.</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If </a:t>
            </a:r>
            <a:r>
              <a:rPr lang="en-US" altLang="en-US" sz="2400" dirty="0">
                <a:solidFill>
                  <a:srgbClr val="1D6199"/>
                </a:solidFill>
                <a:latin typeface="+mj-lt"/>
                <a:ea typeface="Arial" panose="020B0604020202020204" pitchFamily="34" charset="0"/>
              </a:rPr>
              <a:t>one</a:t>
            </a:r>
            <a:r>
              <a:rPr lang="en-US" altLang="en-US" sz="2400" dirty="0">
                <a:latin typeface="+mj-lt"/>
                <a:ea typeface="Arial" panose="020B0604020202020204" pitchFamily="34" charset="0"/>
              </a:rPr>
              <a:t> of the processes </a:t>
            </a:r>
            <a:r>
              <a:rPr lang="en-US" altLang="en-US" sz="2400" dirty="0">
                <a:solidFill>
                  <a:srgbClr val="1D6199"/>
                </a:solidFill>
                <a:latin typeface="+mj-lt"/>
                <a:ea typeface="Arial" panose="020B0604020202020204" pitchFamily="34" charset="0"/>
              </a:rPr>
              <a:t>answers</a:t>
            </a:r>
            <a:r>
              <a:rPr lang="en-US" altLang="en-US" sz="2400" dirty="0">
                <a:latin typeface="+mj-lt"/>
                <a:ea typeface="Arial" panose="020B0604020202020204" pitchFamily="34" charset="0"/>
              </a:rPr>
              <a:t>, then p’s </a:t>
            </a:r>
            <a:r>
              <a:rPr lang="en-US" altLang="en-US" sz="2400" dirty="0">
                <a:solidFill>
                  <a:srgbClr val="1D6199"/>
                </a:solidFill>
                <a:latin typeface="+mj-lt"/>
                <a:ea typeface="Arial" panose="020B0604020202020204" pitchFamily="34" charset="0"/>
              </a:rPr>
              <a:t>job is done</a:t>
            </a:r>
            <a:r>
              <a:rPr lang="en-US" altLang="en-US" sz="2400" dirty="0">
                <a:latin typeface="+mj-lt"/>
                <a:ea typeface="Arial" panose="020B0604020202020204" pitchFamily="34" charset="0"/>
              </a:rPr>
              <a:t>.</a:t>
            </a:r>
          </a:p>
          <a:p>
            <a:pPr>
              <a:lnSpc>
                <a:spcPct val="110000"/>
              </a:lnSpc>
              <a:spcBef>
                <a:spcPts val="200"/>
              </a:spcBef>
              <a:spcAft>
                <a:spcPts val="200"/>
              </a:spcAft>
            </a:pPr>
            <a:r>
              <a:rPr lang="en-US" altLang="en-US" dirty="0">
                <a:latin typeface="+mj-lt"/>
              </a:rPr>
              <a:t>If a process receives an election message from a lower-numbered process at any time, it:</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sends an </a:t>
            </a:r>
            <a:r>
              <a:rPr lang="en-US" altLang="en-US" sz="2400" dirty="0">
                <a:solidFill>
                  <a:srgbClr val="1D6199"/>
                </a:solidFill>
                <a:latin typeface="+mj-lt"/>
                <a:ea typeface="Arial" panose="020B0604020202020204" pitchFamily="34" charset="0"/>
              </a:rPr>
              <a:t>OK</a:t>
            </a:r>
            <a:r>
              <a:rPr lang="en-US" altLang="en-US" sz="2400" dirty="0">
                <a:latin typeface="+mj-lt"/>
                <a:ea typeface="Arial" panose="020B0604020202020204" pitchFamily="34" charset="0"/>
              </a:rPr>
              <a:t> message back.</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holds an </a:t>
            </a:r>
            <a:r>
              <a:rPr lang="en-US" altLang="en-US" sz="2400" dirty="0">
                <a:solidFill>
                  <a:srgbClr val="1D6199"/>
                </a:solidFill>
                <a:latin typeface="+mj-lt"/>
                <a:ea typeface="Arial" panose="020B0604020202020204" pitchFamily="34" charset="0"/>
              </a:rPr>
              <a:t>election </a:t>
            </a:r>
            <a:r>
              <a:rPr lang="en-US" altLang="en-US" sz="2400" dirty="0">
                <a:latin typeface="+mj-lt"/>
                <a:ea typeface="Arial" panose="020B0604020202020204" pitchFamily="34" charset="0"/>
              </a:rPr>
              <a:t>(unless its already holding one).</a:t>
            </a:r>
          </a:p>
          <a:p>
            <a:pPr>
              <a:lnSpc>
                <a:spcPct val="110000"/>
              </a:lnSpc>
              <a:spcBef>
                <a:spcPts val="200"/>
              </a:spcBef>
              <a:spcAft>
                <a:spcPts val="200"/>
              </a:spcAft>
            </a:pPr>
            <a:r>
              <a:rPr lang="en-US" altLang="en-US" dirty="0">
                <a:latin typeface="+mj-lt"/>
              </a:rPr>
              <a:t>A process announces its victory by sending all processes a message telling them that it is the new coordinator.</a:t>
            </a:r>
          </a:p>
          <a:p>
            <a:pPr>
              <a:lnSpc>
                <a:spcPct val="110000"/>
              </a:lnSpc>
              <a:spcBef>
                <a:spcPts val="200"/>
              </a:spcBef>
              <a:spcAft>
                <a:spcPts val="200"/>
              </a:spcAft>
            </a:pPr>
            <a:r>
              <a:rPr lang="en-US" altLang="en-US" dirty="0">
                <a:latin typeface="+mj-lt"/>
              </a:rPr>
              <a:t>If a process that has been down recovers, it holds an election.</a:t>
            </a:r>
          </a:p>
        </p:txBody>
      </p:sp>
    </p:spTree>
    <p:extLst>
      <p:ext uri="{BB962C8B-B14F-4D97-AF65-F5344CB8AC3E}">
        <p14:creationId xmlns:p14="http://schemas.microsoft.com/office/powerpoint/2010/main" val="639448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Bully Algorithm</a:t>
            </a:r>
          </a:p>
        </p:txBody>
      </p:sp>
      <p:sp>
        <p:nvSpPr>
          <p:cNvPr id="66" name="Content Placeholder 2">
            <a:extLst>
              <a:ext uri="{FF2B5EF4-FFF2-40B4-BE49-F238E27FC236}">
                <a16:creationId xmlns:a16="http://schemas.microsoft.com/office/drawing/2014/main" id="{D322D1FD-B3C2-4630-8F98-C9B51CBFF9EB}"/>
              </a:ext>
            </a:extLst>
          </p:cNvPr>
          <p:cNvSpPr>
            <a:spLocks noGrp="1"/>
          </p:cNvSpPr>
          <p:nvPr>
            <p:ph idx="1"/>
          </p:nvPr>
        </p:nvSpPr>
        <p:spPr>
          <a:xfrm>
            <a:off x="0" y="711201"/>
            <a:ext cx="12192000" cy="1981392"/>
          </a:xfrm>
        </p:spPr>
        <p:txBody>
          <a:bodyPr>
            <a:normAutofit/>
          </a:bodyPr>
          <a:lstStyle/>
          <a:p>
            <a:r>
              <a:rPr lang="en-US" altLang="en-US" sz="2400" dirty="0">
                <a:latin typeface="+mj-lt"/>
              </a:rPr>
              <a:t>A process (say, </a:t>
            </a:r>
            <a:r>
              <a:rPr lang="en-US" altLang="en-US" sz="2400" b="1" dirty="0">
                <a:latin typeface="+mj-lt"/>
                <a:cs typeface="Courier New" panose="02070309020205020404" pitchFamily="49" charset="0"/>
              </a:rPr>
              <a:t>P</a:t>
            </a:r>
            <a:r>
              <a:rPr lang="en-US" altLang="en-US" sz="2400" b="1" baseline="-25000" dirty="0">
                <a:latin typeface="+mj-lt"/>
                <a:cs typeface="Courier New" panose="02070309020205020404" pitchFamily="49" charset="0"/>
              </a:rPr>
              <a:t>i</a:t>
            </a:r>
            <a:r>
              <a:rPr lang="en-US" altLang="en-US" sz="2400" dirty="0">
                <a:latin typeface="+mj-lt"/>
              </a:rPr>
              <a:t>) initiates the election algorithm when it notices that the existing coordinator is not responding</a:t>
            </a:r>
          </a:p>
          <a:p>
            <a:r>
              <a:rPr lang="en-US" altLang="en-US" sz="2400" dirty="0">
                <a:latin typeface="+mj-lt"/>
              </a:rPr>
              <a:t>Process </a:t>
            </a:r>
            <a:r>
              <a:rPr lang="en-US" altLang="en-US" sz="2400" b="1" dirty="0">
                <a:latin typeface="+mj-lt"/>
                <a:cs typeface="Courier New" panose="02070309020205020404" pitchFamily="49" charset="0"/>
              </a:rPr>
              <a:t>P</a:t>
            </a:r>
            <a:r>
              <a:rPr lang="en-US" altLang="en-US" sz="2400" b="1" baseline="-25000" dirty="0">
                <a:latin typeface="+mj-lt"/>
                <a:cs typeface="Courier New" panose="02070309020205020404" pitchFamily="49" charset="0"/>
              </a:rPr>
              <a:t>i</a:t>
            </a:r>
            <a:r>
              <a:rPr lang="en-US" altLang="en-US" sz="2400" dirty="0">
                <a:latin typeface="+mj-lt"/>
              </a:rPr>
              <a:t> calls for an election as follows:</a:t>
            </a:r>
          </a:p>
        </p:txBody>
      </p:sp>
      <p:graphicFrame>
        <p:nvGraphicFramePr>
          <p:cNvPr id="67" name="Diagram 66">
            <a:extLst>
              <a:ext uri="{FF2B5EF4-FFF2-40B4-BE49-F238E27FC236}">
                <a16:creationId xmlns:a16="http://schemas.microsoft.com/office/drawing/2014/main" id="{A815A601-0CAF-47A5-9F93-F10C81D198D1}"/>
              </a:ext>
            </a:extLst>
          </p:cNvPr>
          <p:cNvGraphicFramePr/>
          <p:nvPr/>
        </p:nvGraphicFramePr>
        <p:xfrm>
          <a:off x="6915156" y="1978849"/>
          <a:ext cx="4414838" cy="36506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8" name="Rectangle 67">
            <a:extLst>
              <a:ext uri="{FF2B5EF4-FFF2-40B4-BE49-F238E27FC236}">
                <a16:creationId xmlns:a16="http://schemas.microsoft.com/office/drawing/2014/main" id="{F4AAEC48-6852-46A0-9AC4-E0E2F4F45F9B}"/>
              </a:ext>
            </a:extLst>
          </p:cNvPr>
          <p:cNvSpPr/>
          <p:nvPr/>
        </p:nvSpPr>
        <p:spPr>
          <a:xfrm>
            <a:off x="8744206" y="5487670"/>
            <a:ext cx="790089" cy="830997"/>
          </a:xfrm>
          <a:prstGeom prst="rect">
            <a:avLst/>
          </a:prstGeom>
          <a:noFill/>
        </p:spPr>
        <p:txBody>
          <a:bodyPr wrap="squar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eaLnBrk="1" hangingPunct="1">
              <a:defRPr/>
            </a:pPr>
            <a:r>
              <a:rPr lang="en-US" sz="4800" b="1" dirty="0">
                <a:ln w="11430"/>
                <a:solidFill>
                  <a:srgbClr val="FF0000"/>
                </a:solidFill>
                <a:effectLst>
                  <a:outerShdw blurRad="50800" dist="39000" dir="5460000" algn="tl">
                    <a:srgbClr val="000000">
                      <a:alpha val="38000"/>
                    </a:srgbClr>
                  </a:outerShdw>
                </a:effectLst>
                <a:latin typeface="+mj-lt"/>
                <a:cs typeface="Arial" charset="0"/>
              </a:rPr>
              <a:t>X</a:t>
            </a:r>
          </a:p>
        </p:txBody>
      </p:sp>
      <p:cxnSp>
        <p:nvCxnSpPr>
          <p:cNvPr id="69" name="Straight Arrow Connector 68">
            <a:extLst>
              <a:ext uri="{FF2B5EF4-FFF2-40B4-BE49-F238E27FC236}">
                <a16:creationId xmlns:a16="http://schemas.microsoft.com/office/drawing/2014/main" id="{155D5103-F328-45A9-8D84-2BF8D9F420AB}"/>
              </a:ext>
            </a:extLst>
          </p:cNvPr>
          <p:cNvCxnSpPr/>
          <p:nvPr/>
        </p:nvCxnSpPr>
        <p:spPr>
          <a:xfrm>
            <a:off x="8057123" y="3924110"/>
            <a:ext cx="962523" cy="1047177"/>
          </a:xfrm>
          <a:prstGeom prst="straightConnector1">
            <a:avLst/>
          </a:prstGeom>
          <a:ln w="28575">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70" name="Content Placeholder 2">
            <a:extLst>
              <a:ext uri="{FF2B5EF4-FFF2-40B4-BE49-F238E27FC236}">
                <a16:creationId xmlns:a16="http://schemas.microsoft.com/office/drawing/2014/main" id="{3365BC2F-7E08-4B7D-8B68-AB4414856D6C}"/>
              </a:ext>
            </a:extLst>
          </p:cNvPr>
          <p:cNvSpPr txBox="1">
            <a:spLocks/>
          </p:cNvSpPr>
          <p:nvPr/>
        </p:nvSpPr>
        <p:spPr bwMode="auto">
          <a:xfrm>
            <a:off x="199839" y="2169699"/>
            <a:ext cx="6600477" cy="3733800"/>
          </a:xfrm>
          <a:prstGeom prst="rect">
            <a:avLst/>
          </a:prstGeom>
          <a:noFill/>
          <a:ln w="9525">
            <a:noFill/>
            <a:miter lim="800000"/>
            <a:headEnd/>
            <a:tailEnd/>
          </a:ln>
        </p:spPr>
        <p:txBody>
          <a:bodyPr/>
          <a:lstStyle/>
          <a:p>
            <a:pPr marL="457200" indent="-457200">
              <a:spcBef>
                <a:spcPct val="20000"/>
              </a:spcBef>
              <a:buClr>
                <a:srgbClr val="1D6199"/>
              </a:buClr>
              <a:buFont typeface="+mj-lt"/>
              <a:buAutoNum type="arabicPeriod"/>
              <a:defRPr/>
            </a:pPr>
            <a:r>
              <a:rPr lang="en-US" sz="2400" b="1" dirty="0">
                <a:latin typeface="+mj-lt"/>
                <a:cs typeface="Courier New" pitchFamily="49" charset="0"/>
              </a:rPr>
              <a:t>P</a:t>
            </a:r>
            <a:r>
              <a:rPr lang="en-US" sz="2400" b="1" baseline="-25000" dirty="0">
                <a:latin typeface="+mj-lt"/>
                <a:cs typeface="Courier New" pitchFamily="49" charset="0"/>
              </a:rPr>
              <a:t>i</a:t>
            </a:r>
            <a:r>
              <a:rPr lang="en-US" sz="2400" dirty="0">
                <a:latin typeface="+mj-lt"/>
                <a:cs typeface="Arial" charset="0"/>
              </a:rPr>
              <a:t> sends an “</a:t>
            </a:r>
            <a:r>
              <a:rPr lang="en-US" sz="2400" b="1" dirty="0">
                <a:solidFill>
                  <a:srgbClr val="1D6199"/>
                </a:solidFill>
                <a:latin typeface="+mj-lt"/>
                <a:cs typeface="Arial" charset="0"/>
              </a:rPr>
              <a:t>Election</a:t>
            </a:r>
            <a:r>
              <a:rPr lang="en-US" sz="2400" dirty="0">
                <a:latin typeface="+mj-lt"/>
                <a:cs typeface="Arial" charset="0"/>
              </a:rPr>
              <a:t>” message to all processes with higher process IDs</a:t>
            </a:r>
          </a:p>
          <a:p>
            <a:pPr marL="457200" indent="-457200">
              <a:spcBef>
                <a:spcPct val="20000"/>
              </a:spcBef>
              <a:buClr>
                <a:srgbClr val="1D6199"/>
              </a:buClr>
              <a:buFont typeface="+mj-lt"/>
              <a:buAutoNum type="arabicPeriod"/>
              <a:defRPr/>
            </a:pPr>
            <a:r>
              <a:rPr lang="en-US" sz="2400" dirty="0">
                <a:latin typeface="+mj-lt"/>
                <a:cs typeface="Arial" charset="0"/>
              </a:rPr>
              <a:t>When process </a:t>
            </a:r>
            <a:r>
              <a:rPr lang="en-US" sz="2400" b="1" dirty="0">
                <a:latin typeface="+mj-lt"/>
                <a:cs typeface="Courier New" pitchFamily="49" charset="0"/>
              </a:rPr>
              <a:t>P</a:t>
            </a:r>
            <a:r>
              <a:rPr lang="en-US" sz="2400" b="1" baseline="-25000" dirty="0">
                <a:latin typeface="+mj-lt"/>
                <a:cs typeface="Courier New" pitchFamily="49" charset="0"/>
              </a:rPr>
              <a:t>j</a:t>
            </a:r>
            <a:r>
              <a:rPr lang="en-US" sz="2400" dirty="0">
                <a:latin typeface="+mj-lt"/>
                <a:cs typeface="Arial" charset="0"/>
              </a:rPr>
              <a:t> with </a:t>
            </a:r>
            <a:r>
              <a:rPr lang="en-US" sz="2400" b="1" dirty="0">
                <a:latin typeface="+mj-lt"/>
                <a:cs typeface="Courier New" pitchFamily="49" charset="0"/>
              </a:rPr>
              <a:t>j&gt;</a:t>
            </a:r>
            <a:r>
              <a:rPr lang="en-US" sz="2400" b="1" dirty="0" err="1">
                <a:latin typeface="+mj-lt"/>
                <a:cs typeface="Courier New" pitchFamily="49" charset="0"/>
              </a:rPr>
              <a:t>i</a:t>
            </a:r>
            <a:r>
              <a:rPr lang="en-US" sz="2400" dirty="0">
                <a:latin typeface="+mj-lt"/>
                <a:cs typeface="Arial" charset="0"/>
              </a:rPr>
              <a:t> receives the message, it responds with a “</a:t>
            </a:r>
            <a:r>
              <a:rPr lang="en-US" sz="2400" b="1" dirty="0">
                <a:solidFill>
                  <a:srgbClr val="1D6199"/>
                </a:solidFill>
                <a:latin typeface="+mj-lt"/>
                <a:cs typeface="Arial" charset="0"/>
              </a:rPr>
              <a:t>Take-over</a:t>
            </a:r>
            <a:r>
              <a:rPr lang="en-US" sz="2400" dirty="0">
                <a:latin typeface="+mj-lt"/>
                <a:cs typeface="Arial" charset="0"/>
              </a:rPr>
              <a:t>” message. </a:t>
            </a:r>
            <a:r>
              <a:rPr lang="en-US" sz="2400" b="1" dirty="0">
                <a:latin typeface="+mj-lt"/>
                <a:cs typeface="Courier New" pitchFamily="49" charset="0"/>
              </a:rPr>
              <a:t>P</a:t>
            </a:r>
            <a:r>
              <a:rPr lang="en-US" sz="2400" b="1" baseline="-25000" dirty="0">
                <a:latin typeface="+mj-lt"/>
                <a:cs typeface="Courier New" pitchFamily="49" charset="0"/>
              </a:rPr>
              <a:t>i</a:t>
            </a:r>
            <a:r>
              <a:rPr lang="en-US" sz="2400" dirty="0">
                <a:latin typeface="+mj-lt"/>
                <a:cs typeface="Arial" charset="0"/>
              </a:rPr>
              <a:t> no more contests in the election</a:t>
            </a:r>
          </a:p>
          <a:p>
            <a:pPr marL="914400" lvl="1" indent="-457200">
              <a:spcBef>
                <a:spcPct val="20000"/>
              </a:spcBef>
              <a:buClr>
                <a:srgbClr val="1D6199"/>
              </a:buClr>
              <a:buFont typeface="Wingdings" panose="05000000000000000000" pitchFamily="2" charset="2"/>
              <a:buChar char="§"/>
              <a:defRPr/>
            </a:pPr>
            <a:r>
              <a:rPr lang="en-US" sz="2000" dirty="0">
                <a:latin typeface="+mj-lt"/>
                <a:ea typeface="Arial" panose="020B0604020202020204" pitchFamily="34" charset="0"/>
              </a:rPr>
              <a:t>Process </a:t>
            </a:r>
            <a:r>
              <a:rPr lang="en-US" sz="2000" b="1" dirty="0">
                <a:latin typeface="+mj-lt"/>
                <a:ea typeface="Arial" panose="020B0604020202020204" pitchFamily="34" charset="0"/>
              </a:rPr>
              <a:t>P</a:t>
            </a:r>
            <a:r>
              <a:rPr lang="en-US" sz="2000" b="1" baseline="-25000" dirty="0">
                <a:latin typeface="+mj-lt"/>
                <a:ea typeface="Arial" panose="020B0604020202020204" pitchFamily="34" charset="0"/>
              </a:rPr>
              <a:t>j</a:t>
            </a:r>
            <a:r>
              <a:rPr lang="en-US" sz="2000" dirty="0">
                <a:latin typeface="+mj-lt"/>
                <a:ea typeface="Arial" panose="020B0604020202020204" pitchFamily="34" charset="0"/>
              </a:rPr>
              <a:t> re-initiates another call for election. Steps 1 and 2 continue</a:t>
            </a:r>
          </a:p>
          <a:p>
            <a:pPr marL="457200" indent="-457200">
              <a:spcBef>
                <a:spcPct val="20000"/>
              </a:spcBef>
              <a:buClr>
                <a:srgbClr val="1D6199"/>
              </a:buClr>
              <a:buFont typeface="+mj-lt"/>
              <a:buAutoNum type="arabicPeriod"/>
              <a:defRPr/>
            </a:pPr>
            <a:r>
              <a:rPr lang="en-US" sz="2400" dirty="0">
                <a:latin typeface="+mj-lt"/>
                <a:cs typeface="Arial" charset="0"/>
              </a:rPr>
              <a:t>If no one responds, </a:t>
            </a:r>
            <a:r>
              <a:rPr lang="en-US" sz="2400" b="1" dirty="0">
                <a:latin typeface="+mj-lt"/>
                <a:cs typeface="Courier New" pitchFamily="49" charset="0"/>
              </a:rPr>
              <a:t>P</a:t>
            </a:r>
            <a:r>
              <a:rPr lang="en-US" sz="2400" b="1" baseline="-25000" dirty="0">
                <a:latin typeface="+mj-lt"/>
                <a:cs typeface="Courier New" pitchFamily="49" charset="0"/>
              </a:rPr>
              <a:t>i</a:t>
            </a:r>
            <a:r>
              <a:rPr lang="en-US" sz="2400" dirty="0">
                <a:latin typeface="+mj-lt"/>
                <a:cs typeface="Arial" charset="0"/>
              </a:rPr>
              <a:t> wins the election. </a:t>
            </a:r>
            <a:r>
              <a:rPr lang="en-US" sz="2400" b="1" dirty="0">
                <a:latin typeface="+mj-lt"/>
                <a:cs typeface="Courier New" pitchFamily="49" charset="0"/>
              </a:rPr>
              <a:t>P</a:t>
            </a:r>
            <a:r>
              <a:rPr lang="en-US" sz="2400" b="1" baseline="-25000" dirty="0">
                <a:latin typeface="+mj-lt"/>
                <a:cs typeface="Courier New" pitchFamily="49" charset="0"/>
              </a:rPr>
              <a:t>i </a:t>
            </a:r>
            <a:r>
              <a:rPr lang="en-US" sz="2400" dirty="0">
                <a:latin typeface="+mj-lt"/>
                <a:cs typeface="Arial" charset="0"/>
              </a:rPr>
              <a:t>sends “</a:t>
            </a:r>
            <a:r>
              <a:rPr lang="en-US" sz="2400" b="1" dirty="0">
                <a:solidFill>
                  <a:srgbClr val="1D6199"/>
                </a:solidFill>
                <a:latin typeface="+mj-lt"/>
                <a:cs typeface="Arial" charset="0"/>
              </a:rPr>
              <a:t>Coordinator</a:t>
            </a:r>
            <a:r>
              <a:rPr lang="en-US" sz="2400" dirty="0">
                <a:latin typeface="+mj-lt"/>
                <a:cs typeface="Arial" charset="0"/>
              </a:rPr>
              <a:t>” message to every process</a:t>
            </a:r>
          </a:p>
          <a:p>
            <a:pPr marL="2286000" lvl="4" indent="-457200">
              <a:spcBef>
                <a:spcPct val="20000"/>
              </a:spcBef>
              <a:buClr>
                <a:srgbClr val="1D6199"/>
              </a:buClr>
              <a:buFont typeface="+mj-lt"/>
              <a:buAutoNum type="arabicPeriod"/>
              <a:defRPr/>
            </a:pPr>
            <a:endParaRPr lang="en-US" sz="1100" dirty="0">
              <a:latin typeface="+mj-lt"/>
              <a:cs typeface="Arial" charset="0"/>
            </a:endParaRPr>
          </a:p>
          <a:p>
            <a:pPr marL="971550" lvl="1" indent="-514350">
              <a:spcBef>
                <a:spcPct val="20000"/>
              </a:spcBef>
              <a:buClr>
                <a:srgbClr val="1D6199"/>
              </a:buClr>
              <a:buFont typeface="+mj-lt"/>
              <a:buAutoNum type="arabicPeriod"/>
              <a:defRPr/>
            </a:pPr>
            <a:endParaRPr lang="en-US" sz="2000" dirty="0">
              <a:latin typeface="+mj-lt"/>
              <a:cs typeface="Arial" charset="0"/>
            </a:endParaRPr>
          </a:p>
        </p:txBody>
      </p:sp>
      <p:cxnSp>
        <p:nvCxnSpPr>
          <p:cNvPr id="71" name="Straight Arrow Connector 70">
            <a:extLst>
              <a:ext uri="{FF2B5EF4-FFF2-40B4-BE49-F238E27FC236}">
                <a16:creationId xmlns:a16="http://schemas.microsoft.com/office/drawing/2014/main" id="{6BA081B9-8D90-4700-8A5D-00738476C721}"/>
              </a:ext>
            </a:extLst>
          </p:cNvPr>
          <p:cNvCxnSpPr/>
          <p:nvPr/>
        </p:nvCxnSpPr>
        <p:spPr>
          <a:xfrm flipV="1">
            <a:off x="8090494" y="3866798"/>
            <a:ext cx="2111674" cy="22438"/>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FCC2A199-613B-4C53-B8F0-E457FB548D99}"/>
              </a:ext>
            </a:extLst>
          </p:cNvPr>
          <p:cNvCxnSpPr/>
          <p:nvPr/>
        </p:nvCxnSpPr>
        <p:spPr>
          <a:xfrm flipV="1">
            <a:off x="8057123" y="3032517"/>
            <a:ext cx="1786888" cy="814444"/>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73" name="Rectangle 72">
            <a:extLst>
              <a:ext uri="{FF2B5EF4-FFF2-40B4-BE49-F238E27FC236}">
                <a16:creationId xmlns:a16="http://schemas.microsoft.com/office/drawing/2014/main" id="{9E62647A-6FF6-40A9-9F12-0714EC1A529D}"/>
              </a:ext>
            </a:extLst>
          </p:cNvPr>
          <p:cNvSpPr/>
          <p:nvPr/>
        </p:nvSpPr>
        <p:spPr>
          <a:xfrm rot="20013508">
            <a:off x="8498381" y="3173921"/>
            <a:ext cx="770381" cy="259131"/>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b="1" dirty="0">
                <a:solidFill>
                  <a:schemeClr val="bg1"/>
                </a:solidFill>
                <a:latin typeface="+mj-lt"/>
              </a:rPr>
              <a:t>Election</a:t>
            </a:r>
          </a:p>
        </p:txBody>
      </p:sp>
      <p:sp>
        <p:nvSpPr>
          <p:cNvPr id="74" name="Rectangle 73">
            <a:extLst>
              <a:ext uri="{FF2B5EF4-FFF2-40B4-BE49-F238E27FC236}">
                <a16:creationId xmlns:a16="http://schemas.microsoft.com/office/drawing/2014/main" id="{3DDB952B-02A6-4B24-87A9-34258C0EC01A}"/>
              </a:ext>
            </a:extLst>
          </p:cNvPr>
          <p:cNvSpPr/>
          <p:nvPr/>
        </p:nvSpPr>
        <p:spPr>
          <a:xfrm>
            <a:off x="8385512" y="3649942"/>
            <a:ext cx="770381" cy="259131"/>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b="1" dirty="0">
                <a:solidFill>
                  <a:schemeClr val="bg1"/>
                </a:solidFill>
                <a:latin typeface="+mj-lt"/>
              </a:rPr>
              <a:t>Election</a:t>
            </a:r>
          </a:p>
        </p:txBody>
      </p:sp>
      <p:cxnSp>
        <p:nvCxnSpPr>
          <p:cNvPr id="75" name="Straight Arrow Connector 74">
            <a:extLst>
              <a:ext uri="{FF2B5EF4-FFF2-40B4-BE49-F238E27FC236}">
                <a16:creationId xmlns:a16="http://schemas.microsoft.com/office/drawing/2014/main" id="{C3DD1526-5062-4779-B4A4-201D02276FFD}"/>
              </a:ext>
            </a:extLst>
          </p:cNvPr>
          <p:cNvCxnSpPr/>
          <p:nvPr/>
        </p:nvCxnSpPr>
        <p:spPr>
          <a:xfrm>
            <a:off x="7998208" y="3976697"/>
            <a:ext cx="906598" cy="1029464"/>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CACABCB1-EEA8-41E7-93C1-C351D93B2DCF}"/>
              </a:ext>
            </a:extLst>
          </p:cNvPr>
          <p:cNvSpPr/>
          <p:nvPr/>
        </p:nvSpPr>
        <p:spPr>
          <a:xfrm rot="2751792">
            <a:off x="8171264" y="4316683"/>
            <a:ext cx="833461" cy="279007"/>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b="1" dirty="0">
                <a:solidFill>
                  <a:schemeClr val="bg1"/>
                </a:solidFill>
                <a:latin typeface="+mj-lt"/>
              </a:rPr>
              <a:t>Election</a:t>
            </a:r>
          </a:p>
        </p:txBody>
      </p:sp>
      <p:cxnSp>
        <p:nvCxnSpPr>
          <p:cNvPr id="77" name="Straight Arrow Connector 76">
            <a:extLst>
              <a:ext uri="{FF2B5EF4-FFF2-40B4-BE49-F238E27FC236}">
                <a16:creationId xmlns:a16="http://schemas.microsoft.com/office/drawing/2014/main" id="{3670EE9C-772B-4CA9-99AA-CED2B5D47D29}"/>
              </a:ext>
            </a:extLst>
          </p:cNvPr>
          <p:cNvCxnSpPr/>
          <p:nvPr/>
        </p:nvCxnSpPr>
        <p:spPr>
          <a:xfrm flipH="1">
            <a:off x="8048535" y="3193180"/>
            <a:ext cx="1816058" cy="624233"/>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78" name="Rectangle 77">
            <a:extLst>
              <a:ext uri="{FF2B5EF4-FFF2-40B4-BE49-F238E27FC236}">
                <a16:creationId xmlns:a16="http://schemas.microsoft.com/office/drawing/2014/main" id="{35FAE37B-7870-4CBA-8B75-821C156D429D}"/>
              </a:ext>
            </a:extLst>
          </p:cNvPr>
          <p:cNvSpPr/>
          <p:nvPr/>
        </p:nvSpPr>
        <p:spPr>
          <a:xfrm rot="20013508">
            <a:off x="8354936" y="3112397"/>
            <a:ext cx="1007958" cy="283538"/>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b="1" dirty="0">
                <a:solidFill>
                  <a:schemeClr val="bg1"/>
                </a:solidFill>
                <a:latin typeface="+mj-lt"/>
              </a:rPr>
              <a:t>Take-Over</a:t>
            </a:r>
          </a:p>
        </p:txBody>
      </p:sp>
      <p:cxnSp>
        <p:nvCxnSpPr>
          <p:cNvPr id="79" name="Straight Arrow Connector 78">
            <a:extLst>
              <a:ext uri="{FF2B5EF4-FFF2-40B4-BE49-F238E27FC236}">
                <a16:creationId xmlns:a16="http://schemas.microsoft.com/office/drawing/2014/main" id="{3180093E-3E03-46AA-8EC5-37E7688C9F20}"/>
              </a:ext>
            </a:extLst>
          </p:cNvPr>
          <p:cNvCxnSpPr/>
          <p:nvPr/>
        </p:nvCxnSpPr>
        <p:spPr>
          <a:xfrm flipH="1" flipV="1">
            <a:off x="8090494" y="3885426"/>
            <a:ext cx="2149881" cy="45561"/>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C52A7209-7F26-478A-B3CE-DD32F15346AD}"/>
              </a:ext>
            </a:extLst>
          </p:cNvPr>
          <p:cNvSpPr/>
          <p:nvPr/>
        </p:nvSpPr>
        <p:spPr>
          <a:xfrm>
            <a:off x="8786627" y="3619142"/>
            <a:ext cx="1055932" cy="252119"/>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b="1" dirty="0">
                <a:solidFill>
                  <a:schemeClr val="bg1"/>
                </a:solidFill>
                <a:latin typeface="+mj-lt"/>
              </a:rPr>
              <a:t>Take-over</a:t>
            </a:r>
          </a:p>
        </p:txBody>
      </p:sp>
      <p:cxnSp>
        <p:nvCxnSpPr>
          <p:cNvPr id="81" name="Straight Arrow Connector 80">
            <a:extLst>
              <a:ext uri="{FF2B5EF4-FFF2-40B4-BE49-F238E27FC236}">
                <a16:creationId xmlns:a16="http://schemas.microsoft.com/office/drawing/2014/main" id="{F423C30F-4AB7-49EC-9BE9-D49A389CBAA1}"/>
              </a:ext>
            </a:extLst>
          </p:cNvPr>
          <p:cNvCxnSpPr/>
          <p:nvPr/>
        </p:nvCxnSpPr>
        <p:spPr>
          <a:xfrm>
            <a:off x="10295338" y="3080920"/>
            <a:ext cx="204570" cy="345316"/>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6D1EC2C0-5AF7-4CFE-9340-FF87FD9B1FE9}"/>
              </a:ext>
            </a:extLst>
          </p:cNvPr>
          <p:cNvSpPr/>
          <p:nvPr/>
        </p:nvSpPr>
        <p:spPr>
          <a:xfrm>
            <a:off x="10465940" y="3087089"/>
            <a:ext cx="770380" cy="259130"/>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b="1" dirty="0">
                <a:solidFill>
                  <a:schemeClr val="bg1"/>
                </a:solidFill>
                <a:latin typeface="+mj-lt"/>
              </a:rPr>
              <a:t>Election</a:t>
            </a:r>
          </a:p>
        </p:txBody>
      </p:sp>
      <p:cxnSp>
        <p:nvCxnSpPr>
          <p:cNvPr id="83" name="Straight Arrow Connector 82">
            <a:extLst>
              <a:ext uri="{FF2B5EF4-FFF2-40B4-BE49-F238E27FC236}">
                <a16:creationId xmlns:a16="http://schemas.microsoft.com/office/drawing/2014/main" id="{97299CBB-8DA4-46D4-897C-A3D11E0D3015}"/>
              </a:ext>
            </a:extLst>
          </p:cNvPr>
          <p:cNvCxnSpPr/>
          <p:nvPr/>
        </p:nvCxnSpPr>
        <p:spPr>
          <a:xfrm flipH="1">
            <a:off x="9142683" y="3125757"/>
            <a:ext cx="1029007" cy="1767117"/>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84" name="Rectangle 83">
            <a:extLst>
              <a:ext uri="{FF2B5EF4-FFF2-40B4-BE49-F238E27FC236}">
                <a16:creationId xmlns:a16="http://schemas.microsoft.com/office/drawing/2014/main" id="{77A78277-4F93-4CF8-8F99-066C18741688}"/>
              </a:ext>
            </a:extLst>
          </p:cNvPr>
          <p:cNvSpPr/>
          <p:nvPr/>
        </p:nvSpPr>
        <p:spPr>
          <a:xfrm rot="18019305">
            <a:off x="9068905" y="3826937"/>
            <a:ext cx="770381" cy="259130"/>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b="1" dirty="0">
                <a:solidFill>
                  <a:schemeClr val="bg1"/>
                </a:solidFill>
                <a:latin typeface="+mj-lt"/>
              </a:rPr>
              <a:t>Election</a:t>
            </a:r>
          </a:p>
        </p:txBody>
      </p:sp>
      <p:cxnSp>
        <p:nvCxnSpPr>
          <p:cNvPr id="85" name="Straight Arrow Connector 84">
            <a:extLst>
              <a:ext uri="{FF2B5EF4-FFF2-40B4-BE49-F238E27FC236}">
                <a16:creationId xmlns:a16="http://schemas.microsoft.com/office/drawing/2014/main" id="{29487515-1F81-49AE-9789-DC96FEE7C4B6}"/>
              </a:ext>
            </a:extLst>
          </p:cNvPr>
          <p:cNvCxnSpPr/>
          <p:nvPr/>
        </p:nvCxnSpPr>
        <p:spPr>
          <a:xfrm flipH="1">
            <a:off x="9246840" y="3954320"/>
            <a:ext cx="969740" cy="994298"/>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86" name="Rectangle 85">
            <a:extLst>
              <a:ext uri="{FF2B5EF4-FFF2-40B4-BE49-F238E27FC236}">
                <a16:creationId xmlns:a16="http://schemas.microsoft.com/office/drawing/2014/main" id="{8735FE11-B2C4-4F85-A084-856DC012432D}"/>
              </a:ext>
            </a:extLst>
          </p:cNvPr>
          <p:cNvSpPr/>
          <p:nvPr/>
        </p:nvSpPr>
        <p:spPr>
          <a:xfrm rot="19539664">
            <a:off x="9443550" y="4411448"/>
            <a:ext cx="770381" cy="259131"/>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b="1" dirty="0">
                <a:solidFill>
                  <a:schemeClr val="bg1"/>
                </a:solidFill>
                <a:latin typeface="+mj-lt"/>
              </a:rPr>
              <a:t>Election</a:t>
            </a:r>
          </a:p>
        </p:txBody>
      </p:sp>
      <p:sp>
        <p:nvSpPr>
          <p:cNvPr id="87" name="Rectangle 86">
            <a:extLst>
              <a:ext uri="{FF2B5EF4-FFF2-40B4-BE49-F238E27FC236}">
                <a16:creationId xmlns:a16="http://schemas.microsoft.com/office/drawing/2014/main" id="{121782BC-017F-45C8-8840-E55F8FCB5B3F}"/>
              </a:ext>
            </a:extLst>
          </p:cNvPr>
          <p:cNvSpPr/>
          <p:nvPr/>
        </p:nvSpPr>
        <p:spPr>
          <a:xfrm>
            <a:off x="10493922" y="3088056"/>
            <a:ext cx="975274" cy="245501"/>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b="1" dirty="0">
                <a:solidFill>
                  <a:schemeClr val="bg1"/>
                </a:solidFill>
                <a:latin typeface="+mj-lt"/>
              </a:rPr>
              <a:t>Take-Over</a:t>
            </a:r>
          </a:p>
        </p:txBody>
      </p:sp>
      <p:cxnSp>
        <p:nvCxnSpPr>
          <p:cNvPr id="88" name="Straight Arrow Connector 87">
            <a:extLst>
              <a:ext uri="{FF2B5EF4-FFF2-40B4-BE49-F238E27FC236}">
                <a16:creationId xmlns:a16="http://schemas.microsoft.com/office/drawing/2014/main" id="{A64D2AA6-6D49-45A7-B8AD-98CF06B5CD20}"/>
              </a:ext>
            </a:extLst>
          </p:cNvPr>
          <p:cNvCxnSpPr/>
          <p:nvPr/>
        </p:nvCxnSpPr>
        <p:spPr>
          <a:xfrm flipH="1" flipV="1">
            <a:off x="10224402" y="3125757"/>
            <a:ext cx="180409" cy="361822"/>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pic>
        <p:nvPicPr>
          <p:cNvPr id="89" name="Picture 13" descr="C:\Documents and Settings\dd\Local Settings\Temporary Internet Files\Content.IE5\0JAXMH8Z\MC900434713[1].wmf">
            <a:extLst>
              <a:ext uri="{FF2B5EF4-FFF2-40B4-BE49-F238E27FC236}">
                <a16:creationId xmlns:a16="http://schemas.microsoft.com/office/drawing/2014/main" id="{C4765B69-5EB8-4A9C-BD24-93161202C3EA}"/>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951671" y="3631423"/>
            <a:ext cx="517525"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0" name="Straight Arrow Connector 89">
            <a:extLst>
              <a:ext uri="{FF2B5EF4-FFF2-40B4-BE49-F238E27FC236}">
                <a16:creationId xmlns:a16="http://schemas.microsoft.com/office/drawing/2014/main" id="{87E10022-86C8-453B-B117-D69ADEE9BC02}"/>
              </a:ext>
            </a:extLst>
          </p:cNvPr>
          <p:cNvCxnSpPr/>
          <p:nvPr/>
        </p:nvCxnSpPr>
        <p:spPr>
          <a:xfrm flipH="1" flipV="1">
            <a:off x="9343492" y="2674699"/>
            <a:ext cx="828198" cy="1169606"/>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080A402A-C00D-41F2-AE2C-A33892D6FFD7}"/>
              </a:ext>
            </a:extLst>
          </p:cNvPr>
          <p:cNvCxnSpPr/>
          <p:nvPr/>
        </p:nvCxnSpPr>
        <p:spPr>
          <a:xfrm flipH="1" flipV="1">
            <a:off x="10308298" y="3056012"/>
            <a:ext cx="148912" cy="391027"/>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D3AA2138-112C-423F-83DD-E046E671BC4F}"/>
              </a:ext>
            </a:extLst>
          </p:cNvPr>
          <p:cNvCxnSpPr/>
          <p:nvPr/>
        </p:nvCxnSpPr>
        <p:spPr>
          <a:xfrm flipH="1" flipV="1">
            <a:off x="8361567" y="3032517"/>
            <a:ext cx="1878809" cy="898470"/>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72C41FF5-2D4B-4D6C-BE09-A7DB37B7EEE7}"/>
              </a:ext>
            </a:extLst>
          </p:cNvPr>
          <p:cNvCxnSpPr/>
          <p:nvPr/>
        </p:nvCxnSpPr>
        <p:spPr>
          <a:xfrm flipH="1" flipV="1">
            <a:off x="8012742" y="3839865"/>
            <a:ext cx="2227634" cy="91123"/>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DF76B9B7-0B7E-4EDE-99C4-6C1107B075DA}"/>
              </a:ext>
            </a:extLst>
          </p:cNvPr>
          <p:cNvCxnSpPr/>
          <p:nvPr/>
        </p:nvCxnSpPr>
        <p:spPr>
          <a:xfrm flipH="1">
            <a:off x="8361567" y="3930987"/>
            <a:ext cx="1878808" cy="715212"/>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FB6F2B96-93ED-4657-B384-0FA8CCD439CA}"/>
              </a:ext>
            </a:extLst>
          </p:cNvPr>
          <p:cNvCxnSpPr/>
          <p:nvPr/>
        </p:nvCxnSpPr>
        <p:spPr>
          <a:xfrm flipH="1">
            <a:off x="10240168" y="4163855"/>
            <a:ext cx="249820" cy="377158"/>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96" name="Rectangle 95">
            <a:extLst>
              <a:ext uri="{FF2B5EF4-FFF2-40B4-BE49-F238E27FC236}">
                <a16:creationId xmlns:a16="http://schemas.microsoft.com/office/drawing/2014/main" id="{96DD579F-0CD7-49D8-A264-C2C366073F50}"/>
              </a:ext>
            </a:extLst>
          </p:cNvPr>
          <p:cNvSpPr/>
          <p:nvPr/>
        </p:nvSpPr>
        <p:spPr>
          <a:xfrm>
            <a:off x="9117173" y="1446645"/>
            <a:ext cx="1598462" cy="386583"/>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2000" b="1" dirty="0">
                <a:solidFill>
                  <a:schemeClr val="bg1"/>
                </a:solidFill>
                <a:latin typeface="+mj-lt"/>
              </a:rPr>
              <a:t>Coordinator</a:t>
            </a:r>
          </a:p>
        </p:txBody>
      </p:sp>
    </p:spTree>
    <p:extLst>
      <p:ext uri="{BB962C8B-B14F-4D97-AF65-F5344CB8AC3E}">
        <p14:creationId xmlns:p14="http://schemas.microsoft.com/office/powerpoint/2010/main" val="4196722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
                                            <p:txEl>
                                              <p:pRg st="1" end="1"/>
                                            </p:txEl>
                                          </p:spTgt>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69"/>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0">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0">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0">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5"/>
                                        </p:tgtEl>
                                        <p:attrNameLst>
                                          <p:attrName>style.visibility</p:attrName>
                                        </p:attrNameLst>
                                      </p:cBhvr>
                                      <p:to>
                                        <p:strVal val="visible"/>
                                      </p:to>
                                    </p:set>
                                  </p:childTnLst>
                                </p:cTn>
                              </p:par>
                              <p:par>
                                <p:cTn id="41" presetID="1" presetClass="exit" presetSubtype="0" fill="hold" nodeType="withEffect">
                                  <p:stCondLst>
                                    <p:cond delay="0"/>
                                  </p:stCondLst>
                                  <p:childTnLst>
                                    <p:set>
                                      <p:cBhvr>
                                        <p:cTn id="42" dur="1" fill="hold">
                                          <p:stCondLst>
                                            <p:cond delay="0"/>
                                          </p:stCondLst>
                                        </p:cTn>
                                        <p:tgtEl>
                                          <p:spTgt spid="71"/>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72"/>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73"/>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74"/>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76"/>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75"/>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7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7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0"/>
                                        </p:tgtEl>
                                        <p:attrNameLst>
                                          <p:attrName>style.visibility</p:attrName>
                                        </p:attrNameLst>
                                      </p:cBhvr>
                                      <p:to>
                                        <p:strVal val="visible"/>
                                      </p:to>
                                    </p:set>
                                  </p:childTnLst>
                                </p:cTn>
                              </p:par>
                              <p:par>
                                <p:cTn id="61" presetID="1" presetClass="exit" presetSubtype="0" fill="hold" nodeType="withEffect">
                                  <p:stCondLst>
                                    <p:cond delay="0"/>
                                  </p:stCondLst>
                                  <p:childTnLst>
                                    <p:set>
                                      <p:cBhvr>
                                        <p:cTn id="62" dur="1" fill="hold">
                                          <p:stCondLst>
                                            <p:cond delay="0"/>
                                          </p:stCondLst>
                                        </p:cTn>
                                        <p:tgtEl>
                                          <p:spTgt spid="77"/>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78"/>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79"/>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80"/>
                                        </p:tgtEl>
                                        <p:attrNameLst>
                                          <p:attrName>style.visibility</p:attrName>
                                        </p:attrNameLst>
                                      </p:cBhvr>
                                      <p:to>
                                        <p:strVal val="hidden"/>
                                      </p:to>
                                    </p:set>
                                  </p:childTnLst>
                                </p:cTn>
                              </p:par>
                              <p:par>
                                <p:cTn id="69" presetID="1" presetClass="entr" presetSubtype="0" fill="hold" nodeType="withEffect">
                                  <p:stCondLst>
                                    <p:cond delay="0"/>
                                  </p:stCondLst>
                                  <p:childTnLst>
                                    <p:set>
                                      <p:cBhvr>
                                        <p:cTn id="70" dur="1" fill="hold">
                                          <p:stCondLst>
                                            <p:cond delay="0"/>
                                          </p:stCondLst>
                                        </p:cTn>
                                        <p:tgtEl>
                                          <p:spTgt spid="8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2"/>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8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8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8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9" presetClass="emph" presetSubtype="0" nodeType="clickEffect">
                                  <p:stCondLst>
                                    <p:cond delay="0"/>
                                  </p:stCondLst>
                                  <p:childTnLst>
                                    <p:set>
                                      <p:cBhvr rctx="PPT">
                                        <p:cTn id="86" dur="indefinite"/>
                                        <p:tgtEl>
                                          <p:spTgt spid="85"/>
                                        </p:tgtEl>
                                        <p:attrNameLst>
                                          <p:attrName>style.opacity</p:attrName>
                                        </p:attrNameLst>
                                      </p:cBhvr>
                                      <p:to>
                                        <p:strVal val="0.25"/>
                                      </p:to>
                                    </p:set>
                                    <p:animEffect filter="image" prLst="opacity: 0.25">
                                      <p:cBhvr rctx="IE">
                                        <p:cTn id="87" dur="indefinite"/>
                                        <p:tgtEl>
                                          <p:spTgt spid="85"/>
                                        </p:tgtEl>
                                      </p:cBhvr>
                                    </p:animEffect>
                                  </p:childTnLst>
                                </p:cTn>
                              </p:par>
                              <p:par>
                                <p:cTn id="88" presetID="9" presetClass="emph" presetSubtype="0" grpId="2" nodeType="withEffect">
                                  <p:stCondLst>
                                    <p:cond delay="0"/>
                                  </p:stCondLst>
                                  <p:childTnLst>
                                    <p:set>
                                      <p:cBhvr rctx="PPT">
                                        <p:cTn id="89" dur="indefinite"/>
                                        <p:tgtEl>
                                          <p:spTgt spid="86"/>
                                        </p:tgtEl>
                                        <p:attrNameLst>
                                          <p:attrName>style.opacity</p:attrName>
                                        </p:attrNameLst>
                                      </p:cBhvr>
                                      <p:to>
                                        <p:strVal val="0.25"/>
                                      </p:to>
                                    </p:set>
                                    <p:animEffect filter="image" prLst="opacity: 0.25">
                                      <p:cBhvr rctx="IE">
                                        <p:cTn id="90" dur="indefinite"/>
                                        <p:tgtEl>
                                          <p:spTgt spid="86"/>
                                        </p:tgtEl>
                                      </p:cBhvr>
                                    </p:animEffec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nodeType="clickEffect">
                                  <p:stCondLst>
                                    <p:cond delay="0"/>
                                  </p:stCondLst>
                                  <p:childTnLst>
                                    <p:set>
                                      <p:cBhvr>
                                        <p:cTn id="94" dur="1" fill="hold">
                                          <p:stCondLst>
                                            <p:cond delay="0"/>
                                          </p:stCondLst>
                                        </p:cTn>
                                        <p:tgtEl>
                                          <p:spTgt spid="81"/>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82"/>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83"/>
                                        </p:tgtEl>
                                        <p:attrNameLst>
                                          <p:attrName>style.visibility</p:attrName>
                                        </p:attrNameLst>
                                      </p:cBhvr>
                                      <p:to>
                                        <p:strVal val="hidden"/>
                                      </p:to>
                                    </p:set>
                                  </p:childTnLst>
                                </p:cTn>
                              </p:par>
                              <p:par>
                                <p:cTn id="99" presetID="1" presetClass="exit" presetSubtype="0" fill="hold" grpId="1" nodeType="withEffect">
                                  <p:stCondLst>
                                    <p:cond delay="0"/>
                                  </p:stCondLst>
                                  <p:childTnLst>
                                    <p:set>
                                      <p:cBhvr>
                                        <p:cTn id="100" dur="1" fill="hold">
                                          <p:stCondLst>
                                            <p:cond delay="0"/>
                                          </p:stCondLst>
                                        </p:cTn>
                                        <p:tgtEl>
                                          <p:spTgt spid="84"/>
                                        </p:tgtEl>
                                        <p:attrNameLst>
                                          <p:attrName>style.visibility</p:attrName>
                                        </p:attrNameLst>
                                      </p:cBhvr>
                                      <p:to>
                                        <p:strVal val="hidden"/>
                                      </p:to>
                                    </p:set>
                                  </p:childTnLst>
                                </p:cTn>
                              </p:par>
                              <p:par>
                                <p:cTn id="101" presetID="1" presetClass="entr" presetSubtype="0" fill="hold" grpId="0" nodeType="withEffect">
                                  <p:stCondLst>
                                    <p:cond delay="0"/>
                                  </p:stCondLst>
                                  <p:childTnLst>
                                    <p:set>
                                      <p:cBhvr>
                                        <p:cTn id="102" dur="1" fill="hold">
                                          <p:stCondLst>
                                            <p:cond delay="0"/>
                                          </p:stCondLst>
                                        </p:cTn>
                                        <p:tgtEl>
                                          <p:spTgt spid="87"/>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88"/>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xit" presetSubtype="0" fill="hold" nodeType="clickEffect">
                                  <p:stCondLst>
                                    <p:cond delay="0"/>
                                  </p:stCondLst>
                                  <p:childTnLst>
                                    <p:set>
                                      <p:cBhvr>
                                        <p:cTn id="108" dur="1" fill="hold">
                                          <p:stCondLst>
                                            <p:cond delay="0"/>
                                          </p:stCondLst>
                                        </p:cTn>
                                        <p:tgtEl>
                                          <p:spTgt spid="88"/>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87"/>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70">
                                            <p:txEl>
                                              <p:pRg st="3" end="3"/>
                                            </p:txEl>
                                          </p:spTgt>
                                        </p:tgtEl>
                                        <p:attrNameLst>
                                          <p:attrName>style.visibility</p:attrName>
                                        </p:attrNameLst>
                                      </p:cBhvr>
                                      <p:to>
                                        <p:strVal val="visible"/>
                                      </p:to>
                                    </p:set>
                                  </p:childTnLst>
                                </p:cTn>
                              </p:par>
                              <p:par>
                                <p:cTn id="115" presetID="9" presetClass="emph" presetSubtype="0" nodeType="withEffect">
                                  <p:stCondLst>
                                    <p:cond delay="0"/>
                                  </p:stCondLst>
                                  <p:childTnLst>
                                    <p:set>
                                      <p:cBhvr rctx="PPT">
                                        <p:cTn id="116" dur="indefinite"/>
                                        <p:tgtEl>
                                          <p:spTgt spid="85"/>
                                        </p:tgtEl>
                                        <p:attrNameLst>
                                          <p:attrName>style.opacity</p:attrName>
                                        </p:attrNameLst>
                                      </p:cBhvr>
                                      <p:to>
                                        <p:strVal val="1"/>
                                      </p:to>
                                    </p:set>
                                    <p:animEffect filter="image" prLst="opacity: 1">
                                      <p:cBhvr rctx="IE">
                                        <p:cTn id="117" dur="indefinite"/>
                                        <p:tgtEl>
                                          <p:spTgt spid="85"/>
                                        </p:tgtEl>
                                      </p:cBhvr>
                                    </p:animEffect>
                                  </p:childTnLst>
                                </p:cTn>
                              </p:par>
                              <p:par>
                                <p:cTn id="118" presetID="9" presetClass="emph" presetSubtype="0" grpId="3" nodeType="withEffect">
                                  <p:stCondLst>
                                    <p:cond delay="0"/>
                                  </p:stCondLst>
                                  <p:childTnLst>
                                    <p:set>
                                      <p:cBhvr rctx="PPT">
                                        <p:cTn id="119" dur="indefinite"/>
                                        <p:tgtEl>
                                          <p:spTgt spid="86"/>
                                        </p:tgtEl>
                                        <p:attrNameLst>
                                          <p:attrName>style.opacity</p:attrName>
                                        </p:attrNameLst>
                                      </p:cBhvr>
                                      <p:to>
                                        <p:strVal val="1"/>
                                      </p:to>
                                    </p:set>
                                    <p:animEffect filter="image" prLst="opacity: 1">
                                      <p:cBhvr rctx="IE">
                                        <p:cTn id="120" dur="indefinite"/>
                                        <p:tgtEl>
                                          <p:spTgt spid="86"/>
                                        </p:tgtEl>
                                      </p:cBhvr>
                                    </p:animEffect>
                                  </p:childTnLst>
                                </p:cTn>
                              </p:par>
                              <p:par>
                                <p:cTn id="121" presetID="1" presetClass="entr" presetSubtype="0" fill="hold" nodeType="withEffect">
                                  <p:stCondLst>
                                    <p:cond delay="0"/>
                                  </p:stCondLst>
                                  <p:childTnLst>
                                    <p:set>
                                      <p:cBhvr>
                                        <p:cTn id="122" dur="1" fill="hold">
                                          <p:stCondLst>
                                            <p:cond delay="0"/>
                                          </p:stCondLst>
                                        </p:cTn>
                                        <p:tgtEl>
                                          <p:spTgt spid="89"/>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xit" presetSubtype="0" fill="hold" nodeType="clickEffect">
                                  <p:stCondLst>
                                    <p:cond delay="0"/>
                                  </p:stCondLst>
                                  <p:childTnLst>
                                    <p:set>
                                      <p:cBhvr>
                                        <p:cTn id="126" dur="1" fill="hold">
                                          <p:stCondLst>
                                            <p:cond delay="0"/>
                                          </p:stCondLst>
                                        </p:cTn>
                                        <p:tgtEl>
                                          <p:spTgt spid="85"/>
                                        </p:tgtEl>
                                        <p:attrNameLst>
                                          <p:attrName>style.visibility</p:attrName>
                                        </p:attrNameLst>
                                      </p:cBhvr>
                                      <p:to>
                                        <p:strVal val="hidden"/>
                                      </p:to>
                                    </p:set>
                                  </p:childTnLst>
                                </p:cTn>
                              </p:par>
                              <p:par>
                                <p:cTn id="127" presetID="1" presetClass="exit" presetSubtype="0" fill="hold" grpId="1" nodeType="withEffect">
                                  <p:stCondLst>
                                    <p:cond delay="0"/>
                                  </p:stCondLst>
                                  <p:childTnLst>
                                    <p:set>
                                      <p:cBhvr>
                                        <p:cTn id="128" dur="1" fill="hold">
                                          <p:stCondLst>
                                            <p:cond delay="0"/>
                                          </p:stCondLst>
                                        </p:cTn>
                                        <p:tgtEl>
                                          <p:spTgt spid="86"/>
                                        </p:tgtEl>
                                        <p:attrNameLst>
                                          <p:attrName>style.visibility</p:attrName>
                                        </p:attrNameLst>
                                      </p:cBhvr>
                                      <p:to>
                                        <p:strVal val="hidden"/>
                                      </p:to>
                                    </p:set>
                                  </p:childTnLst>
                                </p:cTn>
                              </p:par>
                              <p:par>
                                <p:cTn id="129" presetID="1" presetClass="entr" presetSubtype="0" fill="hold" nodeType="withEffect">
                                  <p:stCondLst>
                                    <p:cond delay="0"/>
                                  </p:stCondLst>
                                  <p:childTnLst>
                                    <p:set>
                                      <p:cBhvr>
                                        <p:cTn id="130" dur="1" fill="hold">
                                          <p:stCondLst>
                                            <p:cond delay="0"/>
                                          </p:stCondLst>
                                        </p:cTn>
                                        <p:tgtEl>
                                          <p:spTgt spid="90"/>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96"/>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91"/>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92"/>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93"/>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94"/>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95"/>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xit" presetSubtype="0" fill="hold" grpId="1" nodeType="clickEffect">
                                  <p:stCondLst>
                                    <p:cond delay="0"/>
                                  </p:stCondLst>
                                  <p:childTnLst>
                                    <p:set>
                                      <p:cBhvr>
                                        <p:cTn id="146" dur="1" fill="hold">
                                          <p:stCondLst>
                                            <p:cond delay="0"/>
                                          </p:stCondLst>
                                        </p:cTn>
                                        <p:tgtEl>
                                          <p:spTgt spid="96"/>
                                        </p:tgtEl>
                                        <p:attrNameLst>
                                          <p:attrName>style.visibility</p:attrName>
                                        </p:attrNameLst>
                                      </p:cBhvr>
                                      <p:to>
                                        <p:strVal val="hidden"/>
                                      </p:to>
                                    </p:set>
                                  </p:childTnLst>
                                </p:cTn>
                              </p:par>
                              <p:par>
                                <p:cTn id="147" presetID="1" presetClass="exit" presetSubtype="0" fill="hold" nodeType="withEffect">
                                  <p:stCondLst>
                                    <p:cond delay="0"/>
                                  </p:stCondLst>
                                  <p:childTnLst>
                                    <p:set>
                                      <p:cBhvr>
                                        <p:cTn id="148" dur="1" fill="hold">
                                          <p:stCondLst>
                                            <p:cond delay="0"/>
                                          </p:stCondLst>
                                        </p:cTn>
                                        <p:tgtEl>
                                          <p:spTgt spid="91"/>
                                        </p:tgtEl>
                                        <p:attrNameLst>
                                          <p:attrName>style.visibility</p:attrName>
                                        </p:attrNameLst>
                                      </p:cBhvr>
                                      <p:to>
                                        <p:strVal val="hidden"/>
                                      </p:to>
                                    </p:set>
                                  </p:childTnLst>
                                </p:cTn>
                              </p:par>
                              <p:par>
                                <p:cTn id="149" presetID="1" presetClass="exit" presetSubtype="0" fill="hold" nodeType="withEffect">
                                  <p:stCondLst>
                                    <p:cond delay="0"/>
                                  </p:stCondLst>
                                  <p:childTnLst>
                                    <p:set>
                                      <p:cBhvr>
                                        <p:cTn id="150" dur="1" fill="hold">
                                          <p:stCondLst>
                                            <p:cond delay="0"/>
                                          </p:stCondLst>
                                        </p:cTn>
                                        <p:tgtEl>
                                          <p:spTgt spid="90"/>
                                        </p:tgtEl>
                                        <p:attrNameLst>
                                          <p:attrName>style.visibility</p:attrName>
                                        </p:attrNameLst>
                                      </p:cBhvr>
                                      <p:to>
                                        <p:strVal val="hidden"/>
                                      </p:to>
                                    </p:set>
                                  </p:childTnLst>
                                </p:cTn>
                              </p:par>
                              <p:par>
                                <p:cTn id="151" presetID="1" presetClass="exit" presetSubtype="0" fill="hold" nodeType="withEffect">
                                  <p:stCondLst>
                                    <p:cond delay="0"/>
                                  </p:stCondLst>
                                  <p:childTnLst>
                                    <p:set>
                                      <p:cBhvr>
                                        <p:cTn id="152" dur="1" fill="hold">
                                          <p:stCondLst>
                                            <p:cond delay="0"/>
                                          </p:stCondLst>
                                        </p:cTn>
                                        <p:tgtEl>
                                          <p:spTgt spid="92"/>
                                        </p:tgtEl>
                                        <p:attrNameLst>
                                          <p:attrName>style.visibility</p:attrName>
                                        </p:attrNameLst>
                                      </p:cBhvr>
                                      <p:to>
                                        <p:strVal val="hidden"/>
                                      </p:to>
                                    </p:set>
                                  </p:childTnLst>
                                </p:cTn>
                              </p:par>
                              <p:par>
                                <p:cTn id="153" presetID="1" presetClass="exit" presetSubtype="0" fill="hold" nodeType="withEffect">
                                  <p:stCondLst>
                                    <p:cond delay="0"/>
                                  </p:stCondLst>
                                  <p:childTnLst>
                                    <p:set>
                                      <p:cBhvr>
                                        <p:cTn id="154" dur="1" fill="hold">
                                          <p:stCondLst>
                                            <p:cond delay="0"/>
                                          </p:stCondLst>
                                        </p:cTn>
                                        <p:tgtEl>
                                          <p:spTgt spid="93"/>
                                        </p:tgtEl>
                                        <p:attrNameLst>
                                          <p:attrName>style.visibility</p:attrName>
                                        </p:attrNameLst>
                                      </p:cBhvr>
                                      <p:to>
                                        <p:strVal val="hidden"/>
                                      </p:to>
                                    </p:set>
                                  </p:childTnLst>
                                </p:cTn>
                              </p:par>
                              <p:par>
                                <p:cTn id="155" presetID="1" presetClass="exit" presetSubtype="0" fill="hold" nodeType="withEffect">
                                  <p:stCondLst>
                                    <p:cond delay="0"/>
                                  </p:stCondLst>
                                  <p:childTnLst>
                                    <p:set>
                                      <p:cBhvr>
                                        <p:cTn id="156" dur="1" fill="hold">
                                          <p:stCondLst>
                                            <p:cond delay="0"/>
                                          </p:stCondLst>
                                        </p:cTn>
                                        <p:tgtEl>
                                          <p:spTgt spid="94"/>
                                        </p:tgtEl>
                                        <p:attrNameLst>
                                          <p:attrName>style.visibility</p:attrName>
                                        </p:attrNameLst>
                                      </p:cBhvr>
                                      <p:to>
                                        <p:strVal val="hidden"/>
                                      </p:to>
                                    </p:set>
                                  </p:childTnLst>
                                </p:cTn>
                              </p:par>
                              <p:par>
                                <p:cTn id="157" presetID="1" presetClass="exit" presetSubtype="0" fill="hold" nodeType="withEffect">
                                  <p:stCondLst>
                                    <p:cond delay="0"/>
                                  </p:stCondLst>
                                  <p:childTnLst>
                                    <p:set>
                                      <p:cBhvr>
                                        <p:cTn id="158" dur="1" fill="hold">
                                          <p:stCondLst>
                                            <p:cond delay="0"/>
                                          </p:stCondLst>
                                        </p:cTn>
                                        <p:tgtEl>
                                          <p:spTgt spid="9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3" grpId="1" animBg="1"/>
      <p:bldP spid="74" grpId="0" animBg="1"/>
      <p:bldP spid="74" grpId="1" animBg="1"/>
      <p:bldP spid="76" grpId="0" animBg="1"/>
      <p:bldP spid="76" grpId="1" animBg="1"/>
      <p:bldP spid="78" grpId="0" animBg="1"/>
      <p:bldP spid="78" grpId="1" animBg="1"/>
      <p:bldP spid="80" grpId="0" animBg="1"/>
      <p:bldP spid="80" grpId="1" animBg="1"/>
      <p:bldP spid="82" grpId="0" animBg="1"/>
      <p:bldP spid="82" grpId="1" animBg="1"/>
      <p:bldP spid="84" grpId="0" animBg="1"/>
      <p:bldP spid="84" grpId="1" animBg="1"/>
      <p:bldP spid="86" grpId="0" animBg="1"/>
      <p:bldP spid="86" grpId="1" animBg="1"/>
      <p:bldP spid="86" grpId="2" animBg="1"/>
      <p:bldP spid="86" grpId="3" animBg="1"/>
      <p:bldP spid="87" grpId="0" animBg="1"/>
      <p:bldP spid="87" grpId="1" animBg="1"/>
      <p:bldP spid="96" grpId="0" animBg="1"/>
      <p:bldP spid="96" grpId="1"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Ring Algorithm</a:t>
            </a:r>
          </a:p>
        </p:txBody>
      </p:sp>
      <p:sp>
        <p:nvSpPr>
          <p:cNvPr id="28" name="Content Placeholder 2">
            <a:extLst>
              <a:ext uri="{FF2B5EF4-FFF2-40B4-BE49-F238E27FC236}">
                <a16:creationId xmlns:a16="http://schemas.microsoft.com/office/drawing/2014/main" id="{05FF24D1-5277-417B-BCE3-776DD62CA93A}"/>
              </a:ext>
            </a:extLst>
          </p:cNvPr>
          <p:cNvSpPr>
            <a:spLocks noGrp="1"/>
          </p:cNvSpPr>
          <p:nvPr>
            <p:ph idx="1"/>
          </p:nvPr>
        </p:nvSpPr>
        <p:spPr/>
        <p:txBody>
          <a:bodyPr>
            <a:noAutofit/>
          </a:bodyPr>
          <a:lstStyle/>
          <a:p>
            <a:pPr>
              <a:lnSpc>
                <a:spcPct val="110000"/>
              </a:lnSpc>
              <a:spcBef>
                <a:spcPts val="200"/>
              </a:spcBef>
              <a:spcAft>
                <a:spcPts val="200"/>
              </a:spcAft>
            </a:pPr>
            <a:r>
              <a:rPr lang="en-US" altLang="en-US" dirty="0">
                <a:latin typeface="+mj-lt"/>
              </a:rPr>
              <a:t>The ring algorithm assumes that the processes are arranged in a </a:t>
            </a:r>
            <a:r>
              <a:rPr lang="en-US" altLang="en-US" dirty="0">
                <a:solidFill>
                  <a:srgbClr val="1D6199"/>
                </a:solidFill>
                <a:latin typeface="+mj-lt"/>
              </a:rPr>
              <a:t>logical ring and each process </a:t>
            </a:r>
            <a:r>
              <a:rPr lang="en-US" altLang="en-US" dirty="0">
                <a:latin typeface="+mj-lt"/>
              </a:rPr>
              <a:t>is knowing the order of the ring of processes.</a:t>
            </a:r>
          </a:p>
          <a:p>
            <a:pPr>
              <a:lnSpc>
                <a:spcPct val="110000"/>
              </a:lnSpc>
              <a:spcBef>
                <a:spcPts val="200"/>
              </a:spcBef>
              <a:spcAft>
                <a:spcPts val="200"/>
              </a:spcAft>
            </a:pPr>
            <a:r>
              <a:rPr lang="en-US" altLang="en-US" dirty="0">
                <a:latin typeface="+mj-lt"/>
              </a:rPr>
              <a:t>If any process </a:t>
            </a:r>
            <a:r>
              <a:rPr lang="en-US" altLang="en-US" dirty="0">
                <a:solidFill>
                  <a:srgbClr val="1D6199"/>
                </a:solidFill>
                <a:latin typeface="+mj-lt"/>
              </a:rPr>
              <a:t>detects failure</a:t>
            </a:r>
            <a:r>
              <a:rPr lang="en-US" altLang="en-US" dirty="0">
                <a:latin typeface="+mj-lt"/>
              </a:rPr>
              <a:t>, it constructs an election message with its process ID and sends it to its neighbor.</a:t>
            </a:r>
          </a:p>
          <a:p>
            <a:pPr>
              <a:lnSpc>
                <a:spcPct val="110000"/>
              </a:lnSpc>
              <a:spcBef>
                <a:spcPts val="200"/>
              </a:spcBef>
              <a:spcAft>
                <a:spcPts val="200"/>
              </a:spcAft>
            </a:pPr>
            <a:r>
              <a:rPr lang="en-US" altLang="en-US" dirty="0">
                <a:latin typeface="+mj-lt"/>
              </a:rPr>
              <a:t>If </a:t>
            </a:r>
            <a:r>
              <a:rPr lang="en-US" altLang="en-US" dirty="0">
                <a:solidFill>
                  <a:srgbClr val="1D6199"/>
                </a:solidFill>
                <a:latin typeface="+mj-lt"/>
              </a:rPr>
              <a:t>the neighbor is down</a:t>
            </a:r>
            <a:r>
              <a:rPr lang="en-US" altLang="en-US" dirty="0">
                <a:latin typeface="+mj-lt"/>
              </a:rPr>
              <a:t>, the </a:t>
            </a:r>
            <a:r>
              <a:rPr lang="en-US" altLang="en-US" dirty="0">
                <a:solidFill>
                  <a:srgbClr val="1D6199"/>
                </a:solidFill>
                <a:latin typeface="+mj-lt"/>
              </a:rPr>
              <a:t>process skips over it </a:t>
            </a:r>
            <a:r>
              <a:rPr lang="en-US" altLang="en-US" dirty="0">
                <a:latin typeface="+mj-lt"/>
              </a:rPr>
              <a:t>and sends the message to the next process in the ring. </a:t>
            </a:r>
          </a:p>
          <a:p>
            <a:pPr>
              <a:lnSpc>
                <a:spcPct val="110000"/>
              </a:lnSpc>
              <a:spcBef>
                <a:spcPts val="200"/>
              </a:spcBef>
              <a:spcAft>
                <a:spcPts val="200"/>
              </a:spcAft>
            </a:pPr>
            <a:r>
              <a:rPr lang="en-US" altLang="en-US" dirty="0">
                <a:latin typeface="+mj-lt"/>
              </a:rPr>
              <a:t>This process is repeated until a running process is located.</a:t>
            </a:r>
          </a:p>
          <a:p>
            <a:pPr>
              <a:lnSpc>
                <a:spcPct val="110000"/>
              </a:lnSpc>
              <a:spcBef>
                <a:spcPts val="200"/>
              </a:spcBef>
              <a:spcAft>
                <a:spcPts val="200"/>
              </a:spcAft>
            </a:pPr>
            <a:r>
              <a:rPr lang="en-US" altLang="en-US" dirty="0">
                <a:latin typeface="+mj-lt"/>
              </a:rPr>
              <a:t>At each step, the process </a:t>
            </a:r>
            <a:r>
              <a:rPr lang="en-US" altLang="en-US" dirty="0">
                <a:solidFill>
                  <a:srgbClr val="1D6199"/>
                </a:solidFill>
                <a:latin typeface="+mj-lt"/>
              </a:rPr>
              <a:t>adds its own process ID </a:t>
            </a:r>
            <a:r>
              <a:rPr lang="en-US" altLang="en-US" dirty="0">
                <a:latin typeface="+mj-lt"/>
              </a:rPr>
              <a:t>to the list in the message and sends the message to its living neighbor.</a:t>
            </a:r>
          </a:p>
          <a:p>
            <a:pPr>
              <a:lnSpc>
                <a:spcPct val="110000"/>
              </a:lnSpc>
              <a:spcBef>
                <a:spcPts val="200"/>
              </a:spcBef>
              <a:spcAft>
                <a:spcPts val="200"/>
              </a:spcAft>
            </a:pPr>
            <a:r>
              <a:rPr lang="en-US" altLang="en-US" dirty="0">
                <a:latin typeface="+mj-lt"/>
              </a:rPr>
              <a:t>Eventually, the election message comes back to the process that started it. </a:t>
            </a:r>
          </a:p>
          <a:p>
            <a:pPr>
              <a:lnSpc>
                <a:spcPct val="110000"/>
              </a:lnSpc>
              <a:spcBef>
                <a:spcPts val="200"/>
              </a:spcBef>
              <a:spcAft>
                <a:spcPts val="200"/>
              </a:spcAft>
            </a:pPr>
            <a:r>
              <a:rPr lang="en-US" altLang="en-US" dirty="0">
                <a:latin typeface="+mj-lt"/>
              </a:rPr>
              <a:t>The process then picks either the </a:t>
            </a:r>
            <a:r>
              <a:rPr lang="en-US" altLang="en-US" dirty="0">
                <a:solidFill>
                  <a:srgbClr val="1D6199"/>
                </a:solidFill>
                <a:latin typeface="+mj-lt"/>
              </a:rPr>
              <a:t>highest or lowest process ID </a:t>
            </a:r>
            <a:r>
              <a:rPr lang="en-US" altLang="en-US" dirty="0">
                <a:latin typeface="+mj-lt"/>
              </a:rPr>
              <a:t>in the list and sends out a message to the group informing them of the new coordinator. </a:t>
            </a:r>
          </a:p>
        </p:txBody>
      </p:sp>
    </p:spTree>
    <p:extLst>
      <p:ext uri="{BB962C8B-B14F-4D97-AF65-F5344CB8AC3E}">
        <p14:creationId xmlns:p14="http://schemas.microsoft.com/office/powerpoint/2010/main" val="80893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Ring Algorithm</a:t>
            </a:r>
          </a:p>
        </p:txBody>
      </p:sp>
      <p:graphicFrame>
        <p:nvGraphicFramePr>
          <p:cNvPr id="4" name="Diagram 3">
            <a:extLst>
              <a:ext uri="{FF2B5EF4-FFF2-40B4-BE49-F238E27FC236}">
                <a16:creationId xmlns:a16="http://schemas.microsoft.com/office/drawing/2014/main" id="{84D57397-9108-4D14-B447-B78387711222}"/>
              </a:ext>
            </a:extLst>
          </p:cNvPr>
          <p:cNvGraphicFramePr/>
          <p:nvPr/>
        </p:nvGraphicFramePr>
        <p:xfrm>
          <a:off x="7086993" y="1903911"/>
          <a:ext cx="4128694" cy="39720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2">
            <a:extLst>
              <a:ext uri="{FF2B5EF4-FFF2-40B4-BE49-F238E27FC236}">
                <a16:creationId xmlns:a16="http://schemas.microsoft.com/office/drawing/2014/main" id="{321E826B-09C2-4A53-B480-463BEFF53ED9}"/>
              </a:ext>
            </a:extLst>
          </p:cNvPr>
          <p:cNvSpPr>
            <a:spLocks noGrp="1"/>
          </p:cNvSpPr>
          <p:nvPr>
            <p:ph idx="1"/>
          </p:nvPr>
        </p:nvSpPr>
        <p:spPr>
          <a:xfrm>
            <a:off x="0" y="711201"/>
            <a:ext cx="10204704" cy="1447800"/>
          </a:xfrm>
        </p:spPr>
        <p:txBody>
          <a:bodyPr>
            <a:noAutofit/>
          </a:bodyPr>
          <a:lstStyle/>
          <a:p>
            <a:r>
              <a:rPr lang="en-US" altLang="en-US" sz="2400" dirty="0">
                <a:latin typeface="+mj-lt"/>
              </a:rPr>
              <a:t>This algorithm is generally used in a ring topology</a:t>
            </a:r>
          </a:p>
          <a:p>
            <a:r>
              <a:rPr lang="en-US" altLang="en-US" sz="2400" dirty="0">
                <a:latin typeface="+mj-lt"/>
              </a:rPr>
              <a:t>When a process </a:t>
            </a:r>
            <a:r>
              <a:rPr lang="en-US" altLang="en-US" sz="2400" b="1" dirty="0">
                <a:latin typeface="+mj-lt"/>
                <a:cs typeface="Courier New" panose="02070309020205020404" pitchFamily="49" charset="0"/>
              </a:rPr>
              <a:t>P</a:t>
            </a:r>
            <a:r>
              <a:rPr lang="en-US" altLang="en-US" sz="2400" b="1" baseline="-25000" dirty="0">
                <a:latin typeface="+mj-lt"/>
                <a:cs typeface="Courier New" panose="02070309020205020404" pitchFamily="49" charset="0"/>
              </a:rPr>
              <a:t>i</a:t>
            </a:r>
            <a:r>
              <a:rPr lang="en-US" altLang="en-US" sz="2400" dirty="0">
                <a:latin typeface="+mj-lt"/>
              </a:rPr>
              <a:t> detects that  the coordinator has crashed, it initiates the election algorithm</a:t>
            </a:r>
          </a:p>
        </p:txBody>
      </p:sp>
      <p:sp>
        <p:nvSpPr>
          <p:cNvPr id="7" name="Rectangle 6">
            <a:extLst>
              <a:ext uri="{FF2B5EF4-FFF2-40B4-BE49-F238E27FC236}">
                <a16:creationId xmlns:a16="http://schemas.microsoft.com/office/drawing/2014/main" id="{D346DAF3-E1EC-4FB5-BD5E-107E4BEB9821}"/>
              </a:ext>
            </a:extLst>
          </p:cNvPr>
          <p:cNvSpPr/>
          <p:nvPr/>
        </p:nvSpPr>
        <p:spPr>
          <a:xfrm>
            <a:off x="6820672" y="3559107"/>
            <a:ext cx="552312" cy="830997"/>
          </a:xfrm>
          <a:prstGeom prst="rect">
            <a:avLst/>
          </a:prstGeom>
          <a:noFill/>
        </p:spPr>
        <p:txBody>
          <a:bodyPr wrap="squar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eaLnBrk="1" hangingPunct="1">
              <a:defRPr/>
            </a:pPr>
            <a:r>
              <a:rPr lang="en-US" sz="4800" b="1" dirty="0">
                <a:ln w="11430"/>
                <a:solidFill>
                  <a:srgbClr val="FF0000"/>
                </a:solidFill>
                <a:effectLst>
                  <a:outerShdw blurRad="50800" dist="39000" dir="5460000" algn="tl">
                    <a:srgbClr val="000000">
                      <a:alpha val="38000"/>
                    </a:srgbClr>
                  </a:outerShdw>
                </a:effectLst>
                <a:latin typeface="+mj-lt"/>
                <a:cs typeface="Arial" charset="0"/>
              </a:rPr>
              <a:t>X</a:t>
            </a:r>
          </a:p>
        </p:txBody>
      </p:sp>
      <p:sp>
        <p:nvSpPr>
          <p:cNvPr id="8" name="Content Placeholder 2">
            <a:extLst>
              <a:ext uri="{FF2B5EF4-FFF2-40B4-BE49-F238E27FC236}">
                <a16:creationId xmlns:a16="http://schemas.microsoft.com/office/drawing/2014/main" id="{E95B1C66-4775-4831-81DA-04A4AF384201}"/>
              </a:ext>
            </a:extLst>
          </p:cNvPr>
          <p:cNvSpPr txBox="1">
            <a:spLocks/>
          </p:cNvSpPr>
          <p:nvPr/>
        </p:nvSpPr>
        <p:spPr bwMode="auto">
          <a:xfrm>
            <a:off x="-4717" y="2113190"/>
            <a:ext cx="6638337" cy="4444776"/>
          </a:xfrm>
          <a:prstGeom prst="rect">
            <a:avLst/>
          </a:prstGeom>
          <a:noFill/>
          <a:ln w="9525">
            <a:noFill/>
            <a:miter lim="800000"/>
            <a:headEnd/>
            <a:tailEnd/>
          </a:ln>
        </p:spPr>
        <p:txBody>
          <a:bodyPr/>
          <a:lstStyle/>
          <a:p>
            <a:pPr marL="457200" indent="-457200" algn="just">
              <a:spcBef>
                <a:spcPct val="20000"/>
              </a:spcBef>
              <a:buClr>
                <a:srgbClr val="1D6199"/>
              </a:buClr>
              <a:buFont typeface="+mj-lt"/>
              <a:buAutoNum type="arabicPeriod"/>
              <a:defRPr/>
            </a:pPr>
            <a:r>
              <a:rPr lang="en-US" sz="2400" b="1" kern="0" dirty="0">
                <a:latin typeface="+mj-lt"/>
                <a:cs typeface="Courier New" pitchFamily="49" charset="0"/>
              </a:rPr>
              <a:t>P</a:t>
            </a:r>
            <a:r>
              <a:rPr lang="en-US" sz="2400" b="1" kern="0" baseline="-25000" dirty="0">
                <a:latin typeface="+mj-lt"/>
                <a:cs typeface="Courier New" pitchFamily="49" charset="0"/>
              </a:rPr>
              <a:t>i</a:t>
            </a:r>
            <a:r>
              <a:rPr lang="en-US" sz="2400" kern="0" dirty="0">
                <a:latin typeface="+mj-lt"/>
              </a:rPr>
              <a:t> builds an “</a:t>
            </a:r>
            <a:r>
              <a:rPr lang="en-US" sz="2400" b="1" kern="0" dirty="0">
                <a:solidFill>
                  <a:srgbClr val="1D6199"/>
                </a:solidFill>
                <a:latin typeface="+mj-lt"/>
              </a:rPr>
              <a:t>Election</a:t>
            </a:r>
            <a:r>
              <a:rPr lang="en-US" sz="2400" kern="0" dirty="0">
                <a:latin typeface="+mj-lt"/>
              </a:rPr>
              <a:t>” message </a:t>
            </a:r>
            <a:r>
              <a:rPr lang="en-US" sz="2400" b="1" kern="0" dirty="0">
                <a:latin typeface="+mj-lt"/>
              </a:rPr>
              <a:t>(</a:t>
            </a:r>
            <a:r>
              <a:rPr lang="en-US" sz="2400" b="1" kern="0" dirty="0">
                <a:latin typeface="+mj-lt"/>
                <a:cs typeface="Courier New" pitchFamily="49" charset="0"/>
              </a:rPr>
              <a:t>E)</a:t>
            </a:r>
            <a:r>
              <a:rPr lang="en-US" sz="2400" kern="0" dirty="0">
                <a:latin typeface="+mj-lt"/>
              </a:rPr>
              <a:t>, and sends it to its next node. It inserts its ID into the Election message</a:t>
            </a:r>
          </a:p>
          <a:p>
            <a:pPr marL="457200" indent="-457200" algn="just">
              <a:spcBef>
                <a:spcPct val="20000"/>
              </a:spcBef>
              <a:buClr>
                <a:srgbClr val="1D6199"/>
              </a:buClr>
              <a:buFont typeface="+mj-lt"/>
              <a:buAutoNum type="arabicPeriod"/>
              <a:defRPr/>
            </a:pPr>
            <a:r>
              <a:rPr lang="en-US" sz="2400" kern="0" dirty="0">
                <a:latin typeface="+mj-lt"/>
              </a:rPr>
              <a:t>When process </a:t>
            </a:r>
            <a:r>
              <a:rPr lang="en-US" sz="2400" b="1" kern="0" dirty="0">
                <a:latin typeface="+mj-lt"/>
                <a:cs typeface="Courier New" pitchFamily="49" charset="0"/>
              </a:rPr>
              <a:t>P</a:t>
            </a:r>
            <a:r>
              <a:rPr lang="en-US" sz="2400" b="1" kern="0" baseline="-25000" dirty="0">
                <a:latin typeface="+mj-lt"/>
                <a:cs typeface="Courier New" pitchFamily="49" charset="0"/>
              </a:rPr>
              <a:t>j</a:t>
            </a:r>
            <a:r>
              <a:rPr lang="en-US" sz="2400" kern="0" dirty="0">
                <a:latin typeface="+mj-lt"/>
                <a:cs typeface="Arial" charset="0"/>
              </a:rPr>
              <a:t> receives the message, it appends its ID and forwards the message</a:t>
            </a:r>
            <a:endParaRPr lang="en-US" sz="2400" kern="0" dirty="0">
              <a:latin typeface="+mj-lt"/>
            </a:endParaRPr>
          </a:p>
          <a:p>
            <a:pPr marL="800100" lvl="1" indent="-342900" algn="just">
              <a:spcBef>
                <a:spcPts val="200"/>
              </a:spcBef>
              <a:spcAft>
                <a:spcPts val="200"/>
              </a:spcAft>
              <a:buClr>
                <a:srgbClr val="1D6199"/>
              </a:buClr>
              <a:buFont typeface="Wingdings" panose="05000000000000000000" pitchFamily="2" charset="2"/>
              <a:buChar char="§"/>
              <a:defRPr/>
            </a:pPr>
            <a:r>
              <a:rPr lang="en-US" sz="2000" dirty="0">
                <a:latin typeface="+mj-lt"/>
                <a:ea typeface="Arial" panose="020B0604020202020204" pitchFamily="34" charset="0"/>
              </a:rPr>
              <a:t>If the next node has crashed, </a:t>
            </a:r>
            <a:r>
              <a:rPr lang="en-US" sz="2000" b="1" dirty="0">
                <a:latin typeface="+mj-lt"/>
                <a:ea typeface="Arial" panose="020B0604020202020204" pitchFamily="34" charset="0"/>
              </a:rPr>
              <a:t>P</a:t>
            </a:r>
            <a:r>
              <a:rPr lang="en-US" sz="2000" b="1" baseline="-25000" dirty="0">
                <a:latin typeface="+mj-lt"/>
                <a:ea typeface="Arial" panose="020B0604020202020204" pitchFamily="34" charset="0"/>
              </a:rPr>
              <a:t>j</a:t>
            </a:r>
            <a:r>
              <a:rPr lang="en-US" sz="2000" dirty="0">
                <a:latin typeface="+mj-lt"/>
                <a:ea typeface="Arial" panose="020B0604020202020204" pitchFamily="34" charset="0"/>
              </a:rPr>
              <a:t> finds the next alive node</a:t>
            </a:r>
          </a:p>
          <a:p>
            <a:pPr marL="457200" indent="-457200" algn="just">
              <a:spcBef>
                <a:spcPct val="20000"/>
              </a:spcBef>
              <a:buClr>
                <a:srgbClr val="1D6199"/>
              </a:buClr>
              <a:buFont typeface="+mj-lt"/>
              <a:buAutoNum type="arabicPeriod"/>
              <a:defRPr/>
            </a:pPr>
            <a:r>
              <a:rPr lang="en-US" sz="2400" kern="0" dirty="0">
                <a:latin typeface="+mj-lt"/>
              </a:rPr>
              <a:t>When the message gets back to </a:t>
            </a:r>
            <a:r>
              <a:rPr lang="en-US" sz="2400" b="1" kern="0" dirty="0">
                <a:latin typeface="+mj-lt"/>
                <a:cs typeface="Courier New" pitchFamily="49" charset="0"/>
              </a:rPr>
              <a:t>P</a:t>
            </a:r>
            <a:r>
              <a:rPr lang="en-US" sz="2400" b="1" kern="0" baseline="-25000" dirty="0">
                <a:latin typeface="+mj-lt"/>
                <a:cs typeface="Courier New" pitchFamily="49" charset="0"/>
              </a:rPr>
              <a:t>i</a:t>
            </a:r>
            <a:r>
              <a:rPr lang="en-US" sz="2400" kern="0" dirty="0">
                <a:latin typeface="+mj-lt"/>
              </a:rPr>
              <a:t>:</a:t>
            </a:r>
          </a:p>
          <a:p>
            <a:pPr marL="914400" lvl="1" indent="-457200" algn="just">
              <a:spcBef>
                <a:spcPts val="200"/>
              </a:spcBef>
              <a:spcAft>
                <a:spcPts val="200"/>
              </a:spcAft>
              <a:buClr>
                <a:srgbClr val="1D6199"/>
              </a:buClr>
              <a:buFont typeface="Wingdings" panose="05000000000000000000" pitchFamily="2" charset="2"/>
              <a:buChar char="§"/>
              <a:defRPr/>
            </a:pPr>
            <a:r>
              <a:rPr lang="en-US" sz="2000" b="1" dirty="0">
                <a:latin typeface="+mj-lt"/>
                <a:ea typeface="Arial" panose="020B0604020202020204" pitchFamily="34" charset="0"/>
              </a:rPr>
              <a:t>P</a:t>
            </a:r>
            <a:r>
              <a:rPr lang="en-US" sz="2000" b="1" baseline="-25000" dirty="0">
                <a:latin typeface="+mj-lt"/>
                <a:ea typeface="Arial" panose="020B0604020202020204" pitchFamily="34" charset="0"/>
              </a:rPr>
              <a:t>i</a:t>
            </a:r>
            <a:r>
              <a:rPr lang="en-US" sz="2000" b="1" dirty="0">
                <a:latin typeface="+mj-lt"/>
                <a:ea typeface="Arial" panose="020B0604020202020204" pitchFamily="34" charset="0"/>
              </a:rPr>
              <a:t> </a:t>
            </a:r>
            <a:r>
              <a:rPr lang="en-US" sz="2000" dirty="0">
                <a:latin typeface="+mj-lt"/>
                <a:ea typeface="Arial" panose="020B0604020202020204" pitchFamily="34" charset="0"/>
              </a:rPr>
              <a:t>elects the process with the</a:t>
            </a:r>
            <a:r>
              <a:rPr lang="en-US" sz="2000" dirty="0">
                <a:solidFill>
                  <a:srgbClr val="1D6199"/>
                </a:solidFill>
                <a:latin typeface="+mj-lt"/>
                <a:ea typeface="Arial" panose="020B0604020202020204" pitchFamily="34" charset="0"/>
              </a:rPr>
              <a:t> </a:t>
            </a:r>
            <a:r>
              <a:rPr lang="en-US" sz="2000" b="1" dirty="0">
                <a:solidFill>
                  <a:srgbClr val="1D6199"/>
                </a:solidFill>
                <a:latin typeface="+mj-lt"/>
                <a:ea typeface="Arial" panose="020B0604020202020204" pitchFamily="34" charset="0"/>
              </a:rPr>
              <a:t>highest ID </a:t>
            </a:r>
            <a:r>
              <a:rPr lang="en-US" sz="2000" dirty="0">
                <a:latin typeface="+mj-lt"/>
                <a:ea typeface="Arial" panose="020B0604020202020204" pitchFamily="34" charset="0"/>
              </a:rPr>
              <a:t>as coordinator</a:t>
            </a:r>
          </a:p>
          <a:p>
            <a:pPr marL="914400" lvl="1" indent="-457200" algn="just">
              <a:spcBef>
                <a:spcPts val="200"/>
              </a:spcBef>
              <a:spcAft>
                <a:spcPts val="200"/>
              </a:spcAft>
              <a:buClr>
                <a:srgbClr val="1D6199"/>
              </a:buClr>
              <a:buFont typeface="Wingdings" panose="05000000000000000000" pitchFamily="2" charset="2"/>
              <a:buChar char="§"/>
              <a:defRPr/>
            </a:pPr>
            <a:r>
              <a:rPr lang="en-US" sz="2000" b="1" dirty="0">
                <a:latin typeface="+mj-lt"/>
                <a:ea typeface="Arial" panose="020B0604020202020204" pitchFamily="34" charset="0"/>
              </a:rPr>
              <a:t>P</a:t>
            </a:r>
            <a:r>
              <a:rPr lang="en-US" sz="2000" b="1" baseline="-25000" dirty="0">
                <a:latin typeface="+mj-lt"/>
                <a:ea typeface="Arial" panose="020B0604020202020204" pitchFamily="34" charset="0"/>
              </a:rPr>
              <a:t>i</a:t>
            </a:r>
            <a:r>
              <a:rPr lang="en-US" sz="2000" dirty="0">
                <a:latin typeface="+mj-lt"/>
                <a:ea typeface="Arial" panose="020B0604020202020204" pitchFamily="34" charset="0"/>
              </a:rPr>
              <a:t> changes the message type to a “</a:t>
            </a:r>
            <a:r>
              <a:rPr lang="en-US" sz="2000" b="1" dirty="0">
                <a:solidFill>
                  <a:srgbClr val="1D6199"/>
                </a:solidFill>
                <a:latin typeface="+mj-lt"/>
                <a:ea typeface="Arial" panose="020B0604020202020204" pitchFamily="34" charset="0"/>
              </a:rPr>
              <a:t>Coordination</a:t>
            </a:r>
            <a:r>
              <a:rPr lang="en-US" sz="2000" dirty="0">
                <a:solidFill>
                  <a:srgbClr val="1D6199"/>
                </a:solidFill>
                <a:latin typeface="+mj-lt"/>
                <a:ea typeface="Arial" panose="020B0604020202020204" pitchFamily="34" charset="0"/>
              </a:rPr>
              <a:t>”</a:t>
            </a:r>
            <a:r>
              <a:rPr lang="en-US" sz="2000" dirty="0">
                <a:latin typeface="+mj-lt"/>
                <a:ea typeface="Arial" panose="020B0604020202020204" pitchFamily="34" charset="0"/>
              </a:rPr>
              <a:t> message (C) and triggers its circulation in the ring</a:t>
            </a:r>
          </a:p>
        </p:txBody>
      </p:sp>
      <p:sp>
        <p:nvSpPr>
          <p:cNvPr id="9" name="Rectangle 8">
            <a:extLst>
              <a:ext uri="{FF2B5EF4-FFF2-40B4-BE49-F238E27FC236}">
                <a16:creationId xmlns:a16="http://schemas.microsoft.com/office/drawing/2014/main" id="{8605322E-4382-4DB9-86D1-6DFE0A60E7AE}"/>
              </a:ext>
            </a:extLst>
          </p:cNvPr>
          <p:cNvSpPr/>
          <p:nvPr/>
        </p:nvSpPr>
        <p:spPr>
          <a:xfrm>
            <a:off x="8062773" y="5534110"/>
            <a:ext cx="594703" cy="394251"/>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E: 5</a:t>
            </a:r>
          </a:p>
        </p:txBody>
      </p:sp>
      <p:cxnSp>
        <p:nvCxnSpPr>
          <p:cNvPr id="10" name="Straight Arrow Connector 9">
            <a:extLst>
              <a:ext uri="{FF2B5EF4-FFF2-40B4-BE49-F238E27FC236}">
                <a16:creationId xmlns:a16="http://schemas.microsoft.com/office/drawing/2014/main" id="{1F1DB3F9-DFD4-4A5D-AA03-26DA5890920F}"/>
              </a:ext>
            </a:extLst>
          </p:cNvPr>
          <p:cNvCxnSpPr/>
          <p:nvPr/>
        </p:nvCxnSpPr>
        <p:spPr>
          <a:xfrm flipH="1" flipV="1">
            <a:off x="8322581" y="5269232"/>
            <a:ext cx="464091" cy="209646"/>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5BBF94D6-D0E7-49FF-BF72-FE8B4A2942FE}"/>
              </a:ext>
            </a:extLst>
          </p:cNvPr>
          <p:cNvSpPr/>
          <p:nvPr/>
        </p:nvSpPr>
        <p:spPr>
          <a:xfrm>
            <a:off x="8243886" y="3889945"/>
            <a:ext cx="788397" cy="314964"/>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E: 5,6</a:t>
            </a:r>
          </a:p>
        </p:txBody>
      </p:sp>
      <p:cxnSp>
        <p:nvCxnSpPr>
          <p:cNvPr id="12" name="Straight Arrow Connector 11">
            <a:extLst>
              <a:ext uri="{FF2B5EF4-FFF2-40B4-BE49-F238E27FC236}">
                <a16:creationId xmlns:a16="http://schemas.microsoft.com/office/drawing/2014/main" id="{A762BAB5-1E38-4F85-B6A5-A8A9E140A55B}"/>
              </a:ext>
            </a:extLst>
          </p:cNvPr>
          <p:cNvCxnSpPr/>
          <p:nvPr/>
        </p:nvCxnSpPr>
        <p:spPr>
          <a:xfrm flipV="1">
            <a:off x="8236082" y="3062924"/>
            <a:ext cx="0" cy="1543050"/>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B046AF6A-54F2-4919-A017-198A44A3FAAC}"/>
              </a:ext>
            </a:extLst>
          </p:cNvPr>
          <p:cNvSpPr/>
          <p:nvPr/>
        </p:nvSpPr>
        <p:spPr>
          <a:xfrm>
            <a:off x="7871044" y="1964653"/>
            <a:ext cx="929952" cy="343668"/>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E: 5,6,0</a:t>
            </a:r>
          </a:p>
        </p:txBody>
      </p:sp>
      <p:cxnSp>
        <p:nvCxnSpPr>
          <p:cNvPr id="14" name="Straight Arrow Connector 13">
            <a:extLst>
              <a:ext uri="{FF2B5EF4-FFF2-40B4-BE49-F238E27FC236}">
                <a16:creationId xmlns:a16="http://schemas.microsoft.com/office/drawing/2014/main" id="{81E36645-99BE-4D7F-91CB-F62BDBD5FAE5}"/>
              </a:ext>
            </a:extLst>
          </p:cNvPr>
          <p:cNvCxnSpPr/>
          <p:nvPr/>
        </p:nvCxnSpPr>
        <p:spPr>
          <a:xfrm flipV="1">
            <a:off x="8438286" y="2421527"/>
            <a:ext cx="348386" cy="167334"/>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A34F3EE3-01B5-4561-8635-14F8DDCC07C6}"/>
              </a:ext>
            </a:extLst>
          </p:cNvPr>
          <p:cNvSpPr/>
          <p:nvPr/>
        </p:nvSpPr>
        <p:spPr>
          <a:xfrm>
            <a:off x="9732843" y="2006777"/>
            <a:ext cx="1124896" cy="296410"/>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E: 5,6,0,1</a:t>
            </a:r>
          </a:p>
        </p:txBody>
      </p:sp>
      <p:cxnSp>
        <p:nvCxnSpPr>
          <p:cNvPr id="16" name="Straight Arrow Connector 15">
            <a:extLst>
              <a:ext uri="{FF2B5EF4-FFF2-40B4-BE49-F238E27FC236}">
                <a16:creationId xmlns:a16="http://schemas.microsoft.com/office/drawing/2014/main" id="{EC1B3689-FEDD-4182-8B4A-3AFDC31D1CA9}"/>
              </a:ext>
            </a:extLst>
          </p:cNvPr>
          <p:cNvCxnSpPr/>
          <p:nvPr/>
        </p:nvCxnSpPr>
        <p:spPr>
          <a:xfrm>
            <a:off x="9536817" y="2381469"/>
            <a:ext cx="392053" cy="222446"/>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5A6D4D30-8ACB-4586-8076-B19ACE284E7A}"/>
              </a:ext>
            </a:extLst>
          </p:cNvPr>
          <p:cNvSpPr/>
          <p:nvPr/>
        </p:nvSpPr>
        <p:spPr>
          <a:xfrm>
            <a:off x="10645339" y="2950651"/>
            <a:ext cx="1251763" cy="307552"/>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E: 5,6,0,1,2</a:t>
            </a:r>
          </a:p>
        </p:txBody>
      </p:sp>
      <p:cxnSp>
        <p:nvCxnSpPr>
          <p:cNvPr id="18" name="Straight Arrow Connector 17">
            <a:extLst>
              <a:ext uri="{FF2B5EF4-FFF2-40B4-BE49-F238E27FC236}">
                <a16:creationId xmlns:a16="http://schemas.microsoft.com/office/drawing/2014/main" id="{FF6BC193-3AAC-404A-94FF-49E57B5451AE}"/>
              </a:ext>
            </a:extLst>
          </p:cNvPr>
          <p:cNvCxnSpPr/>
          <p:nvPr/>
        </p:nvCxnSpPr>
        <p:spPr>
          <a:xfrm>
            <a:off x="10506927" y="3076898"/>
            <a:ext cx="189287" cy="478153"/>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B3513097-B839-455B-8615-F4E22CDC8D37}"/>
              </a:ext>
            </a:extLst>
          </p:cNvPr>
          <p:cNvSpPr/>
          <p:nvPr/>
        </p:nvSpPr>
        <p:spPr>
          <a:xfrm>
            <a:off x="10620968" y="4397581"/>
            <a:ext cx="1465621" cy="378191"/>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E: 5,6,0,1,2,3</a:t>
            </a:r>
          </a:p>
        </p:txBody>
      </p:sp>
      <p:cxnSp>
        <p:nvCxnSpPr>
          <p:cNvPr id="20" name="Straight Arrow Connector 19">
            <a:extLst>
              <a:ext uri="{FF2B5EF4-FFF2-40B4-BE49-F238E27FC236}">
                <a16:creationId xmlns:a16="http://schemas.microsoft.com/office/drawing/2014/main" id="{998DD661-8895-42EC-A144-853D4DB32DB3}"/>
              </a:ext>
            </a:extLst>
          </p:cNvPr>
          <p:cNvCxnSpPr/>
          <p:nvPr/>
        </p:nvCxnSpPr>
        <p:spPr>
          <a:xfrm flipH="1">
            <a:off x="10522707" y="4266994"/>
            <a:ext cx="173507" cy="438355"/>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93BC9371-0533-4AFB-B313-D1518080B5C3}"/>
              </a:ext>
            </a:extLst>
          </p:cNvPr>
          <p:cNvSpPr/>
          <p:nvPr/>
        </p:nvSpPr>
        <p:spPr>
          <a:xfrm>
            <a:off x="9648094" y="5320184"/>
            <a:ext cx="1608005" cy="372496"/>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E: 5,6,0,1,2,3,4</a:t>
            </a:r>
          </a:p>
        </p:txBody>
      </p:sp>
      <p:cxnSp>
        <p:nvCxnSpPr>
          <p:cNvPr id="22" name="Straight Arrow Connector 21">
            <a:extLst>
              <a:ext uri="{FF2B5EF4-FFF2-40B4-BE49-F238E27FC236}">
                <a16:creationId xmlns:a16="http://schemas.microsoft.com/office/drawing/2014/main" id="{6B20B347-2CDD-48A4-88F6-61208C30A7BA}"/>
              </a:ext>
            </a:extLst>
          </p:cNvPr>
          <p:cNvCxnSpPr/>
          <p:nvPr/>
        </p:nvCxnSpPr>
        <p:spPr>
          <a:xfrm flipH="1">
            <a:off x="9474831" y="5101071"/>
            <a:ext cx="444510" cy="299972"/>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086AB338-B3FF-4A82-8B86-DA9A1CF5F1AB}"/>
              </a:ext>
            </a:extLst>
          </p:cNvPr>
          <p:cNvSpPr/>
          <p:nvPr/>
        </p:nvSpPr>
        <p:spPr>
          <a:xfrm>
            <a:off x="7965209" y="5608150"/>
            <a:ext cx="732105" cy="240689"/>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C: 6</a:t>
            </a:r>
          </a:p>
        </p:txBody>
      </p:sp>
      <p:cxnSp>
        <p:nvCxnSpPr>
          <p:cNvPr id="24" name="Straight Arrow Connector 23">
            <a:extLst>
              <a:ext uri="{FF2B5EF4-FFF2-40B4-BE49-F238E27FC236}">
                <a16:creationId xmlns:a16="http://schemas.microsoft.com/office/drawing/2014/main" id="{0E599850-2357-460E-ABCD-1089A92F867D}"/>
              </a:ext>
            </a:extLst>
          </p:cNvPr>
          <p:cNvCxnSpPr/>
          <p:nvPr/>
        </p:nvCxnSpPr>
        <p:spPr>
          <a:xfrm flipH="1" flipV="1">
            <a:off x="8322581" y="5228055"/>
            <a:ext cx="370701" cy="193577"/>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116CE849-3A9B-47A6-91DC-B2B503579650}"/>
              </a:ext>
            </a:extLst>
          </p:cNvPr>
          <p:cNvSpPr/>
          <p:nvPr/>
        </p:nvSpPr>
        <p:spPr>
          <a:xfrm>
            <a:off x="8183511" y="3891685"/>
            <a:ext cx="629586" cy="285421"/>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C: 6</a:t>
            </a:r>
          </a:p>
        </p:txBody>
      </p:sp>
      <p:cxnSp>
        <p:nvCxnSpPr>
          <p:cNvPr id="26" name="Straight Arrow Connector 25">
            <a:extLst>
              <a:ext uri="{FF2B5EF4-FFF2-40B4-BE49-F238E27FC236}">
                <a16:creationId xmlns:a16="http://schemas.microsoft.com/office/drawing/2014/main" id="{FEFBDDE8-2989-4F7F-B658-D4DA45FC356A}"/>
              </a:ext>
            </a:extLst>
          </p:cNvPr>
          <p:cNvCxnSpPr/>
          <p:nvPr/>
        </p:nvCxnSpPr>
        <p:spPr>
          <a:xfrm flipV="1">
            <a:off x="8228278" y="3076898"/>
            <a:ext cx="7804" cy="1628451"/>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DD47A642-B1EE-4A4C-A2AE-DC3E74865A65}"/>
              </a:ext>
            </a:extLst>
          </p:cNvPr>
          <p:cNvSpPr/>
          <p:nvPr/>
        </p:nvSpPr>
        <p:spPr>
          <a:xfrm>
            <a:off x="7855897" y="2027462"/>
            <a:ext cx="612916" cy="232269"/>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C: 6</a:t>
            </a:r>
          </a:p>
        </p:txBody>
      </p:sp>
      <p:cxnSp>
        <p:nvCxnSpPr>
          <p:cNvPr id="29" name="Straight Arrow Connector 28">
            <a:extLst>
              <a:ext uri="{FF2B5EF4-FFF2-40B4-BE49-F238E27FC236}">
                <a16:creationId xmlns:a16="http://schemas.microsoft.com/office/drawing/2014/main" id="{CFCFD59C-1858-415C-9C08-6064D5807B7C}"/>
              </a:ext>
            </a:extLst>
          </p:cNvPr>
          <p:cNvCxnSpPr/>
          <p:nvPr/>
        </p:nvCxnSpPr>
        <p:spPr>
          <a:xfrm flipV="1">
            <a:off x="8374054" y="2430467"/>
            <a:ext cx="426942" cy="164751"/>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48B1B4CA-E7CA-4421-A205-6EA59872A0A1}"/>
              </a:ext>
            </a:extLst>
          </p:cNvPr>
          <p:cNvSpPr/>
          <p:nvPr/>
        </p:nvSpPr>
        <p:spPr>
          <a:xfrm>
            <a:off x="9750034" y="2019383"/>
            <a:ext cx="761151" cy="292511"/>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C: 6</a:t>
            </a:r>
          </a:p>
        </p:txBody>
      </p:sp>
      <p:cxnSp>
        <p:nvCxnSpPr>
          <p:cNvPr id="31" name="Straight Arrow Connector 30">
            <a:extLst>
              <a:ext uri="{FF2B5EF4-FFF2-40B4-BE49-F238E27FC236}">
                <a16:creationId xmlns:a16="http://schemas.microsoft.com/office/drawing/2014/main" id="{458770A4-E4A2-4DCB-8B2D-B8153EB201A2}"/>
              </a:ext>
            </a:extLst>
          </p:cNvPr>
          <p:cNvCxnSpPr/>
          <p:nvPr/>
        </p:nvCxnSpPr>
        <p:spPr>
          <a:xfrm>
            <a:off x="9551141" y="2352995"/>
            <a:ext cx="377729" cy="263660"/>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412646E8-CA03-4738-9515-FC9AA57647C7}"/>
              </a:ext>
            </a:extLst>
          </p:cNvPr>
          <p:cNvSpPr/>
          <p:nvPr/>
        </p:nvSpPr>
        <p:spPr>
          <a:xfrm>
            <a:off x="10645340" y="2950651"/>
            <a:ext cx="621221" cy="279455"/>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C: 6</a:t>
            </a:r>
          </a:p>
        </p:txBody>
      </p:sp>
      <p:cxnSp>
        <p:nvCxnSpPr>
          <p:cNvPr id="33" name="Straight Arrow Connector 32">
            <a:extLst>
              <a:ext uri="{FF2B5EF4-FFF2-40B4-BE49-F238E27FC236}">
                <a16:creationId xmlns:a16="http://schemas.microsoft.com/office/drawing/2014/main" id="{4884F810-05EB-4978-B557-5CC48F37565A}"/>
              </a:ext>
            </a:extLst>
          </p:cNvPr>
          <p:cNvCxnSpPr/>
          <p:nvPr/>
        </p:nvCxnSpPr>
        <p:spPr>
          <a:xfrm>
            <a:off x="10476802" y="3090379"/>
            <a:ext cx="219412" cy="441172"/>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4EBA1699-A7DF-46E0-8B05-E21A53B313F2}"/>
              </a:ext>
            </a:extLst>
          </p:cNvPr>
          <p:cNvSpPr/>
          <p:nvPr/>
        </p:nvSpPr>
        <p:spPr>
          <a:xfrm>
            <a:off x="10652367" y="4452795"/>
            <a:ext cx="708517" cy="245760"/>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C: 6</a:t>
            </a:r>
          </a:p>
        </p:txBody>
      </p:sp>
      <p:cxnSp>
        <p:nvCxnSpPr>
          <p:cNvPr id="35" name="Straight Arrow Connector 34">
            <a:extLst>
              <a:ext uri="{FF2B5EF4-FFF2-40B4-BE49-F238E27FC236}">
                <a16:creationId xmlns:a16="http://schemas.microsoft.com/office/drawing/2014/main" id="{ED5068F2-57D6-42E8-AD61-AEE572394F4D}"/>
              </a:ext>
            </a:extLst>
          </p:cNvPr>
          <p:cNvCxnSpPr/>
          <p:nvPr/>
        </p:nvCxnSpPr>
        <p:spPr>
          <a:xfrm flipH="1">
            <a:off x="10486918" y="4243494"/>
            <a:ext cx="229452" cy="526470"/>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547B100-715F-4DAE-8DFD-11E0EBABA147}"/>
              </a:ext>
            </a:extLst>
          </p:cNvPr>
          <p:cNvCxnSpPr/>
          <p:nvPr/>
        </p:nvCxnSpPr>
        <p:spPr>
          <a:xfrm flipH="1">
            <a:off x="9474831" y="5101071"/>
            <a:ext cx="454039" cy="299972"/>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0C4B61D1-068D-4A0F-ACDF-386F8FCDC589}"/>
              </a:ext>
            </a:extLst>
          </p:cNvPr>
          <p:cNvSpPr/>
          <p:nvPr/>
        </p:nvSpPr>
        <p:spPr>
          <a:xfrm>
            <a:off x="9648094" y="5324843"/>
            <a:ext cx="838824" cy="281202"/>
          </a:xfrm>
          <a:prstGeom prst="rect">
            <a:avLst/>
          </a:prstGeom>
          <a:solidFill>
            <a:srgbClr val="1D3064"/>
          </a:solidFill>
          <a:ln>
            <a:no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b="1" dirty="0">
                <a:solidFill>
                  <a:schemeClr val="bg1"/>
                </a:solidFill>
                <a:latin typeface="+mj-lt"/>
              </a:rPr>
              <a:t>C: 6</a:t>
            </a:r>
          </a:p>
        </p:txBody>
      </p:sp>
      <p:pic>
        <p:nvPicPr>
          <p:cNvPr id="38" name="Picture 13" descr="C:\Documents and Settings\dd\Local Settings\Temporary Internet Files\Content.IE5\0JAXMH8Z\MC900434713[1].wmf">
            <a:extLst>
              <a:ext uri="{FF2B5EF4-FFF2-40B4-BE49-F238E27FC236}">
                <a16:creationId xmlns:a16="http://schemas.microsoft.com/office/drawing/2014/main" id="{3F4BDAFF-3DE3-4392-9FEE-6E979FA1537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199788" y="5022609"/>
            <a:ext cx="669420" cy="702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5966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2" end="2"/>
                                            </p:txEl>
                                          </p:spTgt>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9"/>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0"/>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11"/>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12"/>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13"/>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4"/>
                                        </p:tgtEl>
                                        <p:attrNameLst>
                                          <p:attrName>style.visibility</p:attrName>
                                        </p:attrNameLst>
                                      </p:cBhvr>
                                      <p:to>
                                        <p:strVal val="hidden"/>
                                      </p:to>
                                    </p:set>
                                  </p:childTnLst>
                                </p:cTn>
                              </p:par>
                              <p:par>
                                <p:cTn id="55" presetID="1"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15"/>
                                        </p:tgtEl>
                                        <p:attrNameLst>
                                          <p:attrName>style.visibility</p:attrName>
                                        </p:attrNameLst>
                                      </p:cBhvr>
                                      <p:to>
                                        <p:strVal val="hidden"/>
                                      </p:to>
                                    </p:set>
                                  </p:childTnLst>
                                </p:cTn>
                              </p:par>
                              <p:par>
                                <p:cTn id="63" presetID="1" presetClass="exit" presetSubtype="0" fill="hold" nodeType="withEffect">
                                  <p:stCondLst>
                                    <p:cond delay="0"/>
                                  </p:stCondLst>
                                  <p:childTnLst>
                                    <p:set>
                                      <p:cBhvr>
                                        <p:cTn id="64" dur="1" fill="hold">
                                          <p:stCondLst>
                                            <p:cond delay="0"/>
                                          </p:stCondLst>
                                        </p:cTn>
                                        <p:tgtEl>
                                          <p:spTgt spid="16"/>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xit" presetSubtype="0" fill="hold" grpId="1" nodeType="clickEffect">
                                  <p:stCondLst>
                                    <p:cond delay="0"/>
                                  </p:stCondLst>
                                  <p:childTnLst>
                                    <p:set>
                                      <p:cBhvr>
                                        <p:cTn id="72" dur="1" fill="hold">
                                          <p:stCondLst>
                                            <p:cond delay="0"/>
                                          </p:stCondLst>
                                        </p:cTn>
                                        <p:tgtEl>
                                          <p:spTgt spid="17"/>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18"/>
                                        </p:tgtEl>
                                        <p:attrNameLst>
                                          <p:attrName>style.visibility</p:attrName>
                                        </p:attrNameLst>
                                      </p:cBhvr>
                                      <p:to>
                                        <p:strVal val="hidden"/>
                                      </p:to>
                                    </p:set>
                                  </p:childTnLst>
                                </p:cTn>
                              </p:par>
                              <p:par>
                                <p:cTn id="75" presetID="1" presetClass="entr" presetSubtype="0"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1" nodeType="clickEffect">
                                  <p:stCondLst>
                                    <p:cond delay="0"/>
                                  </p:stCondLst>
                                  <p:childTnLst>
                                    <p:set>
                                      <p:cBhvr>
                                        <p:cTn id="82" dur="1" fill="hold">
                                          <p:stCondLst>
                                            <p:cond delay="0"/>
                                          </p:stCondLst>
                                        </p:cTn>
                                        <p:tgtEl>
                                          <p:spTgt spid="19"/>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20"/>
                                        </p:tgtEl>
                                        <p:attrNameLst>
                                          <p:attrName>style.visibility</p:attrName>
                                        </p:attrNameLst>
                                      </p:cBhvr>
                                      <p:to>
                                        <p:strVal val="hidden"/>
                                      </p:to>
                                    </p:set>
                                  </p:childTnLst>
                                </p:cTn>
                              </p:par>
                              <p:par>
                                <p:cTn id="85" presetID="1" presetClass="entr" presetSubtype="0" fill="hold" grpId="0" nodeType="withEffect">
                                  <p:stCondLst>
                                    <p:cond delay="0"/>
                                  </p:stCondLst>
                                  <p:childTnLst>
                                    <p:set>
                                      <p:cBhvr>
                                        <p:cTn id="86" dur="1" fill="hold">
                                          <p:stCondLst>
                                            <p:cond delay="0"/>
                                          </p:stCondLst>
                                        </p:cTn>
                                        <p:tgtEl>
                                          <p:spTgt spid="21"/>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grpId="1" nodeType="clickEffect">
                                  <p:stCondLst>
                                    <p:cond delay="0"/>
                                  </p:stCondLst>
                                  <p:childTnLst>
                                    <p:set>
                                      <p:cBhvr>
                                        <p:cTn id="92" dur="1" fill="hold">
                                          <p:stCondLst>
                                            <p:cond delay="0"/>
                                          </p:stCondLst>
                                        </p:cTn>
                                        <p:tgtEl>
                                          <p:spTgt spid="21"/>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22"/>
                                        </p:tgtEl>
                                        <p:attrNameLst>
                                          <p:attrName>style.visibility</p:attrName>
                                        </p:attrNameLst>
                                      </p:cBhvr>
                                      <p:to>
                                        <p:strVal val="hidden"/>
                                      </p:to>
                                    </p:set>
                                  </p:childTnLst>
                                </p:cTn>
                              </p:par>
                              <p:par>
                                <p:cTn id="95" presetID="1" presetClass="entr" presetSubtype="0" fill="hold" nodeType="withEffect">
                                  <p:stCondLst>
                                    <p:cond delay="0"/>
                                  </p:stCondLst>
                                  <p:childTnLst>
                                    <p:set>
                                      <p:cBhvr>
                                        <p:cTn id="96" dur="1" fill="hold">
                                          <p:stCondLst>
                                            <p:cond delay="0"/>
                                          </p:stCondLst>
                                        </p:cTn>
                                        <p:tgtEl>
                                          <p:spTgt spid="8">
                                            <p:txEl>
                                              <p:pRg st="3" end="3"/>
                                            </p:txEl>
                                          </p:spTgt>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8">
                                            <p:txEl>
                                              <p:pRg st="4" end="4"/>
                                            </p:txEl>
                                          </p:spTgt>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8">
                                            <p:txEl>
                                              <p:pRg st="5" end="5"/>
                                            </p:txEl>
                                          </p:spTgt>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38"/>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24"/>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1" nodeType="clickEffect">
                                  <p:stCondLst>
                                    <p:cond delay="0"/>
                                  </p:stCondLst>
                                  <p:childTnLst>
                                    <p:set>
                                      <p:cBhvr>
                                        <p:cTn id="110" dur="1" fill="hold">
                                          <p:stCondLst>
                                            <p:cond delay="0"/>
                                          </p:stCondLst>
                                        </p:cTn>
                                        <p:tgtEl>
                                          <p:spTgt spid="23"/>
                                        </p:tgtEl>
                                        <p:attrNameLst>
                                          <p:attrName>style.visibility</p:attrName>
                                        </p:attrNameLst>
                                      </p:cBhvr>
                                      <p:to>
                                        <p:strVal val="hidden"/>
                                      </p:to>
                                    </p:set>
                                  </p:childTnLst>
                                </p:cTn>
                              </p:par>
                              <p:par>
                                <p:cTn id="111" presetID="1" presetClass="exit" presetSubtype="0" fill="hold" nodeType="withEffect">
                                  <p:stCondLst>
                                    <p:cond delay="0"/>
                                  </p:stCondLst>
                                  <p:childTnLst>
                                    <p:set>
                                      <p:cBhvr>
                                        <p:cTn id="112" dur="1" fill="hold">
                                          <p:stCondLst>
                                            <p:cond delay="0"/>
                                          </p:stCondLst>
                                        </p:cTn>
                                        <p:tgtEl>
                                          <p:spTgt spid="24"/>
                                        </p:tgtEl>
                                        <p:attrNameLst>
                                          <p:attrName>style.visibility</p:attrName>
                                        </p:attrNameLst>
                                      </p:cBhvr>
                                      <p:to>
                                        <p:strVal val="hidden"/>
                                      </p:to>
                                    </p:set>
                                  </p:childTnLst>
                                </p:cTn>
                              </p:par>
                              <p:par>
                                <p:cTn id="113" presetID="1" presetClass="entr" presetSubtype="0" fill="hold" grpId="0" nodeType="withEffect">
                                  <p:stCondLst>
                                    <p:cond delay="0"/>
                                  </p:stCondLst>
                                  <p:childTnLst>
                                    <p:set>
                                      <p:cBhvr>
                                        <p:cTn id="114" dur="1" fill="hold">
                                          <p:stCondLst>
                                            <p:cond delay="0"/>
                                          </p:stCondLst>
                                        </p:cTn>
                                        <p:tgtEl>
                                          <p:spTgt spid="25"/>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26"/>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xit" presetSubtype="0" fill="hold" grpId="1" nodeType="clickEffect">
                                  <p:stCondLst>
                                    <p:cond delay="0"/>
                                  </p:stCondLst>
                                  <p:childTnLst>
                                    <p:set>
                                      <p:cBhvr>
                                        <p:cTn id="120" dur="1" fill="hold">
                                          <p:stCondLst>
                                            <p:cond delay="0"/>
                                          </p:stCondLst>
                                        </p:cTn>
                                        <p:tgtEl>
                                          <p:spTgt spid="25"/>
                                        </p:tgtEl>
                                        <p:attrNameLst>
                                          <p:attrName>style.visibility</p:attrName>
                                        </p:attrNameLst>
                                      </p:cBhvr>
                                      <p:to>
                                        <p:strVal val="hidden"/>
                                      </p:to>
                                    </p:set>
                                  </p:childTnLst>
                                </p:cTn>
                              </p:par>
                              <p:par>
                                <p:cTn id="121" presetID="1" presetClass="exit" presetSubtype="0" fill="hold" nodeType="withEffect">
                                  <p:stCondLst>
                                    <p:cond delay="0"/>
                                  </p:stCondLst>
                                  <p:childTnLst>
                                    <p:set>
                                      <p:cBhvr>
                                        <p:cTn id="122" dur="1" fill="hold">
                                          <p:stCondLst>
                                            <p:cond delay="0"/>
                                          </p:stCondLst>
                                        </p:cTn>
                                        <p:tgtEl>
                                          <p:spTgt spid="26"/>
                                        </p:tgtEl>
                                        <p:attrNameLst>
                                          <p:attrName>style.visibility</p:attrName>
                                        </p:attrNameLst>
                                      </p:cBhvr>
                                      <p:to>
                                        <p:strVal val="hidden"/>
                                      </p:to>
                                    </p:set>
                                  </p:childTnLst>
                                </p:cTn>
                              </p:par>
                              <p:par>
                                <p:cTn id="123" presetID="1" presetClass="entr" presetSubtype="0" fill="hold" grpId="0" nodeType="withEffect">
                                  <p:stCondLst>
                                    <p:cond delay="0"/>
                                  </p:stCondLst>
                                  <p:childTnLst>
                                    <p:set>
                                      <p:cBhvr>
                                        <p:cTn id="124" dur="1" fill="hold">
                                          <p:stCondLst>
                                            <p:cond delay="0"/>
                                          </p:stCondLst>
                                        </p:cTn>
                                        <p:tgtEl>
                                          <p:spTgt spid="27"/>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29"/>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xit" presetSubtype="0" fill="hold" grpId="1" nodeType="clickEffect">
                                  <p:stCondLst>
                                    <p:cond delay="0"/>
                                  </p:stCondLst>
                                  <p:childTnLst>
                                    <p:set>
                                      <p:cBhvr>
                                        <p:cTn id="130" dur="1" fill="hold">
                                          <p:stCondLst>
                                            <p:cond delay="0"/>
                                          </p:stCondLst>
                                        </p:cTn>
                                        <p:tgtEl>
                                          <p:spTgt spid="27"/>
                                        </p:tgtEl>
                                        <p:attrNameLst>
                                          <p:attrName>style.visibility</p:attrName>
                                        </p:attrNameLst>
                                      </p:cBhvr>
                                      <p:to>
                                        <p:strVal val="hidden"/>
                                      </p:to>
                                    </p:set>
                                  </p:childTnLst>
                                </p:cTn>
                              </p:par>
                              <p:par>
                                <p:cTn id="131" presetID="1" presetClass="exit" presetSubtype="0" fill="hold" nodeType="withEffect">
                                  <p:stCondLst>
                                    <p:cond delay="0"/>
                                  </p:stCondLst>
                                  <p:childTnLst>
                                    <p:set>
                                      <p:cBhvr>
                                        <p:cTn id="132" dur="1" fill="hold">
                                          <p:stCondLst>
                                            <p:cond delay="0"/>
                                          </p:stCondLst>
                                        </p:cTn>
                                        <p:tgtEl>
                                          <p:spTgt spid="29"/>
                                        </p:tgtEl>
                                        <p:attrNameLst>
                                          <p:attrName>style.visibility</p:attrName>
                                        </p:attrNameLst>
                                      </p:cBhvr>
                                      <p:to>
                                        <p:strVal val="hidden"/>
                                      </p:to>
                                    </p:set>
                                  </p:childTnLst>
                                </p:cTn>
                              </p:par>
                              <p:par>
                                <p:cTn id="133" presetID="1" presetClass="entr" presetSubtype="0" fill="hold" grpId="0" nodeType="withEffect">
                                  <p:stCondLst>
                                    <p:cond delay="0"/>
                                  </p:stCondLst>
                                  <p:childTnLst>
                                    <p:set>
                                      <p:cBhvr>
                                        <p:cTn id="134" dur="1" fill="hold">
                                          <p:stCondLst>
                                            <p:cond delay="0"/>
                                          </p:stCondLst>
                                        </p:cTn>
                                        <p:tgtEl>
                                          <p:spTgt spid="30"/>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31"/>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xit" presetSubtype="0" fill="hold" grpId="1" nodeType="clickEffect">
                                  <p:stCondLst>
                                    <p:cond delay="0"/>
                                  </p:stCondLst>
                                  <p:childTnLst>
                                    <p:set>
                                      <p:cBhvr>
                                        <p:cTn id="140" dur="1" fill="hold">
                                          <p:stCondLst>
                                            <p:cond delay="0"/>
                                          </p:stCondLst>
                                        </p:cTn>
                                        <p:tgtEl>
                                          <p:spTgt spid="30"/>
                                        </p:tgtEl>
                                        <p:attrNameLst>
                                          <p:attrName>style.visibility</p:attrName>
                                        </p:attrNameLst>
                                      </p:cBhvr>
                                      <p:to>
                                        <p:strVal val="hidden"/>
                                      </p:to>
                                    </p:set>
                                  </p:childTnLst>
                                </p:cTn>
                              </p:par>
                              <p:par>
                                <p:cTn id="141" presetID="1" presetClass="exit" presetSubtype="0" fill="hold" nodeType="withEffect">
                                  <p:stCondLst>
                                    <p:cond delay="0"/>
                                  </p:stCondLst>
                                  <p:childTnLst>
                                    <p:set>
                                      <p:cBhvr>
                                        <p:cTn id="142" dur="1" fill="hold">
                                          <p:stCondLst>
                                            <p:cond delay="0"/>
                                          </p:stCondLst>
                                        </p:cTn>
                                        <p:tgtEl>
                                          <p:spTgt spid="31"/>
                                        </p:tgtEl>
                                        <p:attrNameLst>
                                          <p:attrName>style.visibility</p:attrName>
                                        </p:attrNameLst>
                                      </p:cBhvr>
                                      <p:to>
                                        <p:strVal val="hidden"/>
                                      </p:to>
                                    </p:set>
                                  </p:childTnLst>
                                </p:cTn>
                              </p:par>
                              <p:par>
                                <p:cTn id="143" presetID="1" presetClass="entr" presetSubtype="0" fill="hold" grpId="0" nodeType="withEffect">
                                  <p:stCondLst>
                                    <p:cond delay="0"/>
                                  </p:stCondLst>
                                  <p:childTnLst>
                                    <p:set>
                                      <p:cBhvr>
                                        <p:cTn id="144" dur="1" fill="hold">
                                          <p:stCondLst>
                                            <p:cond delay="0"/>
                                          </p:stCondLst>
                                        </p:cTn>
                                        <p:tgtEl>
                                          <p:spTgt spid="32"/>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33"/>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xit" presetSubtype="0" fill="hold" grpId="1" nodeType="clickEffect">
                                  <p:stCondLst>
                                    <p:cond delay="0"/>
                                  </p:stCondLst>
                                  <p:childTnLst>
                                    <p:set>
                                      <p:cBhvr>
                                        <p:cTn id="150" dur="1" fill="hold">
                                          <p:stCondLst>
                                            <p:cond delay="0"/>
                                          </p:stCondLst>
                                        </p:cTn>
                                        <p:tgtEl>
                                          <p:spTgt spid="32"/>
                                        </p:tgtEl>
                                        <p:attrNameLst>
                                          <p:attrName>style.visibility</p:attrName>
                                        </p:attrNameLst>
                                      </p:cBhvr>
                                      <p:to>
                                        <p:strVal val="hidden"/>
                                      </p:to>
                                    </p:set>
                                  </p:childTnLst>
                                </p:cTn>
                              </p:par>
                              <p:par>
                                <p:cTn id="151" presetID="1" presetClass="exit" presetSubtype="0" fill="hold" nodeType="withEffect">
                                  <p:stCondLst>
                                    <p:cond delay="0"/>
                                  </p:stCondLst>
                                  <p:childTnLst>
                                    <p:set>
                                      <p:cBhvr>
                                        <p:cTn id="152" dur="1" fill="hold">
                                          <p:stCondLst>
                                            <p:cond delay="0"/>
                                          </p:stCondLst>
                                        </p:cTn>
                                        <p:tgtEl>
                                          <p:spTgt spid="33"/>
                                        </p:tgtEl>
                                        <p:attrNameLst>
                                          <p:attrName>style.visibility</p:attrName>
                                        </p:attrNameLst>
                                      </p:cBhvr>
                                      <p:to>
                                        <p:strVal val="hidden"/>
                                      </p:to>
                                    </p:set>
                                  </p:childTnLst>
                                </p:cTn>
                              </p:par>
                              <p:par>
                                <p:cTn id="153" presetID="1" presetClass="entr" presetSubtype="0" fill="hold" grpId="0" nodeType="withEffect">
                                  <p:stCondLst>
                                    <p:cond delay="0"/>
                                  </p:stCondLst>
                                  <p:childTnLst>
                                    <p:set>
                                      <p:cBhvr>
                                        <p:cTn id="154" dur="1" fill="hold">
                                          <p:stCondLst>
                                            <p:cond delay="0"/>
                                          </p:stCondLst>
                                        </p:cTn>
                                        <p:tgtEl>
                                          <p:spTgt spid="34"/>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35"/>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xit" presetSubtype="0" fill="hold" grpId="1" nodeType="clickEffect">
                                  <p:stCondLst>
                                    <p:cond delay="0"/>
                                  </p:stCondLst>
                                  <p:childTnLst>
                                    <p:set>
                                      <p:cBhvr>
                                        <p:cTn id="160" dur="1" fill="hold">
                                          <p:stCondLst>
                                            <p:cond delay="0"/>
                                          </p:stCondLst>
                                        </p:cTn>
                                        <p:tgtEl>
                                          <p:spTgt spid="34"/>
                                        </p:tgtEl>
                                        <p:attrNameLst>
                                          <p:attrName>style.visibility</p:attrName>
                                        </p:attrNameLst>
                                      </p:cBhvr>
                                      <p:to>
                                        <p:strVal val="hidden"/>
                                      </p:to>
                                    </p:set>
                                  </p:childTnLst>
                                </p:cTn>
                              </p:par>
                              <p:par>
                                <p:cTn id="161" presetID="1" presetClass="exit" presetSubtype="0" fill="hold" nodeType="withEffect">
                                  <p:stCondLst>
                                    <p:cond delay="0"/>
                                  </p:stCondLst>
                                  <p:childTnLst>
                                    <p:set>
                                      <p:cBhvr>
                                        <p:cTn id="162" dur="1" fill="hold">
                                          <p:stCondLst>
                                            <p:cond delay="0"/>
                                          </p:stCondLst>
                                        </p:cTn>
                                        <p:tgtEl>
                                          <p:spTgt spid="35"/>
                                        </p:tgtEl>
                                        <p:attrNameLst>
                                          <p:attrName>style.visibility</p:attrName>
                                        </p:attrNameLst>
                                      </p:cBhvr>
                                      <p:to>
                                        <p:strVal val="hidden"/>
                                      </p:to>
                                    </p:set>
                                  </p:childTnLst>
                                </p:cTn>
                              </p:par>
                              <p:par>
                                <p:cTn id="163" presetID="1" presetClass="entr" presetSubtype="0" fill="hold" grpId="0" nodeType="withEffect">
                                  <p:stCondLst>
                                    <p:cond delay="0"/>
                                  </p:stCondLst>
                                  <p:childTnLst>
                                    <p:set>
                                      <p:cBhvr>
                                        <p:cTn id="164" dur="1" fill="hold">
                                          <p:stCondLst>
                                            <p:cond delay="0"/>
                                          </p:stCondLst>
                                        </p:cTn>
                                        <p:tgtEl>
                                          <p:spTgt spid="37"/>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0"/>
                                          </p:stCondLst>
                                        </p:cTn>
                                        <p:tgtEl>
                                          <p:spTgt spid="36"/>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xit" presetSubtype="0" fill="hold" grpId="1" nodeType="clickEffect">
                                  <p:stCondLst>
                                    <p:cond delay="0"/>
                                  </p:stCondLst>
                                  <p:childTnLst>
                                    <p:set>
                                      <p:cBhvr>
                                        <p:cTn id="170" dur="1" fill="hold">
                                          <p:stCondLst>
                                            <p:cond delay="0"/>
                                          </p:stCondLst>
                                        </p:cTn>
                                        <p:tgtEl>
                                          <p:spTgt spid="37"/>
                                        </p:tgtEl>
                                        <p:attrNameLst>
                                          <p:attrName>style.visibility</p:attrName>
                                        </p:attrNameLst>
                                      </p:cBhvr>
                                      <p:to>
                                        <p:strVal val="hidden"/>
                                      </p:to>
                                    </p:set>
                                  </p:childTnLst>
                                </p:cTn>
                              </p:par>
                              <p:par>
                                <p:cTn id="171" presetID="1" presetClass="exit" presetSubtype="0" fill="hold" nodeType="withEffect">
                                  <p:stCondLst>
                                    <p:cond delay="0"/>
                                  </p:stCondLst>
                                  <p:childTnLst>
                                    <p:set>
                                      <p:cBhvr>
                                        <p:cTn id="172" dur="1" fill="hold">
                                          <p:stCondLst>
                                            <p:cond delay="0"/>
                                          </p:stCondLst>
                                        </p:cTn>
                                        <p:tgtEl>
                                          <p:spTgt spid="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9" grpId="0" animBg="1"/>
      <p:bldP spid="9" grpId="1" animBg="1"/>
      <p:bldP spid="11" grpId="0" animBg="1"/>
      <p:bldP spid="11" grpId="1" animBg="1"/>
      <p:bldP spid="13" grpId="0" animBg="1"/>
      <p:bldP spid="13" grpId="1" animBg="1"/>
      <p:bldP spid="15" grpId="0" animBg="1"/>
      <p:bldP spid="15" grpId="1" animBg="1"/>
      <p:bldP spid="17" grpId="0" animBg="1"/>
      <p:bldP spid="17" grpId="1" animBg="1"/>
      <p:bldP spid="19" grpId="0" animBg="1"/>
      <p:bldP spid="19" grpId="1" animBg="1"/>
      <p:bldP spid="21" grpId="0" animBg="1"/>
      <p:bldP spid="21" grpId="1" animBg="1"/>
      <p:bldP spid="23" grpId="0" animBg="1"/>
      <p:bldP spid="23" grpId="1" animBg="1"/>
      <p:bldP spid="25" grpId="0" animBg="1"/>
      <p:bldP spid="25" grpId="1" animBg="1"/>
      <p:bldP spid="27" grpId="0" animBg="1"/>
      <p:bldP spid="27" grpId="1" animBg="1"/>
      <p:bldP spid="30" grpId="0" animBg="1"/>
      <p:bldP spid="30" grpId="1" animBg="1"/>
      <p:bldP spid="32" grpId="0" animBg="1"/>
      <p:bldP spid="32" grpId="1" animBg="1"/>
      <p:bldP spid="34" grpId="0" animBg="1"/>
      <p:bldP spid="34" grpId="1" animBg="1"/>
      <p:bldP spid="37" grpId="0" animBg="1"/>
      <p:bldP spid="37" grpId="1"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Comparison of Election Algorithms</a:t>
            </a:r>
          </a:p>
        </p:txBody>
      </p:sp>
      <p:sp>
        <p:nvSpPr>
          <p:cNvPr id="39" name="Content Placeholder 2">
            <a:extLst>
              <a:ext uri="{FF2B5EF4-FFF2-40B4-BE49-F238E27FC236}">
                <a16:creationId xmlns:a16="http://schemas.microsoft.com/office/drawing/2014/main" id="{BE3AFDB8-0D67-41BD-94DC-49029E869BEC}"/>
              </a:ext>
            </a:extLst>
          </p:cNvPr>
          <p:cNvSpPr>
            <a:spLocks noGrp="1"/>
          </p:cNvSpPr>
          <p:nvPr>
            <p:ph idx="1"/>
          </p:nvPr>
        </p:nvSpPr>
        <p:spPr>
          <a:xfrm>
            <a:off x="581025" y="5036587"/>
            <a:ext cx="8439150" cy="568261"/>
          </a:xfrm>
        </p:spPr>
        <p:txBody>
          <a:bodyPr>
            <a:noAutofit/>
          </a:bodyPr>
          <a:lstStyle/>
          <a:p>
            <a:pPr marL="0" indent="0">
              <a:buNone/>
            </a:pPr>
            <a:r>
              <a:rPr lang="en-US" altLang="en-US" b="1" dirty="0">
                <a:latin typeface="+mj-lt"/>
              </a:rPr>
              <a:t>Assume that: n = Number of processes in the distributed system</a:t>
            </a:r>
          </a:p>
        </p:txBody>
      </p:sp>
      <p:graphicFrame>
        <p:nvGraphicFramePr>
          <p:cNvPr id="40" name="Content Placeholder 3">
            <a:extLst>
              <a:ext uri="{FF2B5EF4-FFF2-40B4-BE49-F238E27FC236}">
                <a16:creationId xmlns:a16="http://schemas.microsoft.com/office/drawing/2014/main" id="{E536EDE1-D758-439B-8AF0-C16068F0E14B}"/>
              </a:ext>
            </a:extLst>
          </p:cNvPr>
          <p:cNvGraphicFramePr>
            <a:graphicFrameLocks/>
          </p:cNvGraphicFramePr>
          <p:nvPr/>
        </p:nvGraphicFramePr>
        <p:xfrm>
          <a:off x="442914" y="1463041"/>
          <a:ext cx="10606089" cy="2804158"/>
        </p:xfrm>
        <a:graphic>
          <a:graphicData uri="http://schemas.openxmlformats.org/drawingml/2006/table">
            <a:tbl>
              <a:tblPr firstRow="1" bandRow="1">
                <a:tableStyleId>{21E4AEA4-8DFA-4A89-87EB-49C32662AFE0}</a:tableStyleId>
              </a:tblPr>
              <a:tblGrid>
                <a:gridCol w="2514599">
                  <a:extLst>
                    <a:ext uri="{9D8B030D-6E8A-4147-A177-3AD203B41FA5}">
                      <a16:colId xmlns:a16="http://schemas.microsoft.com/office/drawing/2014/main" val="20000"/>
                    </a:ext>
                  </a:extLst>
                </a:gridCol>
                <a:gridCol w="3341078">
                  <a:extLst>
                    <a:ext uri="{9D8B030D-6E8A-4147-A177-3AD203B41FA5}">
                      <a16:colId xmlns:a16="http://schemas.microsoft.com/office/drawing/2014/main" val="20001"/>
                    </a:ext>
                  </a:extLst>
                </a:gridCol>
                <a:gridCol w="4750412">
                  <a:extLst>
                    <a:ext uri="{9D8B030D-6E8A-4147-A177-3AD203B41FA5}">
                      <a16:colId xmlns:a16="http://schemas.microsoft.com/office/drawing/2014/main" val="20002"/>
                    </a:ext>
                  </a:extLst>
                </a:gridCol>
              </a:tblGrid>
              <a:tr h="955258">
                <a:tc>
                  <a:txBody>
                    <a:bodyPr/>
                    <a:lstStyle/>
                    <a:p>
                      <a:pPr algn="ctr"/>
                      <a:r>
                        <a:rPr lang="en-US" sz="2400" dirty="0"/>
                        <a:t>Algorithm</a:t>
                      </a:r>
                      <a:endParaRPr lang="en-US" sz="2000" dirty="0"/>
                    </a:p>
                  </a:txBody>
                  <a:tcPr marT="45672" marB="45672" anchor="ctr">
                    <a:solidFill>
                      <a:srgbClr val="1D306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t>Number</a:t>
                      </a:r>
                      <a:r>
                        <a:rPr lang="en-US" sz="2400" baseline="0" dirty="0"/>
                        <a:t> of Messages for Electing a Coordinator</a:t>
                      </a:r>
                      <a:endParaRPr lang="en-US" sz="2400" dirty="0"/>
                    </a:p>
                  </a:txBody>
                  <a:tcPr marT="45672" marB="45672" anchor="ctr">
                    <a:solidFill>
                      <a:srgbClr val="1D3064"/>
                    </a:solidFill>
                  </a:tcPr>
                </a:tc>
                <a:tc>
                  <a:txBody>
                    <a:bodyPr/>
                    <a:lstStyle/>
                    <a:p>
                      <a:pPr algn="ctr"/>
                      <a:r>
                        <a:rPr lang="en-US" sz="2400" dirty="0"/>
                        <a:t>Problems</a:t>
                      </a:r>
                      <a:endParaRPr lang="en-US" sz="2000" dirty="0"/>
                    </a:p>
                  </a:txBody>
                  <a:tcPr marT="45672" marB="45672" anchor="ctr">
                    <a:solidFill>
                      <a:srgbClr val="1D3064"/>
                    </a:solidFill>
                  </a:tcPr>
                </a:tc>
                <a:extLst>
                  <a:ext uri="{0D108BD9-81ED-4DB2-BD59-A6C34878D82A}">
                    <a16:rowId xmlns:a16="http://schemas.microsoft.com/office/drawing/2014/main" val="10000"/>
                  </a:ext>
                </a:extLst>
              </a:tr>
              <a:tr h="924450">
                <a:tc>
                  <a:txBody>
                    <a:bodyPr/>
                    <a:lstStyle/>
                    <a:p>
                      <a:pPr algn="ctr"/>
                      <a:r>
                        <a:rPr lang="en-US" sz="2400" b="1" dirty="0"/>
                        <a:t>Bully Algorithm</a:t>
                      </a:r>
                    </a:p>
                  </a:txBody>
                  <a:tcPr marT="45672" marB="45672" anchor="ctr">
                    <a:noFill/>
                  </a:tcPr>
                </a:tc>
                <a:tc>
                  <a:txBody>
                    <a:bodyPr/>
                    <a:lstStyle/>
                    <a:p>
                      <a:pPr algn="ctr"/>
                      <a:endParaRPr lang="en-US" sz="2000" dirty="0"/>
                    </a:p>
                  </a:txBody>
                  <a:tcPr marT="45672" marB="45672" anchor="ctr">
                    <a:noFill/>
                  </a:tcPr>
                </a:tc>
                <a:tc>
                  <a:txBody>
                    <a:bodyPr/>
                    <a:lstStyle/>
                    <a:p>
                      <a:pPr algn="ctr"/>
                      <a:endParaRPr lang="en-US" sz="2000" dirty="0"/>
                    </a:p>
                  </a:txBody>
                  <a:tcPr marT="45672" marB="45672" anchor="ctr">
                    <a:noFill/>
                  </a:tcPr>
                </a:tc>
                <a:extLst>
                  <a:ext uri="{0D108BD9-81ED-4DB2-BD59-A6C34878D82A}">
                    <a16:rowId xmlns:a16="http://schemas.microsoft.com/office/drawing/2014/main" val="10001"/>
                  </a:ext>
                </a:extLst>
              </a:tr>
              <a:tr h="924450">
                <a:tc>
                  <a:txBody>
                    <a:bodyPr/>
                    <a:lstStyle/>
                    <a:p>
                      <a:pPr algn="ctr"/>
                      <a:r>
                        <a:rPr lang="en-US" sz="2400" b="1" dirty="0"/>
                        <a:t>Ring Algorithm</a:t>
                      </a:r>
                    </a:p>
                  </a:txBody>
                  <a:tcPr marT="45672" marB="45672" anchor="ctr">
                    <a:solidFill>
                      <a:schemeClr val="bg1">
                        <a:lumMod val="95000"/>
                      </a:schemeClr>
                    </a:solidFill>
                  </a:tcPr>
                </a:tc>
                <a:tc>
                  <a:txBody>
                    <a:bodyPr/>
                    <a:lstStyle/>
                    <a:p>
                      <a:pPr algn="ctr"/>
                      <a:endParaRPr lang="en-US" sz="2000" dirty="0"/>
                    </a:p>
                  </a:txBody>
                  <a:tcPr marT="45672" marB="45672" anchor="ctr">
                    <a:solidFill>
                      <a:schemeClr val="bg1">
                        <a:lumMod val="95000"/>
                      </a:schemeClr>
                    </a:solidFill>
                  </a:tcPr>
                </a:tc>
                <a:tc>
                  <a:txBody>
                    <a:bodyPr/>
                    <a:lstStyle/>
                    <a:p>
                      <a:pPr algn="ctr"/>
                      <a:endParaRPr lang="en-US" sz="2000" dirty="0"/>
                    </a:p>
                  </a:txBody>
                  <a:tcPr marT="45672" marB="45672" anchor="ctr">
                    <a:solidFill>
                      <a:schemeClr val="bg1">
                        <a:lumMod val="95000"/>
                      </a:schemeClr>
                    </a:solidFill>
                  </a:tcPr>
                </a:tc>
                <a:extLst>
                  <a:ext uri="{0D108BD9-81ED-4DB2-BD59-A6C34878D82A}">
                    <a16:rowId xmlns:a16="http://schemas.microsoft.com/office/drawing/2014/main" val="10002"/>
                  </a:ext>
                </a:extLst>
              </a:tr>
            </a:tbl>
          </a:graphicData>
        </a:graphic>
      </p:graphicFrame>
      <p:sp>
        <p:nvSpPr>
          <p:cNvPr id="41" name="TextBox 40">
            <a:extLst>
              <a:ext uri="{FF2B5EF4-FFF2-40B4-BE49-F238E27FC236}">
                <a16:creationId xmlns:a16="http://schemas.microsoft.com/office/drawing/2014/main" id="{2BBCD88A-4514-42A0-8CA3-917072E560D6}"/>
              </a:ext>
            </a:extLst>
          </p:cNvPr>
          <p:cNvSpPr txBox="1">
            <a:spLocks noChangeArrowheads="1"/>
          </p:cNvSpPr>
          <p:nvPr/>
        </p:nvSpPr>
        <p:spPr bwMode="auto">
          <a:xfrm>
            <a:off x="3914774" y="2756786"/>
            <a:ext cx="10144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800" dirty="0">
                <a:solidFill>
                  <a:schemeClr val="tx1"/>
                </a:solidFill>
                <a:latin typeface="+mj-lt"/>
              </a:rPr>
              <a:t>O(n</a:t>
            </a:r>
            <a:r>
              <a:rPr lang="en-US" altLang="en-US" sz="2800" baseline="50000" dirty="0">
                <a:solidFill>
                  <a:schemeClr val="tx1"/>
                </a:solidFill>
                <a:latin typeface="+mj-lt"/>
              </a:rPr>
              <a:t>2</a:t>
            </a:r>
            <a:r>
              <a:rPr lang="en-US" altLang="en-US" sz="2800" dirty="0">
                <a:solidFill>
                  <a:schemeClr val="tx1"/>
                </a:solidFill>
                <a:latin typeface="+mj-lt"/>
              </a:rPr>
              <a:t>)</a:t>
            </a:r>
          </a:p>
        </p:txBody>
      </p:sp>
      <p:sp>
        <p:nvSpPr>
          <p:cNvPr id="42" name="TextBox 41">
            <a:extLst>
              <a:ext uri="{FF2B5EF4-FFF2-40B4-BE49-F238E27FC236}">
                <a16:creationId xmlns:a16="http://schemas.microsoft.com/office/drawing/2014/main" id="{8360F7DD-0439-4C6C-A8B2-86537CC23EA0}"/>
              </a:ext>
            </a:extLst>
          </p:cNvPr>
          <p:cNvSpPr txBox="1">
            <a:spLocks noChangeArrowheads="1"/>
          </p:cNvSpPr>
          <p:nvPr/>
        </p:nvSpPr>
        <p:spPr bwMode="auto">
          <a:xfrm>
            <a:off x="6448425" y="2653682"/>
            <a:ext cx="4470400" cy="523220"/>
          </a:xfrm>
          <a:prstGeom prst="rect">
            <a:avLst/>
          </a:prstGeom>
          <a:noFill/>
          <a:ln>
            <a:noFill/>
          </a:ln>
        </p:spPr>
        <p:txBody>
          <a:bodyPr wrap="square">
            <a:spAutoFit/>
          </a:bodyPr>
          <a:lstStyle>
            <a:lvl1pPr marL="285750" indent="-285750">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marL="0" indent="0" eaLnBrk="1" hangingPunct="1">
              <a:spcBef>
                <a:spcPct val="0"/>
              </a:spcBef>
              <a:buNone/>
            </a:pPr>
            <a:r>
              <a:rPr lang="en-US" altLang="en-US" sz="2800" dirty="0">
                <a:solidFill>
                  <a:schemeClr val="tx1"/>
                </a:solidFill>
                <a:latin typeface="+mj-lt"/>
              </a:rPr>
              <a:t>Large message overhead</a:t>
            </a:r>
          </a:p>
        </p:txBody>
      </p:sp>
      <p:sp>
        <p:nvSpPr>
          <p:cNvPr id="43" name="TextBox 42">
            <a:extLst>
              <a:ext uri="{FF2B5EF4-FFF2-40B4-BE49-F238E27FC236}">
                <a16:creationId xmlns:a16="http://schemas.microsoft.com/office/drawing/2014/main" id="{8F23FE0E-6C06-4A91-BD2B-D4EB668806F6}"/>
              </a:ext>
            </a:extLst>
          </p:cNvPr>
          <p:cNvSpPr txBox="1">
            <a:spLocks noChangeArrowheads="1"/>
          </p:cNvSpPr>
          <p:nvPr/>
        </p:nvSpPr>
        <p:spPr bwMode="auto">
          <a:xfrm>
            <a:off x="4031984" y="3526174"/>
            <a:ext cx="7799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800" dirty="0">
                <a:solidFill>
                  <a:schemeClr val="tx1"/>
                </a:solidFill>
                <a:latin typeface="+mj-lt"/>
              </a:rPr>
              <a:t>2n</a:t>
            </a:r>
          </a:p>
        </p:txBody>
      </p:sp>
      <p:sp>
        <p:nvSpPr>
          <p:cNvPr id="44" name="TextBox 43">
            <a:extLst>
              <a:ext uri="{FF2B5EF4-FFF2-40B4-BE49-F238E27FC236}">
                <a16:creationId xmlns:a16="http://schemas.microsoft.com/office/drawing/2014/main" id="{3EB753B2-F806-4DE1-B090-2475BF4AD75F}"/>
              </a:ext>
            </a:extLst>
          </p:cNvPr>
          <p:cNvSpPr txBox="1">
            <a:spLocks noChangeArrowheads="1"/>
          </p:cNvSpPr>
          <p:nvPr/>
        </p:nvSpPr>
        <p:spPr bwMode="auto">
          <a:xfrm>
            <a:off x="6423554" y="3309747"/>
            <a:ext cx="456353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marL="0" indent="0" eaLnBrk="1" hangingPunct="1">
              <a:spcBef>
                <a:spcPct val="0"/>
              </a:spcBef>
              <a:buNone/>
            </a:pPr>
            <a:r>
              <a:rPr lang="en-US" altLang="en-US" sz="2800" dirty="0">
                <a:solidFill>
                  <a:schemeClr val="tx1"/>
                </a:solidFill>
                <a:latin typeface="+mj-lt"/>
              </a:rPr>
              <a:t>An overlay ring topology is necessary</a:t>
            </a:r>
          </a:p>
        </p:txBody>
      </p:sp>
    </p:spTree>
    <p:extLst>
      <p:ext uri="{BB962C8B-B14F-4D97-AF65-F5344CB8AC3E}">
        <p14:creationId xmlns:p14="http://schemas.microsoft.com/office/powerpoint/2010/main" val="2334128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build="p"/>
      <p:bldP spid="41" grpId="0"/>
      <p:bldP spid="42" grpId="0"/>
      <p:bldP spid="43" grpId="0"/>
      <p:bldP spid="44"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Summary of Election Algorithms</a:t>
            </a:r>
          </a:p>
        </p:txBody>
      </p:sp>
      <p:sp>
        <p:nvSpPr>
          <p:cNvPr id="28" name="Content Placeholder 2">
            <a:extLst>
              <a:ext uri="{FF2B5EF4-FFF2-40B4-BE49-F238E27FC236}">
                <a16:creationId xmlns:a16="http://schemas.microsoft.com/office/drawing/2014/main" id="{05FF24D1-5277-417B-BCE3-776DD62CA93A}"/>
              </a:ext>
            </a:extLst>
          </p:cNvPr>
          <p:cNvSpPr>
            <a:spLocks noGrp="1"/>
          </p:cNvSpPr>
          <p:nvPr>
            <p:ph idx="1"/>
          </p:nvPr>
        </p:nvSpPr>
        <p:spPr/>
        <p:txBody>
          <a:bodyPr>
            <a:normAutofit/>
          </a:bodyPr>
          <a:lstStyle/>
          <a:p>
            <a:r>
              <a:rPr lang="en-US" altLang="en-US" dirty="0"/>
              <a:t>Election algorithms are used for choosing a </a:t>
            </a:r>
            <a:r>
              <a:rPr lang="en-US" altLang="en-US" i="1" dirty="0"/>
              <a:t>unique</a:t>
            </a:r>
            <a:r>
              <a:rPr lang="en-US" altLang="en-US" dirty="0"/>
              <a:t> process that will coordinate certain activities</a:t>
            </a:r>
          </a:p>
          <a:p>
            <a:pPr lvl="4"/>
            <a:endParaRPr lang="en-US" altLang="en-US" sz="1200" dirty="0"/>
          </a:p>
          <a:p>
            <a:r>
              <a:rPr lang="en-US" altLang="en-US" dirty="0"/>
              <a:t>At the end of an election algorithm, all nodes should uniquely identify the coordinator</a:t>
            </a:r>
          </a:p>
          <a:p>
            <a:pPr lvl="3"/>
            <a:endParaRPr lang="en-US" altLang="en-US" sz="1200" dirty="0"/>
          </a:p>
          <a:p>
            <a:r>
              <a:rPr lang="en-US" altLang="en-US" dirty="0"/>
              <a:t>We studied two algorithms for performing elections:</a:t>
            </a:r>
          </a:p>
          <a:p>
            <a:pPr lvl="1"/>
            <a:r>
              <a:rPr lang="en-US" altLang="en-US" sz="2400" b="1" dirty="0">
                <a:solidFill>
                  <a:srgbClr val="1D6199"/>
                </a:solidFill>
              </a:rPr>
              <a:t>Bully algorithm</a:t>
            </a:r>
          </a:p>
          <a:p>
            <a:pPr lvl="2"/>
            <a:r>
              <a:rPr lang="en-US" altLang="en-US" sz="2400" dirty="0"/>
              <a:t>Processes communicate in a distributed manner to elect a coordinator</a:t>
            </a:r>
          </a:p>
          <a:p>
            <a:pPr lvl="1"/>
            <a:r>
              <a:rPr lang="en-US" altLang="en-US" sz="2400" b="1" dirty="0">
                <a:solidFill>
                  <a:srgbClr val="1D6199"/>
                </a:solidFill>
              </a:rPr>
              <a:t>Ring algorithm</a:t>
            </a:r>
          </a:p>
          <a:p>
            <a:pPr lvl="2"/>
            <a:r>
              <a:rPr lang="en-US" altLang="en-US" sz="2400" dirty="0"/>
              <a:t>Processes in a ring topology circulate election messages to choose a coordinator</a:t>
            </a:r>
          </a:p>
        </p:txBody>
      </p:sp>
    </p:spTree>
    <p:extLst>
      <p:ext uri="{BB962C8B-B14F-4D97-AF65-F5344CB8AC3E}">
        <p14:creationId xmlns:p14="http://schemas.microsoft.com/office/powerpoint/2010/main" val="2477497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Elections in Wireless Environments</a:t>
            </a:r>
          </a:p>
        </p:txBody>
      </p:sp>
      <p:sp>
        <p:nvSpPr>
          <p:cNvPr id="28" name="Content Placeholder 2">
            <a:extLst>
              <a:ext uri="{FF2B5EF4-FFF2-40B4-BE49-F238E27FC236}">
                <a16:creationId xmlns:a16="http://schemas.microsoft.com/office/drawing/2014/main" id="{05FF24D1-5277-417B-BCE3-776DD62CA93A}"/>
              </a:ext>
            </a:extLst>
          </p:cNvPr>
          <p:cNvSpPr>
            <a:spLocks noGrp="1"/>
          </p:cNvSpPr>
          <p:nvPr>
            <p:ph idx="1"/>
          </p:nvPr>
        </p:nvSpPr>
        <p:spPr/>
        <p:txBody>
          <a:bodyPr>
            <a:normAutofit/>
          </a:bodyPr>
          <a:lstStyle/>
          <a:p>
            <a:pPr>
              <a:lnSpc>
                <a:spcPct val="110000"/>
              </a:lnSpc>
              <a:spcBef>
                <a:spcPts val="200"/>
              </a:spcBef>
              <a:spcAft>
                <a:spcPts val="200"/>
              </a:spcAft>
            </a:pPr>
            <a:r>
              <a:rPr lang="en-US" altLang="en-US" dirty="0">
                <a:latin typeface="+mj-lt"/>
              </a:rPr>
              <a:t>Traditional algorithms aren’t appropriate.</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Can’t assume reliable message passing or stable network configuration</a:t>
            </a:r>
          </a:p>
          <a:p>
            <a:pPr>
              <a:lnSpc>
                <a:spcPct val="110000"/>
              </a:lnSpc>
              <a:spcBef>
                <a:spcPts val="200"/>
              </a:spcBef>
              <a:spcAft>
                <a:spcPts val="200"/>
              </a:spcAft>
            </a:pPr>
            <a:r>
              <a:rPr lang="en-US" altLang="en-US" dirty="0">
                <a:latin typeface="+mj-lt"/>
              </a:rPr>
              <a:t>This discussion focuses on ad hoc wireless networks but ignores node mobility.</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Nodes connect directly, no common access point, connection is short term</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Often used in multiplayer gaming, on-the-fly file transfers, etc.</a:t>
            </a:r>
          </a:p>
          <a:p>
            <a:pPr marL="265113" lvl="1" indent="-265113">
              <a:lnSpc>
                <a:spcPct val="110000"/>
              </a:lnSpc>
              <a:spcBef>
                <a:spcPts val="200"/>
              </a:spcBef>
              <a:spcAft>
                <a:spcPts val="200"/>
              </a:spcAft>
              <a:buFont typeface="Webdings" panose="05030102010509060703" pitchFamily="18" charset="2"/>
              <a:buChar char=""/>
            </a:pPr>
            <a:r>
              <a:rPr lang="en-US" altLang="en-US" sz="2400" dirty="0">
                <a:latin typeface="+mj-lt"/>
              </a:rPr>
              <a:t>Assumptions</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Wireless algorithms try to find </a:t>
            </a:r>
            <a:r>
              <a:rPr lang="en-US" altLang="en-US" sz="2400" dirty="0">
                <a:solidFill>
                  <a:srgbClr val="1D6199"/>
                </a:solidFill>
                <a:latin typeface="+mj-lt"/>
                <a:ea typeface="Arial" panose="020B0604020202020204" pitchFamily="34" charset="0"/>
              </a:rPr>
              <a:t>the best node </a:t>
            </a:r>
            <a:r>
              <a:rPr lang="en-US" altLang="en-US" sz="2400" dirty="0">
                <a:latin typeface="+mj-lt"/>
                <a:ea typeface="Arial" panose="020B0604020202020204" pitchFamily="34" charset="0"/>
              </a:rPr>
              <a:t>to be coordinator; traditional algorithms are satisfied with any node.</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Any node (the source) can initiate an election by sending an </a:t>
            </a:r>
            <a:r>
              <a:rPr lang="en-US" altLang="en-US" sz="2400" dirty="0">
                <a:solidFill>
                  <a:srgbClr val="1D6199"/>
                </a:solidFill>
                <a:latin typeface="+mj-lt"/>
                <a:ea typeface="Arial" panose="020B0604020202020204" pitchFamily="34" charset="0"/>
              </a:rPr>
              <a:t>ELECTION </a:t>
            </a:r>
            <a:r>
              <a:rPr lang="en-US" altLang="en-US" sz="2400" dirty="0">
                <a:latin typeface="+mj-lt"/>
                <a:ea typeface="Arial" panose="020B0604020202020204" pitchFamily="34" charset="0"/>
              </a:rPr>
              <a:t>message to its neighbors – nodes within range.</a:t>
            </a:r>
          </a:p>
          <a:p>
            <a:pPr lvl="1">
              <a:lnSpc>
                <a:spcPct val="100000"/>
              </a:lnSpc>
              <a:spcBef>
                <a:spcPts val="200"/>
              </a:spcBef>
              <a:spcAft>
                <a:spcPts val="200"/>
              </a:spcAft>
              <a:buFont typeface="Wingdings" panose="05000000000000000000" pitchFamily="2" charset="2"/>
              <a:buChar char="§"/>
            </a:pPr>
            <a:r>
              <a:rPr lang="en-US" altLang="en-US" sz="2400" dirty="0">
                <a:latin typeface="+mj-lt"/>
                <a:ea typeface="Arial" panose="020B0604020202020204" pitchFamily="34" charset="0"/>
              </a:rPr>
              <a:t>When a node receives its first ELECTION message the sender becomes </a:t>
            </a:r>
            <a:r>
              <a:rPr lang="en-US" altLang="en-US" sz="2400" dirty="0">
                <a:solidFill>
                  <a:srgbClr val="1D6199"/>
                </a:solidFill>
                <a:latin typeface="+mj-lt"/>
                <a:ea typeface="Arial" panose="020B0604020202020204" pitchFamily="34" charset="0"/>
              </a:rPr>
              <a:t>its parent node</a:t>
            </a:r>
            <a:r>
              <a:rPr lang="en-US" altLang="en-US" sz="2400" dirty="0">
                <a:latin typeface="+mj-lt"/>
                <a:ea typeface="Arial" panose="020B0604020202020204" pitchFamily="34" charset="0"/>
              </a:rPr>
              <a:t>.</a:t>
            </a:r>
          </a:p>
        </p:txBody>
      </p:sp>
    </p:spTree>
    <p:extLst>
      <p:ext uri="{BB962C8B-B14F-4D97-AF65-F5344CB8AC3E}">
        <p14:creationId xmlns:p14="http://schemas.microsoft.com/office/powerpoint/2010/main" val="595999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Elections in Wireless Environments</a:t>
            </a:r>
          </a:p>
        </p:txBody>
      </p:sp>
      <p:sp>
        <p:nvSpPr>
          <p:cNvPr id="16" name="Content Placeholder 15"/>
          <p:cNvSpPr>
            <a:spLocks noGrp="1"/>
          </p:cNvSpPr>
          <p:nvPr>
            <p:ph idx="1"/>
          </p:nvPr>
        </p:nvSpPr>
        <p:spPr/>
        <p:txBody>
          <a:bodyPr/>
          <a:lstStyle/>
          <a:p>
            <a:r>
              <a:rPr lang="en-US" dirty="0"/>
              <a:t>Node a initiates an </a:t>
            </a:r>
            <a:r>
              <a:rPr lang="en-US" dirty="0">
                <a:solidFill>
                  <a:srgbClr val="1D6199"/>
                </a:solidFill>
              </a:rPr>
              <a:t>ELECTION </a:t>
            </a:r>
            <a:r>
              <a:rPr lang="en-US" dirty="0"/>
              <a:t>message by broadcasting to nodes b and j</a:t>
            </a:r>
          </a:p>
        </p:txBody>
      </p:sp>
      <p:sp>
        <p:nvSpPr>
          <p:cNvPr id="6" name="TextBox 5"/>
          <p:cNvSpPr txBox="1"/>
          <p:nvPr/>
        </p:nvSpPr>
        <p:spPr>
          <a:xfrm>
            <a:off x="268099" y="5373348"/>
            <a:ext cx="4446776" cy="707886"/>
          </a:xfrm>
          <a:prstGeom prst="rect">
            <a:avLst/>
          </a:prstGeom>
          <a:noFill/>
        </p:spPr>
        <p:txBody>
          <a:bodyPr wrap="square" rtlCol="0">
            <a:spAutoFit/>
          </a:bodyPr>
          <a:lstStyle/>
          <a:p>
            <a:r>
              <a:rPr lang="en-US" sz="2000" dirty="0"/>
              <a:t>Election algorithm in a wireless network, with node a as the source: Initial network</a:t>
            </a:r>
            <a:endParaRPr lang="en-IN" sz="2000" dirty="0"/>
          </a:p>
        </p:txBody>
      </p:sp>
      <p:sp>
        <p:nvSpPr>
          <p:cNvPr id="8" name="TextBox 7"/>
          <p:cNvSpPr txBox="1"/>
          <p:nvPr/>
        </p:nvSpPr>
        <p:spPr>
          <a:xfrm>
            <a:off x="5337569" y="5373348"/>
            <a:ext cx="4703180" cy="1015663"/>
          </a:xfrm>
          <a:prstGeom prst="rect">
            <a:avLst/>
          </a:prstGeom>
          <a:noFill/>
        </p:spPr>
        <p:txBody>
          <a:bodyPr wrap="square" rtlCol="0">
            <a:spAutoFit/>
          </a:bodyPr>
          <a:lstStyle/>
          <a:p>
            <a:r>
              <a:rPr lang="en-US" sz="2000" dirty="0"/>
              <a:t>Election algorithm in a wireless network, with node a as the source: The build-tree phase</a:t>
            </a:r>
            <a:endParaRPr lang="en-IN" sz="2000" dirty="0"/>
          </a:p>
        </p:txBody>
      </p:sp>
      <p:grpSp>
        <p:nvGrpSpPr>
          <p:cNvPr id="12" name="Group 11"/>
          <p:cNvGrpSpPr/>
          <p:nvPr/>
        </p:nvGrpSpPr>
        <p:grpSpPr>
          <a:xfrm>
            <a:off x="596012" y="1828748"/>
            <a:ext cx="3790950" cy="3171825"/>
            <a:chOff x="957262" y="1414462"/>
            <a:chExt cx="3790950" cy="3171825"/>
          </a:xfrm>
        </p:grpSpPr>
        <p:pic>
          <p:nvPicPr>
            <p:cNvPr id="7" name="Picture 6"/>
            <p:cNvPicPr>
              <a:picLocks noChangeAspect="1"/>
            </p:cNvPicPr>
            <p:nvPr/>
          </p:nvPicPr>
          <p:blipFill>
            <a:blip r:embed="rId2"/>
            <a:stretch>
              <a:fillRect/>
            </a:stretch>
          </p:blipFill>
          <p:spPr>
            <a:xfrm>
              <a:off x="957262" y="1414462"/>
              <a:ext cx="3790950" cy="3171825"/>
            </a:xfrm>
            <a:prstGeom prst="rect">
              <a:avLst/>
            </a:prstGeom>
          </p:spPr>
        </p:pic>
        <p:sp>
          <p:nvSpPr>
            <p:cNvPr id="9" name="TextBox 8"/>
            <p:cNvSpPr txBox="1"/>
            <p:nvPr/>
          </p:nvSpPr>
          <p:spPr>
            <a:xfrm>
              <a:off x="1571625" y="1578927"/>
              <a:ext cx="1128712" cy="400110"/>
            </a:xfrm>
            <a:prstGeom prst="rect">
              <a:avLst/>
            </a:prstGeom>
            <a:noFill/>
          </p:spPr>
          <p:txBody>
            <a:bodyPr wrap="square" rtlCol="0">
              <a:spAutoFit/>
            </a:bodyPr>
            <a:lstStyle/>
            <a:p>
              <a:r>
                <a:rPr lang="en-IN" sz="2000" b="1" dirty="0">
                  <a:solidFill>
                    <a:srgbClr val="1D6199"/>
                  </a:solidFill>
                </a:rPr>
                <a:t>Capacity</a:t>
              </a:r>
            </a:p>
          </p:txBody>
        </p:sp>
        <p:sp>
          <p:nvSpPr>
            <p:cNvPr id="11" name="TextBox 10"/>
            <p:cNvSpPr txBox="1"/>
            <p:nvPr/>
          </p:nvSpPr>
          <p:spPr>
            <a:xfrm>
              <a:off x="1281112" y="2897941"/>
              <a:ext cx="1028700" cy="400110"/>
            </a:xfrm>
            <a:prstGeom prst="rect">
              <a:avLst/>
            </a:prstGeom>
            <a:noFill/>
          </p:spPr>
          <p:txBody>
            <a:bodyPr wrap="square" rtlCol="0">
              <a:spAutoFit/>
            </a:bodyPr>
            <a:lstStyle/>
            <a:p>
              <a:r>
                <a:rPr lang="en-IN" sz="2000" b="1" dirty="0">
                  <a:solidFill>
                    <a:srgbClr val="1D6199"/>
                  </a:solidFill>
                </a:rPr>
                <a:t>Source</a:t>
              </a:r>
            </a:p>
          </p:txBody>
        </p:sp>
      </p:grpSp>
      <p:grpSp>
        <p:nvGrpSpPr>
          <p:cNvPr id="14" name="Group 13"/>
          <p:cNvGrpSpPr/>
          <p:nvPr/>
        </p:nvGrpSpPr>
        <p:grpSpPr>
          <a:xfrm>
            <a:off x="5337569" y="2087101"/>
            <a:ext cx="4424363" cy="3143250"/>
            <a:chOff x="5491162" y="1389746"/>
            <a:chExt cx="4424363" cy="3143250"/>
          </a:xfrm>
        </p:grpSpPr>
        <p:pic>
          <p:nvPicPr>
            <p:cNvPr id="10" name="Picture 9"/>
            <p:cNvPicPr>
              <a:picLocks noChangeAspect="1"/>
            </p:cNvPicPr>
            <p:nvPr/>
          </p:nvPicPr>
          <p:blipFill>
            <a:blip r:embed="rId3"/>
            <a:stretch>
              <a:fillRect/>
            </a:stretch>
          </p:blipFill>
          <p:spPr>
            <a:xfrm>
              <a:off x="6105525" y="1389746"/>
              <a:ext cx="3810000" cy="3143250"/>
            </a:xfrm>
            <a:prstGeom prst="rect">
              <a:avLst/>
            </a:prstGeom>
          </p:spPr>
        </p:pic>
        <p:sp>
          <p:nvSpPr>
            <p:cNvPr id="13" name="TextBox 12"/>
            <p:cNvSpPr txBox="1"/>
            <p:nvPr/>
          </p:nvSpPr>
          <p:spPr>
            <a:xfrm>
              <a:off x="5491162" y="1948259"/>
              <a:ext cx="1538288" cy="707886"/>
            </a:xfrm>
            <a:prstGeom prst="rect">
              <a:avLst/>
            </a:prstGeom>
            <a:noFill/>
          </p:spPr>
          <p:txBody>
            <a:bodyPr wrap="square" rtlCol="0">
              <a:spAutoFit/>
            </a:bodyPr>
            <a:lstStyle/>
            <a:p>
              <a:r>
                <a:rPr lang="en-IN" sz="2000" b="1" dirty="0">
                  <a:solidFill>
                    <a:srgbClr val="1D6199"/>
                  </a:solidFill>
                </a:rPr>
                <a:t>Broadcasting node</a:t>
              </a:r>
            </a:p>
          </p:txBody>
        </p:sp>
      </p:grpSp>
    </p:spTree>
    <p:extLst>
      <p:ext uri="{BB962C8B-B14F-4D97-AF65-F5344CB8AC3E}">
        <p14:creationId xmlns:p14="http://schemas.microsoft.com/office/powerpoint/2010/main" val="3288636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Elections in Wireless Environments</a:t>
            </a:r>
          </a:p>
        </p:txBody>
      </p:sp>
      <p:sp>
        <p:nvSpPr>
          <p:cNvPr id="16" name="Content Placeholder 15"/>
          <p:cNvSpPr>
            <a:spLocks noGrp="1"/>
          </p:cNvSpPr>
          <p:nvPr>
            <p:ph idx="1"/>
          </p:nvPr>
        </p:nvSpPr>
        <p:spPr/>
        <p:txBody>
          <a:bodyPr/>
          <a:lstStyle/>
          <a:p>
            <a:r>
              <a:rPr lang="en-US" dirty="0"/>
              <a:t>The Node b marks a as parent and passes the ELECTION message to node g</a:t>
            </a:r>
          </a:p>
          <a:p>
            <a:r>
              <a:rPr lang="en-US" dirty="0"/>
              <a:t>Election message it transmitted till the leaf nodes</a:t>
            </a:r>
          </a:p>
          <a:p>
            <a:r>
              <a:rPr lang="en-US" dirty="0"/>
              <a:t>Each nodes then transmit back the best available option to its parent node</a:t>
            </a:r>
            <a:endParaRPr lang="en-IN" dirty="0"/>
          </a:p>
        </p:txBody>
      </p:sp>
      <p:grpSp>
        <p:nvGrpSpPr>
          <p:cNvPr id="15" name="Group 14"/>
          <p:cNvGrpSpPr/>
          <p:nvPr/>
        </p:nvGrpSpPr>
        <p:grpSpPr>
          <a:xfrm>
            <a:off x="814388" y="2643188"/>
            <a:ext cx="3748087" cy="3294052"/>
            <a:chOff x="666750" y="1207818"/>
            <a:chExt cx="3590925" cy="3000375"/>
          </a:xfrm>
        </p:grpSpPr>
        <p:pic>
          <p:nvPicPr>
            <p:cNvPr id="17" name="Picture 16"/>
            <p:cNvPicPr>
              <a:picLocks noChangeAspect="1"/>
            </p:cNvPicPr>
            <p:nvPr/>
          </p:nvPicPr>
          <p:blipFill rotWithShape="1">
            <a:blip r:embed="rId2"/>
            <a:srcRect t="1632" b="1444"/>
            <a:stretch/>
          </p:blipFill>
          <p:spPr>
            <a:xfrm>
              <a:off x="666750" y="1207818"/>
              <a:ext cx="3590925" cy="3000375"/>
            </a:xfrm>
            <a:prstGeom prst="rect">
              <a:avLst/>
            </a:prstGeom>
          </p:spPr>
        </p:pic>
        <p:sp>
          <p:nvSpPr>
            <p:cNvPr id="18" name="TextBox 17"/>
            <p:cNvSpPr txBox="1"/>
            <p:nvPr/>
          </p:nvSpPr>
          <p:spPr>
            <a:xfrm>
              <a:off x="2433636" y="2974240"/>
              <a:ext cx="1252538" cy="756911"/>
            </a:xfrm>
            <a:prstGeom prst="rect">
              <a:avLst/>
            </a:prstGeom>
            <a:noFill/>
          </p:spPr>
          <p:txBody>
            <a:bodyPr wrap="square" rtlCol="0">
              <a:spAutoFit/>
            </a:bodyPr>
            <a:lstStyle/>
            <a:p>
              <a:r>
                <a:rPr lang="en-IN" sz="1600" b="1" dirty="0">
                  <a:solidFill>
                    <a:srgbClr val="1D6199"/>
                  </a:solidFill>
                </a:rPr>
                <a:t>G receives broadcast from b first</a:t>
              </a:r>
            </a:p>
          </p:txBody>
        </p:sp>
      </p:grpSp>
      <p:grpSp>
        <p:nvGrpSpPr>
          <p:cNvPr id="19" name="Group 18"/>
          <p:cNvGrpSpPr/>
          <p:nvPr/>
        </p:nvGrpSpPr>
        <p:grpSpPr>
          <a:xfrm>
            <a:off x="6086475" y="2643188"/>
            <a:ext cx="4171951" cy="3531014"/>
            <a:chOff x="7129462" y="1113262"/>
            <a:chExt cx="3957638" cy="3114675"/>
          </a:xfrm>
        </p:grpSpPr>
        <p:pic>
          <p:nvPicPr>
            <p:cNvPr id="20" name="Picture 19"/>
            <p:cNvPicPr>
              <a:picLocks noChangeAspect="1"/>
            </p:cNvPicPr>
            <p:nvPr/>
          </p:nvPicPr>
          <p:blipFill>
            <a:blip r:embed="rId3"/>
            <a:stretch>
              <a:fillRect/>
            </a:stretch>
          </p:blipFill>
          <p:spPr>
            <a:xfrm>
              <a:off x="7129462" y="1113262"/>
              <a:ext cx="3705225" cy="3114675"/>
            </a:xfrm>
            <a:prstGeom prst="rect">
              <a:avLst/>
            </a:prstGeom>
          </p:spPr>
        </p:pic>
        <p:sp>
          <p:nvSpPr>
            <p:cNvPr id="21" name="TextBox 20"/>
            <p:cNvSpPr txBox="1"/>
            <p:nvPr/>
          </p:nvSpPr>
          <p:spPr>
            <a:xfrm>
              <a:off x="9539283" y="2026502"/>
              <a:ext cx="1547817" cy="733015"/>
            </a:xfrm>
            <a:prstGeom prst="rect">
              <a:avLst/>
            </a:prstGeom>
            <a:noFill/>
          </p:spPr>
          <p:txBody>
            <a:bodyPr wrap="square" rtlCol="0">
              <a:spAutoFit/>
            </a:bodyPr>
            <a:lstStyle/>
            <a:p>
              <a:r>
                <a:rPr lang="en-IN" sz="1600" b="1" dirty="0">
                  <a:solidFill>
                    <a:srgbClr val="1D6199"/>
                  </a:solidFill>
                </a:rPr>
                <a:t>e receives broadcast from g first</a:t>
              </a:r>
            </a:p>
          </p:txBody>
        </p:sp>
      </p:grpSp>
    </p:spTree>
    <p:extLst>
      <p:ext uri="{BB962C8B-B14F-4D97-AF65-F5344CB8AC3E}">
        <p14:creationId xmlns:p14="http://schemas.microsoft.com/office/powerpoint/2010/main" val="1043919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Elections in Wireless Environments</a:t>
            </a:r>
          </a:p>
        </p:txBody>
      </p:sp>
      <p:sp>
        <p:nvSpPr>
          <p:cNvPr id="23" name="Content Placeholder 22"/>
          <p:cNvSpPr>
            <a:spLocks noGrp="1"/>
          </p:cNvSpPr>
          <p:nvPr>
            <p:ph idx="1"/>
          </p:nvPr>
        </p:nvSpPr>
        <p:spPr/>
        <p:txBody>
          <a:bodyPr/>
          <a:lstStyle/>
          <a:p>
            <a:r>
              <a:rPr lang="en-US" dirty="0"/>
              <a:t>Node g has node e and h as child nodes but it will propagate only the best node </a:t>
            </a:r>
            <a:r>
              <a:rPr lang="en-US" dirty="0" err="1"/>
              <a:t>i.e</a:t>
            </a:r>
            <a:r>
              <a:rPr lang="en-US" dirty="0"/>
              <a:t> [h,8] back to its own parent.</a:t>
            </a:r>
          </a:p>
          <a:p>
            <a:r>
              <a:rPr lang="en-US" dirty="0"/>
              <a:t>When multiple elections are initiated, nodes tend to join the ones having highest identifier in the source tag</a:t>
            </a:r>
            <a:endParaRPr lang="en-IN" dirty="0"/>
          </a:p>
        </p:txBody>
      </p:sp>
      <p:grpSp>
        <p:nvGrpSpPr>
          <p:cNvPr id="20" name="Group 19"/>
          <p:cNvGrpSpPr/>
          <p:nvPr/>
        </p:nvGrpSpPr>
        <p:grpSpPr>
          <a:xfrm>
            <a:off x="869448" y="2733676"/>
            <a:ext cx="4306198" cy="3538537"/>
            <a:chOff x="985837" y="1433513"/>
            <a:chExt cx="3800475" cy="2990850"/>
          </a:xfrm>
        </p:grpSpPr>
        <p:pic>
          <p:nvPicPr>
            <p:cNvPr id="7" name="Picture 6"/>
            <p:cNvPicPr>
              <a:picLocks noChangeAspect="1"/>
            </p:cNvPicPr>
            <p:nvPr/>
          </p:nvPicPr>
          <p:blipFill>
            <a:blip r:embed="rId2"/>
            <a:stretch>
              <a:fillRect/>
            </a:stretch>
          </p:blipFill>
          <p:spPr>
            <a:xfrm>
              <a:off x="985837" y="1433513"/>
              <a:ext cx="3800475" cy="2990850"/>
            </a:xfrm>
            <a:prstGeom prst="rect">
              <a:avLst/>
            </a:prstGeom>
          </p:spPr>
        </p:pic>
        <p:sp>
          <p:nvSpPr>
            <p:cNvPr id="8" name="TextBox 7"/>
            <p:cNvSpPr txBox="1"/>
            <p:nvPr/>
          </p:nvSpPr>
          <p:spPr>
            <a:xfrm>
              <a:off x="3195637" y="2928938"/>
              <a:ext cx="1252538" cy="702377"/>
            </a:xfrm>
            <a:prstGeom prst="rect">
              <a:avLst/>
            </a:prstGeom>
            <a:noFill/>
          </p:spPr>
          <p:txBody>
            <a:bodyPr wrap="square" rtlCol="0">
              <a:spAutoFit/>
            </a:bodyPr>
            <a:lstStyle/>
            <a:p>
              <a:r>
                <a:rPr lang="en-IN" sz="1600" b="1" dirty="0">
                  <a:solidFill>
                    <a:srgbClr val="1D6199"/>
                  </a:solidFill>
                </a:rPr>
                <a:t>f receives broadcast from e first</a:t>
              </a:r>
            </a:p>
          </p:txBody>
        </p:sp>
      </p:grpSp>
      <p:grpSp>
        <p:nvGrpSpPr>
          <p:cNvPr id="19" name="Group 18"/>
          <p:cNvGrpSpPr/>
          <p:nvPr/>
        </p:nvGrpSpPr>
        <p:grpSpPr>
          <a:xfrm>
            <a:off x="6486524" y="2547938"/>
            <a:ext cx="4457701" cy="3724275"/>
            <a:chOff x="6357937" y="1433513"/>
            <a:chExt cx="3829050" cy="3362325"/>
          </a:xfrm>
        </p:grpSpPr>
        <p:pic>
          <p:nvPicPr>
            <p:cNvPr id="9" name="Picture 8"/>
            <p:cNvPicPr>
              <a:picLocks noChangeAspect="1"/>
            </p:cNvPicPr>
            <p:nvPr/>
          </p:nvPicPr>
          <p:blipFill>
            <a:blip r:embed="rId3"/>
            <a:stretch>
              <a:fillRect/>
            </a:stretch>
          </p:blipFill>
          <p:spPr>
            <a:xfrm>
              <a:off x="6357937" y="1433513"/>
              <a:ext cx="3829050" cy="3362325"/>
            </a:xfrm>
            <a:prstGeom prst="rect">
              <a:avLst/>
            </a:prstGeom>
          </p:spPr>
        </p:pic>
        <p:sp>
          <p:nvSpPr>
            <p:cNvPr id="10" name="TextBox 9"/>
            <p:cNvSpPr txBox="1"/>
            <p:nvPr/>
          </p:nvSpPr>
          <p:spPr>
            <a:xfrm>
              <a:off x="7489029" y="2061412"/>
              <a:ext cx="611983" cy="333438"/>
            </a:xfrm>
            <a:prstGeom prst="rect">
              <a:avLst/>
            </a:prstGeom>
            <a:noFill/>
          </p:spPr>
          <p:txBody>
            <a:bodyPr wrap="square" rtlCol="0">
              <a:spAutoFit/>
            </a:bodyPr>
            <a:lstStyle/>
            <a:p>
              <a:r>
                <a:rPr lang="en-IN" b="1" dirty="0">
                  <a:solidFill>
                    <a:srgbClr val="1D6199"/>
                  </a:solidFill>
                </a:rPr>
                <a:t>[c,3]</a:t>
              </a:r>
            </a:p>
          </p:txBody>
        </p:sp>
        <p:sp>
          <p:nvSpPr>
            <p:cNvPr id="11" name="TextBox 10"/>
            <p:cNvSpPr txBox="1"/>
            <p:nvPr/>
          </p:nvSpPr>
          <p:spPr>
            <a:xfrm>
              <a:off x="8641554" y="1619251"/>
              <a:ext cx="611983" cy="333438"/>
            </a:xfrm>
            <a:prstGeom prst="rect">
              <a:avLst/>
            </a:prstGeom>
            <a:noFill/>
          </p:spPr>
          <p:txBody>
            <a:bodyPr wrap="square" rtlCol="0">
              <a:spAutoFit/>
            </a:bodyPr>
            <a:lstStyle/>
            <a:p>
              <a:r>
                <a:rPr lang="en-IN" b="1" dirty="0">
                  <a:solidFill>
                    <a:srgbClr val="1D6199"/>
                  </a:solidFill>
                </a:rPr>
                <a:t>[d,2]</a:t>
              </a:r>
            </a:p>
          </p:txBody>
        </p:sp>
        <p:sp>
          <p:nvSpPr>
            <p:cNvPr id="12" name="TextBox 11"/>
            <p:cNvSpPr txBox="1"/>
            <p:nvPr/>
          </p:nvSpPr>
          <p:spPr>
            <a:xfrm>
              <a:off x="8876107" y="2675216"/>
              <a:ext cx="611983" cy="333438"/>
            </a:xfrm>
            <a:prstGeom prst="rect">
              <a:avLst/>
            </a:prstGeom>
            <a:noFill/>
          </p:spPr>
          <p:txBody>
            <a:bodyPr wrap="square" rtlCol="0">
              <a:spAutoFit/>
            </a:bodyPr>
            <a:lstStyle/>
            <a:p>
              <a:r>
                <a:rPr lang="en-IN" b="1" dirty="0">
                  <a:solidFill>
                    <a:srgbClr val="1D6199"/>
                  </a:solidFill>
                </a:rPr>
                <a:t>[f,4]</a:t>
              </a:r>
            </a:p>
          </p:txBody>
        </p:sp>
        <p:sp>
          <p:nvSpPr>
            <p:cNvPr id="13" name="TextBox 12"/>
            <p:cNvSpPr txBox="1"/>
            <p:nvPr/>
          </p:nvSpPr>
          <p:spPr>
            <a:xfrm>
              <a:off x="8876106" y="3761007"/>
              <a:ext cx="611983" cy="333438"/>
            </a:xfrm>
            <a:prstGeom prst="rect">
              <a:avLst/>
            </a:prstGeom>
            <a:noFill/>
          </p:spPr>
          <p:txBody>
            <a:bodyPr wrap="square" rtlCol="0">
              <a:spAutoFit/>
            </a:bodyPr>
            <a:lstStyle/>
            <a:p>
              <a:r>
                <a:rPr lang="en-IN" b="1" dirty="0">
                  <a:solidFill>
                    <a:srgbClr val="1D6199"/>
                  </a:solidFill>
                </a:rPr>
                <a:t>[i,5]</a:t>
              </a:r>
            </a:p>
          </p:txBody>
        </p:sp>
        <p:sp>
          <p:nvSpPr>
            <p:cNvPr id="14" name="TextBox 13"/>
            <p:cNvSpPr txBox="1"/>
            <p:nvPr/>
          </p:nvSpPr>
          <p:spPr>
            <a:xfrm>
              <a:off x="8087914" y="3472422"/>
              <a:ext cx="611983" cy="333438"/>
            </a:xfrm>
            <a:prstGeom prst="rect">
              <a:avLst/>
            </a:prstGeom>
            <a:noFill/>
          </p:spPr>
          <p:txBody>
            <a:bodyPr wrap="square" rtlCol="0">
              <a:spAutoFit/>
            </a:bodyPr>
            <a:lstStyle/>
            <a:p>
              <a:r>
                <a:rPr lang="en-IN" b="1" dirty="0">
                  <a:solidFill>
                    <a:srgbClr val="1D6199"/>
                  </a:solidFill>
                </a:rPr>
                <a:t>[h,8]</a:t>
              </a:r>
            </a:p>
          </p:txBody>
        </p:sp>
        <p:sp>
          <p:nvSpPr>
            <p:cNvPr id="15" name="TextBox 14"/>
            <p:cNvSpPr txBox="1"/>
            <p:nvPr/>
          </p:nvSpPr>
          <p:spPr>
            <a:xfrm>
              <a:off x="7311031" y="2659345"/>
              <a:ext cx="611983" cy="333438"/>
            </a:xfrm>
            <a:prstGeom prst="rect">
              <a:avLst/>
            </a:prstGeom>
            <a:noFill/>
          </p:spPr>
          <p:txBody>
            <a:bodyPr wrap="square" rtlCol="0">
              <a:spAutoFit/>
            </a:bodyPr>
            <a:lstStyle/>
            <a:p>
              <a:r>
                <a:rPr lang="en-IN" b="1" dirty="0">
                  <a:solidFill>
                    <a:srgbClr val="1D6199"/>
                  </a:solidFill>
                </a:rPr>
                <a:t>[h,8]</a:t>
              </a:r>
            </a:p>
          </p:txBody>
        </p:sp>
        <p:sp>
          <p:nvSpPr>
            <p:cNvPr id="16" name="TextBox 15"/>
            <p:cNvSpPr txBox="1"/>
            <p:nvPr/>
          </p:nvSpPr>
          <p:spPr>
            <a:xfrm>
              <a:off x="6408539" y="3085554"/>
              <a:ext cx="611983" cy="333438"/>
            </a:xfrm>
            <a:prstGeom prst="rect">
              <a:avLst/>
            </a:prstGeom>
            <a:noFill/>
          </p:spPr>
          <p:txBody>
            <a:bodyPr wrap="square" rtlCol="0">
              <a:spAutoFit/>
            </a:bodyPr>
            <a:lstStyle/>
            <a:p>
              <a:r>
                <a:rPr lang="en-IN" b="1" dirty="0">
                  <a:solidFill>
                    <a:srgbClr val="1D6199"/>
                  </a:solidFill>
                </a:rPr>
                <a:t>[j,4]</a:t>
              </a:r>
            </a:p>
          </p:txBody>
        </p:sp>
        <p:sp>
          <p:nvSpPr>
            <p:cNvPr id="17" name="TextBox 16"/>
            <p:cNvSpPr txBox="1"/>
            <p:nvPr/>
          </p:nvSpPr>
          <p:spPr>
            <a:xfrm>
              <a:off x="6624630" y="2465769"/>
              <a:ext cx="611983" cy="333438"/>
            </a:xfrm>
            <a:prstGeom prst="rect">
              <a:avLst/>
            </a:prstGeom>
            <a:noFill/>
          </p:spPr>
          <p:txBody>
            <a:bodyPr wrap="square" rtlCol="0">
              <a:spAutoFit/>
            </a:bodyPr>
            <a:lstStyle/>
            <a:p>
              <a:r>
                <a:rPr lang="en-IN" b="1" dirty="0">
                  <a:solidFill>
                    <a:srgbClr val="1D6199"/>
                  </a:solidFill>
                </a:rPr>
                <a:t>[h,8]</a:t>
              </a:r>
            </a:p>
          </p:txBody>
        </p:sp>
        <p:sp>
          <p:nvSpPr>
            <p:cNvPr id="18" name="TextBox 17"/>
            <p:cNvSpPr txBox="1"/>
            <p:nvPr/>
          </p:nvSpPr>
          <p:spPr>
            <a:xfrm>
              <a:off x="8137026" y="2745343"/>
              <a:ext cx="611983" cy="333438"/>
            </a:xfrm>
            <a:prstGeom prst="rect">
              <a:avLst/>
            </a:prstGeom>
            <a:noFill/>
          </p:spPr>
          <p:txBody>
            <a:bodyPr wrap="square" rtlCol="0">
              <a:spAutoFit/>
            </a:bodyPr>
            <a:lstStyle/>
            <a:p>
              <a:r>
                <a:rPr lang="en-IN" b="1" dirty="0">
                  <a:solidFill>
                    <a:srgbClr val="1D6199"/>
                  </a:solidFill>
                </a:rPr>
                <a:t>[f,4]</a:t>
              </a:r>
            </a:p>
          </p:txBody>
        </p:sp>
      </p:grpSp>
    </p:spTree>
    <p:extLst>
      <p:ext uri="{BB962C8B-B14F-4D97-AF65-F5344CB8AC3E}">
        <p14:creationId xmlns:p14="http://schemas.microsoft.com/office/powerpoint/2010/main" val="3942139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3DC79-8B12-49B2-D869-87FFD698F001}"/>
              </a:ext>
            </a:extLst>
          </p:cNvPr>
          <p:cNvSpPr>
            <a:spLocks noGrp="1"/>
          </p:cNvSpPr>
          <p:nvPr>
            <p:ph type="title"/>
          </p:nvPr>
        </p:nvSpPr>
        <p:spPr/>
        <p:txBody>
          <a:bodyPr>
            <a:normAutofit/>
          </a:bodyPr>
          <a:lstStyle/>
          <a:p>
            <a:pPr>
              <a:spcBef>
                <a:spcPts val="1000"/>
              </a:spcBef>
              <a:buClr>
                <a:srgbClr val="1D6199"/>
              </a:buClr>
              <a:defRPr/>
            </a:pPr>
            <a:r>
              <a:rPr lang="en-IN" sz="6000" dirty="0"/>
              <a:t>Global State</a:t>
            </a:r>
          </a:p>
        </p:txBody>
      </p:sp>
      <p:sp>
        <p:nvSpPr>
          <p:cNvPr id="3" name="Text Placeholder 2">
            <a:extLst>
              <a:ext uri="{FF2B5EF4-FFF2-40B4-BE49-F238E27FC236}">
                <a16:creationId xmlns:a16="http://schemas.microsoft.com/office/drawing/2014/main" id="{7336A222-FE8E-8548-6B81-0F4C891F3E0A}"/>
              </a:ext>
            </a:extLst>
          </p:cNvPr>
          <p:cNvSpPr>
            <a:spLocks noGrp="1"/>
          </p:cNvSpPr>
          <p:nvPr>
            <p:ph type="body" idx="1"/>
          </p:nvPr>
        </p:nvSpPr>
        <p:spPr/>
        <p:txBody>
          <a:bodyPr/>
          <a:lstStyle/>
          <a:p>
            <a:r>
              <a:rPr lang="en-US" dirty="0"/>
              <a:t>Section - 6</a:t>
            </a:r>
            <a:endParaRPr lang="en-IN" dirty="0"/>
          </a:p>
        </p:txBody>
      </p:sp>
    </p:spTree>
    <p:extLst>
      <p:ext uri="{BB962C8B-B14F-4D97-AF65-F5344CB8AC3E}">
        <p14:creationId xmlns:p14="http://schemas.microsoft.com/office/powerpoint/2010/main" val="344212925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Global State</a:t>
            </a:r>
          </a:p>
        </p:txBody>
      </p:sp>
      <p:sp>
        <p:nvSpPr>
          <p:cNvPr id="23" name="Content Placeholder 22"/>
          <p:cNvSpPr>
            <a:spLocks noGrp="1"/>
          </p:cNvSpPr>
          <p:nvPr>
            <p:ph idx="1"/>
          </p:nvPr>
        </p:nvSpPr>
        <p:spPr/>
        <p:txBody>
          <a:bodyPr/>
          <a:lstStyle/>
          <a:p>
            <a:r>
              <a:rPr lang="en-US" dirty="0"/>
              <a:t>Global state = </a:t>
            </a:r>
            <a:r>
              <a:rPr lang="en-US" dirty="0">
                <a:solidFill>
                  <a:srgbClr val="1D6199"/>
                </a:solidFill>
              </a:rPr>
              <a:t>current state of a distributed computation </a:t>
            </a:r>
            <a:r>
              <a:rPr lang="en-US" dirty="0"/>
              <a:t>(called distributed snapshot)</a:t>
            </a:r>
          </a:p>
          <a:p>
            <a:r>
              <a:rPr lang="en-US" dirty="0"/>
              <a:t>Global state consists of </a:t>
            </a:r>
          </a:p>
          <a:p>
            <a:pPr lvl="1"/>
            <a:r>
              <a:rPr lang="en-US" dirty="0">
                <a:solidFill>
                  <a:srgbClr val="1D6199"/>
                </a:solidFill>
              </a:rPr>
              <a:t>local state of each process, </a:t>
            </a:r>
          </a:p>
          <a:p>
            <a:pPr lvl="1"/>
            <a:r>
              <a:rPr lang="en-US" dirty="0">
                <a:solidFill>
                  <a:srgbClr val="1D6199"/>
                </a:solidFill>
              </a:rPr>
              <a:t>together with messages which are in transit (sent but not delivered)</a:t>
            </a:r>
          </a:p>
          <a:p>
            <a:r>
              <a:rPr lang="en-US" dirty="0"/>
              <a:t>Knowing global state of system is useful</a:t>
            </a:r>
          </a:p>
          <a:p>
            <a:pPr lvl="1"/>
            <a:r>
              <a:rPr lang="en-US" dirty="0"/>
              <a:t>i.e. at one time computation stopped and no progress can be made </a:t>
            </a:r>
          </a:p>
          <a:p>
            <a:pPr lvl="1"/>
            <a:r>
              <a:rPr lang="en-US" dirty="0"/>
              <a:t>Analyzing global state indicates that either there is deadlock or that distributed system has correctly terminated </a:t>
            </a:r>
          </a:p>
          <a:p>
            <a:pPr lvl="1"/>
            <a:endParaRPr lang="en-US" dirty="0"/>
          </a:p>
          <a:p>
            <a:pPr lvl="1"/>
            <a:endParaRPr lang="en-US" dirty="0"/>
          </a:p>
          <a:p>
            <a:endParaRPr lang="en-IN" dirty="0"/>
          </a:p>
        </p:txBody>
      </p:sp>
    </p:spTree>
    <p:extLst>
      <p:ext uri="{BB962C8B-B14F-4D97-AF65-F5344CB8AC3E}">
        <p14:creationId xmlns:p14="http://schemas.microsoft.com/office/powerpoint/2010/main" val="2837706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Global State</a:t>
            </a:r>
          </a:p>
        </p:txBody>
      </p:sp>
      <p:sp>
        <p:nvSpPr>
          <p:cNvPr id="23" name="Content Placeholder 22"/>
          <p:cNvSpPr>
            <a:spLocks noGrp="1"/>
          </p:cNvSpPr>
          <p:nvPr>
            <p:ph idx="1"/>
          </p:nvPr>
        </p:nvSpPr>
        <p:spPr/>
        <p:txBody>
          <a:bodyPr/>
          <a:lstStyle/>
          <a:p>
            <a:r>
              <a:rPr lang="en-US" dirty="0"/>
              <a:t>A distributed system snapshot reflects a state in which distributed system might have been</a:t>
            </a:r>
          </a:p>
          <a:p>
            <a:r>
              <a:rPr lang="en-US" dirty="0"/>
              <a:t>This snapshot reflects consistent state</a:t>
            </a:r>
          </a:p>
          <a:p>
            <a:pPr lvl="1"/>
            <a:r>
              <a:rPr lang="en-US" dirty="0"/>
              <a:t>E.g. If snapshot records process A has received message from process B, it should have also recorded that B has actually sent the message </a:t>
            </a:r>
          </a:p>
          <a:p>
            <a:r>
              <a:rPr lang="en-US" dirty="0"/>
              <a:t>Inconsistent state – records either sender or receiver not both.</a:t>
            </a:r>
          </a:p>
          <a:p>
            <a:endParaRPr lang="en-IN" dirty="0"/>
          </a:p>
        </p:txBody>
      </p:sp>
      <p:pic>
        <p:nvPicPr>
          <p:cNvPr id="1026" name="Picture 2">
            <a:extLst>
              <a:ext uri="{FF2B5EF4-FFF2-40B4-BE49-F238E27FC236}">
                <a16:creationId xmlns:a16="http://schemas.microsoft.com/office/drawing/2014/main" id="{2A9A34B2-C1D3-471B-D13A-7B83F12347A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277" r="5191" b="19711"/>
          <a:stretch/>
        </p:blipFill>
        <p:spPr bwMode="auto">
          <a:xfrm>
            <a:off x="2314795" y="3623655"/>
            <a:ext cx="7524255" cy="29864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1171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Algorithm for taking a Distributed snapshot</a:t>
            </a:r>
          </a:p>
        </p:txBody>
      </p:sp>
      <p:sp>
        <p:nvSpPr>
          <p:cNvPr id="23" name="Content Placeholder 22"/>
          <p:cNvSpPr>
            <a:spLocks noGrp="1"/>
          </p:cNvSpPr>
          <p:nvPr>
            <p:ph idx="1"/>
          </p:nvPr>
        </p:nvSpPr>
        <p:spPr/>
        <p:txBody>
          <a:bodyPr/>
          <a:lstStyle/>
          <a:p>
            <a:r>
              <a:rPr lang="en-US" dirty="0"/>
              <a:t>Any process P can initiate the algorithm of taking a distributed snapshot</a:t>
            </a:r>
          </a:p>
          <a:p>
            <a:pPr lvl="1"/>
            <a:r>
              <a:rPr lang="en-US" dirty="0"/>
              <a:t>P starts by recording its own local state</a:t>
            </a:r>
          </a:p>
          <a:p>
            <a:pPr lvl="1"/>
            <a:r>
              <a:rPr lang="en-US" dirty="0"/>
              <a:t>P subsequently sends a marker along each of its outgoing channels</a:t>
            </a:r>
          </a:p>
          <a:p>
            <a:pPr lvl="1"/>
            <a:r>
              <a:rPr lang="en-US" dirty="0"/>
              <a:t>When Q receives a marker through channel C, its action depends on whether it has already recorded its local state:</a:t>
            </a:r>
          </a:p>
          <a:p>
            <a:pPr lvl="2"/>
            <a:r>
              <a:rPr lang="en-US" b="1" dirty="0">
                <a:solidFill>
                  <a:srgbClr val="1D6199"/>
                </a:solidFill>
              </a:rPr>
              <a:t>Not yet recorded:</a:t>
            </a:r>
            <a:r>
              <a:rPr lang="en-US" dirty="0"/>
              <a:t> it records its local state and sends the marker along each of its outgoing channels</a:t>
            </a:r>
          </a:p>
          <a:p>
            <a:pPr lvl="2"/>
            <a:r>
              <a:rPr lang="en-US" b="1" dirty="0">
                <a:solidFill>
                  <a:srgbClr val="1D6199"/>
                </a:solidFill>
              </a:rPr>
              <a:t>Already recorded: </a:t>
            </a:r>
            <a:r>
              <a:rPr lang="en-US" dirty="0"/>
              <a:t>the marker on C indicates that the channel’s state should be recorded, all the messages before this marker and the time Q recorded its own state</a:t>
            </a:r>
          </a:p>
          <a:p>
            <a:pPr lvl="1"/>
            <a:r>
              <a:rPr lang="en-US" dirty="0"/>
              <a:t>Q is finished when it has received a marker along each of its incoming channels</a:t>
            </a:r>
          </a:p>
          <a:p>
            <a:pPr lvl="1"/>
            <a:endParaRPr lang="en-US" dirty="0"/>
          </a:p>
          <a:p>
            <a:pPr lvl="2"/>
            <a:endParaRPr lang="en-IN" dirty="0"/>
          </a:p>
        </p:txBody>
      </p:sp>
    </p:spTree>
    <p:extLst>
      <p:ext uri="{BB962C8B-B14F-4D97-AF65-F5344CB8AC3E}">
        <p14:creationId xmlns:p14="http://schemas.microsoft.com/office/powerpoint/2010/main" val="2782933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Algorithm for taking a Distributed snapshot</a:t>
            </a:r>
          </a:p>
        </p:txBody>
      </p:sp>
      <p:pic>
        <p:nvPicPr>
          <p:cNvPr id="2050" name="Picture 2">
            <a:extLst>
              <a:ext uri="{FF2B5EF4-FFF2-40B4-BE49-F238E27FC236}">
                <a16:creationId xmlns:a16="http://schemas.microsoft.com/office/drawing/2014/main" id="{E7331C26-2C0C-29DD-6372-FA082432AC6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761" t="1827" r="3617" b="5020"/>
          <a:stretch/>
        </p:blipFill>
        <p:spPr bwMode="auto">
          <a:xfrm>
            <a:off x="1336773" y="711201"/>
            <a:ext cx="9175867" cy="5824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8950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3DC79-8B12-49B2-D869-87FFD698F001}"/>
              </a:ext>
            </a:extLst>
          </p:cNvPr>
          <p:cNvSpPr>
            <a:spLocks noGrp="1"/>
          </p:cNvSpPr>
          <p:nvPr>
            <p:ph type="title"/>
          </p:nvPr>
        </p:nvSpPr>
        <p:spPr/>
        <p:txBody>
          <a:bodyPr>
            <a:normAutofit/>
          </a:bodyPr>
          <a:lstStyle/>
          <a:p>
            <a:pPr>
              <a:spcBef>
                <a:spcPts val="1000"/>
              </a:spcBef>
              <a:buClr>
                <a:srgbClr val="1D6199"/>
              </a:buClr>
              <a:defRPr/>
            </a:pPr>
            <a:r>
              <a:rPr lang="en-IN" sz="6000" dirty="0"/>
              <a:t>Deadlocks in DOS</a:t>
            </a:r>
          </a:p>
        </p:txBody>
      </p:sp>
      <p:sp>
        <p:nvSpPr>
          <p:cNvPr id="3" name="Text Placeholder 2">
            <a:extLst>
              <a:ext uri="{FF2B5EF4-FFF2-40B4-BE49-F238E27FC236}">
                <a16:creationId xmlns:a16="http://schemas.microsoft.com/office/drawing/2014/main" id="{7336A222-FE8E-8548-6B81-0F4C891F3E0A}"/>
              </a:ext>
            </a:extLst>
          </p:cNvPr>
          <p:cNvSpPr>
            <a:spLocks noGrp="1"/>
          </p:cNvSpPr>
          <p:nvPr>
            <p:ph type="body" idx="1"/>
          </p:nvPr>
        </p:nvSpPr>
        <p:spPr/>
        <p:txBody>
          <a:bodyPr/>
          <a:lstStyle/>
          <a:p>
            <a:r>
              <a:rPr lang="en-US" dirty="0"/>
              <a:t>Section - 7</a:t>
            </a:r>
            <a:endParaRPr lang="en-IN" dirty="0"/>
          </a:p>
        </p:txBody>
      </p:sp>
      <p:pic>
        <p:nvPicPr>
          <p:cNvPr id="4" name="Picture 2" descr="Image result for deadlock on road">
            <a:extLst>
              <a:ext uri="{FF2B5EF4-FFF2-40B4-BE49-F238E27FC236}">
                <a16:creationId xmlns:a16="http://schemas.microsoft.com/office/drawing/2014/main" id="{D30083DE-4134-3DA1-F5E1-14D161E3AD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2931" y="2533136"/>
            <a:ext cx="3993379" cy="3440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570179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Basic concepts</a:t>
            </a:r>
          </a:p>
        </p:txBody>
      </p:sp>
      <p:sp>
        <p:nvSpPr>
          <p:cNvPr id="3" name="Content Placeholder 22">
            <a:extLst>
              <a:ext uri="{FF2B5EF4-FFF2-40B4-BE49-F238E27FC236}">
                <a16:creationId xmlns:a16="http://schemas.microsoft.com/office/drawing/2014/main" id="{C6F69E05-649C-7E54-0307-0E1E02443287}"/>
              </a:ext>
            </a:extLst>
          </p:cNvPr>
          <p:cNvSpPr>
            <a:spLocks noGrp="1"/>
          </p:cNvSpPr>
          <p:nvPr>
            <p:ph idx="1"/>
          </p:nvPr>
        </p:nvSpPr>
        <p:spPr>
          <a:xfrm>
            <a:off x="131180" y="863444"/>
            <a:ext cx="11891487" cy="5520423"/>
          </a:xfrm>
        </p:spPr>
        <p:txBody>
          <a:bodyPr/>
          <a:lstStyle/>
          <a:p>
            <a:r>
              <a:rPr lang="en-US" dirty="0"/>
              <a:t>A resource is anything can be used by a single process at any instant of time.</a:t>
            </a:r>
          </a:p>
          <a:p>
            <a:r>
              <a:rPr lang="en-US" dirty="0"/>
              <a:t>Resource can be classified into two categories:</a:t>
            </a:r>
          </a:p>
          <a:p>
            <a:r>
              <a:rPr lang="en-US" dirty="0">
                <a:solidFill>
                  <a:srgbClr val="1D6199"/>
                </a:solidFill>
              </a:rPr>
              <a:t>Preemptable resources </a:t>
            </a:r>
            <a:r>
              <a:rPr lang="en-US" dirty="0"/>
              <a:t>can be taken away from a process with no ill effects (e.g. memory)</a:t>
            </a:r>
          </a:p>
          <a:p>
            <a:r>
              <a:rPr lang="en-US" dirty="0">
                <a:solidFill>
                  <a:srgbClr val="1D6199"/>
                </a:solidFill>
              </a:rPr>
              <a:t>Non-preemptable resources </a:t>
            </a:r>
            <a:r>
              <a:rPr lang="en-US" dirty="0"/>
              <a:t>will cause the process to fail if taken away (e.g. CD recorder)</a:t>
            </a:r>
          </a:p>
          <a:p>
            <a:r>
              <a:rPr lang="en-US" dirty="0"/>
              <a:t>The sequence of events required to use a particular resources are:</a:t>
            </a:r>
          </a:p>
          <a:p>
            <a:pPr lvl="1"/>
            <a:r>
              <a:rPr lang="en-US" dirty="0">
                <a:solidFill>
                  <a:srgbClr val="1D6199"/>
                </a:solidFill>
              </a:rPr>
              <a:t>Request the resource</a:t>
            </a:r>
          </a:p>
          <a:p>
            <a:pPr lvl="1"/>
            <a:r>
              <a:rPr lang="en-US" dirty="0">
                <a:solidFill>
                  <a:srgbClr val="1D6199"/>
                </a:solidFill>
              </a:rPr>
              <a:t>Allocate and use the resource</a:t>
            </a:r>
          </a:p>
          <a:p>
            <a:pPr lvl="1"/>
            <a:r>
              <a:rPr lang="en-US" dirty="0">
                <a:solidFill>
                  <a:srgbClr val="1D6199"/>
                </a:solidFill>
              </a:rPr>
              <a:t>Release the resource</a:t>
            </a:r>
          </a:p>
          <a:p>
            <a:pPr lvl="1"/>
            <a:endParaRPr lang="en-US" dirty="0"/>
          </a:p>
        </p:txBody>
      </p:sp>
    </p:spTree>
    <p:extLst>
      <p:ext uri="{BB962C8B-B14F-4D97-AF65-F5344CB8AC3E}">
        <p14:creationId xmlns:p14="http://schemas.microsoft.com/office/powerpoint/2010/main" val="494294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Deadlock?</a:t>
            </a:r>
          </a:p>
        </p:txBody>
      </p:sp>
      <p:pic>
        <p:nvPicPr>
          <p:cNvPr id="7" name="Picture 6">
            <a:extLst>
              <a:ext uri="{FF2B5EF4-FFF2-40B4-BE49-F238E27FC236}">
                <a16:creationId xmlns:a16="http://schemas.microsoft.com/office/drawing/2014/main" id="{E0F1455C-4C76-95A9-9A71-A3ACD7CC814B}"/>
              </a:ext>
            </a:extLst>
          </p:cNvPr>
          <p:cNvPicPr>
            <a:picLocks noChangeAspect="1"/>
          </p:cNvPicPr>
          <p:nvPr/>
        </p:nvPicPr>
        <p:blipFill rotWithShape="1">
          <a:blip r:embed="rId2">
            <a:extLst>
              <a:ext uri="{28A0092B-C50C-407E-A947-70E740481C1C}">
                <a14:useLocalDpi xmlns:a14="http://schemas.microsoft.com/office/drawing/2010/main" val="0"/>
              </a:ext>
            </a:extLst>
          </a:blip>
          <a:srcRect l="12918" t="9454" r="12455" b="22302"/>
          <a:stretch/>
        </p:blipFill>
        <p:spPr>
          <a:xfrm>
            <a:off x="2379289" y="852517"/>
            <a:ext cx="7433422" cy="5662664"/>
          </a:xfrm>
          <a:prstGeom prst="rect">
            <a:avLst/>
          </a:prstGeom>
        </p:spPr>
      </p:pic>
    </p:spTree>
    <p:extLst>
      <p:ext uri="{BB962C8B-B14F-4D97-AF65-F5344CB8AC3E}">
        <p14:creationId xmlns:p14="http://schemas.microsoft.com/office/powerpoint/2010/main" val="252886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2">
            <a:extLst>
              <a:ext uri="{FF2B5EF4-FFF2-40B4-BE49-F238E27FC236}">
                <a16:creationId xmlns:a16="http://schemas.microsoft.com/office/drawing/2014/main" id="{C6F69E05-649C-7E54-0307-0E1E02443287}"/>
              </a:ext>
            </a:extLst>
          </p:cNvPr>
          <p:cNvSpPr>
            <a:spLocks noGrp="1"/>
          </p:cNvSpPr>
          <p:nvPr>
            <p:ph idx="1"/>
          </p:nvPr>
        </p:nvSpPr>
        <p:spPr>
          <a:xfrm>
            <a:off x="131180" y="863444"/>
            <a:ext cx="11891487" cy="2134257"/>
          </a:xfrm>
        </p:spPr>
        <p:txBody>
          <a:bodyPr/>
          <a:lstStyle/>
          <a:p>
            <a:r>
              <a:rPr lang="en-US" dirty="0"/>
              <a:t>Deadlock in distributed systems are similar to deadlocks in single processor system</a:t>
            </a:r>
          </a:p>
          <a:p>
            <a:r>
              <a:rPr lang="en-US" dirty="0"/>
              <a:t>This </a:t>
            </a:r>
            <a:r>
              <a:rPr lang="en-US" b="1" dirty="0">
                <a:solidFill>
                  <a:srgbClr val="1D6199"/>
                </a:solidFill>
              </a:rPr>
              <a:t>differ </a:t>
            </a:r>
            <a:r>
              <a:rPr lang="en-US" dirty="0"/>
              <a:t>as:</a:t>
            </a:r>
          </a:p>
          <a:p>
            <a:pPr lvl="1"/>
            <a:r>
              <a:rPr lang="en-US" dirty="0"/>
              <a:t>They are harder to avoid, prevent or even detect</a:t>
            </a:r>
          </a:p>
          <a:p>
            <a:pPr lvl="1"/>
            <a:r>
              <a:rPr lang="en-US" dirty="0"/>
              <a:t>They are hard to cure when tracked down because all relevant information is scattered over many machines</a:t>
            </a:r>
          </a:p>
          <a:p>
            <a:pPr marL="0" indent="0">
              <a:buNone/>
            </a:pPr>
            <a:endParaRPr lang="en-US" dirty="0"/>
          </a:p>
        </p:txBody>
      </p:sp>
      <p:sp>
        <p:nvSpPr>
          <p:cNvPr id="5" name="Title 4">
            <a:extLst>
              <a:ext uri="{FF2B5EF4-FFF2-40B4-BE49-F238E27FC236}">
                <a16:creationId xmlns:a16="http://schemas.microsoft.com/office/drawing/2014/main" id="{C73F0A24-BA50-2475-DF23-AAC963085395}"/>
              </a:ext>
            </a:extLst>
          </p:cNvPr>
          <p:cNvSpPr>
            <a:spLocks noGrp="1"/>
          </p:cNvSpPr>
          <p:nvPr>
            <p:ph type="title"/>
          </p:nvPr>
        </p:nvSpPr>
        <p:spPr/>
        <p:txBody>
          <a:bodyPr>
            <a:normAutofit/>
          </a:bodyPr>
          <a:lstStyle/>
          <a:p>
            <a:r>
              <a:rPr lang="en-IN" dirty="0"/>
              <a:t>Distributed deadlocks</a:t>
            </a:r>
          </a:p>
        </p:txBody>
      </p:sp>
    </p:spTree>
    <p:extLst>
      <p:ext uri="{BB962C8B-B14F-4D97-AF65-F5344CB8AC3E}">
        <p14:creationId xmlns:p14="http://schemas.microsoft.com/office/powerpoint/2010/main" val="4158968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2">
            <a:extLst>
              <a:ext uri="{FF2B5EF4-FFF2-40B4-BE49-F238E27FC236}">
                <a16:creationId xmlns:a16="http://schemas.microsoft.com/office/drawing/2014/main" id="{C6F69E05-649C-7E54-0307-0E1E02443287}"/>
              </a:ext>
            </a:extLst>
          </p:cNvPr>
          <p:cNvSpPr>
            <a:spLocks noGrp="1"/>
          </p:cNvSpPr>
          <p:nvPr>
            <p:ph idx="1"/>
          </p:nvPr>
        </p:nvSpPr>
        <p:spPr>
          <a:xfrm>
            <a:off x="131180" y="863444"/>
            <a:ext cx="11891487" cy="5520423"/>
          </a:xfrm>
        </p:spPr>
        <p:txBody>
          <a:bodyPr/>
          <a:lstStyle/>
          <a:p>
            <a:r>
              <a:rPr lang="en-US" dirty="0"/>
              <a:t>Distributed Deadlocks are classified into two:</a:t>
            </a:r>
          </a:p>
          <a:p>
            <a:pPr lvl="1"/>
            <a:r>
              <a:rPr lang="en-US" b="1" dirty="0">
                <a:solidFill>
                  <a:srgbClr val="1D6199"/>
                </a:solidFill>
              </a:rPr>
              <a:t>Communication deadlocks </a:t>
            </a:r>
          </a:p>
          <a:p>
            <a:pPr lvl="1"/>
            <a:r>
              <a:rPr lang="en-US" b="1" dirty="0">
                <a:solidFill>
                  <a:srgbClr val="1D6199"/>
                </a:solidFill>
              </a:rPr>
              <a:t>Resource deadlocks</a:t>
            </a:r>
          </a:p>
        </p:txBody>
      </p:sp>
      <p:sp>
        <p:nvSpPr>
          <p:cNvPr id="5" name="Title 4">
            <a:extLst>
              <a:ext uri="{FF2B5EF4-FFF2-40B4-BE49-F238E27FC236}">
                <a16:creationId xmlns:a16="http://schemas.microsoft.com/office/drawing/2014/main" id="{C73F0A24-BA50-2475-DF23-AAC963085395}"/>
              </a:ext>
            </a:extLst>
          </p:cNvPr>
          <p:cNvSpPr>
            <a:spLocks noGrp="1"/>
          </p:cNvSpPr>
          <p:nvPr>
            <p:ph type="title"/>
          </p:nvPr>
        </p:nvSpPr>
        <p:spPr/>
        <p:txBody>
          <a:bodyPr>
            <a:normAutofit/>
          </a:bodyPr>
          <a:lstStyle/>
          <a:p>
            <a:r>
              <a:rPr lang="en-IN" dirty="0"/>
              <a:t>Distributed deadlocks</a:t>
            </a:r>
          </a:p>
        </p:txBody>
      </p:sp>
    </p:spTree>
    <p:extLst>
      <p:ext uri="{BB962C8B-B14F-4D97-AF65-F5344CB8AC3E}">
        <p14:creationId xmlns:p14="http://schemas.microsoft.com/office/powerpoint/2010/main" val="2776346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2">
            <a:extLst>
              <a:ext uri="{FF2B5EF4-FFF2-40B4-BE49-F238E27FC236}">
                <a16:creationId xmlns:a16="http://schemas.microsoft.com/office/drawing/2014/main" id="{C6F69E05-649C-7E54-0307-0E1E02443287}"/>
              </a:ext>
            </a:extLst>
          </p:cNvPr>
          <p:cNvSpPr>
            <a:spLocks noGrp="1"/>
          </p:cNvSpPr>
          <p:nvPr>
            <p:ph idx="1"/>
          </p:nvPr>
        </p:nvSpPr>
        <p:spPr>
          <a:xfrm>
            <a:off x="131180" y="863444"/>
            <a:ext cx="11891487" cy="5520423"/>
          </a:xfrm>
        </p:spPr>
        <p:txBody>
          <a:bodyPr/>
          <a:lstStyle/>
          <a:p>
            <a:r>
              <a:rPr lang="en-US" dirty="0"/>
              <a:t>Distributed Deadlocks are classified into two:</a:t>
            </a:r>
          </a:p>
          <a:p>
            <a:pPr lvl="1"/>
            <a:r>
              <a:rPr lang="en-US" b="1" dirty="0">
                <a:solidFill>
                  <a:srgbClr val="1D6199"/>
                </a:solidFill>
              </a:rPr>
              <a:t>Communication deadlocks </a:t>
            </a:r>
          </a:p>
          <a:p>
            <a:pPr lvl="2"/>
            <a:r>
              <a:rPr lang="en-US" dirty="0"/>
              <a:t>This deadlock occurs among a set of processes when they are blocked and waiting for messages from other processes in the set in order to start execution, but there are no messages in transit between them</a:t>
            </a:r>
          </a:p>
          <a:p>
            <a:pPr lvl="2"/>
            <a:r>
              <a:rPr lang="en-US" dirty="0"/>
              <a:t>So none of the processes will ever receive a message</a:t>
            </a:r>
          </a:p>
          <a:p>
            <a:pPr lvl="2"/>
            <a:r>
              <a:rPr lang="en-US" dirty="0"/>
              <a:t>All process in system are deadlocked</a:t>
            </a:r>
          </a:p>
          <a:p>
            <a:pPr lvl="2"/>
            <a:r>
              <a:rPr lang="en-US" dirty="0"/>
              <a:t>Example - Process A waits to get a message from process B,  Process B waits to get a message from process C and Process C waits to get a message from process A and hence a deadlock. </a:t>
            </a:r>
          </a:p>
        </p:txBody>
      </p:sp>
      <p:sp>
        <p:nvSpPr>
          <p:cNvPr id="5" name="Title 4">
            <a:extLst>
              <a:ext uri="{FF2B5EF4-FFF2-40B4-BE49-F238E27FC236}">
                <a16:creationId xmlns:a16="http://schemas.microsoft.com/office/drawing/2014/main" id="{C73F0A24-BA50-2475-DF23-AAC963085395}"/>
              </a:ext>
            </a:extLst>
          </p:cNvPr>
          <p:cNvSpPr>
            <a:spLocks noGrp="1"/>
          </p:cNvSpPr>
          <p:nvPr>
            <p:ph type="title"/>
          </p:nvPr>
        </p:nvSpPr>
        <p:spPr/>
        <p:txBody>
          <a:bodyPr>
            <a:normAutofit/>
          </a:bodyPr>
          <a:lstStyle/>
          <a:p>
            <a:r>
              <a:rPr lang="en-IN" dirty="0"/>
              <a:t>Distributed deadlocks</a:t>
            </a:r>
          </a:p>
        </p:txBody>
      </p:sp>
      <p:sp>
        <p:nvSpPr>
          <p:cNvPr id="2" name="Oval 1">
            <a:extLst>
              <a:ext uri="{FF2B5EF4-FFF2-40B4-BE49-F238E27FC236}">
                <a16:creationId xmlns:a16="http://schemas.microsoft.com/office/drawing/2014/main" id="{A55052E4-4A6A-20E3-F100-320365FF0D6F}"/>
              </a:ext>
            </a:extLst>
          </p:cNvPr>
          <p:cNvSpPr/>
          <p:nvPr/>
        </p:nvSpPr>
        <p:spPr>
          <a:xfrm>
            <a:off x="5029200" y="4276422"/>
            <a:ext cx="685794" cy="603739"/>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cxnSp>
        <p:nvCxnSpPr>
          <p:cNvPr id="4" name="Straight Arrow Connector 3">
            <a:extLst>
              <a:ext uri="{FF2B5EF4-FFF2-40B4-BE49-F238E27FC236}">
                <a16:creationId xmlns:a16="http://schemas.microsoft.com/office/drawing/2014/main" id="{9BB076F5-D5FA-D790-1008-4F61B2405051}"/>
              </a:ext>
            </a:extLst>
          </p:cNvPr>
          <p:cNvCxnSpPr>
            <a:cxnSpLocks/>
            <a:stCxn id="8" idx="0"/>
            <a:endCxn id="2" idx="5"/>
          </p:cNvCxnSpPr>
          <p:nvPr/>
        </p:nvCxnSpPr>
        <p:spPr>
          <a:xfrm flipH="1" flipV="1">
            <a:off x="5614562" y="4791745"/>
            <a:ext cx="607458" cy="641160"/>
          </a:xfrm>
          <a:prstGeom prst="straightConnector1">
            <a:avLst/>
          </a:prstGeom>
          <a:ln w="38100">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95B570D4-8F93-5E8E-8BA4-A49695C14A90}"/>
              </a:ext>
            </a:extLst>
          </p:cNvPr>
          <p:cNvSpPr txBox="1"/>
          <p:nvPr/>
        </p:nvSpPr>
        <p:spPr>
          <a:xfrm>
            <a:off x="5918291" y="4880161"/>
            <a:ext cx="263213" cy="307777"/>
          </a:xfrm>
          <a:prstGeom prst="rect">
            <a:avLst/>
          </a:prstGeom>
          <a:noFill/>
          <a:ln>
            <a:noFill/>
          </a:ln>
        </p:spPr>
        <p:txBody>
          <a:bodyPr wrap="square" rtlCol="0">
            <a:spAutoFit/>
          </a:bodyPr>
          <a:lstStyle/>
          <a:p>
            <a:pPr algn="r"/>
            <a:r>
              <a:rPr lang="en-US" sz="1400" dirty="0"/>
              <a:t>x</a:t>
            </a:r>
          </a:p>
        </p:txBody>
      </p:sp>
      <p:sp>
        <p:nvSpPr>
          <p:cNvPr id="7" name="Oval 6">
            <a:extLst>
              <a:ext uri="{FF2B5EF4-FFF2-40B4-BE49-F238E27FC236}">
                <a16:creationId xmlns:a16="http://schemas.microsoft.com/office/drawing/2014/main" id="{0323CF2F-6A6F-64FD-BBF1-2F05645EEA91}"/>
              </a:ext>
            </a:extLst>
          </p:cNvPr>
          <p:cNvSpPr/>
          <p:nvPr/>
        </p:nvSpPr>
        <p:spPr>
          <a:xfrm>
            <a:off x="4267200" y="5432906"/>
            <a:ext cx="685794" cy="603739"/>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C</a:t>
            </a:r>
          </a:p>
        </p:txBody>
      </p:sp>
      <p:sp>
        <p:nvSpPr>
          <p:cNvPr id="8" name="Oval 7">
            <a:extLst>
              <a:ext uri="{FF2B5EF4-FFF2-40B4-BE49-F238E27FC236}">
                <a16:creationId xmlns:a16="http://schemas.microsoft.com/office/drawing/2014/main" id="{68FEF9F2-2F28-E823-5197-8B14972C9689}"/>
              </a:ext>
            </a:extLst>
          </p:cNvPr>
          <p:cNvSpPr/>
          <p:nvPr/>
        </p:nvSpPr>
        <p:spPr>
          <a:xfrm>
            <a:off x="5879123" y="5432905"/>
            <a:ext cx="685794" cy="603739"/>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B</a:t>
            </a:r>
          </a:p>
        </p:txBody>
      </p:sp>
      <p:cxnSp>
        <p:nvCxnSpPr>
          <p:cNvPr id="11" name="Straight Arrow Connector 10">
            <a:extLst>
              <a:ext uri="{FF2B5EF4-FFF2-40B4-BE49-F238E27FC236}">
                <a16:creationId xmlns:a16="http://schemas.microsoft.com/office/drawing/2014/main" id="{35793C12-7572-DDD3-EDAA-7BCBD13E007C}"/>
              </a:ext>
            </a:extLst>
          </p:cNvPr>
          <p:cNvCxnSpPr>
            <a:cxnSpLocks/>
            <a:stCxn id="7" idx="6"/>
            <a:endCxn id="8" idx="2"/>
          </p:cNvCxnSpPr>
          <p:nvPr/>
        </p:nvCxnSpPr>
        <p:spPr>
          <a:xfrm flipV="1">
            <a:off x="4952994" y="5734775"/>
            <a:ext cx="926129" cy="1"/>
          </a:xfrm>
          <a:prstGeom prst="straightConnector1">
            <a:avLst/>
          </a:prstGeom>
          <a:ln w="38100">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88F6991A-1A03-BFC8-21D8-ABF12E2960F9}"/>
              </a:ext>
            </a:extLst>
          </p:cNvPr>
          <p:cNvCxnSpPr>
            <a:cxnSpLocks/>
            <a:stCxn id="2" idx="3"/>
            <a:endCxn id="7" idx="0"/>
          </p:cNvCxnSpPr>
          <p:nvPr/>
        </p:nvCxnSpPr>
        <p:spPr>
          <a:xfrm flipH="1">
            <a:off x="4610097" y="4791745"/>
            <a:ext cx="519535" cy="641161"/>
          </a:xfrm>
          <a:prstGeom prst="straightConnector1">
            <a:avLst/>
          </a:prstGeom>
          <a:ln w="38100">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6C389362-4BDA-01D5-8A2D-3EB9800A0798}"/>
              </a:ext>
            </a:extLst>
          </p:cNvPr>
          <p:cNvSpPr txBox="1"/>
          <p:nvPr/>
        </p:nvSpPr>
        <p:spPr>
          <a:xfrm>
            <a:off x="5187467" y="5684703"/>
            <a:ext cx="263213" cy="307777"/>
          </a:xfrm>
          <a:prstGeom prst="rect">
            <a:avLst/>
          </a:prstGeom>
          <a:noFill/>
          <a:ln>
            <a:noFill/>
          </a:ln>
        </p:spPr>
        <p:txBody>
          <a:bodyPr wrap="square" rtlCol="0">
            <a:spAutoFit/>
          </a:bodyPr>
          <a:lstStyle/>
          <a:p>
            <a:pPr algn="r"/>
            <a:r>
              <a:rPr lang="en-US" sz="1400" dirty="0"/>
              <a:t>y</a:t>
            </a:r>
          </a:p>
        </p:txBody>
      </p:sp>
      <p:sp>
        <p:nvSpPr>
          <p:cNvPr id="20" name="TextBox 19">
            <a:extLst>
              <a:ext uri="{FF2B5EF4-FFF2-40B4-BE49-F238E27FC236}">
                <a16:creationId xmlns:a16="http://schemas.microsoft.com/office/drawing/2014/main" id="{EFEADAE7-F1C8-F1FB-37B2-0310F1A8B208}"/>
              </a:ext>
            </a:extLst>
          </p:cNvPr>
          <p:cNvSpPr txBox="1"/>
          <p:nvPr/>
        </p:nvSpPr>
        <p:spPr>
          <a:xfrm>
            <a:off x="4170202" y="4804548"/>
            <a:ext cx="685794" cy="307777"/>
          </a:xfrm>
          <a:prstGeom prst="rect">
            <a:avLst/>
          </a:prstGeom>
          <a:noFill/>
          <a:ln>
            <a:noFill/>
          </a:ln>
        </p:spPr>
        <p:txBody>
          <a:bodyPr wrap="square" rtlCol="0">
            <a:spAutoFit/>
          </a:bodyPr>
          <a:lstStyle/>
          <a:p>
            <a:pPr algn="r"/>
            <a:r>
              <a:rPr lang="en-US" sz="1400" dirty="0"/>
              <a:t>z</a:t>
            </a:r>
          </a:p>
        </p:txBody>
      </p:sp>
    </p:spTree>
    <p:extLst>
      <p:ext uri="{BB962C8B-B14F-4D97-AF65-F5344CB8AC3E}">
        <p14:creationId xmlns:p14="http://schemas.microsoft.com/office/powerpoint/2010/main" val="1506193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up)">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up)">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wipe(up)">
                                      <p:cBhvr>
                                        <p:cTn id="49" dur="500"/>
                                        <p:tgtEl>
                                          <p:spTgt spid="14"/>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p:bldP spid="7" grpId="0" animBg="1"/>
      <p:bldP spid="8" grpId="0" animBg="1"/>
      <p:bldP spid="19" grpId="0"/>
      <p:bldP spid="20"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2">
            <a:extLst>
              <a:ext uri="{FF2B5EF4-FFF2-40B4-BE49-F238E27FC236}">
                <a16:creationId xmlns:a16="http://schemas.microsoft.com/office/drawing/2014/main" id="{C6F69E05-649C-7E54-0307-0E1E02443287}"/>
              </a:ext>
            </a:extLst>
          </p:cNvPr>
          <p:cNvSpPr>
            <a:spLocks noGrp="1"/>
          </p:cNvSpPr>
          <p:nvPr>
            <p:ph idx="1"/>
          </p:nvPr>
        </p:nvSpPr>
        <p:spPr>
          <a:xfrm>
            <a:off x="131180" y="863444"/>
            <a:ext cx="11891487" cy="5520423"/>
          </a:xfrm>
        </p:spPr>
        <p:txBody>
          <a:bodyPr/>
          <a:lstStyle/>
          <a:p>
            <a:r>
              <a:rPr lang="en-US" dirty="0"/>
              <a:t>Distributed Deadlocks are classified into two:</a:t>
            </a:r>
          </a:p>
          <a:p>
            <a:pPr lvl="1"/>
            <a:r>
              <a:rPr lang="en-US" b="1" dirty="0">
                <a:solidFill>
                  <a:srgbClr val="1D6199"/>
                </a:solidFill>
              </a:rPr>
              <a:t>Communication deadlocks </a:t>
            </a:r>
          </a:p>
          <a:p>
            <a:pPr lvl="1"/>
            <a:r>
              <a:rPr lang="en-US" b="1" dirty="0">
                <a:solidFill>
                  <a:srgbClr val="1D6199"/>
                </a:solidFill>
              </a:rPr>
              <a:t>Resource deadlocks</a:t>
            </a:r>
          </a:p>
          <a:p>
            <a:pPr lvl="2"/>
            <a:r>
              <a:rPr lang="en-US" dirty="0"/>
              <a:t>This deadlock occurs when two or more processes wait permanently for resources held by each other</a:t>
            </a:r>
          </a:p>
          <a:p>
            <a:pPr lvl="2"/>
            <a:r>
              <a:rPr lang="en-US" dirty="0"/>
              <a:t>For example exclusive access on I/O device, files, locks, and other resources</a:t>
            </a:r>
          </a:p>
          <a:p>
            <a:pPr lvl="2"/>
            <a:endParaRPr lang="en-US" dirty="0"/>
          </a:p>
        </p:txBody>
      </p:sp>
      <p:sp>
        <p:nvSpPr>
          <p:cNvPr id="5" name="Title 4">
            <a:extLst>
              <a:ext uri="{FF2B5EF4-FFF2-40B4-BE49-F238E27FC236}">
                <a16:creationId xmlns:a16="http://schemas.microsoft.com/office/drawing/2014/main" id="{C73F0A24-BA50-2475-DF23-AAC963085395}"/>
              </a:ext>
            </a:extLst>
          </p:cNvPr>
          <p:cNvSpPr>
            <a:spLocks noGrp="1"/>
          </p:cNvSpPr>
          <p:nvPr>
            <p:ph type="title"/>
          </p:nvPr>
        </p:nvSpPr>
        <p:spPr/>
        <p:txBody>
          <a:bodyPr>
            <a:normAutofit/>
          </a:bodyPr>
          <a:lstStyle/>
          <a:p>
            <a:r>
              <a:rPr lang="en-IN" dirty="0"/>
              <a:t>Distributed deadlocks</a:t>
            </a:r>
          </a:p>
        </p:txBody>
      </p:sp>
      <p:sp>
        <p:nvSpPr>
          <p:cNvPr id="14" name="Rectangle 13"/>
          <p:cNvSpPr/>
          <p:nvPr/>
        </p:nvSpPr>
        <p:spPr>
          <a:xfrm>
            <a:off x="2795397" y="6078910"/>
            <a:ext cx="914400" cy="4572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Resource</a:t>
            </a:r>
          </a:p>
        </p:txBody>
      </p:sp>
      <p:sp>
        <p:nvSpPr>
          <p:cNvPr id="18" name="Oval 17"/>
          <p:cNvSpPr/>
          <p:nvPr/>
        </p:nvSpPr>
        <p:spPr>
          <a:xfrm>
            <a:off x="2719197" y="3860299"/>
            <a:ext cx="1066800" cy="9906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Process</a:t>
            </a:r>
            <a:endParaRPr lang="en-US" dirty="0"/>
          </a:p>
        </p:txBody>
      </p:sp>
      <p:cxnSp>
        <p:nvCxnSpPr>
          <p:cNvPr id="19" name="Straight Arrow Connector 18"/>
          <p:cNvCxnSpPr>
            <a:cxnSpLocks/>
            <a:stCxn id="18" idx="4"/>
            <a:endCxn id="14" idx="0"/>
          </p:cNvCxnSpPr>
          <p:nvPr/>
        </p:nvCxnSpPr>
        <p:spPr>
          <a:xfrm>
            <a:off x="3252597" y="4850899"/>
            <a:ext cx="0" cy="1228011"/>
          </a:xfrm>
          <a:prstGeom prst="straightConnector1">
            <a:avLst/>
          </a:prstGeom>
          <a:ln w="38100">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428933" y="5266887"/>
            <a:ext cx="566244" cy="307777"/>
          </a:xfrm>
          <a:prstGeom prst="rect">
            <a:avLst/>
          </a:prstGeom>
          <a:noFill/>
          <a:ln>
            <a:noFill/>
          </a:ln>
        </p:spPr>
        <p:txBody>
          <a:bodyPr wrap="square" rtlCol="0">
            <a:spAutoFit/>
          </a:bodyPr>
          <a:lstStyle/>
          <a:p>
            <a:pPr algn="r"/>
            <a:r>
              <a:rPr lang="en-US" sz="1400" dirty="0"/>
              <a:t>Hold</a:t>
            </a:r>
          </a:p>
        </p:txBody>
      </p:sp>
      <p:sp>
        <p:nvSpPr>
          <p:cNvPr id="21" name="Rectangle 20"/>
          <p:cNvSpPr/>
          <p:nvPr/>
        </p:nvSpPr>
        <p:spPr>
          <a:xfrm>
            <a:off x="4547997" y="6078910"/>
            <a:ext cx="914400" cy="4572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Resource</a:t>
            </a:r>
          </a:p>
        </p:txBody>
      </p:sp>
      <p:sp>
        <p:nvSpPr>
          <p:cNvPr id="22" name="Oval 21"/>
          <p:cNvSpPr/>
          <p:nvPr/>
        </p:nvSpPr>
        <p:spPr>
          <a:xfrm>
            <a:off x="4471797" y="3860299"/>
            <a:ext cx="1066800" cy="9906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Process</a:t>
            </a:r>
          </a:p>
        </p:txBody>
      </p:sp>
      <p:cxnSp>
        <p:nvCxnSpPr>
          <p:cNvPr id="23" name="Straight Arrow Connector 22"/>
          <p:cNvCxnSpPr>
            <a:cxnSpLocks/>
            <a:stCxn id="21" idx="0"/>
            <a:endCxn id="22" idx="4"/>
          </p:cNvCxnSpPr>
          <p:nvPr/>
        </p:nvCxnSpPr>
        <p:spPr>
          <a:xfrm flipV="1">
            <a:off x="5005197" y="4850899"/>
            <a:ext cx="0" cy="1228011"/>
          </a:xfrm>
          <a:prstGeom prst="straightConnector1">
            <a:avLst/>
          </a:prstGeom>
          <a:ln w="38100">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414399" y="5267022"/>
            <a:ext cx="838199" cy="307777"/>
          </a:xfrm>
          <a:prstGeom prst="rect">
            <a:avLst/>
          </a:prstGeom>
          <a:noFill/>
          <a:ln>
            <a:noFill/>
          </a:ln>
        </p:spPr>
        <p:txBody>
          <a:bodyPr wrap="square" rtlCol="0">
            <a:spAutoFit/>
          </a:bodyPr>
          <a:lstStyle/>
          <a:p>
            <a:pPr algn="r"/>
            <a:r>
              <a:rPr lang="en-US" sz="1400" dirty="0"/>
              <a:t>Request</a:t>
            </a:r>
          </a:p>
        </p:txBody>
      </p:sp>
      <p:sp>
        <p:nvSpPr>
          <p:cNvPr id="25" name="Oval 24"/>
          <p:cNvSpPr/>
          <p:nvPr/>
        </p:nvSpPr>
        <p:spPr>
          <a:xfrm>
            <a:off x="7829845" y="3965073"/>
            <a:ext cx="604345" cy="5715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P1</a:t>
            </a:r>
          </a:p>
        </p:txBody>
      </p:sp>
      <p:sp>
        <p:nvSpPr>
          <p:cNvPr id="26" name="Oval 25"/>
          <p:cNvSpPr/>
          <p:nvPr/>
        </p:nvSpPr>
        <p:spPr>
          <a:xfrm>
            <a:off x="7829845" y="5527173"/>
            <a:ext cx="604345" cy="5715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P2</a:t>
            </a:r>
          </a:p>
        </p:txBody>
      </p:sp>
      <p:sp>
        <p:nvSpPr>
          <p:cNvPr id="27" name="Rectangle 26"/>
          <p:cNvSpPr/>
          <p:nvPr/>
        </p:nvSpPr>
        <p:spPr>
          <a:xfrm>
            <a:off x="6681591" y="4803205"/>
            <a:ext cx="609600" cy="5715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R1</a:t>
            </a:r>
          </a:p>
        </p:txBody>
      </p:sp>
      <p:sp>
        <p:nvSpPr>
          <p:cNvPr id="28" name="Rectangle 27"/>
          <p:cNvSpPr/>
          <p:nvPr/>
        </p:nvSpPr>
        <p:spPr>
          <a:xfrm>
            <a:off x="8972845" y="4803205"/>
            <a:ext cx="609600" cy="5715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R2</a:t>
            </a:r>
          </a:p>
        </p:txBody>
      </p:sp>
      <p:cxnSp>
        <p:nvCxnSpPr>
          <p:cNvPr id="29" name="Curved Connector 28"/>
          <p:cNvCxnSpPr>
            <a:stCxn id="28" idx="2"/>
            <a:endCxn id="26" idx="6"/>
          </p:cNvCxnSpPr>
          <p:nvPr/>
        </p:nvCxnSpPr>
        <p:spPr>
          <a:xfrm rot="5400000">
            <a:off x="8636809" y="5172087"/>
            <a:ext cx="438218" cy="843455"/>
          </a:xfrm>
          <a:prstGeom prst="curved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urved Connector 29"/>
          <p:cNvCxnSpPr>
            <a:stCxn id="26" idx="2"/>
            <a:endCxn id="27" idx="2"/>
          </p:cNvCxnSpPr>
          <p:nvPr/>
        </p:nvCxnSpPr>
        <p:spPr>
          <a:xfrm rot="10800000">
            <a:off x="6986391" y="5374705"/>
            <a:ext cx="843454" cy="438218"/>
          </a:xfrm>
          <a:prstGeom prst="curved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urved Connector 30"/>
          <p:cNvCxnSpPr>
            <a:stCxn id="27" idx="0"/>
            <a:endCxn id="25" idx="2"/>
          </p:cNvCxnSpPr>
          <p:nvPr/>
        </p:nvCxnSpPr>
        <p:spPr>
          <a:xfrm rot="5400000" flipH="1" flipV="1">
            <a:off x="7131927" y="4105287"/>
            <a:ext cx="552382" cy="843454"/>
          </a:xfrm>
          <a:prstGeom prst="curved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urved Connector 31"/>
          <p:cNvCxnSpPr>
            <a:stCxn id="25" idx="6"/>
            <a:endCxn id="28" idx="0"/>
          </p:cNvCxnSpPr>
          <p:nvPr/>
        </p:nvCxnSpPr>
        <p:spPr>
          <a:xfrm>
            <a:off x="8434190" y="4250823"/>
            <a:ext cx="843455" cy="552382"/>
          </a:xfrm>
          <a:prstGeom prst="curved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6854574" y="4119011"/>
            <a:ext cx="566244" cy="307777"/>
          </a:xfrm>
          <a:prstGeom prst="rect">
            <a:avLst/>
          </a:prstGeom>
          <a:noFill/>
          <a:ln>
            <a:noFill/>
          </a:ln>
        </p:spPr>
        <p:txBody>
          <a:bodyPr wrap="square" rtlCol="0">
            <a:spAutoFit/>
          </a:bodyPr>
          <a:lstStyle/>
          <a:p>
            <a:pPr algn="r"/>
            <a:r>
              <a:rPr lang="en-US" sz="1400" dirty="0"/>
              <a:t>Hold</a:t>
            </a:r>
          </a:p>
        </p:txBody>
      </p:sp>
      <p:sp>
        <p:nvSpPr>
          <p:cNvPr id="34" name="TextBox 33"/>
          <p:cNvSpPr txBox="1"/>
          <p:nvPr/>
        </p:nvSpPr>
        <p:spPr>
          <a:xfrm>
            <a:off x="8734722" y="5694902"/>
            <a:ext cx="566244" cy="307777"/>
          </a:xfrm>
          <a:prstGeom prst="rect">
            <a:avLst/>
          </a:prstGeom>
          <a:noFill/>
          <a:ln>
            <a:noFill/>
          </a:ln>
        </p:spPr>
        <p:txBody>
          <a:bodyPr wrap="square" rtlCol="0">
            <a:spAutoFit/>
          </a:bodyPr>
          <a:lstStyle/>
          <a:p>
            <a:r>
              <a:rPr lang="en-US" sz="1400" dirty="0"/>
              <a:t>Hold</a:t>
            </a:r>
          </a:p>
        </p:txBody>
      </p:sp>
      <p:sp>
        <p:nvSpPr>
          <p:cNvPr id="35" name="TextBox 34"/>
          <p:cNvSpPr txBox="1"/>
          <p:nvPr/>
        </p:nvSpPr>
        <p:spPr>
          <a:xfrm>
            <a:off x="6686846" y="5694902"/>
            <a:ext cx="838199" cy="307777"/>
          </a:xfrm>
          <a:prstGeom prst="rect">
            <a:avLst/>
          </a:prstGeom>
          <a:noFill/>
          <a:ln>
            <a:noFill/>
          </a:ln>
        </p:spPr>
        <p:txBody>
          <a:bodyPr wrap="square" rtlCol="0">
            <a:spAutoFit/>
          </a:bodyPr>
          <a:lstStyle/>
          <a:p>
            <a:pPr algn="r"/>
            <a:r>
              <a:rPr lang="en-US" sz="1400" dirty="0"/>
              <a:t>Request</a:t>
            </a:r>
          </a:p>
        </p:txBody>
      </p:sp>
      <p:sp>
        <p:nvSpPr>
          <p:cNvPr id="36" name="TextBox 35"/>
          <p:cNvSpPr txBox="1"/>
          <p:nvPr/>
        </p:nvSpPr>
        <p:spPr>
          <a:xfrm>
            <a:off x="8738988" y="4106311"/>
            <a:ext cx="838199" cy="307777"/>
          </a:xfrm>
          <a:prstGeom prst="rect">
            <a:avLst/>
          </a:prstGeom>
          <a:noFill/>
          <a:ln>
            <a:noFill/>
          </a:ln>
        </p:spPr>
        <p:txBody>
          <a:bodyPr wrap="square" rtlCol="0">
            <a:spAutoFit/>
          </a:bodyPr>
          <a:lstStyle/>
          <a:p>
            <a:r>
              <a:rPr lang="en-US" sz="1400" dirty="0"/>
              <a:t>Request</a:t>
            </a:r>
          </a:p>
        </p:txBody>
      </p:sp>
      <p:sp>
        <p:nvSpPr>
          <p:cNvPr id="37" name="TextBox 36"/>
          <p:cNvSpPr txBox="1"/>
          <p:nvPr/>
        </p:nvSpPr>
        <p:spPr>
          <a:xfrm>
            <a:off x="7504680" y="4904289"/>
            <a:ext cx="1254673" cy="369332"/>
          </a:xfrm>
          <a:prstGeom prst="rect">
            <a:avLst/>
          </a:prstGeom>
          <a:noFill/>
          <a:ln>
            <a:noFill/>
          </a:ln>
        </p:spPr>
        <p:txBody>
          <a:bodyPr wrap="square" rtlCol="0">
            <a:spAutoFit/>
          </a:bodyPr>
          <a:lstStyle/>
          <a:p>
            <a:pPr algn="ctr"/>
            <a:r>
              <a:rPr lang="en-US" b="1" dirty="0">
                <a:solidFill>
                  <a:srgbClr val="C00000"/>
                </a:solidFill>
              </a:rPr>
              <a:t>DEADLOCK</a:t>
            </a:r>
          </a:p>
        </p:txBody>
      </p:sp>
    </p:spTree>
    <p:extLst>
      <p:ext uri="{BB962C8B-B14F-4D97-AF65-F5344CB8AC3E}">
        <p14:creationId xmlns:p14="http://schemas.microsoft.com/office/powerpoint/2010/main" val="2219937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up)">
                                      <p:cBhvr>
                                        <p:cTn id="21" dur="500"/>
                                        <p:tgtEl>
                                          <p:spTgt spid="19"/>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wipe(down)">
                                      <p:cBhvr>
                                        <p:cTn id="36" dur="500"/>
                                        <p:tgtEl>
                                          <p:spTgt spid="23"/>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2" fill="hold" nodeType="click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wipe(right)">
                                      <p:cBhvr>
                                        <p:cTn id="57" dur="500"/>
                                        <p:tgtEl>
                                          <p:spTgt spid="29"/>
                                        </p:tgtEl>
                                      </p:cBhvr>
                                    </p:animEffect>
                                  </p:childTnLst>
                                </p:cTn>
                              </p:par>
                              <p:par>
                                <p:cTn id="58" presetID="22" presetClass="entr" presetSubtype="8" fill="hold"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wipe(left)">
                                      <p:cBhvr>
                                        <p:cTn id="60" dur="500"/>
                                        <p:tgtEl>
                                          <p:spTgt spid="31"/>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wipe(left)">
                                      <p:cBhvr>
                                        <p:cTn id="71" dur="500"/>
                                        <p:tgtEl>
                                          <p:spTgt spid="32"/>
                                        </p:tgtEl>
                                      </p:cBhvr>
                                    </p:animEffect>
                                  </p:childTnLst>
                                </p:cTn>
                              </p:par>
                              <p:par>
                                <p:cTn id="72" presetID="22" presetClass="entr" presetSubtype="2" fill="hold" nodeType="with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wipe(right)">
                                      <p:cBhvr>
                                        <p:cTn id="74" dur="500"/>
                                        <p:tgtEl>
                                          <p:spTgt spid="30"/>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5"/>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P spid="20" grpId="0"/>
      <p:bldP spid="21" grpId="0" animBg="1"/>
      <p:bldP spid="22" grpId="0" animBg="1"/>
      <p:bldP spid="24" grpId="0"/>
      <p:bldP spid="25" grpId="0" animBg="1"/>
      <p:bldP spid="26" grpId="0" animBg="1"/>
      <p:bldP spid="27" grpId="0" animBg="1"/>
      <p:bldP spid="28" grpId="0" animBg="1"/>
      <p:bldP spid="33" grpId="0"/>
      <p:bldP spid="34" grpId="0"/>
      <p:bldP spid="35" grpId="0"/>
      <p:bldP spid="36" grpId="0"/>
      <p:bldP spid="37"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2">
            <a:extLst>
              <a:ext uri="{FF2B5EF4-FFF2-40B4-BE49-F238E27FC236}">
                <a16:creationId xmlns:a16="http://schemas.microsoft.com/office/drawing/2014/main" id="{C6F69E05-649C-7E54-0307-0E1E02443287}"/>
              </a:ext>
            </a:extLst>
          </p:cNvPr>
          <p:cNvSpPr>
            <a:spLocks noGrp="1"/>
          </p:cNvSpPr>
          <p:nvPr>
            <p:ph idx="1"/>
          </p:nvPr>
        </p:nvSpPr>
        <p:spPr>
          <a:xfrm>
            <a:off x="131180" y="863444"/>
            <a:ext cx="11891487" cy="5520423"/>
          </a:xfrm>
        </p:spPr>
        <p:txBody>
          <a:bodyPr/>
          <a:lstStyle/>
          <a:p>
            <a:r>
              <a:rPr lang="en-US" dirty="0"/>
              <a:t>The following conditions are sufficient and necessary for deadlock to occur in system</a:t>
            </a:r>
          </a:p>
          <a:p>
            <a:pPr lvl="1"/>
            <a:r>
              <a:rPr lang="en-US" b="1" dirty="0">
                <a:solidFill>
                  <a:srgbClr val="1D6199"/>
                </a:solidFill>
              </a:rPr>
              <a:t>Mutual Exclusion condition</a:t>
            </a:r>
          </a:p>
          <a:p>
            <a:pPr lvl="2"/>
            <a:r>
              <a:rPr lang="en-US" dirty="0"/>
              <a:t>Each resource is assigned to only one process or is available</a:t>
            </a:r>
          </a:p>
          <a:p>
            <a:pPr lvl="1"/>
            <a:r>
              <a:rPr lang="en-US" b="1" dirty="0">
                <a:solidFill>
                  <a:srgbClr val="1D6199"/>
                </a:solidFill>
              </a:rPr>
              <a:t>Hold and wait condition</a:t>
            </a:r>
          </a:p>
          <a:p>
            <a:pPr lvl="2"/>
            <a:r>
              <a:rPr lang="en-US" dirty="0"/>
              <a:t>Process holding the resources can request additional resources without releasing the resources which are currently held</a:t>
            </a:r>
          </a:p>
          <a:p>
            <a:pPr lvl="1"/>
            <a:r>
              <a:rPr lang="en-US" b="1" dirty="0">
                <a:solidFill>
                  <a:srgbClr val="1D6199"/>
                </a:solidFill>
              </a:rPr>
              <a:t>No preemption condition</a:t>
            </a:r>
          </a:p>
          <a:p>
            <a:pPr lvl="2"/>
            <a:r>
              <a:rPr lang="en-US" dirty="0"/>
              <a:t>Previously granted resources can not be forcibly taken away</a:t>
            </a:r>
          </a:p>
          <a:p>
            <a:pPr lvl="1"/>
            <a:r>
              <a:rPr lang="en-US" b="1" dirty="0">
                <a:solidFill>
                  <a:srgbClr val="1D6199"/>
                </a:solidFill>
              </a:rPr>
              <a:t>Circular and wait condition</a:t>
            </a:r>
          </a:p>
          <a:p>
            <a:pPr lvl="2"/>
            <a:r>
              <a:rPr lang="en-US" dirty="0"/>
              <a:t>Must be a circular chain of two or more processes</a:t>
            </a:r>
          </a:p>
          <a:p>
            <a:pPr lvl="2"/>
            <a:r>
              <a:rPr lang="en-US" dirty="0"/>
              <a:t>Each is waiting for a recourse held by the next member of chain</a:t>
            </a:r>
          </a:p>
        </p:txBody>
      </p:sp>
      <p:sp>
        <p:nvSpPr>
          <p:cNvPr id="5" name="Title 4">
            <a:extLst>
              <a:ext uri="{FF2B5EF4-FFF2-40B4-BE49-F238E27FC236}">
                <a16:creationId xmlns:a16="http://schemas.microsoft.com/office/drawing/2014/main" id="{C73F0A24-BA50-2475-DF23-AAC963085395}"/>
              </a:ext>
            </a:extLst>
          </p:cNvPr>
          <p:cNvSpPr>
            <a:spLocks noGrp="1"/>
          </p:cNvSpPr>
          <p:nvPr>
            <p:ph type="title"/>
          </p:nvPr>
        </p:nvSpPr>
        <p:spPr/>
        <p:txBody>
          <a:bodyPr>
            <a:normAutofit/>
          </a:bodyPr>
          <a:lstStyle/>
          <a:p>
            <a:r>
              <a:rPr lang="en-IN" dirty="0"/>
              <a:t>Distributed deadlocks</a:t>
            </a:r>
          </a:p>
        </p:txBody>
      </p:sp>
      <p:pic>
        <p:nvPicPr>
          <p:cNvPr id="3078" name="Picture 6">
            <a:extLst>
              <a:ext uri="{FF2B5EF4-FFF2-40B4-BE49-F238E27FC236}">
                <a16:creationId xmlns:a16="http://schemas.microsoft.com/office/drawing/2014/main" id="{2C0E4A40-74A4-0B3B-7AF7-BDB4C6708B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276" t="8681" r="60925" b="31169"/>
          <a:stretch/>
        </p:blipFill>
        <p:spPr bwMode="auto">
          <a:xfrm>
            <a:off x="7350711" y="4490615"/>
            <a:ext cx="2432481" cy="2045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0563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0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2">
            <a:extLst>
              <a:ext uri="{FF2B5EF4-FFF2-40B4-BE49-F238E27FC236}">
                <a16:creationId xmlns:a16="http://schemas.microsoft.com/office/drawing/2014/main" id="{C6F69E05-649C-7E54-0307-0E1E02443287}"/>
              </a:ext>
            </a:extLst>
          </p:cNvPr>
          <p:cNvSpPr>
            <a:spLocks noGrp="1"/>
          </p:cNvSpPr>
          <p:nvPr>
            <p:ph idx="1"/>
          </p:nvPr>
        </p:nvSpPr>
        <p:spPr>
          <a:xfrm>
            <a:off x="131180" y="863444"/>
            <a:ext cx="11891487" cy="5520423"/>
          </a:xfrm>
        </p:spPr>
        <p:txBody>
          <a:bodyPr/>
          <a:lstStyle/>
          <a:p>
            <a:r>
              <a:rPr lang="en-US" dirty="0"/>
              <a:t>These methods </a:t>
            </a:r>
            <a:r>
              <a:rPr lang="en-US" b="1" dirty="0">
                <a:solidFill>
                  <a:schemeClr val="tx2"/>
                </a:solidFill>
              </a:rPr>
              <a:t>use some advance knowledge of the resource usage </a:t>
            </a:r>
            <a:r>
              <a:rPr lang="en-US" dirty="0"/>
              <a:t>of processes to predict the future state of the system </a:t>
            </a:r>
          </a:p>
          <a:p>
            <a:r>
              <a:rPr lang="en-US" dirty="0"/>
              <a:t>The possible states of process are: </a:t>
            </a:r>
          </a:p>
          <a:p>
            <a:pPr lvl="1"/>
            <a:r>
              <a:rPr lang="en-US" b="1" dirty="0">
                <a:solidFill>
                  <a:schemeClr val="tx2"/>
                </a:solidFill>
              </a:rPr>
              <a:t>Deadlock</a:t>
            </a:r>
          </a:p>
          <a:p>
            <a:pPr lvl="2"/>
            <a:r>
              <a:rPr lang="en-US" dirty="0"/>
              <a:t>No forward progress can be made</a:t>
            </a:r>
          </a:p>
          <a:p>
            <a:pPr lvl="1"/>
            <a:r>
              <a:rPr lang="en-US" b="1" dirty="0">
                <a:solidFill>
                  <a:schemeClr val="tx2"/>
                </a:solidFill>
              </a:rPr>
              <a:t>Unsafe stare</a:t>
            </a:r>
          </a:p>
          <a:p>
            <a:pPr lvl="2"/>
            <a:r>
              <a:rPr lang="en-US" dirty="0"/>
              <a:t>A state which does not have a safe sequence and that may allow a deadlock to occur </a:t>
            </a:r>
          </a:p>
          <a:p>
            <a:pPr lvl="1"/>
            <a:r>
              <a:rPr lang="en-US" b="1" dirty="0">
                <a:solidFill>
                  <a:schemeClr val="tx2"/>
                </a:solidFill>
              </a:rPr>
              <a:t>Safe state</a:t>
            </a:r>
          </a:p>
          <a:p>
            <a:pPr lvl="2"/>
            <a:r>
              <a:rPr lang="en-US" dirty="0"/>
              <a:t>A state is safe if it is not in deadlock state</a:t>
            </a:r>
          </a:p>
          <a:p>
            <a:pPr lvl="2"/>
            <a:r>
              <a:rPr lang="en-US" dirty="0"/>
              <a:t>Any ordering of the processes which can guarantee the completion of all processes is called a safe sequence</a:t>
            </a:r>
          </a:p>
        </p:txBody>
      </p:sp>
      <p:sp>
        <p:nvSpPr>
          <p:cNvPr id="5" name="Title 4">
            <a:extLst>
              <a:ext uri="{FF2B5EF4-FFF2-40B4-BE49-F238E27FC236}">
                <a16:creationId xmlns:a16="http://schemas.microsoft.com/office/drawing/2014/main" id="{C73F0A24-BA50-2475-DF23-AAC963085395}"/>
              </a:ext>
            </a:extLst>
          </p:cNvPr>
          <p:cNvSpPr>
            <a:spLocks noGrp="1"/>
          </p:cNvSpPr>
          <p:nvPr>
            <p:ph type="title"/>
          </p:nvPr>
        </p:nvSpPr>
        <p:spPr/>
        <p:txBody>
          <a:bodyPr>
            <a:normAutofit/>
          </a:bodyPr>
          <a:lstStyle/>
          <a:p>
            <a:r>
              <a:rPr lang="en-IN" dirty="0"/>
              <a:t>Deadlock avoidance</a:t>
            </a:r>
          </a:p>
        </p:txBody>
      </p:sp>
    </p:spTree>
    <p:extLst>
      <p:ext uri="{BB962C8B-B14F-4D97-AF65-F5344CB8AC3E}">
        <p14:creationId xmlns:p14="http://schemas.microsoft.com/office/powerpoint/2010/main" val="1050679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2">
            <a:extLst>
              <a:ext uri="{FF2B5EF4-FFF2-40B4-BE49-F238E27FC236}">
                <a16:creationId xmlns:a16="http://schemas.microsoft.com/office/drawing/2014/main" id="{C6F69E05-649C-7E54-0307-0E1E02443287}"/>
              </a:ext>
            </a:extLst>
          </p:cNvPr>
          <p:cNvSpPr>
            <a:spLocks noGrp="1"/>
          </p:cNvSpPr>
          <p:nvPr>
            <p:ph idx="1"/>
          </p:nvPr>
        </p:nvSpPr>
        <p:spPr>
          <a:xfrm>
            <a:off x="131180" y="863444"/>
            <a:ext cx="11891487" cy="5520423"/>
          </a:xfrm>
        </p:spPr>
        <p:txBody>
          <a:bodyPr/>
          <a:lstStyle/>
          <a:p>
            <a:r>
              <a:rPr lang="en-US" b="1" dirty="0">
                <a:solidFill>
                  <a:schemeClr val="tx2"/>
                </a:solidFill>
              </a:rPr>
              <a:t>Deadlock avoidance algorithm </a:t>
            </a:r>
          </a:p>
          <a:p>
            <a:pPr lvl="1"/>
            <a:r>
              <a:rPr lang="en-US" dirty="0"/>
              <a:t>When a process requests for a resource, even if the resource is available for allocation, it is not allocated. But it is assumed the a request is granted</a:t>
            </a:r>
          </a:p>
          <a:p>
            <a:pPr lvl="1"/>
            <a:r>
              <a:rPr lang="en-US" dirty="0"/>
              <a:t>With this assumption and an advance knowledge of resource usage of processes, the system performs analysis to decide whether granting the process’s request is safe or unsafe</a:t>
            </a:r>
          </a:p>
          <a:p>
            <a:pPr lvl="1"/>
            <a:r>
              <a:rPr lang="en-US" dirty="0"/>
              <a:t>The resource is allocated to the process only if the analysis in step 2 shows that it is safe to do so, else the request is deferred</a:t>
            </a:r>
          </a:p>
          <a:p>
            <a:pPr lvl="1"/>
            <a:endParaRPr lang="en-US" dirty="0"/>
          </a:p>
        </p:txBody>
      </p:sp>
      <p:sp>
        <p:nvSpPr>
          <p:cNvPr id="5" name="Title 4">
            <a:extLst>
              <a:ext uri="{FF2B5EF4-FFF2-40B4-BE49-F238E27FC236}">
                <a16:creationId xmlns:a16="http://schemas.microsoft.com/office/drawing/2014/main" id="{C73F0A24-BA50-2475-DF23-AAC963085395}"/>
              </a:ext>
            </a:extLst>
          </p:cNvPr>
          <p:cNvSpPr>
            <a:spLocks noGrp="1"/>
          </p:cNvSpPr>
          <p:nvPr>
            <p:ph type="title"/>
          </p:nvPr>
        </p:nvSpPr>
        <p:spPr/>
        <p:txBody>
          <a:bodyPr>
            <a:normAutofit/>
          </a:bodyPr>
          <a:lstStyle/>
          <a:p>
            <a:r>
              <a:rPr lang="en-IN" dirty="0"/>
              <a:t>Deadlock avoidance</a:t>
            </a:r>
          </a:p>
        </p:txBody>
      </p:sp>
    </p:spTree>
    <p:extLst>
      <p:ext uri="{BB962C8B-B14F-4D97-AF65-F5344CB8AC3E}">
        <p14:creationId xmlns:p14="http://schemas.microsoft.com/office/powerpoint/2010/main" val="837079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2">
            <a:extLst>
              <a:ext uri="{FF2B5EF4-FFF2-40B4-BE49-F238E27FC236}">
                <a16:creationId xmlns:a16="http://schemas.microsoft.com/office/drawing/2014/main" id="{C6F69E05-649C-7E54-0307-0E1E02443287}"/>
              </a:ext>
            </a:extLst>
          </p:cNvPr>
          <p:cNvSpPr>
            <a:spLocks noGrp="1"/>
          </p:cNvSpPr>
          <p:nvPr>
            <p:ph idx="1"/>
          </p:nvPr>
        </p:nvSpPr>
        <p:spPr>
          <a:xfrm>
            <a:off x="131180" y="863444"/>
            <a:ext cx="11891487" cy="5520423"/>
          </a:xfrm>
        </p:spPr>
        <p:txBody>
          <a:bodyPr/>
          <a:lstStyle/>
          <a:p>
            <a:r>
              <a:rPr lang="en-US" b="1" dirty="0">
                <a:solidFill>
                  <a:schemeClr val="tx2"/>
                </a:solidFill>
              </a:rPr>
              <a:t>Deadlock avoidance Example </a:t>
            </a:r>
          </a:p>
          <a:p>
            <a:pPr lvl="1"/>
            <a:r>
              <a:rPr lang="en-US" dirty="0"/>
              <a:t>There are total of 10 units of a resource type for which four processes p1, p2, p3 and p4 are competing</a:t>
            </a:r>
          </a:p>
          <a:p>
            <a:pPr lvl="1"/>
            <a:r>
              <a:rPr lang="en-US" dirty="0"/>
              <a:t>Suppose the maximum units of the resource required by p1, p2, p3 and p4 are 3, 4 5, and 8 respectively</a:t>
            </a:r>
          </a:p>
          <a:p>
            <a:pPr lvl="1"/>
            <a:r>
              <a:rPr lang="en-US" dirty="0"/>
              <a:t>Each of these processes is currently holding two units each of the resource</a:t>
            </a:r>
          </a:p>
          <a:p>
            <a:pPr lvl="1"/>
            <a:r>
              <a:rPr lang="en-US" dirty="0"/>
              <a:t>Hence two units of each resource are free</a:t>
            </a:r>
          </a:p>
        </p:txBody>
      </p:sp>
      <p:sp>
        <p:nvSpPr>
          <p:cNvPr id="5" name="Title 4">
            <a:extLst>
              <a:ext uri="{FF2B5EF4-FFF2-40B4-BE49-F238E27FC236}">
                <a16:creationId xmlns:a16="http://schemas.microsoft.com/office/drawing/2014/main" id="{C73F0A24-BA50-2475-DF23-AAC963085395}"/>
              </a:ext>
            </a:extLst>
          </p:cNvPr>
          <p:cNvSpPr>
            <a:spLocks noGrp="1"/>
          </p:cNvSpPr>
          <p:nvPr>
            <p:ph type="title"/>
          </p:nvPr>
        </p:nvSpPr>
        <p:spPr/>
        <p:txBody>
          <a:bodyPr>
            <a:normAutofit/>
          </a:bodyPr>
          <a:lstStyle/>
          <a:p>
            <a:r>
              <a:rPr lang="en-IN" dirty="0"/>
              <a:t>Deadlock avoidance</a:t>
            </a:r>
          </a:p>
        </p:txBody>
      </p:sp>
      <p:graphicFrame>
        <p:nvGraphicFramePr>
          <p:cNvPr id="4" name="Table 3">
            <a:extLst>
              <a:ext uri="{FF2B5EF4-FFF2-40B4-BE49-F238E27FC236}">
                <a16:creationId xmlns:a16="http://schemas.microsoft.com/office/drawing/2014/main" id="{82D9AAC7-AA71-2F24-CCB3-21112DB52431}"/>
              </a:ext>
            </a:extLst>
          </p:cNvPr>
          <p:cNvGraphicFramePr>
            <a:graphicFrameLocks noGrp="1"/>
          </p:cNvGraphicFramePr>
          <p:nvPr>
            <p:extLst>
              <p:ext uri="{D42A27DB-BD31-4B8C-83A1-F6EECF244321}">
                <p14:modId xmlns:p14="http://schemas.microsoft.com/office/powerpoint/2010/main" val="1344797948"/>
              </p:ext>
            </p:extLst>
          </p:nvPr>
        </p:nvGraphicFramePr>
        <p:xfrm>
          <a:off x="2351596" y="3422342"/>
          <a:ext cx="6773335" cy="148336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1919616117"/>
                    </a:ext>
                  </a:extLst>
                </a:gridCol>
                <a:gridCol w="1354667">
                  <a:extLst>
                    <a:ext uri="{9D8B030D-6E8A-4147-A177-3AD203B41FA5}">
                      <a16:colId xmlns:a16="http://schemas.microsoft.com/office/drawing/2014/main" val="2320833911"/>
                    </a:ext>
                  </a:extLst>
                </a:gridCol>
                <a:gridCol w="1354667">
                  <a:extLst>
                    <a:ext uri="{9D8B030D-6E8A-4147-A177-3AD203B41FA5}">
                      <a16:colId xmlns:a16="http://schemas.microsoft.com/office/drawing/2014/main" val="3830114350"/>
                    </a:ext>
                  </a:extLst>
                </a:gridCol>
                <a:gridCol w="1354667">
                  <a:extLst>
                    <a:ext uri="{9D8B030D-6E8A-4147-A177-3AD203B41FA5}">
                      <a16:colId xmlns:a16="http://schemas.microsoft.com/office/drawing/2014/main" val="3136892831"/>
                    </a:ext>
                  </a:extLst>
                </a:gridCol>
                <a:gridCol w="1354667">
                  <a:extLst>
                    <a:ext uri="{9D8B030D-6E8A-4147-A177-3AD203B41FA5}">
                      <a16:colId xmlns:a16="http://schemas.microsoft.com/office/drawing/2014/main" val="1878315937"/>
                    </a:ext>
                  </a:extLst>
                </a:gridCol>
              </a:tblGrid>
              <a:tr h="370840">
                <a:tc>
                  <a:txBody>
                    <a:bodyPr/>
                    <a:lstStyle/>
                    <a:p>
                      <a:endParaRPr lang="en-IN" dirty="0"/>
                    </a:p>
                  </a:txBody>
                  <a:tcPr/>
                </a:tc>
                <a:tc>
                  <a:txBody>
                    <a:bodyPr/>
                    <a:lstStyle/>
                    <a:p>
                      <a:pPr algn="ctr"/>
                      <a:r>
                        <a:rPr lang="en-US" dirty="0"/>
                        <a:t>p1</a:t>
                      </a:r>
                      <a:endParaRPr lang="en-IN" dirty="0"/>
                    </a:p>
                  </a:txBody>
                  <a:tcPr anchor="ctr"/>
                </a:tc>
                <a:tc>
                  <a:txBody>
                    <a:bodyPr/>
                    <a:lstStyle/>
                    <a:p>
                      <a:pPr algn="ctr"/>
                      <a:r>
                        <a:rPr lang="en-US" dirty="0"/>
                        <a:t>p2</a:t>
                      </a:r>
                      <a:endParaRPr lang="en-IN" dirty="0"/>
                    </a:p>
                  </a:txBody>
                  <a:tcPr anchor="ctr"/>
                </a:tc>
                <a:tc>
                  <a:txBody>
                    <a:bodyPr/>
                    <a:lstStyle/>
                    <a:p>
                      <a:pPr algn="ctr"/>
                      <a:r>
                        <a:rPr lang="en-US" dirty="0"/>
                        <a:t>p3</a:t>
                      </a:r>
                      <a:endParaRPr lang="en-IN" dirty="0"/>
                    </a:p>
                  </a:txBody>
                  <a:tcPr anchor="ctr"/>
                </a:tc>
                <a:tc>
                  <a:txBody>
                    <a:bodyPr/>
                    <a:lstStyle/>
                    <a:p>
                      <a:pPr algn="ctr"/>
                      <a:r>
                        <a:rPr lang="en-US" dirty="0"/>
                        <a:t>p4</a:t>
                      </a:r>
                      <a:endParaRPr lang="en-IN" dirty="0"/>
                    </a:p>
                  </a:txBody>
                  <a:tcPr anchor="ctr"/>
                </a:tc>
                <a:extLst>
                  <a:ext uri="{0D108BD9-81ED-4DB2-BD59-A6C34878D82A}">
                    <a16:rowId xmlns:a16="http://schemas.microsoft.com/office/drawing/2014/main" val="2185256515"/>
                  </a:ext>
                </a:extLst>
              </a:tr>
              <a:tr h="370840">
                <a:tc>
                  <a:txBody>
                    <a:bodyPr/>
                    <a:lstStyle/>
                    <a:p>
                      <a:r>
                        <a:rPr lang="en-US" dirty="0"/>
                        <a:t>Max</a:t>
                      </a:r>
                      <a:endParaRPr lang="en-IN" dirty="0"/>
                    </a:p>
                  </a:txBody>
                  <a:tcPr/>
                </a:tc>
                <a:tc>
                  <a:txBody>
                    <a:bodyPr/>
                    <a:lstStyle/>
                    <a:p>
                      <a:pPr algn="ctr"/>
                      <a:r>
                        <a:rPr lang="en-US" dirty="0"/>
                        <a:t>3</a:t>
                      </a:r>
                      <a:endParaRPr lang="en-IN" dirty="0"/>
                    </a:p>
                  </a:txBody>
                  <a:tcPr anchor="ctr"/>
                </a:tc>
                <a:tc>
                  <a:txBody>
                    <a:bodyPr/>
                    <a:lstStyle/>
                    <a:p>
                      <a:pPr algn="ctr"/>
                      <a:r>
                        <a:rPr lang="en-US" dirty="0"/>
                        <a:t>4</a:t>
                      </a:r>
                      <a:endParaRPr lang="en-IN" dirty="0"/>
                    </a:p>
                  </a:txBody>
                  <a:tcPr anchor="ctr"/>
                </a:tc>
                <a:tc>
                  <a:txBody>
                    <a:bodyPr/>
                    <a:lstStyle/>
                    <a:p>
                      <a:pPr algn="ctr"/>
                      <a:r>
                        <a:rPr lang="en-US" dirty="0"/>
                        <a:t>5</a:t>
                      </a:r>
                      <a:endParaRPr lang="en-IN" dirty="0"/>
                    </a:p>
                  </a:txBody>
                  <a:tcPr anchor="ctr"/>
                </a:tc>
                <a:tc>
                  <a:txBody>
                    <a:bodyPr/>
                    <a:lstStyle/>
                    <a:p>
                      <a:pPr algn="ctr"/>
                      <a:r>
                        <a:rPr lang="en-US" dirty="0"/>
                        <a:t>8</a:t>
                      </a:r>
                      <a:endParaRPr lang="en-IN" dirty="0"/>
                    </a:p>
                  </a:txBody>
                  <a:tcPr anchor="ctr"/>
                </a:tc>
                <a:extLst>
                  <a:ext uri="{0D108BD9-81ED-4DB2-BD59-A6C34878D82A}">
                    <a16:rowId xmlns:a16="http://schemas.microsoft.com/office/drawing/2014/main" val="584564952"/>
                  </a:ext>
                </a:extLst>
              </a:tr>
              <a:tr h="370840">
                <a:tc>
                  <a:txBody>
                    <a:bodyPr/>
                    <a:lstStyle/>
                    <a:p>
                      <a:r>
                        <a:rPr lang="en-US" dirty="0"/>
                        <a:t>Holds</a:t>
                      </a:r>
                      <a:endParaRPr lang="en-IN" dirty="0"/>
                    </a:p>
                  </a:txBody>
                  <a:tcPr/>
                </a:tc>
                <a:tc>
                  <a:txBody>
                    <a:bodyPr/>
                    <a:lstStyle/>
                    <a:p>
                      <a:pPr algn="ctr"/>
                      <a:r>
                        <a:rPr lang="en-US" dirty="0"/>
                        <a:t>2</a:t>
                      </a:r>
                      <a:endParaRPr lang="en-IN" dirty="0"/>
                    </a:p>
                  </a:txBody>
                  <a:tcPr anchor="ctr"/>
                </a:tc>
                <a:tc>
                  <a:txBody>
                    <a:bodyPr/>
                    <a:lstStyle/>
                    <a:p>
                      <a:pPr algn="ctr"/>
                      <a:r>
                        <a:rPr lang="en-US" dirty="0"/>
                        <a:t>2</a:t>
                      </a:r>
                      <a:endParaRPr lang="en-IN" dirty="0"/>
                    </a:p>
                  </a:txBody>
                  <a:tcPr anchor="ctr"/>
                </a:tc>
                <a:tc>
                  <a:txBody>
                    <a:bodyPr/>
                    <a:lstStyle/>
                    <a:p>
                      <a:pPr algn="ctr"/>
                      <a:r>
                        <a:rPr lang="en-US" dirty="0"/>
                        <a:t>2</a:t>
                      </a:r>
                      <a:endParaRPr lang="en-IN" dirty="0"/>
                    </a:p>
                  </a:txBody>
                  <a:tcPr anchor="ctr"/>
                </a:tc>
                <a:tc>
                  <a:txBody>
                    <a:bodyPr/>
                    <a:lstStyle/>
                    <a:p>
                      <a:pPr algn="ctr"/>
                      <a:r>
                        <a:rPr lang="en-US" dirty="0"/>
                        <a:t>2</a:t>
                      </a:r>
                      <a:endParaRPr lang="en-IN" dirty="0"/>
                    </a:p>
                  </a:txBody>
                  <a:tcPr anchor="ctr"/>
                </a:tc>
                <a:extLst>
                  <a:ext uri="{0D108BD9-81ED-4DB2-BD59-A6C34878D82A}">
                    <a16:rowId xmlns:a16="http://schemas.microsoft.com/office/drawing/2014/main" val="344705790"/>
                  </a:ext>
                </a:extLst>
              </a:tr>
              <a:tr h="370840">
                <a:tc>
                  <a:txBody>
                    <a:bodyPr/>
                    <a:lstStyle/>
                    <a:p>
                      <a:r>
                        <a:rPr lang="en-US" dirty="0"/>
                        <a:t>Free </a:t>
                      </a:r>
                      <a:endParaRPr lang="en-IN" dirty="0"/>
                    </a:p>
                  </a:txBody>
                  <a:tcPr/>
                </a:tc>
                <a:tc gridSpan="4">
                  <a:txBody>
                    <a:bodyPr/>
                    <a:lstStyle/>
                    <a:p>
                      <a:pPr algn="ctr"/>
                      <a:r>
                        <a:rPr lang="en-US" dirty="0"/>
                        <a:t>2</a:t>
                      </a:r>
                      <a:endParaRPr lang="en-IN" dirty="0"/>
                    </a:p>
                  </a:txBody>
                  <a:tcPr anchor="ct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751126357"/>
                  </a:ext>
                </a:extLst>
              </a:tr>
            </a:tbl>
          </a:graphicData>
        </a:graphic>
      </p:graphicFrame>
    </p:spTree>
    <p:extLst>
      <p:ext uri="{BB962C8B-B14F-4D97-AF65-F5344CB8AC3E}">
        <p14:creationId xmlns:p14="http://schemas.microsoft.com/office/powerpoint/2010/main" val="3848326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2">
            <a:extLst>
              <a:ext uri="{FF2B5EF4-FFF2-40B4-BE49-F238E27FC236}">
                <a16:creationId xmlns:a16="http://schemas.microsoft.com/office/drawing/2014/main" id="{C6F69E05-649C-7E54-0307-0E1E02443287}"/>
              </a:ext>
            </a:extLst>
          </p:cNvPr>
          <p:cNvSpPr>
            <a:spLocks noGrp="1"/>
          </p:cNvSpPr>
          <p:nvPr>
            <p:ph idx="1"/>
          </p:nvPr>
        </p:nvSpPr>
        <p:spPr>
          <a:xfrm>
            <a:off x="131180" y="863444"/>
            <a:ext cx="11891487" cy="5520423"/>
          </a:xfrm>
        </p:spPr>
        <p:txBody>
          <a:bodyPr/>
          <a:lstStyle/>
          <a:p>
            <a:r>
              <a:rPr lang="en-US" b="1" dirty="0">
                <a:solidFill>
                  <a:schemeClr val="tx2"/>
                </a:solidFill>
              </a:rPr>
              <a:t>Deadlock avoidance Example (Sequence p2 p1 p3 p4)</a:t>
            </a:r>
          </a:p>
        </p:txBody>
      </p:sp>
      <p:sp>
        <p:nvSpPr>
          <p:cNvPr id="5" name="Title 4">
            <a:extLst>
              <a:ext uri="{FF2B5EF4-FFF2-40B4-BE49-F238E27FC236}">
                <a16:creationId xmlns:a16="http://schemas.microsoft.com/office/drawing/2014/main" id="{C73F0A24-BA50-2475-DF23-AAC963085395}"/>
              </a:ext>
            </a:extLst>
          </p:cNvPr>
          <p:cNvSpPr>
            <a:spLocks noGrp="1"/>
          </p:cNvSpPr>
          <p:nvPr>
            <p:ph type="title"/>
          </p:nvPr>
        </p:nvSpPr>
        <p:spPr/>
        <p:txBody>
          <a:bodyPr>
            <a:normAutofit/>
          </a:bodyPr>
          <a:lstStyle/>
          <a:p>
            <a:r>
              <a:rPr lang="en-IN" dirty="0"/>
              <a:t>Deadlock avoidance</a:t>
            </a:r>
          </a:p>
        </p:txBody>
      </p:sp>
      <p:graphicFrame>
        <p:nvGraphicFramePr>
          <p:cNvPr id="4" name="Table 3">
            <a:extLst>
              <a:ext uri="{FF2B5EF4-FFF2-40B4-BE49-F238E27FC236}">
                <a16:creationId xmlns:a16="http://schemas.microsoft.com/office/drawing/2014/main" id="{82D9AAC7-AA71-2F24-CCB3-21112DB52431}"/>
              </a:ext>
            </a:extLst>
          </p:cNvPr>
          <p:cNvGraphicFramePr>
            <a:graphicFrameLocks noGrp="1"/>
          </p:cNvGraphicFramePr>
          <p:nvPr>
            <p:extLst>
              <p:ext uri="{D42A27DB-BD31-4B8C-83A1-F6EECF244321}">
                <p14:modId xmlns:p14="http://schemas.microsoft.com/office/powerpoint/2010/main" val="3310441595"/>
              </p:ext>
            </p:extLst>
          </p:nvPr>
        </p:nvGraphicFramePr>
        <p:xfrm>
          <a:off x="471997" y="1881408"/>
          <a:ext cx="4912805" cy="1471392"/>
        </p:xfrm>
        <a:graphic>
          <a:graphicData uri="http://schemas.openxmlformats.org/drawingml/2006/table">
            <a:tbl>
              <a:tblPr firstRow="1" bandRow="1">
                <a:tableStyleId>{5C22544A-7EE6-4342-B048-85BDC9FD1C3A}</a:tableStyleId>
              </a:tblPr>
              <a:tblGrid>
                <a:gridCol w="982561">
                  <a:extLst>
                    <a:ext uri="{9D8B030D-6E8A-4147-A177-3AD203B41FA5}">
                      <a16:colId xmlns:a16="http://schemas.microsoft.com/office/drawing/2014/main" val="1919616117"/>
                    </a:ext>
                  </a:extLst>
                </a:gridCol>
                <a:gridCol w="982561">
                  <a:extLst>
                    <a:ext uri="{9D8B030D-6E8A-4147-A177-3AD203B41FA5}">
                      <a16:colId xmlns:a16="http://schemas.microsoft.com/office/drawing/2014/main" val="2320833911"/>
                    </a:ext>
                  </a:extLst>
                </a:gridCol>
                <a:gridCol w="982561">
                  <a:extLst>
                    <a:ext uri="{9D8B030D-6E8A-4147-A177-3AD203B41FA5}">
                      <a16:colId xmlns:a16="http://schemas.microsoft.com/office/drawing/2014/main" val="3830114350"/>
                    </a:ext>
                  </a:extLst>
                </a:gridCol>
                <a:gridCol w="982561">
                  <a:extLst>
                    <a:ext uri="{9D8B030D-6E8A-4147-A177-3AD203B41FA5}">
                      <a16:colId xmlns:a16="http://schemas.microsoft.com/office/drawing/2014/main" val="3136892831"/>
                    </a:ext>
                  </a:extLst>
                </a:gridCol>
                <a:gridCol w="982561">
                  <a:extLst>
                    <a:ext uri="{9D8B030D-6E8A-4147-A177-3AD203B41FA5}">
                      <a16:colId xmlns:a16="http://schemas.microsoft.com/office/drawing/2014/main" val="1878315937"/>
                    </a:ext>
                  </a:extLst>
                </a:gridCol>
              </a:tblGrid>
              <a:tr h="367848">
                <a:tc>
                  <a:txBody>
                    <a:bodyPr/>
                    <a:lstStyle/>
                    <a:p>
                      <a:endParaRPr lang="en-IN" dirty="0"/>
                    </a:p>
                  </a:txBody>
                  <a:tcPr/>
                </a:tc>
                <a:tc>
                  <a:txBody>
                    <a:bodyPr/>
                    <a:lstStyle/>
                    <a:p>
                      <a:pPr algn="ctr"/>
                      <a:r>
                        <a:rPr lang="en-US" dirty="0"/>
                        <a:t>p1</a:t>
                      </a:r>
                      <a:endParaRPr lang="en-IN" dirty="0"/>
                    </a:p>
                  </a:txBody>
                  <a:tcPr anchor="ctr"/>
                </a:tc>
                <a:tc>
                  <a:txBody>
                    <a:bodyPr/>
                    <a:lstStyle/>
                    <a:p>
                      <a:pPr algn="ctr"/>
                      <a:r>
                        <a:rPr lang="en-US" dirty="0"/>
                        <a:t>p2</a:t>
                      </a:r>
                      <a:endParaRPr lang="en-IN" dirty="0"/>
                    </a:p>
                  </a:txBody>
                  <a:tcPr anchor="ctr"/>
                </a:tc>
                <a:tc>
                  <a:txBody>
                    <a:bodyPr/>
                    <a:lstStyle/>
                    <a:p>
                      <a:pPr algn="ctr"/>
                      <a:r>
                        <a:rPr lang="en-US" dirty="0"/>
                        <a:t>p3</a:t>
                      </a:r>
                      <a:endParaRPr lang="en-IN" dirty="0"/>
                    </a:p>
                  </a:txBody>
                  <a:tcPr anchor="ctr"/>
                </a:tc>
                <a:tc>
                  <a:txBody>
                    <a:bodyPr/>
                    <a:lstStyle/>
                    <a:p>
                      <a:pPr algn="ctr"/>
                      <a:r>
                        <a:rPr lang="en-US" dirty="0"/>
                        <a:t>p4</a:t>
                      </a:r>
                      <a:endParaRPr lang="en-IN" dirty="0"/>
                    </a:p>
                  </a:txBody>
                  <a:tcPr anchor="ctr"/>
                </a:tc>
                <a:extLst>
                  <a:ext uri="{0D108BD9-81ED-4DB2-BD59-A6C34878D82A}">
                    <a16:rowId xmlns:a16="http://schemas.microsoft.com/office/drawing/2014/main" val="2185256515"/>
                  </a:ext>
                </a:extLst>
              </a:tr>
              <a:tr h="367848">
                <a:tc>
                  <a:txBody>
                    <a:bodyPr/>
                    <a:lstStyle/>
                    <a:p>
                      <a:r>
                        <a:rPr lang="en-US" dirty="0"/>
                        <a:t>Max</a:t>
                      </a:r>
                      <a:endParaRPr lang="en-IN" dirty="0"/>
                    </a:p>
                  </a:txBody>
                  <a:tcPr/>
                </a:tc>
                <a:tc>
                  <a:txBody>
                    <a:bodyPr/>
                    <a:lstStyle/>
                    <a:p>
                      <a:pPr algn="ctr"/>
                      <a:r>
                        <a:rPr lang="en-US" dirty="0"/>
                        <a:t>3</a:t>
                      </a:r>
                      <a:endParaRPr lang="en-IN" dirty="0"/>
                    </a:p>
                  </a:txBody>
                  <a:tcPr anchor="ctr"/>
                </a:tc>
                <a:tc>
                  <a:txBody>
                    <a:bodyPr/>
                    <a:lstStyle/>
                    <a:p>
                      <a:pPr algn="ctr"/>
                      <a:r>
                        <a:rPr lang="en-US" dirty="0"/>
                        <a:t>4</a:t>
                      </a:r>
                      <a:endParaRPr lang="en-IN" dirty="0"/>
                    </a:p>
                  </a:txBody>
                  <a:tcPr anchor="ctr"/>
                </a:tc>
                <a:tc>
                  <a:txBody>
                    <a:bodyPr/>
                    <a:lstStyle/>
                    <a:p>
                      <a:pPr algn="ctr"/>
                      <a:r>
                        <a:rPr lang="en-US" dirty="0"/>
                        <a:t>5</a:t>
                      </a:r>
                      <a:endParaRPr lang="en-IN" dirty="0"/>
                    </a:p>
                  </a:txBody>
                  <a:tcPr anchor="ctr"/>
                </a:tc>
                <a:tc>
                  <a:txBody>
                    <a:bodyPr/>
                    <a:lstStyle/>
                    <a:p>
                      <a:pPr algn="ctr"/>
                      <a:r>
                        <a:rPr lang="en-US" dirty="0"/>
                        <a:t>8</a:t>
                      </a:r>
                      <a:endParaRPr lang="en-IN" dirty="0"/>
                    </a:p>
                  </a:txBody>
                  <a:tcPr anchor="ctr"/>
                </a:tc>
                <a:extLst>
                  <a:ext uri="{0D108BD9-81ED-4DB2-BD59-A6C34878D82A}">
                    <a16:rowId xmlns:a16="http://schemas.microsoft.com/office/drawing/2014/main" val="584564952"/>
                  </a:ext>
                </a:extLst>
              </a:tr>
              <a:tr h="367848">
                <a:tc>
                  <a:txBody>
                    <a:bodyPr/>
                    <a:lstStyle/>
                    <a:p>
                      <a:r>
                        <a:rPr lang="en-US" dirty="0"/>
                        <a:t>Holds</a:t>
                      </a:r>
                      <a:endParaRPr lang="en-IN" dirty="0"/>
                    </a:p>
                  </a:txBody>
                  <a:tcPr/>
                </a:tc>
                <a:tc>
                  <a:txBody>
                    <a:bodyPr/>
                    <a:lstStyle/>
                    <a:p>
                      <a:pPr algn="ctr"/>
                      <a:r>
                        <a:rPr lang="en-US" dirty="0"/>
                        <a:t>2</a:t>
                      </a:r>
                      <a:endParaRPr lang="en-IN" dirty="0"/>
                    </a:p>
                  </a:txBody>
                  <a:tcPr anchor="ctr"/>
                </a:tc>
                <a:tc>
                  <a:txBody>
                    <a:bodyPr/>
                    <a:lstStyle/>
                    <a:p>
                      <a:pPr algn="ctr"/>
                      <a:r>
                        <a:rPr lang="en-US" dirty="0"/>
                        <a:t>2</a:t>
                      </a:r>
                      <a:endParaRPr lang="en-IN" dirty="0"/>
                    </a:p>
                  </a:txBody>
                  <a:tcPr anchor="ctr"/>
                </a:tc>
                <a:tc>
                  <a:txBody>
                    <a:bodyPr/>
                    <a:lstStyle/>
                    <a:p>
                      <a:pPr algn="ctr"/>
                      <a:r>
                        <a:rPr lang="en-US" dirty="0"/>
                        <a:t>2</a:t>
                      </a:r>
                      <a:endParaRPr lang="en-IN" dirty="0"/>
                    </a:p>
                  </a:txBody>
                  <a:tcPr anchor="ctr"/>
                </a:tc>
                <a:tc>
                  <a:txBody>
                    <a:bodyPr/>
                    <a:lstStyle/>
                    <a:p>
                      <a:pPr algn="ctr"/>
                      <a:r>
                        <a:rPr lang="en-US" dirty="0"/>
                        <a:t>2</a:t>
                      </a:r>
                      <a:endParaRPr lang="en-IN" dirty="0"/>
                    </a:p>
                  </a:txBody>
                  <a:tcPr anchor="ctr"/>
                </a:tc>
                <a:extLst>
                  <a:ext uri="{0D108BD9-81ED-4DB2-BD59-A6C34878D82A}">
                    <a16:rowId xmlns:a16="http://schemas.microsoft.com/office/drawing/2014/main" val="344705790"/>
                  </a:ext>
                </a:extLst>
              </a:tr>
              <a:tr h="367848">
                <a:tc>
                  <a:txBody>
                    <a:bodyPr/>
                    <a:lstStyle/>
                    <a:p>
                      <a:r>
                        <a:rPr lang="en-US" dirty="0"/>
                        <a:t>Free </a:t>
                      </a:r>
                      <a:endParaRPr lang="en-IN" dirty="0"/>
                    </a:p>
                  </a:txBody>
                  <a:tcPr/>
                </a:tc>
                <a:tc gridSpan="4">
                  <a:txBody>
                    <a:bodyPr/>
                    <a:lstStyle/>
                    <a:p>
                      <a:pPr algn="ctr"/>
                      <a:r>
                        <a:rPr lang="en-US" dirty="0"/>
                        <a:t>2</a:t>
                      </a:r>
                      <a:endParaRPr lang="en-IN" dirty="0"/>
                    </a:p>
                  </a:txBody>
                  <a:tcPr anchor="ct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751126357"/>
                  </a:ext>
                </a:extLst>
              </a:tr>
            </a:tbl>
          </a:graphicData>
        </a:graphic>
      </p:graphicFrame>
      <p:graphicFrame>
        <p:nvGraphicFramePr>
          <p:cNvPr id="2" name="Table 1">
            <a:extLst>
              <a:ext uri="{FF2B5EF4-FFF2-40B4-BE49-F238E27FC236}">
                <a16:creationId xmlns:a16="http://schemas.microsoft.com/office/drawing/2014/main" id="{E83F660A-DD82-1EAF-E71C-DCFE9FAAB1E6}"/>
              </a:ext>
            </a:extLst>
          </p:cNvPr>
          <p:cNvGraphicFramePr>
            <a:graphicFrameLocks noGrp="1"/>
          </p:cNvGraphicFramePr>
          <p:nvPr>
            <p:extLst>
              <p:ext uri="{D42A27DB-BD31-4B8C-83A1-F6EECF244321}">
                <p14:modId xmlns:p14="http://schemas.microsoft.com/office/powerpoint/2010/main" val="205908052"/>
              </p:ext>
            </p:extLst>
          </p:nvPr>
        </p:nvGraphicFramePr>
        <p:xfrm>
          <a:off x="6059990" y="1881408"/>
          <a:ext cx="4912805" cy="1471392"/>
        </p:xfrm>
        <a:graphic>
          <a:graphicData uri="http://schemas.openxmlformats.org/drawingml/2006/table">
            <a:tbl>
              <a:tblPr firstRow="1" bandRow="1">
                <a:tableStyleId>{5C22544A-7EE6-4342-B048-85BDC9FD1C3A}</a:tableStyleId>
              </a:tblPr>
              <a:tblGrid>
                <a:gridCol w="982561">
                  <a:extLst>
                    <a:ext uri="{9D8B030D-6E8A-4147-A177-3AD203B41FA5}">
                      <a16:colId xmlns:a16="http://schemas.microsoft.com/office/drawing/2014/main" val="1919616117"/>
                    </a:ext>
                  </a:extLst>
                </a:gridCol>
                <a:gridCol w="982561">
                  <a:extLst>
                    <a:ext uri="{9D8B030D-6E8A-4147-A177-3AD203B41FA5}">
                      <a16:colId xmlns:a16="http://schemas.microsoft.com/office/drawing/2014/main" val="2320833911"/>
                    </a:ext>
                  </a:extLst>
                </a:gridCol>
                <a:gridCol w="982561">
                  <a:extLst>
                    <a:ext uri="{9D8B030D-6E8A-4147-A177-3AD203B41FA5}">
                      <a16:colId xmlns:a16="http://schemas.microsoft.com/office/drawing/2014/main" val="3830114350"/>
                    </a:ext>
                  </a:extLst>
                </a:gridCol>
                <a:gridCol w="982561">
                  <a:extLst>
                    <a:ext uri="{9D8B030D-6E8A-4147-A177-3AD203B41FA5}">
                      <a16:colId xmlns:a16="http://schemas.microsoft.com/office/drawing/2014/main" val="3136892831"/>
                    </a:ext>
                  </a:extLst>
                </a:gridCol>
                <a:gridCol w="982561">
                  <a:extLst>
                    <a:ext uri="{9D8B030D-6E8A-4147-A177-3AD203B41FA5}">
                      <a16:colId xmlns:a16="http://schemas.microsoft.com/office/drawing/2014/main" val="1878315937"/>
                    </a:ext>
                  </a:extLst>
                </a:gridCol>
              </a:tblGrid>
              <a:tr h="367848">
                <a:tc>
                  <a:txBody>
                    <a:bodyPr/>
                    <a:lstStyle/>
                    <a:p>
                      <a:endParaRPr lang="en-IN" dirty="0"/>
                    </a:p>
                  </a:txBody>
                  <a:tcPr/>
                </a:tc>
                <a:tc>
                  <a:txBody>
                    <a:bodyPr/>
                    <a:lstStyle/>
                    <a:p>
                      <a:pPr algn="ctr"/>
                      <a:r>
                        <a:rPr lang="en-US" dirty="0"/>
                        <a:t>p1</a:t>
                      </a:r>
                      <a:endParaRPr lang="en-IN" dirty="0"/>
                    </a:p>
                  </a:txBody>
                  <a:tcPr anchor="ctr"/>
                </a:tc>
                <a:tc>
                  <a:txBody>
                    <a:bodyPr/>
                    <a:lstStyle/>
                    <a:p>
                      <a:pPr algn="ctr"/>
                      <a:r>
                        <a:rPr lang="en-US" dirty="0"/>
                        <a:t>p2</a:t>
                      </a:r>
                      <a:endParaRPr lang="en-IN" dirty="0"/>
                    </a:p>
                  </a:txBody>
                  <a:tcPr anchor="ctr"/>
                </a:tc>
                <a:tc>
                  <a:txBody>
                    <a:bodyPr/>
                    <a:lstStyle/>
                    <a:p>
                      <a:pPr algn="ctr"/>
                      <a:r>
                        <a:rPr lang="en-US" dirty="0"/>
                        <a:t>p3</a:t>
                      </a:r>
                      <a:endParaRPr lang="en-IN" dirty="0"/>
                    </a:p>
                  </a:txBody>
                  <a:tcPr anchor="ctr"/>
                </a:tc>
                <a:tc>
                  <a:txBody>
                    <a:bodyPr/>
                    <a:lstStyle/>
                    <a:p>
                      <a:pPr algn="ctr"/>
                      <a:r>
                        <a:rPr lang="en-US" dirty="0"/>
                        <a:t>p4</a:t>
                      </a:r>
                      <a:endParaRPr lang="en-IN" dirty="0"/>
                    </a:p>
                  </a:txBody>
                  <a:tcPr anchor="ctr"/>
                </a:tc>
                <a:extLst>
                  <a:ext uri="{0D108BD9-81ED-4DB2-BD59-A6C34878D82A}">
                    <a16:rowId xmlns:a16="http://schemas.microsoft.com/office/drawing/2014/main" val="2185256515"/>
                  </a:ext>
                </a:extLst>
              </a:tr>
              <a:tr h="367848">
                <a:tc>
                  <a:txBody>
                    <a:bodyPr/>
                    <a:lstStyle/>
                    <a:p>
                      <a:r>
                        <a:rPr lang="en-US" dirty="0"/>
                        <a:t>Max</a:t>
                      </a:r>
                      <a:endParaRPr lang="en-IN" dirty="0"/>
                    </a:p>
                  </a:txBody>
                  <a:tcPr/>
                </a:tc>
                <a:tc>
                  <a:txBody>
                    <a:bodyPr/>
                    <a:lstStyle/>
                    <a:p>
                      <a:pPr algn="ctr"/>
                      <a:r>
                        <a:rPr lang="en-US" dirty="0"/>
                        <a:t>3</a:t>
                      </a:r>
                      <a:endParaRPr lang="en-IN" dirty="0"/>
                    </a:p>
                  </a:txBody>
                  <a:tcPr anchor="ctr"/>
                </a:tc>
                <a:tc>
                  <a:txBody>
                    <a:bodyPr/>
                    <a:lstStyle/>
                    <a:p>
                      <a:pPr algn="ctr"/>
                      <a:r>
                        <a:rPr lang="en-US" dirty="0"/>
                        <a:t>4</a:t>
                      </a:r>
                      <a:endParaRPr lang="en-IN" dirty="0"/>
                    </a:p>
                  </a:txBody>
                  <a:tcPr anchor="ctr"/>
                </a:tc>
                <a:tc>
                  <a:txBody>
                    <a:bodyPr/>
                    <a:lstStyle/>
                    <a:p>
                      <a:pPr algn="ctr"/>
                      <a:r>
                        <a:rPr lang="en-US" dirty="0"/>
                        <a:t>5</a:t>
                      </a:r>
                      <a:endParaRPr lang="en-IN" dirty="0"/>
                    </a:p>
                  </a:txBody>
                  <a:tcPr anchor="ctr"/>
                </a:tc>
                <a:tc>
                  <a:txBody>
                    <a:bodyPr/>
                    <a:lstStyle/>
                    <a:p>
                      <a:pPr algn="ctr"/>
                      <a:r>
                        <a:rPr lang="en-US" dirty="0"/>
                        <a:t>8</a:t>
                      </a:r>
                      <a:endParaRPr lang="en-IN" dirty="0"/>
                    </a:p>
                  </a:txBody>
                  <a:tcPr anchor="ctr"/>
                </a:tc>
                <a:extLst>
                  <a:ext uri="{0D108BD9-81ED-4DB2-BD59-A6C34878D82A}">
                    <a16:rowId xmlns:a16="http://schemas.microsoft.com/office/drawing/2014/main" val="584564952"/>
                  </a:ext>
                </a:extLst>
              </a:tr>
              <a:tr h="367848">
                <a:tc>
                  <a:txBody>
                    <a:bodyPr/>
                    <a:lstStyle/>
                    <a:p>
                      <a:r>
                        <a:rPr lang="en-US" dirty="0"/>
                        <a:t>Holds</a:t>
                      </a:r>
                      <a:endParaRPr lang="en-IN" dirty="0"/>
                    </a:p>
                  </a:txBody>
                  <a:tcPr/>
                </a:tc>
                <a:tc>
                  <a:txBody>
                    <a:bodyPr/>
                    <a:lstStyle/>
                    <a:p>
                      <a:pPr algn="ctr"/>
                      <a:r>
                        <a:rPr lang="en-US" dirty="0"/>
                        <a:t>2</a:t>
                      </a:r>
                      <a:endParaRPr lang="en-IN" dirty="0"/>
                    </a:p>
                  </a:txBody>
                  <a:tcPr anchor="ctr"/>
                </a:tc>
                <a:tc>
                  <a:txBody>
                    <a:bodyPr/>
                    <a:lstStyle/>
                    <a:p>
                      <a:pPr algn="ctr"/>
                      <a:r>
                        <a:rPr lang="en-US" b="1" dirty="0">
                          <a:solidFill>
                            <a:srgbClr val="1D6199"/>
                          </a:solidFill>
                        </a:rPr>
                        <a:t>4</a:t>
                      </a:r>
                      <a:endParaRPr lang="en-IN" b="1" dirty="0">
                        <a:solidFill>
                          <a:srgbClr val="1D6199"/>
                        </a:solidFill>
                      </a:endParaRPr>
                    </a:p>
                  </a:txBody>
                  <a:tcPr anchor="ctr"/>
                </a:tc>
                <a:tc>
                  <a:txBody>
                    <a:bodyPr/>
                    <a:lstStyle/>
                    <a:p>
                      <a:pPr algn="ctr"/>
                      <a:r>
                        <a:rPr lang="en-US" dirty="0"/>
                        <a:t>2</a:t>
                      </a:r>
                      <a:endParaRPr lang="en-IN" dirty="0"/>
                    </a:p>
                  </a:txBody>
                  <a:tcPr anchor="ctr"/>
                </a:tc>
                <a:tc>
                  <a:txBody>
                    <a:bodyPr/>
                    <a:lstStyle/>
                    <a:p>
                      <a:pPr algn="ctr"/>
                      <a:r>
                        <a:rPr lang="en-US" dirty="0"/>
                        <a:t>2</a:t>
                      </a:r>
                      <a:endParaRPr lang="en-IN" dirty="0"/>
                    </a:p>
                  </a:txBody>
                  <a:tcPr anchor="ctr"/>
                </a:tc>
                <a:extLst>
                  <a:ext uri="{0D108BD9-81ED-4DB2-BD59-A6C34878D82A}">
                    <a16:rowId xmlns:a16="http://schemas.microsoft.com/office/drawing/2014/main" val="344705790"/>
                  </a:ext>
                </a:extLst>
              </a:tr>
              <a:tr h="367848">
                <a:tc>
                  <a:txBody>
                    <a:bodyPr/>
                    <a:lstStyle/>
                    <a:p>
                      <a:r>
                        <a:rPr lang="en-US" dirty="0"/>
                        <a:t>Free </a:t>
                      </a:r>
                      <a:endParaRPr lang="en-IN" dirty="0"/>
                    </a:p>
                  </a:txBody>
                  <a:tcPr/>
                </a:tc>
                <a:tc gridSpan="4">
                  <a:txBody>
                    <a:bodyPr/>
                    <a:lstStyle/>
                    <a:p>
                      <a:pPr algn="ctr"/>
                      <a:r>
                        <a:rPr lang="en-US" b="1" dirty="0">
                          <a:solidFill>
                            <a:srgbClr val="1D6199"/>
                          </a:solidFill>
                        </a:rPr>
                        <a:t>0</a:t>
                      </a:r>
                      <a:endParaRPr lang="en-IN" b="1" dirty="0">
                        <a:solidFill>
                          <a:srgbClr val="1D6199"/>
                        </a:solidFill>
                      </a:endParaRPr>
                    </a:p>
                  </a:txBody>
                  <a:tcPr anchor="ct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751126357"/>
                  </a:ext>
                </a:extLst>
              </a:tr>
            </a:tbl>
          </a:graphicData>
        </a:graphic>
      </p:graphicFrame>
      <p:graphicFrame>
        <p:nvGraphicFramePr>
          <p:cNvPr id="6" name="Table 5">
            <a:extLst>
              <a:ext uri="{FF2B5EF4-FFF2-40B4-BE49-F238E27FC236}">
                <a16:creationId xmlns:a16="http://schemas.microsoft.com/office/drawing/2014/main" id="{3DE43719-B235-7B2B-2D4C-9F03199D4466}"/>
              </a:ext>
            </a:extLst>
          </p:cNvPr>
          <p:cNvGraphicFramePr>
            <a:graphicFrameLocks noGrp="1"/>
          </p:cNvGraphicFramePr>
          <p:nvPr>
            <p:extLst>
              <p:ext uri="{D42A27DB-BD31-4B8C-83A1-F6EECF244321}">
                <p14:modId xmlns:p14="http://schemas.microsoft.com/office/powerpoint/2010/main" val="1737172590"/>
              </p:ext>
            </p:extLst>
          </p:nvPr>
        </p:nvGraphicFramePr>
        <p:xfrm>
          <a:off x="488930" y="4328430"/>
          <a:ext cx="4912805" cy="1471392"/>
        </p:xfrm>
        <a:graphic>
          <a:graphicData uri="http://schemas.openxmlformats.org/drawingml/2006/table">
            <a:tbl>
              <a:tblPr firstRow="1" bandRow="1">
                <a:tableStyleId>{5C22544A-7EE6-4342-B048-85BDC9FD1C3A}</a:tableStyleId>
              </a:tblPr>
              <a:tblGrid>
                <a:gridCol w="982561">
                  <a:extLst>
                    <a:ext uri="{9D8B030D-6E8A-4147-A177-3AD203B41FA5}">
                      <a16:colId xmlns:a16="http://schemas.microsoft.com/office/drawing/2014/main" val="1919616117"/>
                    </a:ext>
                  </a:extLst>
                </a:gridCol>
                <a:gridCol w="982561">
                  <a:extLst>
                    <a:ext uri="{9D8B030D-6E8A-4147-A177-3AD203B41FA5}">
                      <a16:colId xmlns:a16="http://schemas.microsoft.com/office/drawing/2014/main" val="2320833911"/>
                    </a:ext>
                  </a:extLst>
                </a:gridCol>
                <a:gridCol w="982561">
                  <a:extLst>
                    <a:ext uri="{9D8B030D-6E8A-4147-A177-3AD203B41FA5}">
                      <a16:colId xmlns:a16="http://schemas.microsoft.com/office/drawing/2014/main" val="3830114350"/>
                    </a:ext>
                  </a:extLst>
                </a:gridCol>
                <a:gridCol w="982561">
                  <a:extLst>
                    <a:ext uri="{9D8B030D-6E8A-4147-A177-3AD203B41FA5}">
                      <a16:colId xmlns:a16="http://schemas.microsoft.com/office/drawing/2014/main" val="3136892831"/>
                    </a:ext>
                  </a:extLst>
                </a:gridCol>
                <a:gridCol w="982561">
                  <a:extLst>
                    <a:ext uri="{9D8B030D-6E8A-4147-A177-3AD203B41FA5}">
                      <a16:colId xmlns:a16="http://schemas.microsoft.com/office/drawing/2014/main" val="1878315937"/>
                    </a:ext>
                  </a:extLst>
                </a:gridCol>
              </a:tblGrid>
              <a:tr h="367848">
                <a:tc>
                  <a:txBody>
                    <a:bodyPr/>
                    <a:lstStyle/>
                    <a:p>
                      <a:endParaRPr lang="en-IN" dirty="0"/>
                    </a:p>
                  </a:txBody>
                  <a:tcPr/>
                </a:tc>
                <a:tc>
                  <a:txBody>
                    <a:bodyPr/>
                    <a:lstStyle/>
                    <a:p>
                      <a:pPr algn="ctr"/>
                      <a:r>
                        <a:rPr lang="en-US" dirty="0"/>
                        <a:t>p1</a:t>
                      </a:r>
                      <a:endParaRPr lang="en-IN" dirty="0"/>
                    </a:p>
                  </a:txBody>
                  <a:tcPr anchor="ctr"/>
                </a:tc>
                <a:tc>
                  <a:txBody>
                    <a:bodyPr/>
                    <a:lstStyle/>
                    <a:p>
                      <a:pPr algn="ctr"/>
                      <a:r>
                        <a:rPr lang="en-US" dirty="0"/>
                        <a:t>p2</a:t>
                      </a:r>
                      <a:endParaRPr lang="en-IN" dirty="0"/>
                    </a:p>
                  </a:txBody>
                  <a:tcPr anchor="ctr"/>
                </a:tc>
                <a:tc>
                  <a:txBody>
                    <a:bodyPr/>
                    <a:lstStyle/>
                    <a:p>
                      <a:pPr algn="ctr"/>
                      <a:r>
                        <a:rPr lang="en-US" dirty="0"/>
                        <a:t>p3</a:t>
                      </a:r>
                      <a:endParaRPr lang="en-IN" dirty="0"/>
                    </a:p>
                  </a:txBody>
                  <a:tcPr anchor="ctr"/>
                </a:tc>
                <a:tc>
                  <a:txBody>
                    <a:bodyPr/>
                    <a:lstStyle/>
                    <a:p>
                      <a:pPr algn="ctr"/>
                      <a:r>
                        <a:rPr lang="en-US" dirty="0"/>
                        <a:t>p4</a:t>
                      </a:r>
                      <a:endParaRPr lang="en-IN" dirty="0"/>
                    </a:p>
                  </a:txBody>
                  <a:tcPr anchor="ctr"/>
                </a:tc>
                <a:extLst>
                  <a:ext uri="{0D108BD9-81ED-4DB2-BD59-A6C34878D82A}">
                    <a16:rowId xmlns:a16="http://schemas.microsoft.com/office/drawing/2014/main" val="2185256515"/>
                  </a:ext>
                </a:extLst>
              </a:tr>
              <a:tr h="367848">
                <a:tc>
                  <a:txBody>
                    <a:bodyPr/>
                    <a:lstStyle/>
                    <a:p>
                      <a:r>
                        <a:rPr lang="en-US" dirty="0"/>
                        <a:t>Max</a:t>
                      </a:r>
                      <a:endParaRPr lang="en-IN" dirty="0"/>
                    </a:p>
                  </a:txBody>
                  <a:tcPr/>
                </a:tc>
                <a:tc>
                  <a:txBody>
                    <a:bodyPr/>
                    <a:lstStyle/>
                    <a:p>
                      <a:pPr algn="ctr"/>
                      <a:r>
                        <a:rPr lang="en-US" dirty="0"/>
                        <a:t>3</a:t>
                      </a:r>
                      <a:endParaRPr lang="en-IN" dirty="0"/>
                    </a:p>
                  </a:txBody>
                  <a:tcPr anchor="ctr"/>
                </a:tc>
                <a:tc>
                  <a:txBody>
                    <a:bodyPr/>
                    <a:lstStyle/>
                    <a:p>
                      <a:pPr algn="ctr"/>
                      <a:r>
                        <a:rPr lang="en-US" b="1" dirty="0">
                          <a:solidFill>
                            <a:srgbClr val="1D6199"/>
                          </a:solidFill>
                        </a:rPr>
                        <a:t>-</a:t>
                      </a:r>
                      <a:endParaRPr lang="en-IN" b="1" dirty="0">
                        <a:solidFill>
                          <a:srgbClr val="1D6199"/>
                        </a:solidFill>
                      </a:endParaRPr>
                    </a:p>
                  </a:txBody>
                  <a:tcPr anchor="ctr"/>
                </a:tc>
                <a:tc>
                  <a:txBody>
                    <a:bodyPr/>
                    <a:lstStyle/>
                    <a:p>
                      <a:pPr algn="ctr"/>
                      <a:r>
                        <a:rPr lang="en-US" dirty="0"/>
                        <a:t>5</a:t>
                      </a:r>
                      <a:endParaRPr lang="en-IN" dirty="0"/>
                    </a:p>
                  </a:txBody>
                  <a:tcPr anchor="ctr"/>
                </a:tc>
                <a:tc>
                  <a:txBody>
                    <a:bodyPr/>
                    <a:lstStyle/>
                    <a:p>
                      <a:pPr algn="ctr"/>
                      <a:r>
                        <a:rPr lang="en-US" dirty="0"/>
                        <a:t>8</a:t>
                      </a:r>
                      <a:endParaRPr lang="en-IN" dirty="0"/>
                    </a:p>
                  </a:txBody>
                  <a:tcPr anchor="ctr"/>
                </a:tc>
                <a:extLst>
                  <a:ext uri="{0D108BD9-81ED-4DB2-BD59-A6C34878D82A}">
                    <a16:rowId xmlns:a16="http://schemas.microsoft.com/office/drawing/2014/main" val="584564952"/>
                  </a:ext>
                </a:extLst>
              </a:tr>
              <a:tr h="367848">
                <a:tc>
                  <a:txBody>
                    <a:bodyPr/>
                    <a:lstStyle/>
                    <a:p>
                      <a:r>
                        <a:rPr lang="en-US" dirty="0"/>
                        <a:t>Holds</a:t>
                      </a:r>
                      <a:endParaRPr lang="en-IN" dirty="0"/>
                    </a:p>
                  </a:txBody>
                  <a:tcPr/>
                </a:tc>
                <a:tc>
                  <a:txBody>
                    <a:bodyPr/>
                    <a:lstStyle/>
                    <a:p>
                      <a:pPr algn="ctr"/>
                      <a:r>
                        <a:rPr lang="en-US" dirty="0"/>
                        <a:t>2</a:t>
                      </a:r>
                      <a:endParaRPr lang="en-IN" dirty="0"/>
                    </a:p>
                  </a:txBody>
                  <a:tcPr anchor="ctr"/>
                </a:tc>
                <a:tc>
                  <a:txBody>
                    <a:bodyPr/>
                    <a:lstStyle/>
                    <a:p>
                      <a:pPr marL="0" algn="ctr" defTabSz="914400" rtl="0" eaLnBrk="1" latinLnBrk="0" hangingPunct="1"/>
                      <a:r>
                        <a:rPr lang="en-US" sz="1800" b="1" kern="1200" dirty="0">
                          <a:solidFill>
                            <a:srgbClr val="1D6199"/>
                          </a:solidFill>
                          <a:latin typeface="+mn-lt"/>
                          <a:ea typeface="+mn-ea"/>
                          <a:cs typeface="+mn-cs"/>
                        </a:rPr>
                        <a:t>-</a:t>
                      </a:r>
                      <a:endParaRPr lang="en-IN" sz="1800" b="1" kern="1200" dirty="0">
                        <a:solidFill>
                          <a:srgbClr val="1D6199"/>
                        </a:solidFill>
                        <a:latin typeface="+mn-lt"/>
                        <a:ea typeface="+mn-ea"/>
                        <a:cs typeface="+mn-cs"/>
                      </a:endParaRPr>
                    </a:p>
                  </a:txBody>
                  <a:tcPr anchor="ctr"/>
                </a:tc>
                <a:tc>
                  <a:txBody>
                    <a:bodyPr/>
                    <a:lstStyle/>
                    <a:p>
                      <a:pPr algn="ctr"/>
                      <a:r>
                        <a:rPr lang="en-US" dirty="0"/>
                        <a:t>2</a:t>
                      </a:r>
                      <a:endParaRPr lang="en-IN" dirty="0"/>
                    </a:p>
                  </a:txBody>
                  <a:tcPr anchor="ctr"/>
                </a:tc>
                <a:tc>
                  <a:txBody>
                    <a:bodyPr/>
                    <a:lstStyle/>
                    <a:p>
                      <a:pPr algn="ctr"/>
                      <a:r>
                        <a:rPr lang="en-US" dirty="0"/>
                        <a:t>2</a:t>
                      </a:r>
                      <a:endParaRPr lang="en-IN" dirty="0"/>
                    </a:p>
                  </a:txBody>
                  <a:tcPr anchor="ctr"/>
                </a:tc>
                <a:extLst>
                  <a:ext uri="{0D108BD9-81ED-4DB2-BD59-A6C34878D82A}">
                    <a16:rowId xmlns:a16="http://schemas.microsoft.com/office/drawing/2014/main" val="344705790"/>
                  </a:ext>
                </a:extLst>
              </a:tr>
              <a:tr h="367848">
                <a:tc>
                  <a:txBody>
                    <a:bodyPr/>
                    <a:lstStyle/>
                    <a:p>
                      <a:r>
                        <a:rPr lang="en-US" dirty="0"/>
                        <a:t>Free </a:t>
                      </a:r>
                      <a:endParaRPr lang="en-IN" dirty="0"/>
                    </a:p>
                  </a:txBody>
                  <a:tcPr/>
                </a:tc>
                <a:tc gridSpan="4">
                  <a:txBody>
                    <a:bodyPr/>
                    <a:lstStyle/>
                    <a:p>
                      <a:pPr marL="0" algn="ctr" defTabSz="914400" rtl="0" eaLnBrk="1" latinLnBrk="0" hangingPunct="1"/>
                      <a:r>
                        <a:rPr lang="en-US" sz="1800" b="1" kern="1200" dirty="0">
                          <a:solidFill>
                            <a:srgbClr val="1D6199"/>
                          </a:solidFill>
                          <a:latin typeface="+mn-lt"/>
                          <a:ea typeface="+mn-ea"/>
                          <a:cs typeface="+mn-cs"/>
                        </a:rPr>
                        <a:t>4</a:t>
                      </a:r>
                      <a:endParaRPr lang="en-IN" sz="1800" b="1" kern="1200" dirty="0">
                        <a:solidFill>
                          <a:srgbClr val="1D6199"/>
                        </a:solidFill>
                        <a:latin typeface="+mn-lt"/>
                        <a:ea typeface="+mn-ea"/>
                        <a:cs typeface="+mn-cs"/>
                      </a:endParaRPr>
                    </a:p>
                  </a:txBody>
                  <a:tcPr anchor="ct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751126357"/>
                  </a:ext>
                </a:extLst>
              </a:tr>
            </a:tbl>
          </a:graphicData>
        </a:graphic>
      </p:graphicFrame>
      <p:graphicFrame>
        <p:nvGraphicFramePr>
          <p:cNvPr id="7" name="Table 6">
            <a:extLst>
              <a:ext uri="{FF2B5EF4-FFF2-40B4-BE49-F238E27FC236}">
                <a16:creationId xmlns:a16="http://schemas.microsoft.com/office/drawing/2014/main" id="{95752724-5536-EA99-55FB-3700DAB868AD}"/>
              </a:ext>
            </a:extLst>
          </p:cNvPr>
          <p:cNvGraphicFramePr>
            <a:graphicFrameLocks noGrp="1"/>
          </p:cNvGraphicFramePr>
          <p:nvPr>
            <p:extLst>
              <p:ext uri="{D42A27DB-BD31-4B8C-83A1-F6EECF244321}">
                <p14:modId xmlns:p14="http://schemas.microsoft.com/office/powerpoint/2010/main" val="2461030841"/>
              </p:ext>
            </p:extLst>
          </p:nvPr>
        </p:nvGraphicFramePr>
        <p:xfrm>
          <a:off x="6096000" y="4301066"/>
          <a:ext cx="4912805" cy="1471392"/>
        </p:xfrm>
        <a:graphic>
          <a:graphicData uri="http://schemas.openxmlformats.org/drawingml/2006/table">
            <a:tbl>
              <a:tblPr firstRow="1" bandRow="1">
                <a:tableStyleId>{5C22544A-7EE6-4342-B048-85BDC9FD1C3A}</a:tableStyleId>
              </a:tblPr>
              <a:tblGrid>
                <a:gridCol w="982561">
                  <a:extLst>
                    <a:ext uri="{9D8B030D-6E8A-4147-A177-3AD203B41FA5}">
                      <a16:colId xmlns:a16="http://schemas.microsoft.com/office/drawing/2014/main" val="1919616117"/>
                    </a:ext>
                  </a:extLst>
                </a:gridCol>
                <a:gridCol w="982561">
                  <a:extLst>
                    <a:ext uri="{9D8B030D-6E8A-4147-A177-3AD203B41FA5}">
                      <a16:colId xmlns:a16="http://schemas.microsoft.com/office/drawing/2014/main" val="2320833911"/>
                    </a:ext>
                  </a:extLst>
                </a:gridCol>
                <a:gridCol w="982561">
                  <a:extLst>
                    <a:ext uri="{9D8B030D-6E8A-4147-A177-3AD203B41FA5}">
                      <a16:colId xmlns:a16="http://schemas.microsoft.com/office/drawing/2014/main" val="3830114350"/>
                    </a:ext>
                  </a:extLst>
                </a:gridCol>
                <a:gridCol w="982561">
                  <a:extLst>
                    <a:ext uri="{9D8B030D-6E8A-4147-A177-3AD203B41FA5}">
                      <a16:colId xmlns:a16="http://schemas.microsoft.com/office/drawing/2014/main" val="3136892831"/>
                    </a:ext>
                  </a:extLst>
                </a:gridCol>
                <a:gridCol w="982561">
                  <a:extLst>
                    <a:ext uri="{9D8B030D-6E8A-4147-A177-3AD203B41FA5}">
                      <a16:colId xmlns:a16="http://schemas.microsoft.com/office/drawing/2014/main" val="1878315937"/>
                    </a:ext>
                  </a:extLst>
                </a:gridCol>
              </a:tblGrid>
              <a:tr h="367848">
                <a:tc>
                  <a:txBody>
                    <a:bodyPr/>
                    <a:lstStyle/>
                    <a:p>
                      <a:endParaRPr lang="en-IN" dirty="0"/>
                    </a:p>
                  </a:txBody>
                  <a:tcPr/>
                </a:tc>
                <a:tc>
                  <a:txBody>
                    <a:bodyPr/>
                    <a:lstStyle/>
                    <a:p>
                      <a:pPr algn="ctr"/>
                      <a:r>
                        <a:rPr lang="en-US" dirty="0"/>
                        <a:t>p1</a:t>
                      </a:r>
                      <a:endParaRPr lang="en-IN" dirty="0"/>
                    </a:p>
                  </a:txBody>
                  <a:tcPr anchor="ctr"/>
                </a:tc>
                <a:tc>
                  <a:txBody>
                    <a:bodyPr/>
                    <a:lstStyle/>
                    <a:p>
                      <a:pPr algn="ctr"/>
                      <a:r>
                        <a:rPr lang="en-US" dirty="0"/>
                        <a:t>p2</a:t>
                      </a:r>
                      <a:endParaRPr lang="en-IN" dirty="0"/>
                    </a:p>
                  </a:txBody>
                  <a:tcPr anchor="ctr"/>
                </a:tc>
                <a:tc>
                  <a:txBody>
                    <a:bodyPr/>
                    <a:lstStyle/>
                    <a:p>
                      <a:pPr algn="ctr"/>
                      <a:r>
                        <a:rPr lang="en-US" dirty="0"/>
                        <a:t>p3</a:t>
                      </a:r>
                      <a:endParaRPr lang="en-IN" dirty="0"/>
                    </a:p>
                  </a:txBody>
                  <a:tcPr anchor="ctr"/>
                </a:tc>
                <a:tc>
                  <a:txBody>
                    <a:bodyPr/>
                    <a:lstStyle/>
                    <a:p>
                      <a:pPr algn="ctr"/>
                      <a:r>
                        <a:rPr lang="en-US" dirty="0"/>
                        <a:t>p4</a:t>
                      </a:r>
                      <a:endParaRPr lang="en-IN" dirty="0"/>
                    </a:p>
                  </a:txBody>
                  <a:tcPr anchor="ctr"/>
                </a:tc>
                <a:extLst>
                  <a:ext uri="{0D108BD9-81ED-4DB2-BD59-A6C34878D82A}">
                    <a16:rowId xmlns:a16="http://schemas.microsoft.com/office/drawing/2014/main" val="2185256515"/>
                  </a:ext>
                </a:extLst>
              </a:tr>
              <a:tr h="367848">
                <a:tc>
                  <a:txBody>
                    <a:bodyPr/>
                    <a:lstStyle/>
                    <a:p>
                      <a:r>
                        <a:rPr lang="en-US" dirty="0"/>
                        <a:t>Max</a:t>
                      </a:r>
                      <a:endParaRPr lang="en-IN" dirty="0"/>
                    </a:p>
                  </a:txBody>
                  <a:tcPr/>
                </a:tc>
                <a:tc>
                  <a:txBody>
                    <a:bodyPr/>
                    <a:lstStyle/>
                    <a:p>
                      <a:pPr algn="ctr"/>
                      <a:r>
                        <a:rPr lang="en-US" dirty="0"/>
                        <a:t>3</a:t>
                      </a:r>
                      <a:endParaRPr lang="en-IN" dirty="0"/>
                    </a:p>
                  </a:txBody>
                  <a:tcPr anchor="ctr"/>
                </a:tc>
                <a:tc>
                  <a:txBody>
                    <a:bodyPr/>
                    <a:lstStyle/>
                    <a:p>
                      <a:pPr algn="ctr"/>
                      <a:r>
                        <a:rPr lang="en-US" dirty="0"/>
                        <a:t>-</a:t>
                      </a:r>
                      <a:endParaRPr lang="en-IN" dirty="0"/>
                    </a:p>
                  </a:txBody>
                  <a:tcPr anchor="ctr"/>
                </a:tc>
                <a:tc>
                  <a:txBody>
                    <a:bodyPr/>
                    <a:lstStyle/>
                    <a:p>
                      <a:pPr algn="ctr"/>
                      <a:r>
                        <a:rPr lang="en-US" dirty="0"/>
                        <a:t>5</a:t>
                      </a:r>
                      <a:endParaRPr lang="en-IN" dirty="0"/>
                    </a:p>
                  </a:txBody>
                  <a:tcPr anchor="ctr"/>
                </a:tc>
                <a:tc>
                  <a:txBody>
                    <a:bodyPr/>
                    <a:lstStyle/>
                    <a:p>
                      <a:pPr algn="ctr"/>
                      <a:r>
                        <a:rPr lang="en-US" dirty="0"/>
                        <a:t>8</a:t>
                      </a:r>
                      <a:endParaRPr lang="en-IN" dirty="0"/>
                    </a:p>
                  </a:txBody>
                  <a:tcPr anchor="ctr"/>
                </a:tc>
                <a:extLst>
                  <a:ext uri="{0D108BD9-81ED-4DB2-BD59-A6C34878D82A}">
                    <a16:rowId xmlns:a16="http://schemas.microsoft.com/office/drawing/2014/main" val="584564952"/>
                  </a:ext>
                </a:extLst>
              </a:tr>
              <a:tr h="367848">
                <a:tc>
                  <a:txBody>
                    <a:bodyPr/>
                    <a:lstStyle/>
                    <a:p>
                      <a:r>
                        <a:rPr lang="en-US" dirty="0"/>
                        <a:t>Holds</a:t>
                      </a:r>
                      <a:endParaRPr lang="en-IN" dirty="0"/>
                    </a:p>
                  </a:txBody>
                  <a:tcPr/>
                </a:tc>
                <a:tc>
                  <a:txBody>
                    <a:bodyPr/>
                    <a:lstStyle/>
                    <a:p>
                      <a:pPr marL="0" algn="ctr" defTabSz="914400" rtl="0" eaLnBrk="1" latinLnBrk="0" hangingPunct="1"/>
                      <a:r>
                        <a:rPr lang="en-US" sz="1800" b="1" kern="1200" dirty="0">
                          <a:solidFill>
                            <a:srgbClr val="1D6199"/>
                          </a:solidFill>
                          <a:latin typeface="+mn-lt"/>
                          <a:ea typeface="+mn-ea"/>
                          <a:cs typeface="+mn-cs"/>
                        </a:rPr>
                        <a:t>3</a:t>
                      </a:r>
                      <a:endParaRPr lang="en-IN" sz="1800" b="1" kern="1200" dirty="0">
                        <a:solidFill>
                          <a:srgbClr val="1D6199"/>
                        </a:solidFill>
                        <a:latin typeface="+mn-lt"/>
                        <a:ea typeface="+mn-ea"/>
                        <a:cs typeface="+mn-cs"/>
                      </a:endParaRPr>
                    </a:p>
                  </a:txBody>
                  <a:tcPr anchor="ctr"/>
                </a:tc>
                <a:tc>
                  <a:txBody>
                    <a:bodyPr/>
                    <a:lstStyle/>
                    <a:p>
                      <a:pPr algn="ctr"/>
                      <a:r>
                        <a:rPr lang="en-US" dirty="0"/>
                        <a:t>-</a:t>
                      </a:r>
                      <a:endParaRPr lang="en-IN" dirty="0"/>
                    </a:p>
                  </a:txBody>
                  <a:tcPr anchor="ctr"/>
                </a:tc>
                <a:tc>
                  <a:txBody>
                    <a:bodyPr/>
                    <a:lstStyle/>
                    <a:p>
                      <a:pPr algn="ctr"/>
                      <a:r>
                        <a:rPr lang="en-US" dirty="0"/>
                        <a:t>2</a:t>
                      </a:r>
                      <a:endParaRPr lang="en-IN" dirty="0"/>
                    </a:p>
                  </a:txBody>
                  <a:tcPr anchor="ctr"/>
                </a:tc>
                <a:tc>
                  <a:txBody>
                    <a:bodyPr/>
                    <a:lstStyle/>
                    <a:p>
                      <a:pPr algn="ctr"/>
                      <a:r>
                        <a:rPr lang="en-US" dirty="0"/>
                        <a:t>2</a:t>
                      </a:r>
                      <a:endParaRPr lang="en-IN" dirty="0"/>
                    </a:p>
                  </a:txBody>
                  <a:tcPr anchor="ctr"/>
                </a:tc>
                <a:extLst>
                  <a:ext uri="{0D108BD9-81ED-4DB2-BD59-A6C34878D82A}">
                    <a16:rowId xmlns:a16="http://schemas.microsoft.com/office/drawing/2014/main" val="344705790"/>
                  </a:ext>
                </a:extLst>
              </a:tr>
              <a:tr h="367848">
                <a:tc>
                  <a:txBody>
                    <a:bodyPr/>
                    <a:lstStyle/>
                    <a:p>
                      <a:r>
                        <a:rPr lang="en-US" dirty="0"/>
                        <a:t>Free </a:t>
                      </a:r>
                      <a:endParaRPr lang="en-IN" dirty="0"/>
                    </a:p>
                  </a:txBody>
                  <a:tcPr/>
                </a:tc>
                <a:tc gridSpan="4">
                  <a:txBody>
                    <a:bodyPr/>
                    <a:lstStyle/>
                    <a:p>
                      <a:pPr marL="0" algn="ctr" defTabSz="914400" rtl="0" eaLnBrk="1" latinLnBrk="0" hangingPunct="1"/>
                      <a:r>
                        <a:rPr lang="en-US" sz="1800" b="1" kern="1200" dirty="0">
                          <a:solidFill>
                            <a:srgbClr val="1D6199"/>
                          </a:solidFill>
                          <a:latin typeface="+mn-lt"/>
                          <a:ea typeface="+mn-ea"/>
                          <a:cs typeface="+mn-cs"/>
                        </a:rPr>
                        <a:t>3</a:t>
                      </a:r>
                      <a:endParaRPr lang="en-IN" sz="1800" b="1" kern="1200" dirty="0">
                        <a:solidFill>
                          <a:srgbClr val="1D6199"/>
                        </a:solidFill>
                        <a:latin typeface="+mn-lt"/>
                        <a:ea typeface="+mn-ea"/>
                        <a:cs typeface="+mn-cs"/>
                      </a:endParaRPr>
                    </a:p>
                  </a:txBody>
                  <a:tcPr anchor="ct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751126357"/>
                  </a:ext>
                </a:extLst>
              </a:tr>
            </a:tbl>
          </a:graphicData>
        </a:graphic>
      </p:graphicFrame>
      <p:sp>
        <p:nvSpPr>
          <p:cNvPr id="8" name="Oval 7">
            <a:extLst>
              <a:ext uri="{FF2B5EF4-FFF2-40B4-BE49-F238E27FC236}">
                <a16:creationId xmlns:a16="http://schemas.microsoft.com/office/drawing/2014/main" id="{3372A2FF-5AD6-F1FA-F96F-6541D8501AE7}"/>
              </a:ext>
            </a:extLst>
          </p:cNvPr>
          <p:cNvSpPr/>
          <p:nvPr/>
        </p:nvSpPr>
        <p:spPr>
          <a:xfrm>
            <a:off x="8214219" y="1309908"/>
            <a:ext cx="604345" cy="5715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P2</a:t>
            </a:r>
          </a:p>
        </p:txBody>
      </p:sp>
      <p:sp>
        <p:nvSpPr>
          <p:cNvPr id="9" name="Oval 8">
            <a:extLst>
              <a:ext uri="{FF2B5EF4-FFF2-40B4-BE49-F238E27FC236}">
                <a16:creationId xmlns:a16="http://schemas.microsoft.com/office/drawing/2014/main" id="{EAB5B71E-FCCD-9647-2142-7CE9B6FE7B54}"/>
              </a:ext>
            </a:extLst>
          </p:cNvPr>
          <p:cNvSpPr/>
          <p:nvPr/>
        </p:nvSpPr>
        <p:spPr>
          <a:xfrm>
            <a:off x="7308990" y="3729566"/>
            <a:ext cx="604345" cy="5715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P1</a:t>
            </a:r>
          </a:p>
        </p:txBody>
      </p:sp>
      <p:sp>
        <p:nvSpPr>
          <p:cNvPr id="10" name="Rectangle 9">
            <a:extLst>
              <a:ext uri="{FF2B5EF4-FFF2-40B4-BE49-F238E27FC236}">
                <a16:creationId xmlns:a16="http://schemas.microsoft.com/office/drawing/2014/main" id="{3ECFD562-3D74-1769-DDC3-7C7236F6ABFF}"/>
              </a:ext>
            </a:extLst>
          </p:cNvPr>
          <p:cNvSpPr/>
          <p:nvPr/>
        </p:nvSpPr>
        <p:spPr>
          <a:xfrm>
            <a:off x="2438400" y="3756930"/>
            <a:ext cx="990600" cy="5715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P2 releases resource</a:t>
            </a:r>
          </a:p>
        </p:txBody>
      </p:sp>
    </p:spTree>
    <p:extLst>
      <p:ext uri="{BB962C8B-B14F-4D97-AF65-F5344CB8AC3E}">
        <p14:creationId xmlns:p14="http://schemas.microsoft.com/office/powerpoint/2010/main" val="801993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2">
            <a:extLst>
              <a:ext uri="{FF2B5EF4-FFF2-40B4-BE49-F238E27FC236}">
                <a16:creationId xmlns:a16="http://schemas.microsoft.com/office/drawing/2014/main" id="{C6F69E05-649C-7E54-0307-0E1E02443287}"/>
              </a:ext>
            </a:extLst>
          </p:cNvPr>
          <p:cNvSpPr>
            <a:spLocks noGrp="1"/>
          </p:cNvSpPr>
          <p:nvPr>
            <p:ph idx="1"/>
          </p:nvPr>
        </p:nvSpPr>
        <p:spPr>
          <a:xfrm>
            <a:off x="131180" y="863444"/>
            <a:ext cx="11891487" cy="5520423"/>
          </a:xfrm>
        </p:spPr>
        <p:txBody>
          <a:bodyPr/>
          <a:lstStyle/>
          <a:p>
            <a:r>
              <a:rPr lang="en-US" b="1" dirty="0">
                <a:solidFill>
                  <a:schemeClr val="tx2"/>
                </a:solidFill>
              </a:rPr>
              <a:t>Deadlock avoidance Example (Sequence p2 p1 p3 p4)</a:t>
            </a:r>
          </a:p>
        </p:txBody>
      </p:sp>
      <p:sp>
        <p:nvSpPr>
          <p:cNvPr id="5" name="Title 4">
            <a:extLst>
              <a:ext uri="{FF2B5EF4-FFF2-40B4-BE49-F238E27FC236}">
                <a16:creationId xmlns:a16="http://schemas.microsoft.com/office/drawing/2014/main" id="{C73F0A24-BA50-2475-DF23-AAC963085395}"/>
              </a:ext>
            </a:extLst>
          </p:cNvPr>
          <p:cNvSpPr>
            <a:spLocks noGrp="1"/>
          </p:cNvSpPr>
          <p:nvPr>
            <p:ph type="title"/>
          </p:nvPr>
        </p:nvSpPr>
        <p:spPr/>
        <p:txBody>
          <a:bodyPr>
            <a:normAutofit/>
          </a:bodyPr>
          <a:lstStyle/>
          <a:p>
            <a:r>
              <a:rPr lang="en-IN" dirty="0"/>
              <a:t>Deadlock avoidance</a:t>
            </a:r>
          </a:p>
        </p:txBody>
      </p:sp>
      <p:graphicFrame>
        <p:nvGraphicFramePr>
          <p:cNvPr id="4" name="Table 3">
            <a:extLst>
              <a:ext uri="{FF2B5EF4-FFF2-40B4-BE49-F238E27FC236}">
                <a16:creationId xmlns:a16="http://schemas.microsoft.com/office/drawing/2014/main" id="{82D9AAC7-AA71-2F24-CCB3-21112DB52431}"/>
              </a:ext>
            </a:extLst>
          </p:cNvPr>
          <p:cNvGraphicFramePr>
            <a:graphicFrameLocks noGrp="1"/>
          </p:cNvGraphicFramePr>
          <p:nvPr>
            <p:extLst>
              <p:ext uri="{D42A27DB-BD31-4B8C-83A1-F6EECF244321}">
                <p14:modId xmlns:p14="http://schemas.microsoft.com/office/powerpoint/2010/main" val="4228880562"/>
              </p:ext>
            </p:extLst>
          </p:nvPr>
        </p:nvGraphicFramePr>
        <p:xfrm>
          <a:off x="471997" y="1881408"/>
          <a:ext cx="4912805" cy="1471392"/>
        </p:xfrm>
        <a:graphic>
          <a:graphicData uri="http://schemas.openxmlformats.org/drawingml/2006/table">
            <a:tbl>
              <a:tblPr firstRow="1" bandRow="1">
                <a:tableStyleId>{5C22544A-7EE6-4342-B048-85BDC9FD1C3A}</a:tableStyleId>
              </a:tblPr>
              <a:tblGrid>
                <a:gridCol w="982561">
                  <a:extLst>
                    <a:ext uri="{9D8B030D-6E8A-4147-A177-3AD203B41FA5}">
                      <a16:colId xmlns:a16="http://schemas.microsoft.com/office/drawing/2014/main" val="1919616117"/>
                    </a:ext>
                  </a:extLst>
                </a:gridCol>
                <a:gridCol w="982561">
                  <a:extLst>
                    <a:ext uri="{9D8B030D-6E8A-4147-A177-3AD203B41FA5}">
                      <a16:colId xmlns:a16="http://schemas.microsoft.com/office/drawing/2014/main" val="2320833911"/>
                    </a:ext>
                  </a:extLst>
                </a:gridCol>
                <a:gridCol w="982561">
                  <a:extLst>
                    <a:ext uri="{9D8B030D-6E8A-4147-A177-3AD203B41FA5}">
                      <a16:colId xmlns:a16="http://schemas.microsoft.com/office/drawing/2014/main" val="3830114350"/>
                    </a:ext>
                  </a:extLst>
                </a:gridCol>
                <a:gridCol w="982561">
                  <a:extLst>
                    <a:ext uri="{9D8B030D-6E8A-4147-A177-3AD203B41FA5}">
                      <a16:colId xmlns:a16="http://schemas.microsoft.com/office/drawing/2014/main" val="3136892831"/>
                    </a:ext>
                  </a:extLst>
                </a:gridCol>
                <a:gridCol w="982561">
                  <a:extLst>
                    <a:ext uri="{9D8B030D-6E8A-4147-A177-3AD203B41FA5}">
                      <a16:colId xmlns:a16="http://schemas.microsoft.com/office/drawing/2014/main" val="1878315937"/>
                    </a:ext>
                  </a:extLst>
                </a:gridCol>
              </a:tblGrid>
              <a:tr h="367848">
                <a:tc>
                  <a:txBody>
                    <a:bodyPr/>
                    <a:lstStyle/>
                    <a:p>
                      <a:endParaRPr lang="en-IN" dirty="0"/>
                    </a:p>
                  </a:txBody>
                  <a:tcPr/>
                </a:tc>
                <a:tc>
                  <a:txBody>
                    <a:bodyPr/>
                    <a:lstStyle/>
                    <a:p>
                      <a:pPr algn="ctr"/>
                      <a:r>
                        <a:rPr lang="en-US" dirty="0"/>
                        <a:t>p1</a:t>
                      </a:r>
                      <a:endParaRPr lang="en-IN" dirty="0"/>
                    </a:p>
                  </a:txBody>
                  <a:tcPr anchor="ctr"/>
                </a:tc>
                <a:tc>
                  <a:txBody>
                    <a:bodyPr/>
                    <a:lstStyle/>
                    <a:p>
                      <a:pPr algn="ctr"/>
                      <a:r>
                        <a:rPr lang="en-US" dirty="0"/>
                        <a:t>p2</a:t>
                      </a:r>
                      <a:endParaRPr lang="en-IN" dirty="0"/>
                    </a:p>
                  </a:txBody>
                  <a:tcPr anchor="ctr"/>
                </a:tc>
                <a:tc>
                  <a:txBody>
                    <a:bodyPr/>
                    <a:lstStyle/>
                    <a:p>
                      <a:pPr algn="ctr"/>
                      <a:r>
                        <a:rPr lang="en-US" dirty="0"/>
                        <a:t>p3</a:t>
                      </a:r>
                      <a:endParaRPr lang="en-IN" dirty="0"/>
                    </a:p>
                  </a:txBody>
                  <a:tcPr anchor="ctr"/>
                </a:tc>
                <a:tc>
                  <a:txBody>
                    <a:bodyPr/>
                    <a:lstStyle/>
                    <a:p>
                      <a:pPr algn="ctr"/>
                      <a:r>
                        <a:rPr lang="en-US" dirty="0"/>
                        <a:t>p4</a:t>
                      </a:r>
                      <a:endParaRPr lang="en-IN" dirty="0"/>
                    </a:p>
                  </a:txBody>
                  <a:tcPr anchor="ctr"/>
                </a:tc>
                <a:extLst>
                  <a:ext uri="{0D108BD9-81ED-4DB2-BD59-A6C34878D82A}">
                    <a16:rowId xmlns:a16="http://schemas.microsoft.com/office/drawing/2014/main" val="2185256515"/>
                  </a:ext>
                </a:extLst>
              </a:tr>
              <a:tr h="367848">
                <a:tc>
                  <a:txBody>
                    <a:bodyPr/>
                    <a:lstStyle/>
                    <a:p>
                      <a:r>
                        <a:rPr lang="en-US" dirty="0"/>
                        <a:t>Max</a:t>
                      </a:r>
                      <a:endParaRPr lang="en-IN" dirty="0"/>
                    </a:p>
                  </a:txBody>
                  <a:tcPr/>
                </a:tc>
                <a:tc>
                  <a:txBody>
                    <a:bodyPr/>
                    <a:lstStyle/>
                    <a:p>
                      <a:pPr algn="ctr"/>
                      <a:r>
                        <a:rPr lang="en-US" b="1" dirty="0">
                          <a:solidFill>
                            <a:srgbClr val="1D6199"/>
                          </a:solidFill>
                        </a:rPr>
                        <a:t>-</a:t>
                      </a:r>
                      <a:endParaRPr lang="en-IN" b="1" dirty="0">
                        <a:solidFill>
                          <a:srgbClr val="1D6199"/>
                        </a:solidFill>
                      </a:endParaRPr>
                    </a:p>
                  </a:txBody>
                  <a:tcPr anchor="ctr"/>
                </a:tc>
                <a:tc>
                  <a:txBody>
                    <a:bodyPr/>
                    <a:lstStyle/>
                    <a:p>
                      <a:pPr algn="ctr"/>
                      <a:r>
                        <a:rPr lang="en-US" dirty="0"/>
                        <a:t>-</a:t>
                      </a:r>
                      <a:endParaRPr lang="en-IN" dirty="0"/>
                    </a:p>
                  </a:txBody>
                  <a:tcPr anchor="ctr"/>
                </a:tc>
                <a:tc>
                  <a:txBody>
                    <a:bodyPr/>
                    <a:lstStyle/>
                    <a:p>
                      <a:pPr algn="ctr"/>
                      <a:r>
                        <a:rPr lang="en-US" dirty="0"/>
                        <a:t>5</a:t>
                      </a:r>
                      <a:endParaRPr lang="en-IN" dirty="0"/>
                    </a:p>
                  </a:txBody>
                  <a:tcPr anchor="ctr"/>
                </a:tc>
                <a:tc>
                  <a:txBody>
                    <a:bodyPr/>
                    <a:lstStyle/>
                    <a:p>
                      <a:pPr algn="ctr"/>
                      <a:r>
                        <a:rPr lang="en-US" dirty="0"/>
                        <a:t>8</a:t>
                      </a:r>
                      <a:endParaRPr lang="en-IN" dirty="0"/>
                    </a:p>
                  </a:txBody>
                  <a:tcPr anchor="ctr"/>
                </a:tc>
                <a:extLst>
                  <a:ext uri="{0D108BD9-81ED-4DB2-BD59-A6C34878D82A}">
                    <a16:rowId xmlns:a16="http://schemas.microsoft.com/office/drawing/2014/main" val="584564952"/>
                  </a:ext>
                </a:extLst>
              </a:tr>
              <a:tr h="367848">
                <a:tc>
                  <a:txBody>
                    <a:bodyPr/>
                    <a:lstStyle/>
                    <a:p>
                      <a:r>
                        <a:rPr lang="en-US" dirty="0"/>
                        <a:t>Holds</a:t>
                      </a:r>
                      <a:endParaRPr lang="en-IN" dirty="0"/>
                    </a:p>
                  </a:txBody>
                  <a:tcPr/>
                </a:tc>
                <a:tc>
                  <a:txBody>
                    <a:bodyPr/>
                    <a:lstStyle/>
                    <a:p>
                      <a:pPr marL="0" algn="ctr" defTabSz="914400" rtl="0" eaLnBrk="1" latinLnBrk="0" hangingPunct="1"/>
                      <a:r>
                        <a:rPr lang="en-US" sz="1800" b="1" kern="1200" dirty="0">
                          <a:solidFill>
                            <a:srgbClr val="1D6199"/>
                          </a:solidFill>
                          <a:latin typeface="+mn-lt"/>
                          <a:ea typeface="+mn-ea"/>
                          <a:cs typeface="+mn-cs"/>
                        </a:rPr>
                        <a:t>-</a:t>
                      </a:r>
                      <a:endParaRPr lang="en-IN" sz="1800" b="1" kern="1200" dirty="0">
                        <a:solidFill>
                          <a:srgbClr val="1D6199"/>
                        </a:solidFill>
                        <a:latin typeface="+mn-lt"/>
                        <a:ea typeface="+mn-ea"/>
                        <a:cs typeface="+mn-cs"/>
                      </a:endParaRPr>
                    </a:p>
                  </a:txBody>
                  <a:tcPr anchor="ctr"/>
                </a:tc>
                <a:tc>
                  <a:txBody>
                    <a:bodyPr/>
                    <a:lstStyle/>
                    <a:p>
                      <a:pPr algn="ctr"/>
                      <a:r>
                        <a:rPr lang="en-US" dirty="0"/>
                        <a:t>-</a:t>
                      </a:r>
                      <a:endParaRPr lang="en-IN" dirty="0"/>
                    </a:p>
                  </a:txBody>
                  <a:tcPr anchor="ctr"/>
                </a:tc>
                <a:tc>
                  <a:txBody>
                    <a:bodyPr/>
                    <a:lstStyle/>
                    <a:p>
                      <a:pPr algn="ctr"/>
                      <a:r>
                        <a:rPr lang="en-US" dirty="0"/>
                        <a:t>2</a:t>
                      </a:r>
                      <a:endParaRPr lang="en-IN" dirty="0"/>
                    </a:p>
                  </a:txBody>
                  <a:tcPr anchor="ctr"/>
                </a:tc>
                <a:tc>
                  <a:txBody>
                    <a:bodyPr/>
                    <a:lstStyle/>
                    <a:p>
                      <a:pPr algn="ctr"/>
                      <a:r>
                        <a:rPr lang="en-US" dirty="0"/>
                        <a:t>2</a:t>
                      </a:r>
                      <a:endParaRPr lang="en-IN" dirty="0"/>
                    </a:p>
                  </a:txBody>
                  <a:tcPr anchor="ctr"/>
                </a:tc>
                <a:extLst>
                  <a:ext uri="{0D108BD9-81ED-4DB2-BD59-A6C34878D82A}">
                    <a16:rowId xmlns:a16="http://schemas.microsoft.com/office/drawing/2014/main" val="344705790"/>
                  </a:ext>
                </a:extLst>
              </a:tr>
              <a:tr h="367848">
                <a:tc>
                  <a:txBody>
                    <a:bodyPr/>
                    <a:lstStyle/>
                    <a:p>
                      <a:r>
                        <a:rPr lang="en-US" dirty="0"/>
                        <a:t>Free </a:t>
                      </a:r>
                      <a:endParaRPr lang="en-IN" dirty="0"/>
                    </a:p>
                  </a:txBody>
                  <a:tcPr/>
                </a:tc>
                <a:tc gridSpan="4">
                  <a:txBody>
                    <a:bodyPr/>
                    <a:lstStyle/>
                    <a:p>
                      <a:pPr marL="0" algn="ctr" defTabSz="914400" rtl="0" eaLnBrk="1" latinLnBrk="0" hangingPunct="1"/>
                      <a:r>
                        <a:rPr lang="en-US" sz="1800" b="1" kern="1200" dirty="0">
                          <a:solidFill>
                            <a:srgbClr val="1D6199"/>
                          </a:solidFill>
                          <a:latin typeface="+mn-lt"/>
                          <a:ea typeface="+mn-ea"/>
                          <a:cs typeface="+mn-cs"/>
                        </a:rPr>
                        <a:t>6</a:t>
                      </a:r>
                      <a:endParaRPr lang="en-IN" sz="1800" b="1" kern="1200" dirty="0">
                        <a:solidFill>
                          <a:srgbClr val="1D6199"/>
                        </a:solidFill>
                        <a:latin typeface="+mn-lt"/>
                        <a:ea typeface="+mn-ea"/>
                        <a:cs typeface="+mn-cs"/>
                      </a:endParaRPr>
                    </a:p>
                  </a:txBody>
                  <a:tcPr anchor="ct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751126357"/>
                  </a:ext>
                </a:extLst>
              </a:tr>
            </a:tbl>
          </a:graphicData>
        </a:graphic>
      </p:graphicFrame>
      <p:graphicFrame>
        <p:nvGraphicFramePr>
          <p:cNvPr id="2" name="Table 1">
            <a:extLst>
              <a:ext uri="{FF2B5EF4-FFF2-40B4-BE49-F238E27FC236}">
                <a16:creationId xmlns:a16="http://schemas.microsoft.com/office/drawing/2014/main" id="{E83F660A-DD82-1EAF-E71C-DCFE9FAAB1E6}"/>
              </a:ext>
            </a:extLst>
          </p:cNvPr>
          <p:cNvGraphicFramePr>
            <a:graphicFrameLocks noGrp="1"/>
          </p:cNvGraphicFramePr>
          <p:nvPr>
            <p:extLst>
              <p:ext uri="{D42A27DB-BD31-4B8C-83A1-F6EECF244321}">
                <p14:modId xmlns:p14="http://schemas.microsoft.com/office/powerpoint/2010/main" val="2797116016"/>
              </p:ext>
            </p:extLst>
          </p:nvPr>
        </p:nvGraphicFramePr>
        <p:xfrm>
          <a:off x="6059990" y="1881408"/>
          <a:ext cx="4912805" cy="1471392"/>
        </p:xfrm>
        <a:graphic>
          <a:graphicData uri="http://schemas.openxmlformats.org/drawingml/2006/table">
            <a:tbl>
              <a:tblPr firstRow="1" bandRow="1">
                <a:tableStyleId>{5C22544A-7EE6-4342-B048-85BDC9FD1C3A}</a:tableStyleId>
              </a:tblPr>
              <a:tblGrid>
                <a:gridCol w="982561">
                  <a:extLst>
                    <a:ext uri="{9D8B030D-6E8A-4147-A177-3AD203B41FA5}">
                      <a16:colId xmlns:a16="http://schemas.microsoft.com/office/drawing/2014/main" val="1919616117"/>
                    </a:ext>
                  </a:extLst>
                </a:gridCol>
                <a:gridCol w="982561">
                  <a:extLst>
                    <a:ext uri="{9D8B030D-6E8A-4147-A177-3AD203B41FA5}">
                      <a16:colId xmlns:a16="http://schemas.microsoft.com/office/drawing/2014/main" val="2320833911"/>
                    </a:ext>
                  </a:extLst>
                </a:gridCol>
                <a:gridCol w="982561">
                  <a:extLst>
                    <a:ext uri="{9D8B030D-6E8A-4147-A177-3AD203B41FA5}">
                      <a16:colId xmlns:a16="http://schemas.microsoft.com/office/drawing/2014/main" val="3830114350"/>
                    </a:ext>
                  </a:extLst>
                </a:gridCol>
                <a:gridCol w="982561">
                  <a:extLst>
                    <a:ext uri="{9D8B030D-6E8A-4147-A177-3AD203B41FA5}">
                      <a16:colId xmlns:a16="http://schemas.microsoft.com/office/drawing/2014/main" val="3136892831"/>
                    </a:ext>
                  </a:extLst>
                </a:gridCol>
                <a:gridCol w="982561">
                  <a:extLst>
                    <a:ext uri="{9D8B030D-6E8A-4147-A177-3AD203B41FA5}">
                      <a16:colId xmlns:a16="http://schemas.microsoft.com/office/drawing/2014/main" val="1878315937"/>
                    </a:ext>
                  </a:extLst>
                </a:gridCol>
              </a:tblGrid>
              <a:tr h="367848">
                <a:tc>
                  <a:txBody>
                    <a:bodyPr/>
                    <a:lstStyle/>
                    <a:p>
                      <a:endParaRPr lang="en-IN" dirty="0"/>
                    </a:p>
                  </a:txBody>
                  <a:tcPr/>
                </a:tc>
                <a:tc>
                  <a:txBody>
                    <a:bodyPr/>
                    <a:lstStyle/>
                    <a:p>
                      <a:pPr algn="ctr"/>
                      <a:r>
                        <a:rPr lang="en-US" dirty="0"/>
                        <a:t>p1</a:t>
                      </a:r>
                      <a:endParaRPr lang="en-IN" dirty="0"/>
                    </a:p>
                  </a:txBody>
                  <a:tcPr anchor="ctr"/>
                </a:tc>
                <a:tc>
                  <a:txBody>
                    <a:bodyPr/>
                    <a:lstStyle/>
                    <a:p>
                      <a:pPr algn="ctr"/>
                      <a:r>
                        <a:rPr lang="en-US" dirty="0"/>
                        <a:t>p2</a:t>
                      </a:r>
                      <a:endParaRPr lang="en-IN" dirty="0"/>
                    </a:p>
                  </a:txBody>
                  <a:tcPr anchor="ctr"/>
                </a:tc>
                <a:tc>
                  <a:txBody>
                    <a:bodyPr/>
                    <a:lstStyle/>
                    <a:p>
                      <a:pPr algn="ctr"/>
                      <a:r>
                        <a:rPr lang="en-US" dirty="0"/>
                        <a:t>p3</a:t>
                      </a:r>
                      <a:endParaRPr lang="en-IN" dirty="0"/>
                    </a:p>
                  </a:txBody>
                  <a:tcPr anchor="ctr"/>
                </a:tc>
                <a:tc>
                  <a:txBody>
                    <a:bodyPr/>
                    <a:lstStyle/>
                    <a:p>
                      <a:pPr algn="ctr"/>
                      <a:r>
                        <a:rPr lang="en-US" dirty="0"/>
                        <a:t>p4</a:t>
                      </a:r>
                      <a:endParaRPr lang="en-IN" dirty="0"/>
                    </a:p>
                  </a:txBody>
                  <a:tcPr anchor="ctr"/>
                </a:tc>
                <a:extLst>
                  <a:ext uri="{0D108BD9-81ED-4DB2-BD59-A6C34878D82A}">
                    <a16:rowId xmlns:a16="http://schemas.microsoft.com/office/drawing/2014/main" val="2185256515"/>
                  </a:ext>
                </a:extLst>
              </a:tr>
              <a:tr h="367848">
                <a:tc>
                  <a:txBody>
                    <a:bodyPr/>
                    <a:lstStyle/>
                    <a:p>
                      <a:r>
                        <a:rPr lang="en-US" dirty="0"/>
                        <a:t>Max</a:t>
                      </a:r>
                      <a:endParaRPr lang="en-IN" dirty="0"/>
                    </a:p>
                  </a:txBody>
                  <a:tcPr/>
                </a:tc>
                <a:tc>
                  <a:txBody>
                    <a:bodyPr/>
                    <a:lstStyle/>
                    <a:p>
                      <a:pPr algn="ctr"/>
                      <a:r>
                        <a:rPr lang="en-US" dirty="0"/>
                        <a:t>-</a:t>
                      </a:r>
                      <a:endParaRPr lang="en-IN" dirty="0"/>
                    </a:p>
                  </a:txBody>
                  <a:tcPr anchor="ctr"/>
                </a:tc>
                <a:tc>
                  <a:txBody>
                    <a:bodyPr/>
                    <a:lstStyle/>
                    <a:p>
                      <a:pPr algn="ctr"/>
                      <a:r>
                        <a:rPr lang="en-US" dirty="0"/>
                        <a:t>-</a:t>
                      </a:r>
                      <a:endParaRPr lang="en-IN" dirty="0"/>
                    </a:p>
                  </a:txBody>
                  <a:tcPr anchor="ctr"/>
                </a:tc>
                <a:tc>
                  <a:txBody>
                    <a:bodyPr/>
                    <a:lstStyle/>
                    <a:p>
                      <a:pPr algn="ctr"/>
                      <a:r>
                        <a:rPr lang="en-US" dirty="0"/>
                        <a:t>5</a:t>
                      </a:r>
                      <a:endParaRPr lang="en-IN" dirty="0"/>
                    </a:p>
                  </a:txBody>
                  <a:tcPr anchor="ctr"/>
                </a:tc>
                <a:tc>
                  <a:txBody>
                    <a:bodyPr/>
                    <a:lstStyle/>
                    <a:p>
                      <a:pPr algn="ctr"/>
                      <a:r>
                        <a:rPr lang="en-US" dirty="0"/>
                        <a:t>8</a:t>
                      </a:r>
                      <a:endParaRPr lang="en-IN" dirty="0"/>
                    </a:p>
                  </a:txBody>
                  <a:tcPr anchor="ctr"/>
                </a:tc>
                <a:extLst>
                  <a:ext uri="{0D108BD9-81ED-4DB2-BD59-A6C34878D82A}">
                    <a16:rowId xmlns:a16="http://schemas.microsoft.com/office/drawing/2014/main" val="584564952"/>
                  </a:ext>
                </a:extLst>
              </a:tr>
              <a:tr h="367848">
                <a:tc>
                  <a:txBody>
                    <a:bodyPr/>
                    <a:lstStyle/>
                    <a:p>
                      <a:r>
                        <a:rPr lang="en-US" dirty="0"/>
                        <a:t>Holds</a:t>
                      </a:r>
                      <a:endParaRPr lang="en-IN" dirty="0"/>
                    </a:p>
                  </a:txBody>
                  <a:tcPr/>
                </a:tc>
                <a:tc>
                  <a:txBody>
                    <a:bodyPr/>
                    <a:lstStyle/>
                    <a:p>
                      <a:pPr algn="ctr"/>
                      <a:r>
                        <a:rPr lang="en-US" dirty="0"/>
                        <a:t>-</a:t>
                      </a:r>
                      <a:endParaRPr lang="en-IN" dirty="0"/>
                    </a:p>
                  </a:txBody>
                  <a:tcPr anchor="ctr"/>
                </a:tc>
                <a:tc>
                  <a:txBody>
                    <a:bodyPr/>
                    <a:lstStyle/>
                    <a:p>
                      <a:pPr algn="ctr"/>
                      <a:r>
                        <a:rPr lang="en-US" b="0" dirty="0">
                          <a:solidFill>
                            <a:schemeClr val="tx1"/>
                          </a:solidFill>
                        </a:rPr>
                        <a:t>-</a:t>
                      </a:r>
                      <a:endParaRPr lang="en-IN" b="0" dirty="0">
                        <a:solidFill>
                          <a:schemeClr val="tx1"/>
                        </a:solidFill>
                      </a:endParaRPr>
                    </a:p>
                  </a:txBody>
                  <a:tcPr anchor="ctr"/>
                </a:tc>
                <a:tc>
                  <a:txBody>
                    <a:bodyPr/>
                    <a:lstStyle/>
                    <a:p>
                      <a:pPr algn="ctr"/>
                      <a:r>
                        <a:rPr lang="en-US" b="1" dirty="0">
                          <a:solidFill>
                            <a:srgbClr val="1D6199"/>
                          </a:solidFill>
                        </a:rPr>
                        <a:t>5</a:t>
                      </a:r>
                      <a:endParaRPr lang="en-IN" b="1" dirty="0">
                        <a:solidFill>
                          <a:srgbClr val="1D6199"/>
                        </a:solidFill>
                      </a:endParaRPr>
                    </a:p>
                  </a:txBody>
                  <a:tcPr anchor="ctr"/>
                </a:tc>
                <a:tc>
                  <a:txBody>
                    <a:bodyPr/>
                    <a:lstStyle/>
                    <a:p>
                      <a:pPr algn="ctr"/>
                      <a:r>
                        <a:rPr lang="en-US" dirty="0"/>
                        <a:t>2</a:t>
                      </a:r>
                      <a:endParaRPr lang="en-IN" dirty="0"/>
                    </a:p>
                  </a:txBody>
                  <a:tcPr anchor="ctr"/>
                </a:tc>
                <a:extLst>
                  <a:ext uri="{0D108BD9-81ED-4DB2-BD59-A6C34878D82A}">
                    <a16:rowId xmlns:a16="http://schemas.microsoft.com/office/drawing/2014/main" val="344705790"/>
                  </a:ext>
                </a:extLst>
              </a:tr>
              <a:tr h="367848">
                <a:tc>
                  <a:txBody>
                    <a:bodyPr/>
                    <a:lstStyle/>
                    <a:p>
                      <a:r>
                        <a:rPr lang="en-US" dirty="0"/>
                        <a:t>Free </a:t>
                      </a:r>
                      <a:endParaRPr lang="en-IN" dirty="0"/>
                    </a:p>
                  </a:txBody>
                  <a:tcPr/>
                </a:tc>
                <a:tc gridSpan="4">
                  <a:txBody>
                    <a:bodyPr/>
                    <a:lstStyle/>
                    <a:p>
                      <a:pPr algn="ctr"/>
                      <a:r>
                        <a:rPr lang="en-US" b="1" dirty="0">
                          <a:solidFill>
                            <a:srgbClr val="1D6199"/>
                          </a:solidFill>
                        </a:rPr>
                        <a:t>3</a:t>
                      </a:r>
                      <a:endParaRPr lang="en-IN" b="1" dirty="0">
                        <a:solidFill>
                          <a:srgbClr val="1D6199"/>
                        </a:solidFill>
                      </a:endParaRPr>
                    </a:p>
                  </a:txBody>
                  <a:tcPr anchor="ct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751126357"/>
                  </a:ext>
                </a:extLst>
              </a:tr>
            </a:tbl>
          </a:graphicData>
        </a:graphic>
      </p:graphicFrame>
      <p:graphicFrame>
        <p:nvGraphicFramePr>
          <p:cNvPr id="6" name="Table 5">
            <a:extLst>
              <a:ext uri="{FF2B5EF4-FFF2-40B4-BE49-F238E27FC236}">
                <a16:creationId xmlns:a16="http://schemas.microsoft.com/office/drawing/2014/main" id="{3DE43719-B235-7B2B-2D4C-9F03199D4466}"/>
              </a:ext>
            </a:extLst>
          </p:cNvPr>
          <p:cNvGraphicFramePr>
            <a:graphicFrameLocks noGrp="1"/>
          </p:cNvGraphicFramePr>
          <p:nvPr>
            <p:extLst>
              <p:ext uri="{D42A27DB-BD31-4B8C-83A1-F6EECF244321}">
                <p14:modId xmlns:p14="http://schemas.microsoft.com/office/powerpoint/2010/main" val="1343600964"/>
              </p:ext>
            </p:extLst>
          </p:nvPr>
        </p:nvGraphicFramePr>
        <p:xfrm>
          <a:off x="488930" y="4328430"/>
          <a:ext cx="4912805" cy="1471392"/>
        </p:xfrm>
        <a:graphic>
          <a:graphicData uri="http://schemas.openxmlformats.org/drawingml/2006/table">
            <a:tbl>
              <a:tblPr firstRow="1" bandRow="1">
                <a:tableStyleId>{5C22544A-7EE6-4342-B048-85BDC9FD1C3A}</a:tableStyleId>
              </a:tblPr>
              <a:tblGrid>
                <a:gridCol w="982561">
                  <a:extLst>
                    <a:ext uri="{9D8B030D-6E8A-4147-A177-3AD203B41FA5}">
                      <a16:colId xmlns:a16="http://schemas.microsoft.com/office/drawing/2014/main" val="1919616117"/>
                    </a:ext>
                  </a:extLst>
                </a:gridCol>
                <a:gridCol w="982561">
                  <a:extLst>
                    <a:ext uri="{9D8B030D-6E8A-4147-A177-3AD203B41FA5}">
                      <a16:colId xmlns:a16="http://schemas.microsoft.com/office/drawing/2014/main" val="2320833911"/>
                    </a:ext>
                  </a:extLst>
                </a:gridCol>
                <a:gridCol w="982561">
                  <a:extLst>
                    <a:ext uri="{9D8B030D-6E8A-4147-A177-3AD203B41FA5}">
                      <a16:colId xmlns:a16="http://schemas.microsoft.com/office/drawing/2014/main" val="3830114350"/>
                    </a:ext>
                  </a:extLst>
                </a:gridCol>
                <a:gridCol w="982561">
                  <a:extLst>
                    <a:ext uri="{9D8B030D-6E8A-4147-A177-3AD203B41FA5}">
                      <a16:colId xmlns:a16="http://schemas.microsoft.com/office/drawing/2014/main" val="3136892831"/>
                    </a:ext>
                  </a:extLst>
                </a:gridCol>
                <a:gridCol w="982561">
                  <a:extLst>
                    <a:ext uri="{9D8B030D-6E8A-4147-A177-3AD203B41FA5}">
                      <a16:colId xmlns:a16="http://schemas.microsoft.com/office/drawing/2014/main" val="1878315937"/>
                    </a:ext>
                  </a:extLst>
                </a:gridCol>
              </a:tblGrid>
              <a:tr h="367848">
                <a:tc>
                  <a:txBody>
                    <a:bodyPr/>
                    <a:lstStyle/>
                    <a:p>
                      <a:endParaRPr lang="en-IN" dirty="0"/>
                    </a:p>
                  </a:txBody>
                  <a:tcPr/>
                </a:tc>
                <a:tc>
                  <a:txBody>
                    <a:bodyPr/>
                    <a:lstStyle/>
                    <a:p>
                      <a:pPr algn="ctr"/>
                      <a:r>
                        <a:rPr lang="en-US" dirty="0"/>
                        <a:t>p1</a:t>
                      </a:r>
                      <a:endParaRPr lang="en-IN" dirty="0"/>
                    </a:p>
                  </a:txBody>
                  <a:tcPr anchor="ctr"/>
                </a:tc>
                <a:tc>
                  <a:txBody>
                    <a:bodyPr/>
                    <a:lstStyle/>
                    <a:p>
                      <a:pPr algn="ctr"/>
                      <a:r>
                        <a:rPr lang="en-US" dirty="0"/>
                        <a:t>p2</a:t>
                      </a:r>
                      <a:endParaRPr lang="en-IN" dirty="0"/>
                    </a:p>
                  </a:txBody>
                  <a:tcPr anchor="ctr"/>
                </a:tc>
                <a:tc>
                  <a:txBody>
                    <a:bodyPr/>
                    <a:lstStyle/>
                    <a:p>
                      <a:pPr algn="ctr"/>
                      <a:r>
                        <a:rPr lang="en-US" dirty="0"/>
                        <a:t>p3</a:t>
                      </a:r>
                      <a:endParaRPr lang="en-IN" dirty="0"/>
                    </a:p>
                  </a:txBody>
                  <a:tcPr anchor="ctr"/>
                </a:tc>
                <a:tc>
                  <a:txBody>
                    <a:bodyPr/>
                    <a:lstStyle/>
                    <a:p>
                      <a:pPr algn="ctr"/>
                      <a:r>
                        <a:rPr lang="en-US" dirty="0"/>
                        <a:t>p4</a:t>
                      </a:r>
                      <a:endParaRPr lang="en-IN" dirty="0"/>
                    </a:p>
                  </a:txBody>
                  <a:tcPr anchor="ctr"/>
                </a:tc>
                <a:extLst>
                  <a:ext uri="{0D108BD9-81ED-4DB2-BD59-A6C34878D82A}">
                    <a16:rowId xmlns:a16="http://schemas.microsoft.com/office/drawing/2014/main" val="2185256515"/>
                  </a:ext>
                </a:extLst>
              </a:tr>
              <a:tr h="367848">
                <a:tc>
                  <a:txBody>
                    <a:bodyPr/>
                    <a:lstStyle/>
                    <a:p>
                      <a:r>
                        <a:rPr lang="en-US" dirty="0"/>
                        <a:t>Max</a:t>
                      </a:r>
                      <a:endParaRPr lang="en-IN" dirty="0"/>
                    </a:p>
                  </a:txBody>
                  <a:tcPr/>
                </a:tc>
                <a:tc>
                  <a:txBody>
                    <a:bodyPr/>
                    <a:lstStyle/>
                    <a:p>
                      <a:pPr algn="ctr"/>
                      <a:r>
                        <a:rPr lang="en-US" dirty="0"/>
                        <a:t>-</a:t>
                      </a:r>
                      <a:endParaRPr lang="en-IN" dirty="0"/>
                    </a:p>
                  </a:txBody>
                  <a:tcPr anchor="ctr"/>
                </a:tc>
                <a:tc>
                  <a:txBody>
                    <a:bodyPr/>
                    <a:lstStyle/>
                    <a:p>
                      <a:pPr algn="ctr"/>
                      <a:r>
                        <a:rPr lang="en-US" dirty="0"/>
                        <a:t>-</a:t>
                      </a:r>
                      <a:endParaRPr lang="en-IN" dirty="0"/>
                    </a:p>
                  </a:txBody>
                  <a:tcPr anchor="ctr"/>
                </a:tc>
                <a:tc>
                  <a:txBody>
                    <a:bodyPr/>
                    <a:lstStyle/>
                    <a:p>
                      <a:pPr algn="ctr"/>
                      <a:r>
                        <a:rPr lang="en-US" b="1" dirty="0">
                          <a:solidFill>
                            <a:srgbClr val="1D6199"/>
                          </a:solidFill>
                        </a:rPr>
                        <a:t>-</a:t>
                      </a:r>
                      <a:endParaRPr lang="en-IN" b="1" dirty="0">
                        <a:solidFill>
                          <a:srgbClr val="1D6199"/>
                        </a:solidFill>
                      </a:endParaRPr>
                    </a:p>
                  </a:txBody>
                  <a:tcPr anchor="ctr"/>
                </a:tc>
                <a:tc>
                  <a:txBody>
                    <a:bodyPr/>
                    <a:lstStyle/>
                    <a:p>
                      <a:pPr algn="ctr"/>
                      <a:r>
                        <a:rPr lang="en-US" dirty="0"/>
                        <a:t>8</a:t>
                      </a:r>
                      <a:endParaRPr lang="en-IN" dirty="0"/>
                    </a:p>
                  </a:txBody>
                  <a:tcPr anchor="ctr"/>
                </a:tc>
                <a:extLst>
                  <a:ext uri="{0D108BD9-81ED-4DB2-BD59-A6C34878D82A}">
                    <a16:rowId xmlns:a16="http://schemas.microsoft.com/office/drawing/2014/main" val="584564952"/>
                  </a:ext>
                </a:extLst>
              </a:tr>
              <a:tr h="367848">
                <a:tc>
                  <a:txBody>
                    <a:bodyPr/>
                    <a:lstStyle/>
                    <a:p>
                      <a:r>
                        <a:rPr lang="en-US" dirty="0"/>
                        <a:t>Holds</a:t>
                      </a:r>
                      <a:endParaRPr lang="en-IN" dirty="0"/>
                    </a:p>
                  </a:txBody>
                  <a:tcPr/>
                </a:tc>
                <a:tc>
                  <a:txBody>
                    <a:bodyPr/>
                    <a:lstStyle/>
                    <a:p>
                      <a:pPr algn="ctr"/>
                      <a:r>
                        <a:rPr lang="en-US" dirty="0"/>
                        <a:t>-</a:t>
                      </a:r>
                      <a:endParaRPr lang="en-IN" dirty="0"/>
                    </a:p>
                  </a:txBody>
                  <a:tcPr anchor="ctr"/>
                </a:tc>
                <a:tc>
                  <a:txBody>
                    <a:bodyPr/>
                    <a:lstStyle/>
                    <a:p>
                      <a:pPr algn="ctr"/>
                      <a:r>
                        <a:rPr lang="en-US" b="0" dirty="0">
                          <a:solidFill>
                            <a:schemeClr val="tx1"/>
                          </a:solidFill>
                        </a:rPr>
                        <a:t>-</a:t>
                      </a:r>
                      <a:endParaRPr lang="en-IN" b="0" dirty="0">
                        <a:solidFill>
                          <a:schemeClr val="tx1"/>
                        </a:solidFill>
                      </a:endParaRPr>
                    </a:p>
                  </a:txBody>
                  <a:tcPr anchor="ctr"/>
                </a:tc>
                <a:tc>
                  <a:txBody>
                    <a:bodyPr/>
                    <a:lstStyle/>
                    <a:p>
                      <a:pPr marL="0" algn="ctr" defTabSz="914400" rtl="0" eaLnBrk="1" latinLnBrk="0" hangingPunct="1"/>
                      <a:r>
                        <a:rPr lang="en-US" sz="1800" b="1" kern="1200" dirty="0">
                          <a:solidFill>
                            <a:srgbClr val="1D6199"/>
                          </a:solidFill>
                          <a:latin typeface="+mn-lt"/>
                          <a:ea typeface="+mn-ea"/>
                          <a:cs typeface="+mn-cs"/>
                        </a:rPr>
                        <a:t>-</a:t>
                      </a:r>
                      <a:endParaRPr lang="en-IN" sz="1800" b="1" kern="1200" dirty="0">
                        <a:solidFill>
                          <a:srgbClr val="1D6199"/>
                        </a:solidFill>
                        <a:latin typeface="+mn-lt"/>
                        <a:ea typeface="+mn-ea"/>
                        <a:cs typeface="+mn-cs"/>
                      </a:endParaRPr>
                    </a:p>
                  </a:txBody>
                  <a:tcPr anchor="ctr"/>
                </a:tc>
                <a:tc>
                  <a:txBody>
                    <a:bodyPr/>
                    <a:lstStyle/>
                    <a:p>
                      <a:pPr algn="ctr"/>
                      <a:r>
                        <a:rPr lang="en-US" dirty="0"/>
                        <a:t>2</a:t>
                      </a:r>
                      <a:endParaRPr lang="en-IN" dirty="0"/>
                    </a:p>
                  </a:txBody>
                  <a:tcPr anchor="ctr"/>
                </a:tc>
                <a:extLst>
                  <a:ext uri="{0D108BD9-81ED-4DB2-BD59-A6C34878D82A}">
                    <a16:rowId xmlns:a16="http://schemas.microsoft.com/office/drawing/2014/main" val="344705790"/>
                  </a:ext>
                </a:extLst>
              </a:tr>
              <a:tr h="367848">
                <a:tc>
                  <a:txBody>
                    <a:bodyPr/>
                    <a:lstStyle/>
                    <a:p>
                      <a:r>
                        <a:rPr lang="en-US" dirty="0"/>
                        <a:t>Free </a:t>
                      </a:r>
                      <a:endParaRPr lang="en-IN" dirty="0"/>
                    </a:p>
                  </a:txBody>
                  <a:tcPr/>
                </a:tc>
                <a:tc gridSpan="4">
                  <a:txBody>
                    <a:bodyPr/>
                    <a:lstStyle/>
                    <a:p>
                      <a:pPr marL="0" algn="ctr" defTabSz="914400" rtl="0" eaLnBrk="1" latinLnBrk="0" hangingPunct="1"/>
                      <a:r>
                        <a:rPr lang="en-US" sz="1800" b="1" kern="1200" dirty="0">
                          <a:solidFill>
                            <a:srgbClr val="1D6199"/>
                          </a:solidFill>
                          <a:latin typeface="+mn-lt"/>
                          <a:ea typeface="+mn-ea"/>
                          <a:cs typeface="+mn-cs"/>
                        </a:rPr>
                        <a:t>8</a:t>
                      </a:r>
                      <a:endParaRPr lang="en-IN" sz="1800" b="1" kern="1200" dirty="0">
                        <a:solidFill>
                          <a:srgbClr val="1D6199"/>
                        </a:solidFill>
                        <a:latin typeface="+mn-lt"/>
                        <a:ea typeface="+mn-ea"/>
                        <a:cs typeface="+mn-cs"/>
                      </a:endParaRPr>
                    </a:p>
                  </a:txBody>
                  <a:tcPr anchor="ct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751126357"/>
                  </a:ext>
                </a:extLst>
              </a:tr>
            </a:tbl>
          </a:graphicData>
        </a:graphic>
      </p:graphicFrame>
      <p:graphicFrame>
        <p:nvGraphicFramePr>
          <p:cNvPr id="7" name="Table 6">
            <a:extLst>
              <a:ext uri="{FF2B5EF4-FFF2-40B4-BE49-F238E27FC236}">
                <a16:creationId xmlns:a16="http://schemas.microsoft.com/office/drawing/2014/main" id="{95752724-5536-EA99-55FB-3700DAB868AD}"/>
              </a:ext>
            </a:extLst>
          </p:cNvPr>
          <p:cNvGraphicFramePr>
            <a:graphicFrameLocks noGrp="1"/>
          </p:cNvGraphicFramePr>
          <p:nvPr>
            <p:extLst>
              <p:ext uri="{D42A27DB-BD31-4B8C-83A1-F6EECF244321}">
                <p14:modId xmlns:p14="http://schemas.microsoft.com/office/powerpoint/2010/main" val="899063923"/>
              </p:ext>
            </p:extLst>
          </p:nvPr>
        </p:nvGraphicFramePr>
        <p:xfrm>
          <a:off x="6096000" y="4301066"/>
          <a:ext cx="4912805" cy="1471392"/>
        </p:xfrm>
        <a:graphic>
          <a:graphicData uri="http://schemas.openxmlformats.org/drawingml/2006/table">
            <a:tbl>
              <a:tblPr firstRow="1" bandRow="1">
                <a:tableStyleId>{5C22544A-7EE6-4342-B048-85BDC9FD1C3A}</a:tableStyleId>
              </a:tblPr>
              <a:tblGrid>
                <a:gridCol w="982561">
                  <a:extLst>
                    <a:ext uri="{9D8B030D-6E8A-4147-A177-3AD203B41FA5}">
                      <a16:colId xmlns:a16="http://schemas.microsoft.com/office/drawing/2014/main" val="1919616117"/>
                    </a:ext>
                  </a:extLst>
                </a:gridCol>
                <a:gridCol w="982561">
                  <a:extLst>
                    <a:ext uri="{9D8B030D-6E8A-4147-A177-3AD203B41FA5}">
                      <a16:colId xmlns:a16="http://schemas.microsoft.com/office/drawing/2014/main" val="2320833911"/>
                    </a:ext>
                  </a:extLst>
                </a:gridCol>
                <a:gridCol w="982561">
                  <a:extLst>
                    <a:ext uri="{9D8B030D-6E8A-4147-A177-3AD203B41FA5}">
                      <a16:colId xmlns:a16="http://schemas.microsoft.com/office/drawing/2014/main" val="3830114350"/>
                    </a:ext>
                  </a:extLst>
                </a:gridCol>
                <a:gridCol w="982561">
                  <a:extLst>
                    <a:ext uri="{9D8B030D-6E8A-4147-A177-3AD203B41FA5}">
                      <a16:colId xmlns:a16="http://schemas.microsoft.com/office/drawing/2014/main" val="3136892831"/>
                    </a:ext>
                  </a:extLst>
                </a:gridCol>
                <a:gridCol w="982561">
                  <a:extLst>
                    <a:ext uri="{9D8B030D-6E8A-4147-A177-3AD203B41FA5}">
                      <a16:colId xmlns:a16="http://schemas.microsoft.com/office/drawing/2014/main" val="1878315937"/>
                    </a:ext>
                  </a:extLst>
                </a:gridCol>
              </a:tblGrid>
              <a:tr h="367848">
                <a:tc>
                  <a:txBody>
                    <a:bodyPr/>
                    <a:lstStyle/>
                    <a:p>
                      <a:endParaRPr lang="en-IN" dirty="0"/>
                    </a:p>
                  </a:txBody>
                  <a:tcPr/>
                </a:tc>
                <a:tc>
                  <a:txBody>
                    <a:bodyPr/>
                    <a:lstStyle/>
                    <a:p>
                      <a:pPr algn="ctr"/>
                      <a:r>
                        <a:rPr lang="en-US" dirty="0"/>
                        <a:t>p1</a:t>
                      </a:r>
                      <a:endParaRPr lang="en-IN" dirty="0"/>
                    </a:p>
                  </a:txBody>
                  <a:tcPr anchor="ctr"/>
                </a:tc>
                <a:tc>
                  <a:txBody>
                    <a:bodyPr/>
                    <a:lstStyle/>
                    <a:p>
                      <a:pPr algn="ctr"/>
                      <a:r>
                        <a:rPr lang="en-US" dirty="0"/>
                        <a:t>p2</a:t>
                      </a:r>
                      <a:endParaRPr lang="en-IN" dirty="0"/>
                    </a:p>
                  </a:txBody>
                  <a:tcPr anchor="ctr"/>
                </a:tc>
                <a:tc>
                  <a:txBody>
                    <a:bodyPr/>
                    <a:lstStyle/>
                    <a:p>
                      <a:pPr algn="ctr"/>
                      <a:r>
                        <a:rPr lang="en-US" dirty="0"/>
                        <a:t>p3</a:t>
                      </a:r>
                      <a:endParaRPr lang="en-IN" dirty="0"/>
                    </a:p>
                  </a:txBody>
                  <a:tcPr anchor="ctr"/>
                </a:tc>
                <a:tc>
                  <a:txBody>
                    <a:bodyPr/>
                    <a:lstStyle/>
                    <a:p>
                      <a:pPr algn="ctr"/>
                      <a:r>
                        <a:rPr lang="en-US" dirty="0"/>
                        <a:t>p4</a:t>
                      </a:r>
                      <a:endParaRPr lang="en-IN" dirty="0"/>
                    </a:p>
                  </a:txBody>
                  <a:tcPr anchor="ctr"/>
                </a:tc>
                <a:extLst>
                  <a:ext uri="{0D108BD9-81ED-4DB2-BD59-A6C34878D82A}">
                    <a16:rowId xmlns:a16="http://schemas.microsoft.com/office/drawing/2014/main" val="2185256515"/>
                  </a:ext>
                </a:extLst>
              </a:tr>
              <a:tr h="367848">
                <a:tc>
                  <a:txBody>
                    <a:bodyPr/>
                    <a:lstStyle/>
                    <a:p>
                      <a:r>
                        <a:rPr lang="en-US" dirty="0"/>
                        <a:t>Max</a:t>
                      </a:r>
                      <a:endParaRPr lang="en-IN" dirty="0"/>
                    </a:p>
                  </a:txBody>
                  <a:tcPr/>
                </a:tc>
                <a:tc>
                  <a:txBody>
                    <a:bodyPr/>
                    <a:lstStyle/>
                    <a:p>
                      <a:pPr algn="ctr"/>
                      <a:r>
                        <a:rPr lang="en-US" dirty="0"/>
                        <a:t>-</a:t>
                      </a:r>
                      <a:endParaRPr lang="en-IN" dirty="0"/>
                    </a:p>
                  </a:txBody>
                  <a:tcPr anchor="ctr"/>
                </a:tc>
                <a:tc>
                  <a:txBody>
                    <a:bodyPr/>
                    <a:lstStyle/>
                    <a:p>
                      <a:pPr algn="ctr"/>
                      <a:r>
                        <a:rPr lang="en-US" dirty="0"/>
                        <a:t>-</a:t>
                      </a:r>
                      <a:endParaRPr lang="en-IN" dirty="0"/>
                    </a:p>
                  </a:txBody>
                  <a:tcPr anchor="ctr"/>
                </a:tc>
                <a:tc>
                  <a:txBody>
                    <a:bodyPr/>
                    <a:lstStyle/>
                    <a:p>
                      <a:pPr algn="ctr"/>
                      <a:r>
                        <a:rPr lang="en-US" dirty="0"/>
                        <a:t>-</a:t>
                      </a:r>
                      <a:endParaRPr lang="en-IN" dirty="0"/>
                    </a:p>
                  </a:txBody>
                  <a:tcPr anchor="ctr"/>
                </a:tc>
                <a:tc>
                  <a:txBody>
                    <a:bodyPr/>
                    <a:lstStyle/>
                    <a:p>
                      <a:pPr algn="ctr"/>
                      <a:r>
                        <a:rPr lang="en-US" dirty="0"/>
                        <a:t>8</a:t>
                      </a:r>
                      <a:endParaRPr lang="en-IN" dirty="0"/>
                    </a:p>
                  </a:txBody>
                  <a:tcPr anchor="ctr"/>
                </a:tc>
                <a:extLst>
                  <a:ext uri="{0D108BD9-81ED-4DB2-BD59-A6C34878D82A}">
                    <a16:rowId xmlns:a16="http://schemas.microsoft.com/office/drawing/2014/main" val="584564952"/>
                  </a:ext>
                </a:extLst>
              </a:tr>
              <a:tr h="367848">
                <a:tc>
                  <a:txBody>
                    <a:bodyPr/>
                    <a:lstStyle/>
                    <a:p>
                      <a:r>
                        <a:rPr lang="en-US" dirty="0"/>
                        <a:t>Holds</a:t>
                      </a:r>
                      <a:endParaRPr lang="en-IN" dirty="0"/>
                    </a:p>
                  </a:txBody>
                  <a:tcPr/>
                </a:tc>
                <a:tc>
                  <a:txBody>
                    <a:bodyPr/>
                    <a:lstStyle/>
                    <a:p>
                      <a:pPr algn="ctr"/>
                      <a:r>
                        <a:rPr lang="en-US" dirty="0"/>
                        <a:t>-</a:t>
                      </a:r>
                      <a:endParaRPr lang="en-IN" dirty="0"/>
                    </a:p>
                  </a:txBody>
                  <a:tcPr anchor="ctr"/>
                </a:tc>
                <a:tc>
                  <a:txBody>
                    <a:bodyPr/>
                    <a:lstStyle/>
                    <a:p>
                      <a:pPr algn="ctr"/>
                      <a:r>
                        <a:rPr lang="en-US" b="0" dirty="0">
                          <a:solidFill>
                            <a:schemeClr val="tx1"/>
                          </a:solidFill>
                        </a:rPr>
                        <a:t>-</a:t>
                      </a:r>
                      <a:endParaRPr lang="en-IN" b="0" dirty="0">
                        <a:solidFill>
                          <a:schemeClr val="tx1"/>
                        </a:solidFill>
                      </a:endParaRPr>
                    </a:p>
                  </a:txBody>
                  <a:tcPr anchor="ctr"/>
                </a:tc>
                <a:tc>
                  <a:txBody>
                    <a:bodyPr/>
                    <a:lstStyle/>
                    <a:p>
                      <a:pPr algn="ctr"/>
                      <a:r>
                        <a:rPr lang="en-US" b="0" dirty="0">
                          <a:solidFill>
                            <a:schemeClr val="tx1"/>
                          </a:solidFill>
                        </a:rPr>
                        <a:t>-</a:t>
                      </a:r>
                      <a:endParaRPr lang="en-IN" b="0" dirty="0">
                        <a:solidFill>
                          <a:schemeClr val="tx1"/>
                        </a:solidFill>
                      </a:endParaRPr>
                    </a:p>
                  </a:txBody>
                  <a:tcPr anchor="ctr"/>
                </a:tc>
                <a:tc>
                  <a:txBody>
                    <a:bodyPr/>
                    <a:lstStyle/>
                    <a:p>
                      <a:pPr algn="ctr"/>
                      <a:r>
                        <a:rPr lang="en-US" b="1" dirty="0">
                          <a:solidFill>
                            <a:srgbClr val="1D6199"/>
                          </a:solidFill>
                        </a:rPr>
                        <a:t>8</a:t>
                      </a:r>
                      <a:endParaRPr lang="en-IN" b="1" dirty="0">
                        <a:solidFill>
                          <a:srgbClr val="1D6199"/>
                        </a:solidFill>
                      </a:endParaRPr>
                    </a:p>
                  </a:txBody>
                  <a:tcPr anchor="ctr"/>
                </a:tc>
                <a:extLst>
                  <a:ext uri="{0D108BD9-81ED-4DB2-BD59-A6C34878D82A}">
                    <a16:rowId xmlns:a16="http://schemas.microsoft.com/office/drawing/2014/main" val="344705790"/>
                  </a:ext>
                </a:extLst>
              </a:tr>
              <a:tr h="367848">
                <a:tc>
                  <a:txBody>
                    <a:bodyPr/>
                    <a:lstStyle/>
                    <a:p>
                      <a:r>
                        <a:rPr lang="en-US" dirty="0"/>
                        <a:t>Free </a:t>
                      </a:r>
                      <a:endParaRPr lang="en-IN" dirty="0"/>
                    </a:p>
                  </a:txBody>
                  <a:tcPr/>
                </a:tc>
                <a:tc gridSpan="4">
                  <a:txBody>
                    <a:bodyPr/>
                    <a:lstStyle/>
                    <a:p>
                      <a:pPr marL="0" algn="ctr" defTabSz="914400" rtl="0" eaLnBrk="1" latinLnBrk="0" hangingPunct="1"/>
                      <a:r>
                        <a:rPr lang="en-US" sz="1800" b="1" kern="1200" dirty="0">
                          <a:solidFill>
                            <a:srgbClr val="1D6199"/>
                          </a:solidFill>
                          <a:latin typeface="+mn-lt"/>
                          <a:ea typeface="+mn-ea"/>
                          <a:cs typeface="+mn-cs"/>
                        </a:rPr>
                        <a:t>2</a:t>
                      </a:r>
                      <a:endParaRPr lang="en-IN" sz="1800" b="1" kern="1200" dirty="0">
                        <a:solidFill>
                          <a:srgbClr val="1D6199"/>
                        </a:solidFill>
                        <a:latin typeface="+mn-lt"/>
                        <a:ea typeface="+mn-ea"/>
                        <a:cs typeface="+mn-cs"/>
                      </a:endParaRPr>
                    </a:p>
                  </a:txBody>
                  <a:tcPr anchor="ct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751126357"/>
                  </a:ext>
                </a:extLst>
              </a:tr>
            </a:tbl>
          </a:graphicData>
        </a:graphic>
      </p:graphicFrame>
      <p:sp>
        <p:nvSpPr>
          <p:cNvPr id="8" name="Oval 7">
            <a:extLst>
              <a:ext uri="{FF2B5EF4-FFF2-40B4-BE49-F238E27FC236}">
                <a16:creationId xmlns:a16="http://schemas.microsoft.com/office/drawing/2014/main" id="{3372A2FF-5AD6-F1FA-F96F-6541D8501AE7}"/>
              </a:ext>
            </a:extLst>
          </p:cNvPr>
          <p:cNvSpPr/>
          <p:nvPr/>
        </p:nvSpPr>
        <p:spPr>
          <a:xfrm>
            <a:off x="9179419" y="1309908"/>
            <a:ext cx="604345" cy="5715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P3</a:t>
            </a:r>
          </a:p>
        </p:txBody>
      </p:sp>
      <p:sp>
        <p:nvSpPr>
          <p:cNvPr id="9" name="Oval 8">
            <a:extLst>
              <a:ext uri="{FF2B5EF4-FFF2-40B4-BE49-F238E27FC236}">
                <a16:creationId xmlns:a16="http://schemas.microsoft.com/office/drawing/2014/main" id="{EAB5B71E-FCCD-9647-2142-7CE9B6FE7B54}"/>
              </a:ext>
            </a:extLst>
          </p:cNvPr>
          <p:cNvSpPr/>
          <p:nvPr/>
        </p:nvSpPr>
        <p:spPr>
          <a:xfrm>
            <a:off x="10162257" y="3744229"/>
            <a:ext cx="604345" cy="5715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P4</a:t>
            </a:r>
          </a:p>
        </p:txBody>
      </p:sp>
      <p:sp>
        <p:nvSpPr>
          <p:cNvPr id="10" name="Rectangle 9">
            <a:extLst>
              <a:ext uri="{FF2B5EF4-FFF2-40B4-BE49-F238E27FC236}">
                <a16:creationId xmlns:a16="http://schemas.microsoft.com/office/drawing/2014/main" id="{3ECFD562-3D74-1769-DDC3-7C7236F6ABFF}"/>
              </a:ext>
            </a:extLst>
          </p:cNvPr>
          <p:cNvSpPr/>
          <p:nvPr/>
        </p:nvSpPr>
        <p:spPr>
          <a:xfrm>
            <a:off x="3454400" y="3756930"/>
            <a:ext cx="990600" cy="5715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P3 releases resource</a:t>
            </a:r>
          </a:p>
        </p:txBody>
      </p:sp>
      <p:sp>
        <p:nvSpPr>
          <p:cNvPr id="11" name="Rectangle 10">
            <a:extLst>
              <a:ext uri="{FF2B5EF4-FFF2-40B4-BE49-F238E27FC236}">
                <a16:creationId xmlns:a16="http://schemas.microsoft.com/office/drawing/2014/main" id="{D8A2CCB2-7C09-1501-0BBB-C0E90194ACE4}"/>
              </a:ext>
            </a:extLst>
          </p:cNvPr>
          <p:cNvSpPr/>
          <p:nvPr/>
        </p:nvSpPr>
        <p:spPr>
          <a:xfrm>
            <a:off x="1447800" y="1309908"/>
            <a:ext cx="990600" cy="5715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P1 releases resource</a:t>
            </a:r>
          </a:p>
        </p:txBody>
      </p:sp>
    </p:spTree>
    <p:extLst>
      <p:ext uri="{BB962C8B-B14F-4D97-AF65-F5344CB8AC3E}">
        <p14:creationId xmlns:p14="http://schemas.microsoft.com/office/powerpoint/2010/main" val="3568213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2">
            <a:extLst>
              <a:ext uri="{FF2B5EF4-FFF2-40B4-BE49-F238E27FC236}">
                <a16:creationId xmlns:a16="http://schemas.microsoft.com/office/drawing/2014/main" id="{C6F69E05-649C-7E54-0307-0E1E02443287}"/>
              </a:ext>
            </a:extLst>
          </p:cNvPr>
          <p:cNvSpPr>
            <a:spLocks noGrp="1"/>
          </p:cNvSpPr>
          <p:nvPr>
            <p:ph idx="1"/>
          </p:nvPr>
        </p:nvSpPr>
        <p:spPr>
          <a:xfrm>
            <a:off x="131180" y="863444"/>
            <a:ext cx="11891487" cy="5520423"/>
          </a:xfrm>
        </p:spPr>
        <p:txBody>
          <a:bodyPr/>
          <a:lstStyle/>
          <a:p>
            <a:r>
              <a:rPr lang="en-US" b="1" dirty="0">
                <a:solidFill>
                  <a:schemeClr val="tx2"/>
                </a:solidFill>
              </a:rPr>
              <a:t>Deadlock avoidance Example (Sequence p2 p1 p3 p4)</a:t>
            </a:r>
          </a:p>
          <a:p>
            <a:endParaRPr lang="en-US" b="1" dirty="0">
              <a:solidFill>
                <a:schemeClr val="tx2"/>
              </a:solidFill>
            </a:endParaRPr>
          </a:p>
          <a:p>
            <a:endParaRPr lang="en-US" b="1" dirty="0">
              <a:solidFill>
                <a:schemeClr val="tx2"/>
              </a:solidFill>
            </a:endParaRPr>
          </a:p>
          <a:p>
            <a:endParaRPr lang="en-US" b="1" dirty="0">
              <a:solidFill>
                <a:schemeClr val="tx2"/>
              </a:solidFill>
            </a:endParaRPr>
          </a:p>
          <a:p>
            <a:endParaRPr lang="en-US" b="1" dirty="0">
              <a:solidFill>
                <a:schemeClr val="tx2"/>
              </a:solidFill>
            </a:endParaRPr>
          </a:p>
          <a:p>
            <a:r>
              <a:rPr lang="en-US" dirty="0"/>
              <a:t>Sequence p2 p1 p3 p4 is </a:t>
            </a:r>
            <a:r>
              <a:rPr lang="en-US" b="1" dirty="0">
                <a:solidFill>
                  <a:srgbClr val="1D6199"/>
                </a:solidFill>
              </a:rPr>
              <a:t>safe</a:t>
            </a:r>
            <a:r>
              <a:rPr lang="en-US" dirty="0"/>
              <a:t> </a:t>
            </a:r>
          </a:p>
          <a:p>
            <a:endParaRPr lang="en-US" dirty="0"/>
          </a:p>
          <a:p>
            <a:r>
              <a:rPr lang="en-US" dirty="0">
                <a:solidFill>
                  <a:srgbClr val="1D6199"/>
                </a:solidFill>
              </a:rPr>
              <a:t>Exercise: </a:t>
            </a:r>
            <a:r>
              <a:rPr lang="en-US" dirty="0"/>
              <a:t>From sequence p2 p1 p4 p3 and sequence p2 p3 p1 p4 , which are safe for above processes and given resources?</a:t>
            </a:r>
          </a:p>
        </p:txBody>
      </p:sp>
      <p:sp>
        <p:nvSpPr>
          <p:cNvPr id="5" name="Title 4">
            <a:extLst>
              <a:ext uri="{FF2B5EF4-FFF2-40B4-BE49-F238E27FC236}">
                <a16:creationId xmlns:a16="http://schemas.microsoft.com/office/drawing/2014/main" id="{C73F0A24-BA50-2475-DF23-AAC963085395}"/>
              </a:ext>
            </a:extLst>
          </p:cNvPr>
          <p:cNvSpPr>
            <a:spLocks noGrp="1"/>
          </p:cNvSpPr>
          <p:nvPr>
            <p:ph type="title"/>
          </p:nvPr>
        </p:nvSpPr>
        <p:spPr/>
        <p:txBody>
          <a:bodyPr>
            <a:normAutofit/>
          </a:bodyPr>
          <a:lstStyle/>
          <a:p>
            <a:r>
              <a:rPr lang="en-IN" dirty="0"/>
              <a:t>Deadlock avoidance</a:t>
            </a:r>
          </a:p>
        </p:txBody>
      </p:sp>
      <p:graphicFrame>
        <p:nvGraphicFramePr>
          <p:cNvPr id="4" name="Table 3">
            <a:extLst>
              <a:ext uri="{FF2B5EF4-FFF2-40B4-BE49-F238E27FC236}">
                <a16:creationId xmlns:a16="http://schemas.microsoft.com/office/drawing/2014/main" id="{82D9AAC7-AA71-2F24-CCB3-21112DB52431}"/>
              </a:ext>
            </a:extLst>
          </p:cNvPr>
          <p:cNvGraphicFramePr>
            <a:graphicFrameLocks noGrp="1"/>
          </p:cNvGraphicFramePr>
          <p:nvPr>
            <p:extLst>
              <p:ext uri="{D42A27DB-BD31-4B8C-83A1-F6EECF244321}">
                <p14:modId xmlns:p14="http://schemas.microsoft.com/office/powerpoint/2010/main" val="311146086"/>
              </p:ext>
            </p:extLst>
          </p:nvPr>
        </p:nvGraphicFramePr>
        <p:xfrm>
          <a:off x="471997" y="1881408"/>
          <a:ext cx="4912805" cy="1471392"/>
        </p:xfrm>
        <a:graphic>
          <a:graphicData uri="http://schemas.openxmlformats.org/drawingml/2006/table">
            <a:tbl>
              <a:tblPr firstRow="1" bandRow="1">
                <a:tableStyleId>{5C22544A-7EE6-4342-B048-85BDC9FD1C3A}</a:tableStyleId>
              </a:tblPr>
              <a:tblGrid>
                <a:gridCol w="982561">
                  <a:extLst>
                    <a:ext uri="{9D8B030D-6E8A-4147-A177-3AD203B41FA5}">
                      <a16:colId xmlns:a16="http://schemas.microsoft.com/office/drawing/2014/main" val="1919616117"/>
                    </a:ext>
                  </a:extLst>
                </a:gridCol>
                <a:gridCol w="982561">
                  <a:extLst>
                    <a:ext uri="{9D8B030D-6E8A-4147-A177-3AD203B41FA5}">
                      <a16:colId xmlns:a16="http://schemas.microsoft.com/office/drawing/2014/main" val="2320833911"/>
                    </a:ext>
                  </a:extLst>
                </a:gridCol>
                <a:gridCol w="982561">
                  <a:extLst>
                    <a:ext uri="{9D8B030D-6E8A-4147-A177-3AD203B41FA5}">
                      <a16:colId xmlns:a16="http://schemas.microsoft.com/office/drawing/2014/main" val="3830114350"/>
                    </a:ext>
                  </a:extLst>
                </a:gridCol>
                <a:gridCol w="982561">
                  <a:extLst>
                    <a:ext uri="{9D8B030D-6E8A-4147-A177-3AD203B41FA5}">
                      <a16:colId xmlns:a16="http://schemas.microsoft.com/office/drawing/2014/main" val="3136892831"/>
                    </a:ext>
                  </a:extLst>
                </a:gridCol>
                <a:gridCol w="982561">
                  <a:extLst>
                    <a:ext uri="{9D8B030D-6E8A-4147-A177-3AD203B41FA5}">
                      <a16:colId xmlns:a16="http://schemas.microsoft.com/office/drawing/2014/main" val="1878315937"/>
                    </a:ext>
                  </a:extLst>
                </a:gridCol>
              </a:tblGrid>
              <a:tr h="367848">
                <a:tc>
                  <a:txBody>
                    <a:bodyPr/>
                    <a:lstStyle/>
                    <a:p>
                      <a:endParaRPr lang="en-IN" dirty="0"/>
                    </a:p>
                  </a:txBody>
                  <a:tcPr/>
                </a:tc>
                <a:tc>
                  <a:txBody>
                    <a:bodyPr/>
                    <a:lstStyle/>
                    <a:p>
                      <a:pPr algn="ctr"/>
                      <a:r>
                        <a:rPr lang="en-US" dirty="0"/>
                        <a:t>p1</a:t>
                      </a:r>
                      <a:endParaRPr lang="en-IN" dirty="0"/>
                    </a:p>
                  </a:txBody>
                  <a:tcPr anchor="ctr"/>
                </a:tc>
                <a:tc>
                  <a:txBody>
                    <a:bodyPr/>
                    <a:lstStyle/>
                    <a:p>
                      <a:pPr algn="ctr"/>
                      <a:r>
                        <a:rPr lang="en-US" dirty="0"/>
                        <a:t>p2</a:t>
                      </a:r>
                      <a:endParaRPr lang="en-IN" dirty="0"/>
                    </a:p>
                  </a:txBody>
                  <a:tcPr anchor="ctr"/>
                </a:tc>
                <a:tc>
                  <a:txBody>
                    <a:bodyPr/>
                    <a:lstStyle/>
                    <a:p>
                      <a:pPr algn="ctr"/>
                      <a:r>
                        <a:rPr lang="en-US" dirty="0"/>
                        <a:t>p3</a:t>
                      </a:r>
                      <a:endParaRPr lang="en-IN" dirty="0"/>
                    </a:p>
                  </a:txBody>
                  <a:tcPr anchor="ctr"/>
                </a:tc>
                <a:tc>
                  <a:txBody>
                    <a:bodyPr/>
                    <a:lstStyle/>
                    <a:p>
                      <a:pPr algn="ctr"/>
                      <a:r>
                        <a:rPr lang="en-US" dirty="0"/>
                        <a:t>p4</a:t>
                      </a:r>
                      <a:endParaRPr lang="en-IN" dirty="0"/>
                    </a:p>
                  </a:txBody>
                  <a:tcPr anchor="ctr"/>
                </a:tc>
                <a:extLst>
                  <a:ext uri="{0D108BD9-81ED-4DB2-BD59-A6C34878D82A}">
                    <a16:rowId xmlns:a16="http://schemas.microsoft.com/office/drawing/2014/main" val="2185256515"/>
                  </a:ext>
                </a:extLst>
              </a:tr>
              <a:tr h="367848">
                <a:tc>
                  <a:txBody>
                    <a:bodyPr/>
                    <a:lstStyle/>
                    <a:p>
                      <a:r>
                        <a:rPr lang="en-US" dirty="0"/>
                        <a:t>Max</a:t>
                      </a:r>
                      <a:endParaRPr lang="en-IN" dirty="0"/>
                    </a:p>
                  </a:txBody>
                  <a:tcPr/>
                </a:tc>
                <a:tc>
                  <a:txBody>
                    <a:bodyPr/>
                    <a:lstStyle/>
                    <a:p>
                      <a:pPr algn="ctr"/>
                      <a:r>
                        <a:rPr lang="en-US" b="0" dirty="0">
                          <a:solidFill>
                            <a:schemeClr val="tx1"/>
                          </a:solidFill>
                        </a:rPr>
                        <a:t>-</a:t>
                      </a:r>
                      <a:endParaRPr lang="en-IN" b="0" dirty="0">
                        <a:solidFill>
                          <a:schemeClr val="tx1"/>
                        </a:solidFill>
                      </a:endParaRPr>
                    </a:p>
                  </a:txBody>
                  <a:tcPr anchor="ctr"/>
                </a:tc>
                <a:tc>
                  <a:txBody>
                    <a:bodyPr/>
                    <a:lstStyle/>
                    <a:p>
                      <a:pPr algn="ctr"/>
                      <a:r>
                        <a:rPr lang="en-US" dirty="0"/>
                        <a:t>-</a:t>
                      </a:r>
                      <a:endParaRPr lang="en-IN" dirty="0"/>
                    </a:p>
                  </a:txBody>
                  <a:tcPr anchor="ctr"/>
                </a:tc>
                <a:tc>
                  <a:txBody>
                    <a:bodyPr/>
                    <a:lstStyle/>
                    <a:p>
                      <a:pPr algn="ctr"/>
                      <a:r>
                        <a:rPr lang="en-US" dirty="0"/>
                        <a:t>-</a:t>
                      </a:r>
                      <a:endParaRPr lang="en-IN" dirty="0"/>
                    </a:p>
                  </a:txBody>
                  <a:tcPr anchor="ctr"/>
                </a:tc>
                <a:tc>
                  <a:txBody>
                    <a:bodyPr/>
                    <a:lstStyle/>
                    <a:p>
                      <a:pPr algn="ctr"/>
                      <a:r>
                        <a:rPr lang="en-US" b="1" dirty="0">
                          <a:solidFill>
                            <a:srgbClr val="1D6199"/>
                          </a:solidFill>
                        </a:rPr>
                        <a:t>-</a:t>
                      </a:r>
                      <a:endParaRPr lang="en-IN" b="1" dirty="0">
                        <a:solidFill>
                          <a:srgbClr val="1D6199"/>
                        </a:solidFill>
                      </a:endParaRPr>
                    </a:p>
                  </a:txBody>
                  <a:tcPr anchor="ctr"/>
                </a:tc>
                <a:extLst>
                  <a:ext uri="{0D108BD9-81ED-4DB2-BD59-A6C34878D82A}">
                    <a16:rowId xmlns:a16="http://schemas.microsoft.com/office/drawing/2014/main" val="584564952"/>
                  </a:ext>
                </a:extLst>
              </a:tr>
              <a:tr h="367848">
                <a:tc>
                  <a:txBody>
                    <a:bodyPr/>
                    <a:lstStyle/>
                    <a:p>
                      <a:r>
                        <a:rPr lang="en-US" dirty="0"/>
                        <a:t>Holds</a:t>
                      </a:r>
                      <a:endParaRPr lang="en-IN" dirty="0"/>
                    </a:p>
                  </a:txBody>
                  <a:tcPr/>
                </a:tc>
                <a:tc>
                  <a:txBody>
                    <a:bodyPr/>
                    <a:lstStyle/>
                    <a:p>
                      <a:pPr marL="0" algn="ctr" defTabSz="914400" rtl="0" eaLnBrk="1" latinLnBrk="0" hangingPunct="1"/>
                      <a:r>
                        <a:rPr lang="en-US" sz="1800" b="0" kern="1200" dirty="0">
                          <a:solidFill>
                            <a:schemeClr val="tx1"/>
                          </a:solidFill>
                          <a:latin typeface="+mn-lt"/>
                          <a:ea typeface="+mn-ea"/>
                          <a:cs typeface="+mn-cs"/>
                        </a:rPr>
                        <a:t>-</a:t>
                      </a:r>
                      <a:endParaRPr lang="en-IN" sz="1800" b="0" kern="1200" dirty="0">
                        <a:solidFill>
                          <a:schemeClr val="tx1"/>
                        </a:solidFill>
                        <a:latin typeface="+mn-lt"/>
                        <a:ea typeface="+mn-ea"/>
                        <a:cs typeface="+mn-cs"/>
                      </a:endParaRPr>
                    </a:p>
                  </a:txBody>
                  <a:tcPr anchor="ctr"/>
                </a:tc>
                <a:tc>
                  <a:txBody>
                    <a:bodyPr/>
                    <a:lstStyle/>
                    <a:p>
                      <a:pPr algn="ctr"/>
                      <a:r>
                        <a:rPr lang="en-US" dirty="0"/>
                        <a:t>-</a:t>
                      </a:r>
                      <a:endParaRPr lang="en-IN" dirty="0"/>
                    </a:p>
                  </a:txBody>
                  <a:tcPr anchor="ctr"/>
                </a:tc>
                <a:tc>
                  <a:txBody>
                    <a:bodyPr/>
                    <a:lstStyle/>
                    <a:p>
                      <a:pPr algn="ctr"/>
                      <a:r>
                        <a:rPr lang="en-US" dirty="0"/>
                        <a:t>-</a:t>
                      </a:r>
                      <a:endParaRPr lang="en-IN" dirty="0"/>
                    </a:p>
                  </a:txBody>
                  <a:tcPr anchor="ctr"/>
                </a:tc>
                <a:tc>
                  <a:txBody>
                    <a:bodyPr/>
                    <a:lstStyle/>
                    <a:p>
                      <a:pPr marL="0" algn="ctr" defTabSz="914400" rtl="0" eaLnBrk="1" latinLnBrk="0" hangingPunct="1"/>
                      <a:r>
                        <a:rPr lang="en-US" sz="1800" b="1" kern="1200" dirty="0">
                          <a:solidFill>
                            <a:srgbClr val="1D6199"/>
                          </a:solidFill>
                          <a:latin typeface="+mn-lt"/>
                          <a:ea typeface="+mn-ea"/>
                          <a:cs typeface="+mn-cs"/>
                        </a:rPr>
                        <a:t>-</a:t>
                      </a:r>
                      <a:endParaRPr lang="en-IN" sz="1800" b="1" kern="1200" dirty="0">
                        <a:solidFill>
                          <a:srgbClr val="1D6199"/>
                        </a:solidFill>
                        <a:latin typeface="+mn-lt"/>
                        <a:ea typeface="+mn-ea"/>
                        <a:cs typeface="+mn-cs"/>
                      </a:endParaRPr>
                    </a:p>
                  </a:txBody>
                  <a:tcPr anchor="ctr"/>
                </a:tc>
                <a:extLst>
                  <a:ext uri="{0D108BD9-81ED-4DB2-BD59-A6C34878D82A}">
                    <a16:rowId xmlns:a16="http://schemas.microsoft.com/office/drawing/2014/main" val="344705790"/>
                  </a:ext>
                </a:extLst>
              </a:tr>
              <a:tr h="367848">
                <a:tc>
                  <a:txBody>
                    <a:bodyPr/>
                    <a:lstStyle/>
                    <a:p>
                      <a:r>
                        <a:rPr lang="en-US" dirty="0"/>
                        <a:t>Free </a:t>
                      </a:r>
                      <a:endParaRPr lang="en-IN" dirty="0"/>
                    </a:p>
                  </a:txBody>
                  <a:tcPr/>
                </a:tc>
                <a:tc gridSpan="4">
                  <a:txBody>
                    <a:bodyPr/>
                    <a:lstStyle/>
                    <a:p>
                      <a:pPr marL="0" algn="ctr" defTabSz="914400" rtl="0" eaLnBrk="1" latinLnBrk="0" hangingPunct="1"/>
                      <a:r>
                        <a:rPr lang="en-US" sz="1800" b="1" kern="1200" dirty="0">
                          <a:solidFill>
                            <a:srgbClr val="1D6199"/>
                          </a:solidFill>
                          <a:latin typeface="+mn-lt"/>
                          <a:ea typeface="+mn-ea"/>
                          <a:cs typeface="+mn-cs"/>
                        </a:rPr>
                        <a:t>10</a:t>
                      </a:r>
                      <a:endParaRPr lang="en-IN" sz="1800" b="1" kern="1200" dirty="0">
                        <a:solidFill>
                          <a:srgbClr val="1D6199"/>
                        </a:solidFill>
                        <a:latin typeface="+mn-lt"/>
                        <a:ea typeface="+mn-ea"/>
                        <a:cs typeface="+mn-cs"/>
                      </a:endParaRPr>
                    </a:p>
                  </a:txBody>
                  <a:tcPr anchor="ct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751126357"/>
                  </a:ext>
                </a:extLst>
              </a:tr>
            </a:tbl>
          </a:graphicData>
        </a:graphic>
      </p:graphicFrame>
      <p:sp>
        <p:nvSpPr>
          <p:cNvPr id="11" name="Rectangle 10">
            <a:extLst>
              <a:ext uri="{FF2B5EF4-FFF2-40B4-BE49-F238E27FC236}">
                <a16:creationId xmlns:a16="http://schemas.microsoft.com/office/drawing/2014/main" id="{D8A2CCB2-7C09-1501-0BBB-C0E90194ACE4}"/>
              </a:ext>
            </a:extLst>
          </p:cNvPr>
          <p:cNvSpPr/>
          <p:nvPr/>
        </p:nvSpPr>
        <p:spPr>
          <a:xfrm>
            <a:off x="4394202" y="1309908"/>
            <a:ext cx="990600" cy="5715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P4 releases resource</a:t>
            </a:r>
          </a:p>
        </p:txBody>
      </p:sp>
    </p:spTree>
    <p:extLst>
      <p:ext uri="{BB962C8B-B14F-4D97-AF65-F5344CB8AC3E}">
        <p14:creationId xmlns:p14="http://schemas.microsoft.com/office/powerpoint/2010/main" val="3771358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2">
            <a:extLst>
              <a:ext uri="{FF2B5EF4-FFF2-40B4-BE49-F238E27FC236}">
                <a16:creationId xmlns:a16="http://schemas.microsoft.com/office/drawing/2014/main" id="{C6F69E05-649C-7E54-0307-0E1E02443287}"/>
              </a:ext>
            </a:extLst>
          </p:cNvPr>
          <p:cNvSpPr>
            <a:spLocks noGrp="1"/>
          </p:cNvSpPr>
          <p:nvPr>
            <p:ph idx="1"/>
          </p:nvPr>
        </p:nvSpPr>
        <p:spPr>
          <a:xfrm>
            <a:off x="131180" y="863444"/>
            <a:ext cx="11891487" cy="5520423"/>
          </a:xfrm>
        </p:spPr>
        <p:txBody>
          <a:bodyPr/>
          <a:lstStyle/>
          <a:p>
            <a:r>
              <a:rPr lang="en-US" b="1" dirty="0">
                <a:solidFill>
                  <a:schemeClr val="tx2"/>
                </a:solidFill>
              </a:rPr>
              <a:t>Deadlock avoidance Example 2</a:t>
            </a:r>
          </a:p>
          <a:p>
            <a:r>
              <a:rPr lang="en-US" sz="2000" dirty="0"/>
              <a:t>Total resources = 10, Sequence p1 p2 p3 is safe or not?</a:t>
            </a:r>
          </a:p>
          <a:p>
            <a:endParaRPr lang="en-US" b="1" dirty="0">
              <a:solidFill>
                <a:schemeClr val="tx2"/>
              </a:solidFill>
            </a:endParaRPr>
          </a:p>
          <a:p>
            <a:endParaRPr lang="en-US" b="1" dirty="0">
              <a:solidFill>
                <a:schemeClr val="tx2"/>
              </a:solidFill>
            </a:endParaRPr>
          </a:p>
          <a:p>
            <a:endParaRPr lang="en-US" b="1" dirty="0">
              <a:solidFill>
                <a:schemeClr val="tx2"/>
              </a:solidFill>
            </a:endParaRPr>
          </a:p>
          <a:p>
            <a:r>
              <a:rPr lang="en-US" sz="2000" dirty="0"/>
              <a:t>Sequence p2 p1 p3 and sequence p2 p3 p1 which are safe for above example?</a:t>
            </a:r>
          </a:p>
        </p:txBody>
      </p:sp>
      <p:sp>
        <p:nvSpPr>
          <p:cNvPr id="5" name="Title 4">
            <a:extLst>
              <a:ext uri="{FF2B5EF4-FFF2-40B4-BE49-F238E27FC236}">
                <a16:creationId xmlns:a16="http://schemas.microsoft.com/office/drawing/2014/main" id="{C73F0A24-BA50-2475-DF23-AAC963085395}"/>
              </a:ext>
            </a:extLst>
          </p:cNvPr>
          <p:cNvSpPr>
            <a:spLocks noGrp="1"/>
          </p:cNvSpPr>
          <p:nvPr>
            <p:ph type="title"/>
          </p:nvPr>
        </p:nvSpPr>
        <p:spPr/>
        <p:txBody>
          <a:bodyPr>
            <a:normAutofit/>
          </a:bodyPr>
          <a:lstStyle/>
          <a:p>
            <a:r>
              <a:rPr lang="en-IN" dirty="0"/>
              <a:t>Deadlock avoidance</a:t>
            </a:r>
          </a:p>
        </p:txBody>
      </p:sp>
      <p:graphicFrame>
        <p:nvGraphicFramePr>
          <p:cNvPr id="4" name="Table 3">
            <a:extLst>
              <a:ext uri="{FF2B5EF4-FFF2-40B4-BE49-F238E27FC236}">
                <a16:creationId xmlns:a16="http://schemas.microsoft.com/office/drawing/2014/main" id="{82D9AAC7-AA71-2F24-CCB3-21112DB52431}"/>
              </a:ext>
            </a:extLst>
          </p:cNvPr>
          <p:cNvGraphicFramePr>
            <a:graphicFrameLocks noGrp="1"/>
          </p:cNvGraphicFramePr>
          <p:nvPr>
            <p:extLst>
              <p:ext uri="{D42A27DB-BD31-4B8C-83A1-F6EECF244321}">
                <p14:modId xmlns:p14="http://schemas.microsoft.com/office/powerpoint/2010/main" val="1413222105"/>
              </p:ext>
            </p:extLst>
          </p:nvPr>
        </p:nvGraphicFramePr>
        <p:xfrm>
          <a:off x="471997" y="1881408"/>
          <a:ext cx="3930244" cy="1471392"/>
        </p:xfrm>
        <a:graphic>
          <a:graphicData uri="http://schemas.openxmlformats.org/drawingml/2006/table">
            <a:tbl>
              <a:tblPr firstRow="1" bandRow="1">
                <a:tableStyleId>{5C22544A-7EE6-4342-B048-85BDC9FD1C3A}</a:tableStyleId>
              </a:tblPr>
              <a:tblGrid>
                <a:gridCol w="982561">
                  <a:extLst>
                    <a:ext uri="{9D8B030D-6E8A-4147-A177-3AD203B41FA5}">
                      <a16:colId xmlns:a16="http://schemas.microsoft.com/office/drawing/2014/main" val="1919616117"/>
                    </a:ext>
                  </a:extLst>
                </a:gridCol>
                <a:gridCol w="982561">
                  <a:extLst>
                    <a:ext uri="{9D8B030D-6E8A-4147-A177-3AD203B41FA5}">
                      <a16:colId xmlns:a16="http://schemas.microsoft.com/office/drawing/2014/main" val="2320833911"/>
                    </a:ext>
                  </a:extLst>
                </a:gridCol>
                <a:gridCol w="982561">
                  <a:extLst>
                    <a:ext uri="{9D8B030D-6E8A-4147-A177-3AD203B41FA5}">
                      <a16:colId xmlns:a16="http://schemas.microsoft.com/office/drawing/2014/main" val="3830114350"/>
                    </a:ext>
                  </a:extLst>
                </a:gridCol>
                <a:gridCol w="982561">
                  <a:extLst>
                    <a:ext uri="{9D8B030D-6E8A-4147-A177-3AD203B41FA5}">
                      <a16:colId xmlns:a16="http://schemas.microsoft.com/office/drawing/2014/main" val="3136892831"/>
                    </a:ext>
                  </a:extLst>
                </a:gridCol>
              </a:tblGrid>
              <a:tr h="367848">
                <a:tc>
                  <a:txBody>
                    <a:bodyPr/>
                    <a:lstStyle/>
                    <a:p>
                      <a:endParaRPr lang="en-IN" dirty="0"/>
                    </a:p>
                  </a:txBody>
                  <a:tcPr/>
                </a:tc>
                <a:tc>
                  <a:txBody>
                    <a:bodyPr/>
                    <a:lstStyle/>
                    <a:p>
                      <a:pPr algn="ctr"/>
                      <a:r>
                        <a:rPr lang="en-US" dirty="0"/>
                        <a:t>p1</a:t>
                      </a:r>
                      <a:endParaRPr lang="en-IN" dirty="0"/>
                    </a:p>
                  </a:txBody>
                  <a:tcPr anchor="ctr"/>
                </a:tc>
                <a:tc>
                  <a:txBody>
                    <a:bodyPr/>
                    <a:lstStyle/>
                    <a:p>
                      <a:pPr algn="ctr"/>
                      <a:r>
                        <a:rPr lang="en-US" dirty="0"/>
                        <a:t>p2</a:t>
                      </a:r>
                      <a:endParaRPr lang="en-IN" dirty="0"/>
                    </a:p>
                  </a:txBody>
                  <a:tcPr anchor="ctr"/>
                </a:tc>
                <a:tc>
                  <a:txBody>
                    <a:bodyPr/>
                    <a:lstStyle/>
                    <a:p>
                      <a:pPr algn="ctr"/>
                      <a:r>
                        <a:rPr lang="en-US" dirty="0"/>
                        <a:t>p3</a:t>
                      </a:r>
                      <a:endParaRPr lang="en-IN" dirty="0"/>
                    </a:p>
                  </a:txBody>
                  <a:tcPr anchor="ctr"/>
                </a:tc>
                <a:extLst>
                  <a:ext uri="{0D108BD9-81ED-4DB2-BD59-A6C34878D82A}">
                    <a16:rowId xmlns:a16="http://schemas.microsoft.com/office/drawing/2014/main" val="2185256515"/>
                  </a:ext>
                </a:extLst>
              </a:tr>
              <a:tr h="367848">
                <a:tc>
                  <a:txBody>
                    <a:bodyPr/>
                    <a:lstStyle/>
                    <a:p>
                      <a:r>
                        <a:rPr lang="en-US" dirty="0"/>
                        <a:t>Max</a:t>
                      </a:r>
                      <a:endParaRPr lang="en-IN" dirty="0"/>
                    </a:p>
                  </a:txBody>
                  <a:tcPr/>
                </a:tc>
                <a:tc>
                  <a:txBody>
                    <a:bodyPr/>
                    <a:lstStyle/>
                    <a:p>
                      <a:pPr algn="ctr"/>
                      <a:r>
                        <a:rPr lang="en-US" dirty="0"/>
                        <a:t>5</a:t>
                      </a:r>
                      <a:endParaRPr lang="en-IN" dirty="0"/>
                    </a:p>
                  </a:txBody>
                  <a:tcPr anchor="ctr"/>
                </a:tc>
                <a:tc>
                  <a:txBody>
                    <a:bodyPr/>
                    <a:lstStyle/>
                    <a:p>
                      <a:pPr algn="ctr"/>
                      <a:r>
                        <a:rPr lang="en-US" dirty="0"/>
                        <a:t>4</a:t>
                      </a:r>
                      <a:endParaRPr lang="en-IN" dirty="0"/>
                    </a:p>
                  </a:txBody>
                  <a:tcPr anchor="ctr"/>
                </a:tc>
                <a:tc>
                  <a:txBody>
                    <a:bodyPr/>
                    <a:lstStyle/>
                    <a:p>
                      <a:pPr algn="ctr"/>
                      <a:r>
                        <a:rPr lang="en-US" dirty="0"/>
                        <a:t>9</a:t>
                      </a:r>
                      <a:endParaRPr lang="en-IN" dirty="0"/>
                    </a:p>
                  </a:txBody>
                  <a:tcPr anchor="ctr"/>
                </a:tc>
                <a:extLst>
                  <a:ext uri="{0D108BD9-81ED-4DB2-BD59-A6C34878D82A}">
                    <a16:rowId xmlns:a16="http://schemas.microsoft.com/office/drawing/2014/main" val="584564952"/>
                  </a:ext>
                </a:extLst>
              </a:tr>
              <a:tr h="367848">
                <a:tc>
                  <a:txBody>
                    <a:bodyPr/>
                    <a:lstStyle/>
                    <a:p>
                      <a:r>
                        <a:rPr lang="en-US" dirty="0"/>
                        <a:t>Holds</a:t>
                      </a:r>
                      <a:endParaRPr lang="en-IN" dirty="0"/>
                    </a:p>
                  </a:txBody>
                  <a:tcPr/>
                </a:tc>
                <a:tc>
                  <a:txBody>
                    <a:bodyPr/>
                    <a:lstStyle/>
                    <a:p>
                      <a:pPr algn="ctr"/>
                      <a:r>
                        <a:rPr lang="en-US" dirty="0"/>
                        <a:t>3</a:t>
                      </a:r>
                      <a:endParaRPr lang="en-IN" dirty="0"/>
                    </a:p>
                  </a:txBody>
                  <a:tcPr anchor="ctr"/>
                </a:tc>
                <a:tc>
                  <a:txBody>
                    <a:bodyPr/>
                    <a:lstStyle/>
                    <a:p>
                      <a:pPr algn="ctr"/>
                      <a:r>
                        <a:rPr lang="en-US" dirty="0"/>
                        <a:t>2</a:t>
                      </a:r>
                      <a:endParaRPr lang="en-IN" dirty="0"/>
                    </a:p>
                  </a:txBody>
                  <a:tcPr anchor="ctr"/>
                </a:tc>
                <a:tc>
                  <a:txBody>
                    <a:bodyPr/>
                    <a:lstStyle/>
                    <a:p>
                      <a:pPr algn="ctr"/>
                      <a:r>
                        <a:rPr lang="en-US" dirty="0"/>
                        <a:t>3</a:t>
                      </a:r>
                      <a:endParaRPr lang="en-IN" dirty="0"/>
                    </a:p>
                  </a:txBody>
                  <a:tcPr anchor="ctr"/>
                </a:tc>
                <a:extLst>
                  <a:ext uri="{0D108BD9-81ED-4DB2-BD59-A6C34878D82A}">
                    <a16:rowId xmlns:a16="http://schemas.microsoft.com/office/drawing/2014/main" val="344705790"/>
                  </a:ext>
                </a:extLst>
              </a:tr>
              <a:tr h="367848">
                <a:tc>
                  <a:txBody>
                    <a:bodyPr/>
                    <a:lstStyle/>
                    <a:p>
                      <a:r>
                        <a:rPr lang="en-US" dirty="0"/>
                        <a:t>Free </a:t>
                      </a:r>
                      <a:endParaRPr lang="en-IN" dirty="0"/>
                    </a:p>
                  </a:txBody>
                  <a:tcPr/>
                </a:tc>
                <a:tc gridSpan="3">
                  <a:txBody>
                    <a:bodyPr/>
                    <a:lstStyle/>
                    <a:p>
                      <a:pPr algn="ctr"/>
                      <a:r>
                        <a:rPr lang="en-US" dirty="0"/>
                        <a:t>2</a:t>
                      </a:r>
                      <a:endParaRPr lang="en-IN" dirty="0"/>
                    </a:p>
                  </a:txBody>
                  <a:tcPr anchor="ct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751126357"/>
                  </a:ext>
                </a:extLst>
              </a:tr>
            </a:tbl>
          </a:graphicData>
        </a:graphic>
      </p:graphicFrame>
    </p:spTree>
    <p:extLst>
      <p:ext uri="{BB962C8B-B14F-4D97-AF65-F5344CB8AC3E}">
        <p14:creationId xmlns:p14="http://schemas.microsoft.com/office/powerpoint/2010/main" val="2695625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3DC79-8B12-49B2-D869-87FFD698F001}"/>
              </a:ext>
            </a:extLst>
          </p:cNvPr>
          <p:cNvSpPr>
            <a:spLocks noGrp="1"/>
          </p:cNvSpPr>
          <p:nvPr>
            <p:ph type="title"/>
          </p:nvPr>
        </p:nvSpPr>
        <p:spPr/>
        <p:txBody>
          <a:bodyPr>
            <a:normAutofit/>
          </a:bodyPr>
          <a:lstStyle/>
          <a:p>
            <a:pPr>
              <a:spcBef>
                <a:spcPts val="1000"/>
              </a:spcBef>
              <a:buClr>
                <a:srgbClr val="1D6199"/>
              </a:buClr>
              <a:defRPr/>
            </a:pPr>
            <a:r>
              <a:rPr lang="en-IN" sz="6000" dirty="0"/>
              <a:t>Naming</a:t>
            </a:r>
          </a:p>
        </p:txBody>
      </p:sp>
      <p:sp>
        <p:nvSpPr>
          <p:cNvPr id="3" name="Text Placeholder 2">
            <a:extLst>
              <a:ext uri="{FF2B5EF4-FFF2-40B4-BE49-F238E27FC236}">
                <a16:creationId xmlns:a16="http://schemas.microsoft.com/office/drawing/2014/main" id="{7336A222-FE8E-8548-6B81-0F4C891F3E0A}"/>
              </a:ext>
            </a:extLst>
          </p:cNvPr>
          <p:cNvSpPr>
            <a:spLocks noGrp="1"/>
          </p:cNvSpPr>
          <p:nvPr>
            <p:ph type="body" idx="1"/>
          </p:nvPr>
        </p:nvSpPr>
        <p:spPr/>
        <p:txBody>
          <a:bodyPr/>
          <a:lstStyle/>
          <a:p>
            <a:r>
              <a:rPr lang="en-US" dirty="0"/>
              <a:t>Section - 8</a:t>
            </a:r>
            <a:endParaRPr lang="en-IN" dirty="0"/>
          </a:p>
        </p:txBody>
      </p:sp>
    </p:spTree>
    <p:extLst>
      <p:ext uri="{BB962C8B-B14F-4D97-AF65-F5344CB8AC3E}">
        <p14:creationId xmlns:p14="http://schemas.microsoft.com/office/powerpoint/2010/main" val="394677784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a:t>Names, identifiers, and addresses</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a:lnSpc>
                <a:spcPct val="100000"/>
              </a:lnSpc>
            </a:pPr>
            <a:r>
              <a:rPr lang="en-US" b="1" dirty="0">
                <a:solidFill>
                  <a:srgbClr val="1D6199"/>
                </a:solidFill>
              </a:rPr>
              <a:t>Name</a:t>
            </a:r>
            <a:r>
              <a:rPr lang="en-US" dirty="0"/>
              <a:t>: set of bits/characters used to identify/refer to an entity, a collective of entities, etc. in a context</a:t>
            </a:r>
          </a:p>
          <a:p>
            <a:pPr lvl="2"/>
            <a:r>
              <a:rPr lang="en-US" sz="2400" dirty="0"/>
              <a:t>Simply comparing two names, we might not be able to know if they refer to the same entity</a:t>
            </a:r>
          </a:p>
          <a:p>
            <a:pPr>
              <a:lnSpc>
                <a:spcPct val="100000"/>
              </a:lnSpc>
            </a:pPr>
            <a:r>
              <a:rPr lang="en-US" b="1" dirty="0">
                <a:solidFill>
                  <a:srgbClr val="1D6199"/>
                </a:solidFill>
              </a:rPr>
              <a:t>Identifier</a:t>
            </a:r>
            <a:r>
              <a:rPr lang="en-US" dirty="0"/>
              <a:t>: a name that uniquely identifies an entity</a:t>
            </a:r>
          </a:p>
          <a:p>
            <a:pPr lvl="2"/>
            <a:r>
              <a:rPr lang="en-US" sz="2400" dirty="0"/>
              <a:t>The identifier is unique and refers to only one entity</a:t>
            </a:r>
          </a:p>
          <a:p>
            <a:pPr>
              <a:lnSpc>
                <a:spcPct val="100000"/>
              </a:lnSpc>
            </a:pPr>
            <a:r>
              <a:rPr lang="en-US" b="1" dirty="0">
                <a:solidFill>
                  <a:srgbClr val="1D6199"/>
                </a:solidFill>
              </a:rPr>
              <a:t>Address</a:t>
            </a:r>
            <a:r>
              <a:rPr lang="en-US" dirty="0"/>
              <a:t>: the name of an access point, the location of an entity</a:t>
            </a:r>
          </a:p>
          <a:p>
            <a:pPr lvl="2"/>
            <a:r>
              <a:rPr lang="en-US" sz="2400" dirty="0"/>
              <a:t>e.g. phone number, or IP-address + port for a service</a:t>
            </a:r>
          </a:p>
        </p:txBody>
      </p:sp>
    </p:spTree>
    <p:extLst>
      <p:ext uri="{BB962C8B-B14F-4D97-AF65-F5344CB8AC3E}">
        <p14:creationId xmlns:p14="http://schemas.microsoft.com/office/powerpoint/2010/main" val="3290950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3DC79-8B12-49B2-D869-87FFD698F001}"/>
              </a:ext>
            </a:extLst>
          </p:cNvPr>
          <p:cNvSpPr>
            <a:spLocks noGrp="1"/>
          </p:cNvSpPr>
          <p:nvPr>
            <p:ph type="title"/>
          </p:nvPr>
        </p:nvSpPr>
        <p:spPr/>
        <p:txBody>
          <a:bodyPr>
            <a:normAutofit/>
          </a:bodyPr>
          <a:lstStyle/>
          <a:p>
            <a:pPr>
              <a:spcBef>
                <a:spcPts val="1000"/>
              </a:spcBef>
              <a:buClr>
                <a:srgbClr val="1D6199"/>
              </a:buClr>
              <a:defRPr/>
            </a:pPr>
            <a:r>
              <a:rPr lang="en-IN" sz="6000" dirty="0"/>
              <a:t>Features of Good naming </a:t>
            </a:r>
          </a:p>
        </p:txBody>
      </p:sp>
      <p:sp>
        <p:nvSpPr>
          <p:cNvPr id="3" name="Text Placeholder 2">
            <a:extLst>
              <a:ext uri="{FF2B5EF4-FFF2-40B4-BE49-F238E27FC236}">
                <a16:creationId xmlns:a16="http://schemas.microsoft.com/office/drawing/2014/main" id="{7336A222-FE8E-8548-6B81-0F4C891F3E0A}"/>
              </a:ext>
            </a:extLst>
          </p:cNvPr>
          <p:cNvSpPr>
            <a:spLocks noGrp="1"/>
          </p:cNvSpPr>
          <p:nvPr>
            <p:ph type="body" idx="1"/>
          </p:nvPr>
        </p:nvSpPr>
        <p:spPr/>
        <p:txBody>
          <a:bodyPr/>
          <a:lstStyle/>
          <a:p>
            <a:r>
              <a:rPr lang="en-US" dirty="0"/>
              <a:t>Section - 9</a:t>
            </a:r>
            <a:endParaRPr lang="en-IN" dirty="0"/>
          </a:p>
        </p:txBody>
      </p:sp>
    </p:spTree>
    <p:extLst>
      <p:ext uri="{BB962C8B-B14F-4D97-AF65-F5344CB8AC3E}">
        <p14:creationId xmlns:p14="http://schemas.microsoft.com/office/powerpoint/2010/main" val="128759259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IN" sz="3600" dirty="0"/>
              <a:t>Features of Good naming </a:t>
            </a:r>
            <a:endParaRPr lang="en-US" dirty="0"/>
          </a:p>
        </p:txBody>
      </p:sp>
      <p:sp>
        <p:nvSpPr>
          <p:cNvPr id="6" name="Rectangle 5">
            <a:extLst>
              <a:ext uri="{FF2B5EF4-FFF2-40B4-BE49-F238E27FC236}">
                <a16:creationId xmlns:a16="http://schemas.microsoft.com/office/drawing/2014/main" id="{A1FA6B03-B9BA-4315-D936-D7B74E200A5A}"/>
              </a:ext>
            </a:extLst>
          </p:cNvPr>
          <p:cNvSpPr/>
          <p:nvPr/>
        </p:nvSpPr>
        <p:spPr>
          <a:xfrm>
            <a:off x="4431323" y="711201"/>
            <a:ext cx="3329354" cy="526560"/>
          </a:xfrm>
          <a:prstGeom prst="rect">
            <a:avLst/>
          </a:prstGeom>
          <a:solidFill>
            <a:srgbClr val="1D3064"/>
          </a:solidFill>
          <a:ln w="76200">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bg1"/>
                </a:solidFill>
              </a:rPr>
              <a:t>Naming system features</a:t>
            </a:r>
          </a:p>
        </p:txBody>
      </p:sp>
      <p:sp>
        <p:nvSpPr>
          <p:cNvPr id="7" name="Rectangle 6">
            <a:extLst>
              <a:ext uri="{FF2B5EF4-FFF2-40B4-BE49-F238E27FC236}">
                <a16:creationId xmlns:a16="http://schemas.microsoft.com/office/drawing/2014/main" id="{A1425492-1687-554E-A79C-54AFB1CDC7AA}"/>
              </a:ext>
            </a:extLst>
          </p:cNvPr>
          <p:cNvSpPr/>
          <p:nvPr/>
        </p:nvSpPr>
        <p:spPr>
          <a:xfrm>
            <a:off x="1069731" y="1676963"/>
            <a:ext cx="1468348" cy="425141"/>
          </a:xfrm>
          <a:prstGeom prst="rect">
            <a:avLst/>
          </a:prstGeom>
          <a:solidFill>
            <a:srgbClr val="1D3064"/>
          </a:solidFill>
          <a:ln w="76200">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bg1"/>
                </a:solidFill>
              </a:rPr>
              <a:t>Location</a:t>
            </a:r>
          </a:p>
        </p:txBody>
      </p:sp>
      <p:sp>
        <p:nvSpPr>
          <p:cNvPr id="8" name="Rectangle 7">
            <a:extLst>
              <a:ext uri="{FF2B5EF4-FFF2-40B4-BE49-F238E27FC236}">
                <a16:creationId xmlns:a16="http://schemas.microsoft.com/office/drawing/2014/main" id="{FA6E0985-3EAB-AA82-CB23-5543FDF1B8DA}"/>
              </a:ext>
            </a:extLst>
          </p:cNvPr>
          <p:cNvSpPr/>
          <p:nvPr/>
        </p:nvSpPr>
        <p:spPr>
          <a:xfrm>
            <a:off x="4173637" y="1671052"/>
            <a:ext cx="1467684" cy="949749"/>
          </a:xfrm>
          <a:prstGeom prst="rect">
            <a:avLst/>
          </a:prstGeom>
          <a:solidFill>
            <a:srgbClr val="1D3064"/>
          </a:solidFill>
          <a:ln w="76200">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bg1"/>
                </a:solidFill>
              </a:rPr>
              <a:t>Naming of objects</a:t>
            </a:r>
          </a:p>
        </p:txBody>
      </p:sp>
      <p:sp>
        <p:nvSpPr>
          <p:cNvPr id="9" name="Rectangle 8">
            <a:extLst>
              <a:ext uri="{FF2B5EF4-FFF2-40B4-BE49-F238E27FC236}">
                <a16:creationId xmlns:a16="http://schemas.microsoft.com/office/drawing/2014/main" id="{7A52B4C5-9695-9BA7-9076-80FA7074AC56}"/>
              </a:ext>
            </a:extLst>
          </p:cNvPr>
          <p:cNvSpPr/>
          <p:nvPr/>
        </p:nvSpPr>
        <p:spPr>
          <a:xfrm>
            <a:off x="-1" y="2629057"/>
            <a:ext cx="1834295" cy="526560"/>
          </a:xfrm>
          <a:prstGeom prst="rect">
            <a:avLst/>
          </a:prstGeom>
          <a:solidFill>
            <a:srgbClr val="1D3064"/>
          </a:solidFill>
          <a:ln w="76200">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bg1"/>
                </a:solidFill>
              </a:rPr>
              <a:t>Transparency</a:t>
            </a:r>
          </a:p>
        </p:txBody>
      </p:sp>
      <p:sp>
        <p:nvSpPr>
          <p:cNvPr id="10" name="Rectangle 9">
            <a:extLst>
              <a:ext uri="{FF2B5EF4-FFF2-40B4-BE49-F238E27FC236}">
                <a16:creationId xmlns:a16="http://schemas.microsoft.com/office/drawing/2014/main" id="{BA22F33A-B717-4B58-B2C3-2FEB83C3C2C6}"/>
              </a:ext>
            </a:extLst>
          </p:cNvPr>
          <p:cNvSpPr/>
          <p:nvPr/>
        </p:nvSpPr>
        <p:spPr>
          <a:xfrm>
            <a:off x="782515" y="3425717"/>
            <a:ext cx="1963649" cy="730895"/>
          </a:xfrm>
          <a:prstGeom prst="rect">
            <a:avLst/>
          </a:prstGeom>
          <a:solidFill>
            <a:srgbClr val="1D3064"/>
          </a:solidFill>
          <a:ln w="76200">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bg1"/>
                </a:solidFill>
              </a:rPr>
              <a:t>Location independence</a:t>
            </a:r>
          </a:p>
        </p:txBody>
      </p:sp>
      <p:sp>
        <p:nvSpPr>
          <p:cNvPr id="11" name="Rectangle 10">
            <a:extLst>
              <a:ext uri="{FF2B5EF4-FFF2-40B4-BE49-F238E27FC236}">
                <a16:creationId xmlns:a16="http://schemas.microsoft.com/office/drawing/2014/main" id="{5D14E10A-911E-1010-4F99-A6AF2EC4A479}"/>
              </a:ext>
            </a:extLst>
          </p:cNvPr>
          <p:cNvSpPr/>
          <p:nvPr/>
        </p:nvSpPr>
        <p:spPr>
          <a:xfrm>
            <a:off x="1496174" y="4426712"/>
            <a:ext cx="1642680" cy="730894"/>
          </a:xfrm>
          <a:prstGeom prst="rect">
            <a:avLst/>
          </a:prstGeom>
          <a:solidFill>
            <a:srgbClr val="1D3064"/>
          </a:solidFill>
          <a:ln w="76200">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bg1"/>
                </a:solidFill>
              </a:rPr>
              <a:t>Scalability</a:t>
            </a:r>
          </a:p>
        </p:txBody>
      </p:sp>
      <p:cxnSp>
        <p:nvCxnSpPr>
          <p:cNvPr id="15" name="Straight Connector 14">
            <a:extLst>
              <a:ext uri="{FF2B5EF4-FFF2-40B4-BE49-F238E27FC236}">
                <a16:creationId xmlns:a16="http://schemas.microsoft.com/office/drawing/2014/main" id="{A162C638-2AF5-DEDA-F80D-7852D7B162A7}"/>
              </a:ext>
            </a:extLst>
          </p:cNvPr>
          <p:cNvCxnSpPr>
            <a:cxnSpLocks/>
          </p:cNvCxnSpPr>
          <p:nvPr/>
        </p:nvCxnSpPr>
        <p:spPr>
          <a:xfrm flipV="1">
            <a:off x="1733567" y="1351722"/>
            <a:ext cx="9075612" cy="31758"/>
          </a:xfrm>
          <a:prstGeom prst="line">
            <a:avLst/>
          </a:prstGeom>
          <a:ln w="28575"/>
        </p:spPr>
        <p:style>
          <a:lnRef idx="2">
            <a:schemeClr val="dk1"/>
          </a:lnRef>
          <a:fillRef idx="0">
            <a:schemeClr val="dk1"/>
          </a:fillRef>
          <a:effectRef idx="1">
            <a:schemeClr val="dk1"/>
          </a:effectRef>
          <a:fontRef idx="minor">
            <a:schemeClr val="tx1"/>
          </a:fontRef>
        </p:style>
      </p:cxnSp>
      <p:cxnSp>
        <p:nvCxnSpPr>
          <p:cNvPr id="16" name="Straight Connector 15">
            <a:extLst>
              <a:ext uri="{FF2B5EF4-FFF2-40B4-BE49-F238E27FC236}">
                <a16:creationId xmlns:a16="http://schemas.microsoft.com/office/drawing/2014/main" id="{26C25DBE-AE05-6851-8C90-56BCDE1CE031}"/>
              </a:ext>
            </a:extLst>
          </p:cNvPr>
          <p:cNvCxnSpPr>
            <a:cxnSpLocks/>
          </p:cNvCxnSpPr>
          <p:nvPr/>
        </p:nvCxnSpPr>
        <p:spPr>
          <a:xfrm>
            <a:off x="6096000" y="1237761"/>
            <a:ext cx="0" cy="132468"/>
          </a:xfrm>
          <a:prstGeom prst="line">
            <a:avLst/>
          </a:prstGeom>
          <a:ln w="28575"/>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112477F8-6F98-1CC7-4A92-0DAB05CB1FF7}"/>
              </a:ext>
            </a:extLst>
          </p:cNvPr>
          <p:cNvCxnSpPr>
            <a:cxnSpLocks/>
          </p:cNvCxnSpPr>
          <p:nvPr/>
        </p:nvCxnSpPr>
        <p:spPr>
          <a:xfrm flipH="1">
            <a:off x="1733567" y="1370229"/>
            <a:ext cx="333" cy="317965"/>
          </a:xfrm>
          <a:prstGeom prst="line">
            <a:avLst/>
          </a:prstGeom>
          <a:ln w="28575"/>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D1A14B20-FD21-372C-E05B-8D7A9A3634B0}"/>
              </a:ext>
            </a:extLst>
          </p:cNvPr>
          <p:cNvCxnSpPr>
            <a:cxnSpLocks/>
          </p:cNvCxnSpPr>
          <p:nvPr/>
        </p:nvCxnSpPr>
        <p:spPr>
          <a:xfrm flipH="1">
            <a:off x="4910442" y="1351722"/>
            <a:ext cx="333" cy="317965"/>
          </a:xfrm>
          <a:prstGeom prst="line">
            <a:avLst/>
          </a:prstGeom>
          <a:ln w="28575"/>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11155AD5-A73F-5A9C-2F64-E4686ACEEC46}"/>
              </a:ext>
            </a:extLst>
          </p:cNvPr>
          <p:cNvCxnSpPr>
            <a:cxnSpLocks/>
          </p:cNvCxnSpPr>
          <p:nvPr/>
        </p:nvCxnSpPr>
        <p:spPr>
          <a:xfrm>
            <a:off x="886590" y="2358956"/>
            <a:ext cx="1965784"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8BA083ED-60A0-3CBC-1C48-876F170CE752}"/>
              </a:ext>
            </a:extLst>
          </p:cNvPr>
          <p:cNvCxnSpPr>
            <a:cxnSpLocks/>
          </p:cNvCxnSpPr>
          <p:nvPr/>
        </p:nvCxnSpPr>
        <p:spPr>
          <a:xfrm>
            <a:off x="1732084" y="2102104"/>
            <a:ext cx="0" cy="256852"/>
          </a:xfrm>
          <a:prstGeom prst="line">
            <a:avLst/>
          </a:prstGeom>
          <a:ln w="28575"/>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6D07151A-E175-5ACB-8BEE-F9D11AB3D3BD}"/>
              </a:ext>
            </a:extLst>
          </p:cNvPr>
          <p:cNvCxnSpPr>
            <a:cxnSpLocks/>
          </p:cNvCxnSpPr>
          <p:nvPr/>
        </p:nvCxnSpPr>
        <p:spPr>
          <a:xfrm flipH="1">
            <a:off x="886590" y="2367213"/>
            <a:ext cx="333" cy="253588"/>
          </a:xfrm>
          <a:prstGeom prst="line">
            <a:avLst/>
          </a:prstGeom>
          <a:ln w="28575"/>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B9006284-D232-1FB3-63C9-7D026B3AEFA1}"/>
              </a:ext>
            </a:extLst>
          </p:cNvPr>
          <p:cNvCxnSpPr>
            <a:cxnSpLocks/>
          </p:cNvCxnSpPr>
          <p:nvPr/>
        </p:nvCxnSpPr>
        <p:spPr>
          <a:xfrm>
            <a:off x="1937288" y="2358956"/>
            <a:ext cx="0" cy="1102270"/>
          </a:xfrm>
          <a:prstGeom prst="line">
            <a:avLst/>
          </a:prstGeom>
          <a:ln w="28575"/>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691E2209-30A7-11D5-98D0-D27D9FD74B7D}"/>
              </a:ext>
            </a:extLst>
          </p:cNvPr>
          <p:cNvCxnSpPr>
            <a:cxnSpLocks/>
          </p:cNvCxnSpPr>
          <p:nvPr/>
        </p:nvCxnSpPr>
        <p:spPr>
          <a:xfrm>
            <a:off x="2852374" y="2367213"/>
            <a:ext cx="0" cy="2046906"/>
          </a:xfrm>
          <a:prstGeom prst="line">
            <a:avLst/>
          </a:prstGeom>
          <a:ln w="28575"/>
        </p:spPr>
        <p:style>
          <a:lnRef idx="2">
            <a:schemeClr val="dk1"/>
          </a:lnRef>
          <a:fillRef idx="0">
            <a:schemeClr val="dk1"/>
          </a:fillRef>
          <a:effectRef idx="1">
            <a:schemeClr val="dk1"/>
          </a:effectRef>
          <a:fontRef idx="minor">
            <a:schemeClr val="tx1"/>
          </a:fontRef>
        </p:style>
      </p:cxnSp>
      <p:sp>
        <p:nvSpPr>
          <p:cNvPr id="39" name="Rectangle 38">
            <a:extLst>
              <a:ext uri="{FF2B5EF4-FFF2-40B4-BE49-F238E27FC236}">
                <a16:creationId xmlns:a16="http://schemas.microsoft.com/office/drawing/2014/main" id="{35C1AAD8-C347-1C59-8359-AC78347B9B84}"/>
              </a:ext>
            </a:extLst>
          </p:cNvPr>
          <p:cNvSpPr/>
          <p:nvPr/>
        </p:nvSpPr>
        <p:spPr>
          <a:xfrm>
            <a:off x="7267374" y="1689560"/>
            <a:ext cx="1467684" cy="412544"/>
          </a:xfrm>
          <a:prstGeom prst="rect">
            <a:avLst/>
          </a:prstGeom>
          <a:solidFill>
            <a:srgbClr val="1D3064"/>
          </a:solidFill>
          <a:ln w="76200">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bg1"/>
                </a:solidFill>
              </a:rPr>
              <a:t>Usage</a:t>
            </a:r>
          </a:p>
        </p:txBody>
      </p:sp>
      <p:cxnSp>
        <p:nvCxnSpPr>
          <p:cNvPr id="40" name="Straight Connector 39">
            <a:extLst>
              <a:ext uri="{FF2B5EF4-FFF2-40B4-BE49-F238E27FC236}">
                <a16:creationId xmlns:a16="http://schemas.microsoft.com/office/drawing/2014/main" id="{6081BF1E-FB6A-1CCD-7B59-587F0EEC35F9}"/>
              </a:ext>
            </a:extLst>
          </p:cNvPr>
          <p:cNvCxnSpPr>
            <a:cxnSpLocks/>
          </p:cNvCxnSpPr>
          <p:nvPr/>
        </p:nvCxnSpPr>
        <p:spPr>
          <a:xfrm flipH="1">
            <a:off x="8004179" y="1370229"/>
            <a:ext cx="333" cy="317965"/>
          </a:xfrm>
          <a:prstGeom prst="line">
            <a:avLst/>
          </a:prstGeom>
          <a:ln w="28575"/>
        </p:spPr>
        <p:style>
          <a:lnRef idx="2">
            <a:schemeClr val="dk1"/>
          </a:lnRef>
          <a:fillRef idx="0">
            <a:schemeClr val="dk1"/>
          </a:fillRef>
          <a:effectRef idx="1">
            <a:schemeClr val="dk1"/>
          </a:effectRef>
          <a:fontRef idx="minor">
            <a:schemeClr val="tx1"/>
          </a:fontRef>
        </p:style>
      </p:cxnSp>
      <p:sp>
        <p:nvSpPr>
          <p:cNvPr id="41" name="Rectangle 40">
            <a:extLst>
              <a:ext uri="{FF2B5EF4-FFF2-40B4-BE49-F238E27FC236}">
                <a16:creationId xmlns:a16="http://schemas.microsoft.com/office/drawing/2014/main" id="{1BF56016-3BF8-D9CC-406D-AFA2A4CA5362}"/>
              </a:ext>
            </a:extLst>
          </p:cNvPr>
          <p:cNvSpPr/>
          <p:nvPr/>
        </p:nvSpPr>
        <p:spPr>
          <a:xfrm>
            <a:off x="9993585" y="1676963"/>
            <a:ext cx="1823109" cy="711200"/>
          </a:xfrm>
          <a:prstGeom prst="rect">
            <a:avLst/>
          </a:prstGeom>
          <a:solidFill>
            <a:srgbClr val="1D3064"/>
          </a:solidFill>
          <a:ln w="76200">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bg1"/>
                </a:solidFill>
              </a:rPr>
              <a:t>Replica management</a:t>
            </a:r>
          </a:p>
        </p:txBody>
      </p:sp>
      <p:cxnSp>
        <p:nvCxnSpPr>
          <p:cNvPr id="42" name="Straight Connector 41">
            <a:extLst>
              <a:ext uri="{FF2B5EF4-FFF2-40B4-BE49-F238E27FC236}">
                <a16:creationId xmlns:a16="http://schemas.microsoft.com/office/drawing/2014/main" id="{34674822-B286-7840-872B-B69BE65C3FC8}"/>
              </a:ext>
            </a:extLst>
          </p:cNvPr>
          <p:cNvCxnSpPr>
            <a:cxnSpLocks/>
          </p:cNvCxnSpPr>
          <p:nvPr/>
        </p:nvCxnSpPr>
        <p:spPr>
          <a:xfrm flipH="1">
            <a:off x="10812612" y="1355456"/>
            <a:ext cx="333" cy="317965"/>
          </a:xfrm>
          <a:prstGeom prst="line">
            <a:avLst/>
          </a:prstGeom>
          <a:ln w="28575"/>
        </p:spPr>
        <p:style>
          <a:lnRef idx="2">
            <a:schemeClr val="dk1"/>
          </a:lnRef>
          <a:fillRef idx="0">
            <a:schemeClr val="dk1"/>
          </a:fillRef>
          <a:effectRef idx="1">
            <a:schemeClr val="dk1"/>
          </a:effectRef>
          <a:fontRef idx="minor">
            <a:schemeClr val="tx1"/>
          </a:fontRef>
        </p:style>
      </p:cxnSp>
      <p:cxnSp>
        <p:nvCxnSpPr>
          <p:cNvPr id="45" name="Straight Connector 44">
            <a:extLst>
              <a:ext uri="{FF2B5EF4-FFF2-40B4-BE49-F238E27FC236}">
                <a16:creationId xmlns:a16="http://schemas.microsoft.com/office/drawing/2014/main" id="{83759944-AF31-F8CC-C34E-C6203740E4A1}"/>
              </a:ext>
            </a:extLst>
          </p:cNvPr>
          <p:cNvCxnSpPr>
            <a:cxnSpLocks/>
          </p:cNvCxnSpPr>
          <p:nvPr/>
        </p:nvCxnSpPr>
        <p:spPr>
          <a:xfrm flipH="1">
            <a:off x="4907146" y="2629057"/>
            <a:ext cx="333" cy="317965"/>
          </a:xfrm>
          <a:prstGeom prst="line">
            <a:avLst/>
          </a:prstGeom>
          <a:ln w="28575"/>
        </p:spPr>
        <p:style>
          <a:lnRef idx="2">
            <a:schemeClr val="dk1"/>
          </a:lnRef>
          <a:fillRef idx="0">
            <a:schemeClr val="dk1"/>
          </a:fillRef>
          <a:effectRef idx="1">
            <a:schemeClr val="dk1"/>
          </a:effectRef>
          <a:fontRef idx="minor">
            <a:schemeClr val="tx1"/>
          </a:fontRef>
        </p:style>
      </p:cxnSp>
      <p:cxnSp>
        <p:nvCxnSpPr>
          <p:cNvPr id="46" name="Straight Connector 45">
            <a:extLst>
              <a:ext uri="{FF2B5EF4-FFF2-40B4-BE49-F238E27FC236}">
                <a16:creationId xmlns:a16="http://schemas.microsoft.com/office/drawing/2014/main" id="{EB111D1E-C092-5C7B-AD4E-18C85B073FFC}"/>
              </a:ext>
            </a:extLst>
          </p:cNvPr>
          <p:cNvCxnSpPr>
            <a:cxnSpLocks/>
          </p:cNvCxnSpPr>
          <p:nvPr/>
        </p:nvCxnSpPr>
        <p:spPr>
          <a:xfrm>
            <a:off x="3924254" y="2947022"/>
            <a:ext cx="2502756"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47" name="Straight Connector 46">
            <a:extLst>
              <a:ext uri="{FF2B5EF4-FFF2-40B4-BE49-F238E27FC236}">
                <a16:creationId xmlns:a16="http://schemas.microsoft.com/office/drawing/2014/main" id="{2AC00B03-6F72-868B-8BC4-B3466ADC247A}"/>
              </a:ext>
            </a:extLst>
          </p:cNvPr>
          <p:cNvCxnSpPr>
            <a:cxnSpLocks/>
          </p:cNvCxnSpPr>
          <p:nvPr/>
        </p:nvCxnSpPr>
        <p:spPr>
          <a:xfrm flipH="1">
            <a:off x="3924254" y="2955279"/>
            <a:ext cx="333" cy="317965"/>
          </a:xfrm>
          <a:prstGeom prst="line">
            <a:avLst/>
          </a:prstGeom>
          <a:ln w="28575"/>
        </p:spPr>
        <p:style>
          <a:lnRef idx="2">
            <a:schemeClr val="dk1"/>
          </a:lnRef>
          <a:fillRef idx="0">
            <a:schemeClr val="dk1"/>
          </a:fillRef>
          <a:effectRef idx="1">
            <a:schemeClr val="dk1"/>
          </a:effectRef>
          <a:fontRef idx="minor">
            <a:schemeClr val="tx1"/>
          </a:fontRef>
        </p:style>
      </p:cxnSp>
      <p:sp>
        <p:nvSpPr>
          <p:cNvPr id="48" name="Rectangle 47">
            <a:extLst>
              <a:ext uri="{FF2B5EF4-FFF2-40B4-BE49-F238E27FC236}">
                <a16:creationId xmlns:a16="http://schemas.microsoft.com/office/drawing/2014/main" id="{24BC25D5-614C-8A84-CD40-7A752674CF17}"/>
              </a:ext>
            </a:extLst>
          </p:cNvPr>
          <p:cNvSpPr/>
          <p:nvPr/>
        </p:nvSpPr>
        <p:spPr>
          <a:xfrm>
            <a:off x="3138854" y="3273244"/>
            <a:ext cx="1547446" cy="1026193"/>
          </a:xfrm>
          <a:prstGeom prst="rect">
            <a:avLst/>
          </a:prstGeom>
          <a:solidFill>
            <a:srgbClr val="1D3064"/>
          </a:solidFill>
          <a:ln w="76200">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bg1"/>
                </a:solidFill>
              </a:rPr>
              <a:t>Uniform naming convention</a:t>
            </a:r>
          </a:p>
        </p:txBody>
      </p:sp>
      <p:sp>
        <p:nvSpPr>
          <p:cNvPr id="49" name="Rectangle 48">
            <a:extLst>
              <a:ext uri="{FF2B5EF4-FFF2-40B4-BE49-F238E27FC236}">
                <a16:creationId xmlns:a16="http://schemas.microsoft.com/office/drawing/2014/main" id="{82D0FC9C-F340-47FA-824F-9EFE3FEB0980}"/>
              </a:ext>
            </a:extLst>
          </p:cNvPr>
          <p:cNvSpPr/>
          <p:nvPr/>
        </p:nvSpPr>
        <p:spPr>
          <a:xfrm>
            <a:off x="4785946" y="3259123"/>
            <a:ext cx="1547446" cy="1796452"/>
          </a:xfrm>
          <a:prstGeom prst="rect">
            <a:avLst/>
          </a:prstGeom>
          <a:solidFill>
            <a:srgbClr val="1D3064"/>
          </a:solidFill>
          <a:ln w="76200">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bg1"/>
                </a:solidFill>
              </a:rPr>
              <a:t>Allowing different names for some objects</a:t>
            </a:r>
          </a:p>
        </p:txBody>
      </p:sp>
      <p:cxnSp>
        <p:nvCxnSpPr>
          <p:cNvPr id="50" name="Straight Connector 49">
            <a:extLst>
              <a:ext uri="{FF2B5EF4-FFF2-40B4-BE49-F238E27FC236}">
                <a16:creationId xmlns:a16="http://schemas.microsoft.com/office/drawing/2014/main" id="{F74B98E7-D478-0485-523A-F65934FABC4B}"/>
              </a:ext>
            </a:extLst>
          </p:cNvPr>
          <p:cNvCxnSpPr>
            <a:cxnSpLocks/>
          </p:cNvCxnSpPr>
          <p:nvPr/>
        </p:nvCxnSpPr>
        <p:spPr>
          <a:xfrm>
            <a:off x="4735956" y="2939277"/>
            <a:ext cx="0" cy="2371277"/>
          </a:xfrm>
          <a:prstGeom prst="line">
            <a:avLst/>
          </a:prstGeom>
          <a:ln w="28575"/>
        </p:spPr>
        <p:style>
          <a:lnRef idx="2">
            <a:schemeClr val="dk1"/>
          </a:lnRef>
          <a:fillRef idx="0">
            <a:schemeClr val="dk1"/>
          </a:fillRef>
          <a:effectRef idx="1">
            <a:schemeClr val="dk1"/>
          </a:effectRef>
          <a:fontRef idx="minor">
            <a:schemeClr val="tx1"/>
          </a:fontRef>
        </p:style>
      </p:cxnSp>
      <p:sp>
        <p:nvSpPr>
          <p:cNvPr id="53" name="Rectangle 52">
            <a:extLst>
              <a:ext uri="{FF2B5EF4-FFF2-40B4-BE49-F238E27FC236}">
                <a16:creationId xmlns:a16="http://schemas.microsoft.com/office/drawing/2014/main" id="{FAE07A2D-E9F1-6A0E-5969-5394147B4C99}"/>
              </a:ext>
            </a:extLst>
          </p:cNvPr>
          <p:cNvSpPr/>
          <p:nvPr/>
        </p:nvSpPr>
        <p:spPr>
          <a:xfrm>
            <a:off x="3922352" y="5305385"/>
            <a:ext cx="1547446" cy="949749"/>
          </a:xfrm>
          <a:prstGeom prst="rect">
            <a:avLst/>
          </a:prstGeom>
          <a:solidFill>
            <a:srgbClr val="1D3064"/>
          </a:solidFill>
          <a:ln w="76200">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bg1"/>
                </a:solidFill>
              </a:rPr>
              <a:t>Meaningful names</a:t>
            </a:r>
          </a:p>
        </p:txBody>
      </p:sp>
      <p:sp>
        <p:nvSpPr>
          <p:cNvPr id="54" name="Rectangle 53">
            <a:extLst>
              <a:ext uri="{FF2B5EF4-FFF2-40B4-BE49-F238E27FC236}">
                <a16:creationId xmlns:a16="http://schemas.microsoft.com/office/drawing/2014/main" id="{39672203-94AC-DA5D-974E-525E7919449B}"/>
              </a:ext>
            </a:extLst>
          </p:cNvPr>
          <p:cNvSpPr/>
          <p:nvPr/>
        </p:nvSpPr>
        <p:spPr>
          <a:xfrm>
            <a:off x="5785805" y="5305385"/>
            <a:ext cx="1095173" cy="949749"/>
          </a:xfrm>
          <a:prstGeom prst="rect">
            <a:avLst/>
          </a:prstGeom>
          <a:solidFill>
            <a:srgbClr val="1D3064"/>
          </a:solidFill>
          <a:ln w="76200">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bg1"/>
                </a:solidFill>
              </a:rPr>
              <a:t>Group names</a:t>
            </a:r>
          </a:p>
        </p:txBody>
      </p:sp>
      <p:cxnSp>
        <p:nvCxnSpPr>
          <p:cNvPr id="55" name="Straight Connector 54">
            <a:extLst>
              <a:ext uri="{FF2B5EF4-FFF2-40B4-BE49-F238E27FC236}">
                <a16:creationId xmlns:a16="http://schemas.microsoft.com/office/drawing/2014/main" id="{C99A7096-8E0E-72E9-2800-E17F012448C6}"/>
              </a:ext>
            </a:extLst>
          </p:cNvPr>
          <p:cNvCxnSpPr>
            <a:cxnSpLocks/>
          </p:cNvCxnSpPr>
          <p:nvPr/>
        </p:nvCxnSpPr>
        <p:spPr>
          <a:xfrm>
            <a:off x="6427010" y="2934108"/>
            <a:ext cx="0" cy="2371277"/>
          </a:xfrm>
          <a:prstGeom prst="line">
            <a:avLst/>
          </a:prstGeom>
          <a:ln w="28575"/>
        </p:spPr>
        <p:style>
          <a:lnRef idx="2">
            <a:schemeClr val="dk1"/>
          </a:lnRef>
          <a:fillRef idx="0">
            <a:schemeClr val="dk1"/>
          </a:fillRef>
          <a:effectRef idx="1">
            <a:schemeClr val="dk1"/>
          </a:effectRef>
          <a:fontRef idx="minor">
            <a:schemeClr val="tx1"/>
          </a:fontRef>
        </p:style>
      </p:cxnSp>
      <p:cxnSp>
        <p:nvCxnSpPr>
          <p:cNvPr id="57" name="Straight Connector 56">
            <a:extLst>
              <a:ext uri="{FF2B5EF4-FFF2-40B4-BE49-F238E27FC236}">
                <a16:creationId xmlns:a16="http://schemas.microsoft.com/office/drawing/2014/main" id="{CB9E62E5-B676-5160-9477-DB26B3D94E71}"/>
              </a:ext>
            </a:extLst>
          </p:cNvPr>
          <p:cNvCxnSpPr>
            <a:cxnSpLocks/>
          </p:cNvCxnSpPr>
          <p:nvPr/>
        </p:nvCxnSpPr>
        <p:spPr>
          <a:xfrm flipH="1">
            <a:off x="8267415" y="2090219"/>
            <a:ext cx="333" cy="317965"/>
          </a:xfrm>
          <a:prstGeom prst="line">
            <a:avLst/>
          </a:prstGeom>
          <a:ln w="28575"/>
        </p:spPr>
        <p:style>
          <a:lnRef idx="2">
            <a:schemeClr val="dk1"/>
          </a:lnRef>
          <a:fillRef idx="0">
            <a:schemeClr val="dk1"/>
          </a:fillRef>
          <a:effectRef idx="1">
            <a:schemeClr val="dk1"/>
          </a:effectRef>
          <a:fontRef idx="minor">
            <a:schemeClr val="tx1"/>
          </a:fontRef>
        </p:style>
      </p:cxnSp>
      <p:cxnSp>
        <p:nvCxnSpPr>
          <p:cNvPr id="58" name="Straight Connector 57">
            <a:extLst>
              <a:ext uri="{FF2B5EF4-FFF2-40B4-BE49-F238E27FC236}">
                <a16:creationId xmlns:a16="http://schemas.microsoft.com/office/drawing/2014/main" id="{533424A7-EE57-1D8C-68F6-6304E77DA476}"/>
              </a:ext>
            </a:extLst>
          </p:cNvPr>
          <p:cNvCxnSpPr>
            <a:cxnSpLocks/>
          </p:cNvCxnSpPr>
          <p:nvPr/>
        </p:nvCxnSpPr>
        <p:spPr>
          <a:xfrm>
            <a:off x="7284523" y="2408184"/>
            <a:ext cx="1323146" cy="0"/>
          </a:xfrm>
          <a:prstGeom prst="line">
            <a:avLst/>
          </a:prstGeom>
          <a:ln w="28575"/>
        </p:spPr>
        <p:style>
          <a:lnRef idx="2">
            <a:schemeClr val="dk1"/>
          </a:lnRef>
          <a:fillRef idx="0">
            <a:schemeClr val="dk1"/>
          </a:fillRef>
          <a:effectRef idx="1">
            <a:schemeClr val="dk1"/>
          </a:effectRef>
          <a:fontRef idx="minor">
            <a:schemeClr val="tx1"/>
          </a:fontRef>
        </p:style>
      </p:cxnSp>
      <p:sp>
        <p:nvSpPr>
          <p:cNvPr id="59" name="Rectangle 58">
            <a:extLst>
              <a:ext uri="{FF2B5EF4-FFF2-40B4-BE49-F238E27FC236}">
                <a16:creationId xmlns:a16="http://schemas.microsoft.com/office/drawing/2014/main" id="{7CA4B54A-0E68-0D16-61E6-5ED69C2443AD}"/>
              </a:ext>
            </a:extLst>
          </p:cNvPr>
          <p:cNvSpPr/>
          <p:nvPr/>
        </p:nvSpPr>
        <p:spPr>
          <a:xfrm>
            <a:off x="6515924" y="2710454"/>
            <a:ext cx="1767959" cy="461200"/>
          </a:xfrm>
          <a:prstGeom prst="rect">
            <a:avLst/>
          </a:prstGeom>
          <a:solidFill>
            <a:srgbClr val="1D3064"/>
          </a:solidFill>
          <a:ln w="76200">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bg1"/>
                </a:solidFill>
              </a:rPr>
              <a:t>Performance</a:t>
            </a:r>
          </a:p>
        </p:txBody>
      </p:sp>
      <p:sp>
        <p:nvSpPr>
          <p:cNvPr id="60" name="Rectangle 59">
            <a:extLst>
              <a:ext uri="{FF2B5EF4-FFF2-40B4-BE49-F238E27FC236}">
                <a16:creationId xmlns:a16="http://schemas.microsoft.com/office/drawing/2014/main" id="{FEBE7EC6-49C1-EC41-0BE8-0A3725E82B6A}"/>
              </a:ext>
            </a:extLst>
          </p:cNvPr>
          <p:cNvSpPr/>
          <p:nvPr/>
        </p:nvSpPr>
        <p:spPr>
          <a:xfrm>
            <a:off x="7608132" y="3443027"/>
            <a:ext cx="1266695" cy="949749"/>
          </a:xfrm>
          <a:prstGeom prst="rect">
            <a:avLst/>
          </a:prstGeom>
          <a:solidFill>
            <a:srgbClr val="1D3064"/>
          </a:solidFill>
          <a:ln w="76200">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bg1"/>
                </a:solidFill>
              </a:rPr>
              <a:t>Fault tolerant</a:t>
            </a:r>
          </a:p>
        </p:txBody>
      </p:sp>
      <p:cxnSp>
        <p:nvCxnSpPr>
          <p:cNvPr id="61" name="Straight Connector 60">
            <a:extLst>
              <a:ext uri="{FF2B5EF4-FFF2-40B4-BE49-F238E27FC236}">
                <a16:creationId xmlns:a16="http://schemas.microsoft.com/office/drawing/2014/main" id="{D5E50674-F325-33A2-F0BC-60586721B87B}"/>
              </a:ext>
            </a:extLst>
          </p:cNvPr>
          <p:cNvCxnSpPr>
            <a:cxnSpLocks/>
          </p:cNvCxnSpPr>
          <p:nvPr/>
        </p:nvCxnSpPr>
        <p:spPr>
          <a:xfrm>
            <a:off x="8607669" y="2420882"/>
            <a:ext cx="0" cy="1040344"/>
          </a:xfrm>
          <a:prstGeom prst="line">
            <a:avLst/>
          </a:prstGeom>
          <a:ln w="28575"/>
        </p:spPr>
        <p:style>
          <a:lnRef idx="2">
            <a:schemeClr val="dk1"/>
          </a:lnRef>
          <a:fillRef idx="0">
            <a:schemeClr val="dk1"/>
          </a:fillRef>
          <a:effectRef idx="1">
            <a:schemeClr val="dk1"/>
          </a:effectRef>
          <a:fontRef idx="minor">
            <a:schemeClr val="tx1"/>
          </a:fontRef>
        </p:style>
      </p:cxnSp>
      <p:cxnSp>
        <p:nvCxnSpPr>
          <p:cNvPr id="62" name="Straight Connector 61">
            <a:extLst>
              <a:ext uri="{FF2B5EF4-FFF2-40B4-BE49-F238E27FC236}">
                <a16:creationId xmlns:a16="http://schemas.microsoft.com/office/drawing/2014/main" id="{180DBE07-7686-BA99-CB24-8015463D7CD5}"/>
              </a:ext>
            </a:extLst>
          </p:cNvPr>
          <p:cNvCxnSpPr>
            <a:cxnSpLocks/>
          </p:cNvCxnSpPr>
          <p:nvPr/>
        </p:nvCxnSpPr>
        <p:spPr>
          <a:xfrm flipH="1">
            <a:off x="7284522" y="2389691"/>
            <a:ext cx="333" cy="317965"/>
          </a:xfrm>
          <a:prstGeom prst="line">
            <a:avLst/>
          </a:prstGeom>
          <a:ln w="28575"/>
        </p:spPr>
        <p:style>
          <a:lnRef idx="2">
            <a:schemeClr val="dk1"/>
          </a:lnRef>
          <a:fillRef idx="0">
            <a:schemeClr val="dk1"/>
          </a:fillRef>
          <a:effectRef idx="1">
            <a:schemeClr val="dk1"/>
          </a:effectRef>
          <a:fontRef idx="minor">
            <a:schemeClr val="tx1"/>
          </a:fontRef>
        </p:style>
      </p:cxnSp>
      <p:sp>
        <p:nvSpPr>
          <p:cNvPr id="65" name="Rectangle 64">
            <a:extLst>
              <a:ext uri="{FF2B5EF4-FFF2-40B4-BE49-F238E27FC236}">
                <a16:creationId xmlns:a16="http://schemas.microsoft.com/office/drawing/2014/main" id="{7DE5D322-F592-D1EB-7275-648D66DB9992}"/>
              </a:ext>
            </a:extLst>
          </p:cNvPr>
          <p:cNvSpPr/>
          <p:nvPr/>
        </p:nvSpPr>
        <p:spPr>
          <a:xfrm>
            <a:off x="8963741" y="2885908"/>
            <a:ext cx="1834295" cy="730893"/>
          </a:xfrm>
          <a:prstGeom prst="rect">
            <a:avLst/>
          </a:prstGeom>
          <a:solidFill>
            <a:srgbClr val="1D3064"/>
          </a:solidFill>
          <a:ln w="76200">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bg1"/>
                </a:solidFill>
              </a:rPr>
              <a:t>Replication transparency</a:t>
            </a:r>
          </a:p>
        </p:txBody>
      </p:sp>
      <p:sp>
        <p:nvSpPr>
          <p:cNvPr id="66" name="Rectangle 65">
            <a:extLst>
              <a:ext uri="{FF2B5EF4-FFF2-40B4-BE49-F238E27FC236}">
                <a16:creationId xmlns:a16="http://schemas.microsoft.com/office/drawing/2014/main" id="{04587D62-D3B1-09D4-91E9-38F46948AAA5}"/>
              </a:ext>
            </a:extLst>
          </p:cNvPr>
          <p:cNvSpPr/>
          <p:nvPr/>
        </p:nvSpPr>
        <p:spPr>
          <a:xfrm>
            <a:off x="10267682" y="3726333"/>
            <a:ext cx="1266695" cy="1058505"/>
          </a:xfrm>
          <a:prstGeom prst="rect">
            <a:avLst/>
          </a:prstGeom>
          <a:solidFill>
            <a:srgbClr val="1D3064"/>
          </a:solidFill>
          <a:ln w="76200">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bg1"/>
                </a:solidFill>
              </a:rPr>
              <a:t>Locating nearest replicas</a:t>
            </a:r>
          </a:p>
        </p:txBody>
      </p:sp>
      <p:sp>
        <p:nvSpPr>
          <p:cNvPr id="67" name="Rectangle 66">
            <a:extLst>
              <a:ext uri="{FF2B5EF4-FFF2-40B4-BE49-F238E27FC236}">
                <a16:creationId xmlns:a16="http://schemas.microsoft.com/office/drawing/2014/main" id="{A7D04156-E940-8861-4BE5-732FCBCDBE13}"/>
              </a:ext>
            </a:extLst>
          </p:cNvPr>
          <p:cNvSpPr/>
          <p:nvPr/>
        </p:nvSpPr>
        <p:spPr>
          <a:xfrm>
            <a:off x="10477501" y="4906873"/>
            <a:ext cx="1642680" cy="730894"/>
          </a:xfrm>
          <a:prstGeom prst="rect">
            <a:avLst/>
          </a:prstGeom>
          <a:solidFill>
            <a:srgbClr val="1D3064"/>
          </a:solidFill>
          <a:ln w="76200">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bg1"/>
                </a:solidFill>
              </a:rPr>
              <a:t>Locating all replicas</a:t>
            </a:r>
          </a:p>
        </p:txBody>
      </p:sp>
      <p:cxnSp>
        <p:nvCxnSpPr>
          <p:cNvPr id="68" name="Straight Connector 67">
            <a:extLst>
              <a:ext uri="{FF2B5EF4-FFF2-40B4-BE49-F238E27FC236}">
                <a16:creationId xmlns:a16="http://schemas.microsoft.com/office/drawing/2014/main" id="{7794EB72-18BA-D472-E1E0-265D3B18BE8F}"/>
              </a:ext>
            </a:extLst>
          </p:cNvPr>
          <p:cNvCxnSpPr>
            <a:cxnSpLocks/>
          </p:cNvCxnSpPr>
          <p:nvPr/>
        </p:nvCxnSpPr>
        <p:spPr>
          <a:xfrm>
            <a:off x="9850332" y="2615808"/>
            <a:ext cx="1965784"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69" name="Straight Connector 68">
            <a:extLst>
              <a:ext uri="{FF2B5EF4-FFF2-40B4-BE49-F238E27FC236}">
                <a16:creationId xmlns:a16="http://schemas.microsoft.com/office/drawing/2014/main" id="{FE7DEE61-EEBD-AA2C-9771-3571E5EE058D}"/>
              </a:ext>
            </a:extLst>
          </p:cNvPr>
          <p:cNvCxnSpPr>
            <a:cxnSpLocks/>
          </p:cNvCxnSpPr>
          <p:nvPr/>
        </p:nvCxnSpPr>
        <p:spPr>
          <a:xfrm>
            <a:off x="10695826" y="2358956"/>
            <a:ext cx="0" cy="256852"/>
          </a:xfrm>
          <a:prstGeom prst="line">
            <a:avLst/>
          </a:prstGeom>
          <a:ln w="28575"/>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A2E90EC5-BECC-FC62-315F-C5376BCAC7E7}"/>
              </a:ext>
            </a:extLst>
          </p:cNvPr>
          <p:cNvCxnSpPr>
            <a:cxnSpLocks/>
          </p:cNvCxnSpPr>
          <p:nvPr/>
        </p:nvCxnSpPr>
        <p:spPr>
          <a:xfrm flipH="1">
            <a:off x="9850332" y="2624065"/>
            <a:ext cx="333" cy="253588"/>
          </a:xfrm>
          <a:prstGeom prst="line">
            <a:avLst/>
          </a:prstGeom>
          <a:ln w="28575"/>
        </p:spPr>
        <p:style>
          <a:lnRef idx="2">
            <a:schemeClr val="dk1"/>
          </a:lnRef>
          <a:fillRef idx="0">
            <a:schemeClr val="dk1"/>
          </a:fillRef>
          <a:effectRef idx="1">
            <a:schemeClr val="dk1"/>
          </a:effectRef>
          <a:fontRef idx="minor">
            <a:schemeClr val="tx1"/>
          </a:fontRef>
        </p:style>
      </p:cxnSp>
      <p:cxnSp>
        <p:nvCxnSpPr>
          <p:cNvPr id="71" name="Straight Connector 70">
            <a:extLst>
              <a:ext uri="{FF2B5EF4-FFF2-40B4-BE49-F238E27FC236}">
                <a16:creationId xmlns:a16="http://schemas.microsoft.com/office/drawing/2014/main" id="{F12D079D-06ED-5E6D-D662-4E2C2D2CB42A}"/>
              </a:ext>
            </a:extLst>
          </p:cNvPr>
          <p:cNvCxnSpPr>
            <a:cxnSpLocks/>
          </p:cNvCxnSpPr>
          <p:nvPr/>
        </p:nvCxnSpPr>
        <p:spPr>
          <a:xfrm>
            <a:off x="10901030" y="2615808"/>
            <a:ext cx="0" cy="1102270"/>
          </a:xfrm>
          <a:prstGeom prst="line">
            <a:avLst/>
          </a:prstGeom>
          <a:ln w="28575"/>
        </p:spPr>
        <p:style>
          <a:lnRef idx="2">
            <a:schemeClr val="dk1"/>
          </a:lnRef>
          <a:fillRef idx="0">
            <a:schemeClr val="dk1"/>
          </a:fillRef>
          <a:effectRef idx="1">
            <a:schemeClr val="dk1"/>
          </a:effectRef>
          <a:fontRef idx="minor">
            <a:schemeClr val="tx1"/>
          </a:fontRef>
        </p:style>
      </p:cxnSp>
      <p:cxnSp>
        <p:nvCxnSpPr>
          <p:cNvPr id="72" name="Straight Connector 71">
            <a:extLst>
              <a:ext uri="{FF2B5EF4-FFF2-40B4-BE49-F238E27FC236}">
                <a16:creationId xmlns:a16="http://schemas.microsoft.com/office/drawing/2014/main" id="{BD6B36A1-1A44-42E7-B7AE-A18E6B9CBBE0}"/>
              </a:ext>
            </a:extLst>
          </p:cNvPr>
          <p:cNvCxnSpPr>
            <a:cxnSpLocks/>
          </p:cNvCxnSpPr>
          <p:nvPr/>
        </p:nvCxnSpPr>
        <p:spPr>
          <a:xfrm>
            <a:off x="11816116" y="2624065"/>
            <a:ext cx="0" cy="2282808"/>
          </a:xfrm>
          <a:prstGeom prst="line">
            <a:avLst/>
          </a:prstGeom>
          <a:ln w="28575"/>
        </p:spPr>
        <p:style>
          <a:lnRef idx="2">
            <a:schemeClr val="dk1"/>
          </a:lnRef>
          <a:fillRef idx="0">
            <a:schemeClr val="dk1"/>
          </a:fillRef>
          <a:effectRef idx="1">
            <a:schemeClr val="dk1"/>
          </a:effectRef>
          <a:fontRef idx="minor">
            <a:schemeClr val="tx1"/>
          </a:fontRef>
        </p:style>
      </p:cxnSp>
      <p:cxnSp>
        <p:nvCxnSpPr>
          <p:cNvPr id="74" name="Straight Connector 73">
            <a:extLst>
              <a:ext uri="{FF2B5EF4-FFF2-40B4-BE49-F238E27FC236}">
                <a16:creationId xmlns:a16="http://schemas.microsoft.com/office/drawing/2014/main" id="{8BD59306-1817-6E18-EBB5-0C8427ED8B09}"/>
              </a:ext>
            </a:extLst>
          </p:cNvPr>
          <p:cNvCxnSpPr>
            <a:cxnSpLocks/>
          </p:cNvCxnSpPr>
          <p:nvPr/>
        </p:nvCxnSpPr>
        <p:spPr>
          <a:xfrm flipH="1">
            <a:off x="5550306" y="2965735"/>
            <a:ext cx="333" cy="317965"/>
          </a:xfrm>
          <a:prstGeom prst="line">
            <a:avLst/>
          </a:prstGeom>
          <a:ln w="28575"/>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329917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4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20"/>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9"/>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22"/>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23"/>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45"/>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46"/>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47"/>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48"/>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49"/>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50"/>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74"/>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53"/>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54"/>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55"/>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57"/>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58"/>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59"/>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60"/>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61"/>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62"/>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69"/>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68"/>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70"/>
                                        </p:tgtEl>
                                        <p:attrNameLst>
                                          <p:attrName>style.visibility</p:attrName>
                                        </p:attrNameLst>
                                      </p:cBhvr>
                                      <p:to>
                                        <p:strVal val="visible"/>
                                      </p:to>
                                    </p:set>
                                  </p:childTnLst>
                                </p:cTn>
                              </p:par>
                              <p:par>
                                <p:cTn id="92" presetID="1" presetClass="entr" presetSubtype="0" fill="hold" nodeType="withEffect">
                                  <p:stCondLst>
                                    <p:cond delay="0"/>
                                  </p:stCondLst>
                                  <p:childTnLst>
                                    <p:set>
                                      <p:cBhvr>
                                        <p:cTn id="93" dur="1" fill="hold">
                                          <p:stCondLst>
                                            <p:cond delay="0"/>
                                          </p:stCondLst>
                                        </p:cTn>
                                        <p:tgtEl>
                                          <p:spTgt spid="71"/>
                                        </p:tgtEl>
                                        <p:attrNameLst>
                                          <p:attrName>style.visibility</p:attrName>
                                        </p:attrNameLst>
                                      </p:cBhvr>
                                      <p:to>
                                        <p:strVal val="visible"/>
                                      </p:to>
                                    </p:set>
                                  </p:childTnLst>
                                </p:cTn>
                              </p:par>
                              <p:par>
                                <p:cTn id="94" presetID="1" presetClass="entr" presetSubtype="0" fill="hold" nodeType="withEffect">
                                  <p:stCondLst>
                                    <p:cond delay="0"/>
                                  </p:stCondLst>
                                  <p:childTnLst>
                                    <p:set>
                                      <p:cBhvr>
                                        <p:cTn id="95" dur="1" fill="hold">
                                          <p:stCondLst>
                                            <p:cond delay="0"/>
                                          </p:stCondLst>
                                        </p:cTn>
                                        <p:tgtEl>
                                          <p:spTgt spid="72"/>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65"/>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66"/>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39" grpId="0" animBg="1"/>
      <p:bldP spid="41" grpId="0" animBg="1"/>
      <p:bldP spid="48" grpId="0" animBg="1"/>
      <p:bldP spid="49" grpId="0" animBg="1"/>
      <p:bldP spid="53" grpId="0" animBg="1"/>
      <p:bldP spid="54" grpId="0" animBg="1"/>
      <p:bldP spid="59" grpId="0" animBg="1"/>
      <p:bldP spid="60" grpId="0" animBg="1"/>
      <p:bldP spid="65" grpId="0" animBg="1"/>
      <p:bldP spid="66" grpId="0" animBg="1"/>
      <p:bldP spid="67"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IN" sz="3600" dirty="0"/>
              <a:t>Features of Good naming </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fontAlgn="base"/>
            <a:r>
              <a:rPr lang="en-US" dirty="0">
                <a:solidFill>
                  <a:srgbClr val="1D6199"/>
                </a:solidFill>
              </a:rPr>
              <a:t>Location Transparency</a:t>
            </a:r>
          </a:p>
          <a:p>
            <a:pPr lvl="1" fontAlgn="base"/>
            <a:r>
              <a:rPr lang="en-US" dirty="0"/>
              <a:t>The name of the object must not indicate the physical location of object, directly or indirectly</a:t>
            </a:r>
          </a:p>
          <a:p>
            <a:pPr fontAlgn="base"/>
            <a:r>
              <a:rPr lang="en-US" dirty="0">
                <a:solidFill>
                  <a:srgbClr val="1D6199"/>
                </a:solidFill>
              </a:rPr>
              <a:t>Location Independency</a:t>
            </a:r>
          </a:p>
          <a:p>
            <a:pPr lvl="1" fontAlgn="base"/>
            <a:r>
              <a:rPr lang="en-US" dirty="0"/>
              <a:t>The name of object need not be changed when object’s location is changed</a:t>
            </a:r>
          </a:p>
          <a:p>
            <a:pPr lvl="1" fontAlgn="base"/>
            <a:r>
              <a:rPr lang="en-US" dirty="0"/>
              <a:t>Also the user must be able to access the object irrespective of the node from where it is being accessed</a:t>
            </a:r>
          </a:p>
          <a:p>
            <a:pPr fontAlgn="base"/>
            <a:r>
              <a:rPr lang="en-US" dirty="0">
                <a:solidFill>
                  <a:srgbClr val="1D6199"/>
                </a:solidFill>
              </a:rPr>
              <a:t>Scalability </a:t>
            </a:r>
          </a:p>
          <a:p>
            <a:pPr lvl="1" fontAlgn="base"/>
            <a:r>
              <a:rPr lang="en-US" dirty="0"/>
              <a:t>Any changes in system scale should not require any change in naming or location mechanism</a:t>
            </a:r>
          </a:p>
          <a:p>
            <a:pPr fontAlgn="base"/>
            <a:r>
              <a:rPr lang="en-US" dirty="0">
                <a:solidFill>
                  <a:srgbClr val="1D6199"/>
                </a:solidFill>
              </a:rPr>
              <a:t>Uniform naming convention</a:t>
            </a:r>
          </a:p>
          <a:p>
            <a:pPr lvl="1" fontAlgn="base"/>
            <a:r>
              <a:rPr lang="en-US" dirty="0"/>
              <a:t>Use some standard naming convention for naming different types of objects</a:t>
            </a:r>
          </a:p>
          <a:p>
            <a:pPr lvl="1" fontAlgn="base"/>
            <a:r>
              <a:rPr lang="en-US" dirty="0"/>
              <a:t>File names are named differently from user names and process names</a:t>
            </a:r>
          </a:p>
          <a:p>
            <a:pPr marL="0" indent="0">
              <a:buNone/>
            </a:pPr>
            <a:endParaRPr lang="en-US" dirty="0"/>
          </a:p>
        </p:txBody>
      </p:sp>
    </p:spTree>
    <p:extLst>
      <p:ext uri="{BB962C8B-B14F-4D97-AF65-F5344CB8AC3E}">
        <p14:creationId xmlns:p14="http://schemas.microsoft.com/office/powerpoint/2010/main" val="386744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IN" sz="3600" dirty="0"/>
              <a:t>Features of Good naming </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fontAlgn="base"/>
            <a:r>
              <a:rPr lang="en-US" dirty="0">
                <a:solidFill>
                  <a:srgbClr val="1D6199"/>
                </a:solidFill>
              </a:rPr>
              <a:t>Meaningful names</a:t>
            </a:r>
          </a:p>
          <a:p>
            <a:pPr lvl="1" fontAlgn="base"/>
            <a:r>
              <a:rPr lang="en-US" dirty="0"/>
              <a:t>Meaningful names indicate what the object actually contains</a:t>
            </a:r>
          </a:p>
          <a:p>
            <a:pPr lvl="1" fontAlgn="base"/>
            <a:r>
              <a:rPr lang="en-US" dirty="0"/>
              <a:t>They are easy to remember and use</a:t>
            </a:r>
          </a:p>
          <a:p>
            <a:pPr fontAlgn="base"/>
            <a:r>
              <a:rPr lang="en-US" dirty="0">
                <a:solidFill>
                  <a:srgbClr val="1D6199"/>
                </a:solidFill>
              </a:rPr>
              <a:t>Allow multiple user-defined areas </a:t>
            </a:r>
          </a:p>
          <a:p>
            <a:pPr lvl="1" fontAlgn="base"/>
            <a:r>
              <a:rPr lang="en-US" dirty="0"/>
              <a:t>In case of shared object, users must be allowed to use their own names for accessing the object</a:t>
            </a:r>
          </a:p>
          <a:p>
            <a:pPr lvl="1" fontAlgn="base"/>
            <a:r>
              <a:rPr lang="en-US" dirty="0"/>
              <a:t>It should be allowed to assign multiple user-defined names to the same object</a:t>
            </a:r>
          </a:p>
          <a:p>
            <a:pPr fontAlgn="base"/>
            <a:r>
              <a:rPr lang="en-US" dirty="0">
                <a:solidFill>
                  <a:srgbClr val="1D6199"/>
                </a:solidFill>
              </a:rPr>
              <a:t>Group Naming</a:t>
            </a:r>
          </a:p>
          <a:p>
            <a:pPr lvl="1" fontAlgn="base"/>
            <a:r>
              <a:rPr lang="en-US" dirty="0"/>
              <a:t>It must allow many different objects to be identified by the same name for broadcast facility</a:t>
            </a:r>
          </a:p>
          <a:p>
            <a:pPr fontAlgn="base"/>
            <a:r>
              <a:rPr lang="en-US" dirty="0">
                <a:solidFill>
                  <a:srgbClr val="1D6199"/>
                </a:solidFill>
              </a:rPr>
              <a:t>Performance</a:t>
            </a:r>
          </a:p>
          <a:p>
            <a:pPr lvl="1" fontAlgn="base"/>
            <a:r>
              <a:rPr lang="en-US" dirty="0"/>
              <a:t>Small number of message exchanges should be there for mapping object’s name to its attributes.</a:t>
            </a:r>
          </a:p>
          <a:p>
            <a:pPr lvl="1" fontAlgn="base"/>
            <a:r>
              <a:rPr lang="en-US" dirty="0"/>
              <a:t>So mapping time will be reduced and performance can be enhanced</a:t>
            </a:r>
          </a:p>
          <a:p>
            <a:pPr marL="0" lvl="2" indent="0">
              <a:lnSpc>
                <a:spcPct val="100000"/>
              </a:lnSpc>
              <a:spcBef>
                <a:spcPts val="1000"/>
              </a:spcBef>
              <a:buNone/>
            </a:pPr>
            <a:endParaRPr lang="en-US" sz="2400" dirty="0"/>
          </a:p>
          <a:p>
            <a:pPr>
              <a:lnSpc>
                <a:spcPct val="100000"/>
              </a:lnSpc>
            </a:pPr>
            <a:endParaRPr lang="en-US" dirty="0"/>
          </a:p>
          <a:p>
            <a:endParaRPr lang="en-US" dirty="0"/>
          </a:p>
          <a:p>
            <a:pPr marL="0" indent="0">
              <a:buNone/>
            </a:pPr>
            <a:endParaRPr lang="en-US" dirty="0"/>
          </a:p>
        </p:txBody>
      </p:sp>
    </p:spTree>
    <p:extLst>
      <p:ext uri="{BB962C8B-B14F-4D97-AF65-F5344CB8AC3E}">
        <p14:creationId xmlns:p14="http://schemas.microsoft.com/office/powerpoint/2010/main" val="1099659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IN" sz="3600" dirty="0"/>
              <a:t>Features of Good naming </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fontAlgn="base"/>
            <a:r>
              <a:rPr lang="en-US" dirty="0">
                <a:solidFill>
                  <a:srgbClr val="1D6199"/>
                </a:solidFill>
              </a:rPr>
              <a:t>Fault Tolerance</a:t>
            </a:r>
          </a:p>
          <a:p>
            <a:pPr lvl="1" fontAlgn="base"/>
            <a:r>
              <a:rPr lang="en-US" dirty="0"/>
              <a:t>It must be capable of tolerating faults like failure of node, network congestion</a:t>
            </a:r>
          </a:p>
          <a:p>
            <a:pPr fontAlgn="base"/>
            <a:r>
              <a:rPr lang="en-US" dirty="0">
                <a:solidFill>
                  <a:srgbClr val="1D6199"/>
                </a:solidFill>
              </a:rPr>
              <a:t>Replication transparency</a:t>
            </a:r>
          </a:p>
          <a:p>
            <a:pPr lvl="1" fontAlgn="base"/>
            <a:r>
              <a:rPr lang="en-US" dirty="0"/>
              <a:t>The user need not be aware that multiple copies exist in the system</a:t>
            </a:r>
          </a:p>
          <a:p>
            <a:pPr fontAlgn="base"/>
            <a:r>
              <a:rPr lang="en-US" dirty="0">
                <a:solidFill>
                  <a:srgbClr val="1D6199"/>
                </a:solidFill>
              </a:rPr>
              <a:t>Locating nearest replica</a:t>
            </a:r>
          </a:p>
          <a:p>
            <a:pPr lvl="1" fontAlgn="base"/>
            <a:r>
              <a:rPr lang="en-US" dirty="0"/>
              <a:t>When naming system supports replicas, the object location mechanism should locate the nearest replica of requested object</a:t>
            </a:r>
            <a:r>
              <a:rPr lang="en-IN" dirty="0"/>
              <a:t> </a:t>
            </a:r>
            <a:endParaRPr lang="en-US" dirty="0"/>
          </a:p>
          <a:p>
            <a:pPr fontAlgn="base"/>
            <a:r>
              <a:rPr lang="en-US" dirty="0">
                <a:solidFill>
                  <a:srgbClr val="1D6199"/>
                </a:solidFill>
              </a:rPr>
              <a:t>Locating all replicas</a:t>
            </a:r>
          </a:p>
          <a:p>
            <a:pPr lvl="1" fontAlgn="base"/>
            <a:r>
              <a:rPr lang="en-US" dirty="0"/>
              <a:t>The object-location mechanism must be able to locate all replicas, if need be</a:t>
            </a:r>
          </a:p>
        </p:txBody>
      </p:sp>
    </p:spTree>
    <p:extLst>
      <p:ext uri="{BB962C8B-B14F-4D97-AF65-F5344CB8AC3E}">
        <p14:creationId xmlns:p14="http://schemas.microsoft.com/office/powerpoint/2010/main" val="2053508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3DC79-8B12-49B2-D869-87FFD698F001}"/>
              </a:ext>
            </a:extLst>
          </p:cNvPr>
          <p:cNvSpPr>
            <a:spLocks noGrp="1"/>
          </p:cNvSpPr>
          <p:nvPr>
            <p:ph type="title"/>
          </p:nvPr>
        </p:nvSpPr>
        <p:spPr/>
        <p:txBody>
          <a:bodyPr>
            <a:normAutofit/>
          </a:bodyPr>
          <a:lstStyle/>
          <a:p>
            <a:pPr>
              <a:spcBef>
                <a:spcPts val="1000"/>
              </a:spcBef>
              <a:buClr>
                <a:srgbClr val="1D6199"/>
              </a:buClr>
              <a:defRPr/>
            </a:pPr>
            <a:r>
              <a:rPr lang="en-IN" sz="6000" dirty="0"/>
              <a:t>Fundamental Technologies and Concepts</a:t>
            </a:r>
          </a:p>
        </p:txBody>
      </p:sp>
      <p:sp>
        <p:nvSpPr>
          <p:cNvPr id="3" name="Text Placeholder 2">
            <a:extLst>
              <a:ext uri="{FF2B5EF4-FFF2-40B4-BE49-F238E27FC236}">
                <a16:creationId xmlns:a16="http://schemas.microsoft.com/office/drawing/2014/main" id="{7336A222-FE8E-8548-6B81-0F4C891F3E0A}"/>
              </a:ext>
            </a:extLst>
          </p:cNvPr>
          <p:cNvSpPr>
            <a:spLocks noGrp="1"/>
          </p:cNvSpPr>
          <p:nvPr>
            <p:ph type="body" idx="1"/>
          </p:nvPr>
        </p:nvSpPr>
        <p:spPr/>
        <p:txBody>
          <a:bodyPr/>
          <a:lstStyle/>
          <a:p>
            <a:r>
              <a:rPr lang="en-US" dirty="0"/>
              <a:t>Section - 10</a:t>
            </a:r>
            <a:endParaRPr lang="en-IN" dirty="0"/>
          </a:p>
        </p:txBody>
      </p:sp>
    </p:spTree>
    <p:extLst>
      <p:ext uri="{BB962C8B-B14F-4D97-AF65-F5344CB8AC3E}">
        <p14:creationId xmlns:p14="http://schemas.microsoft.com/office/powerpoint/2010/main" val="360461248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Name Spaces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a:lnSpc>
                <a:spcPct val="100000"/>
              </a:lnSpc>
            </a:pPr>
            <a:r>
              <a:rPr lang="en-US" dirty="0"/>
              <a:t>Structured names are organized into </a:t>
            </a:r>
            <a:r>
              <a:rPr lang="en-US" dirty="0">
                <a:solidFill>
                  <a:srgbClr val="1D6199"/>
                </a:solidFill>
              </a:rPr>
              <a:t>name spaces</a:t>
            </a:r>
          </a:p>
          <a:p>
            <a:pPr>
              <a:lnSpc>
                <a:spcPct val="100000"/>
              </a:lnSpc>
            </a:pPr>
            <a:r>
              <a:rPr lang="en-US" dirty="0"/>
              <a:t>A name space is a directed graph consisting of:</a:t>
            </a:r>
          </a:p>
          <a:p>
            <a:pPr lvl="1"/>
            <a:r>
              <a:rPr lang="en-US" dirty="0">
                <a:ea typeface="ＭＳ Ｐゴシック" charset="-128"/>
              </a:rPr>
              <a:t>Leaf nodes</a:t>
            </a:r>
          </a:p>
          <a:p>
            <a:pPr lvl="1"/>
            <a:r>
              <a:rPr lang="en-US" dirty="0">
                <a:ea typeface="ＭＳ Ｐゴシック" charset="-128"/>
              </a:rPr>
              <a:t>Directory nodes</a:t>
            </a:r>
            <a:endParaRPr lang="en-US" dirty="0">
              <a:solidFill>
                <a:srgbClr val="1D3064"/>
              </a:solidFill>
              <a:ea typeface="ＭＳ Ｐゴシック" charset="-128"/>
            </a:endParaRPr>
          </a:p>
          <a:p>
            <a:pPr>
              <a:lnSpc>
                <a:spcPct val="100000"/>
              </a:lnSpc>
            </a:pPr>
            <a:r>
              <a:rPr lang="en-US" b="1" dirty="0">
                <a:solidFill>
                  <a:srgbClr val="1D6199"/>
                </a:solidFill>
              </a:rPr>
              <a:t>Leaf nodes:</a:t>
            </a:r>
          </a:p>
          <a:p>
            <a:pPr marL="544512" lvl="1" indent="-433387"/>
            <a:r>
              <a:rPr lang="en-US" dirty="0"/>
              <a:t>Each leaf node represents an entity</a:t>
            </a:r>
          </a:p>
          <a:p>
            <a:pPr marL="544512" lvl="1" indent="-433387"/>
            <a:r>
              <a:rPr lang="en-US" dirty="0"/>
              <a:t>A leaf node generally stores the address of an entity (e.g., in DNS), or  the state of (or the path to) an entity (e.g., in file systems)</a:t>
            </a:r>
          </a:p>
          <a:p>
            <a:pPr marL="0" indent="0">
              <a:buNone/>
            </a:pPr>
            <a:endParaRPr lang="en-US" dirty="0"/>
          </a:p>
        </p:txBody>
      </p:sp>
    </p:spTree>
    <p:extLst>
      <p:ext uri="{BB962C8B-B14F-4D97-AF65-F5344CB8AC3E}">
        <p14:creationId xmlns:p14="http://schemas.microsoft.com/office/powerpoint/2010/main" val="3045121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Name Spaces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a:lnSpc>
                <a:spcPct val="100000"/>
              </a:lnSpc>
            </a:pPr>
            <a:r>
              <a:rPr lang="en-US" b="1" dirty="0">
                <a:solidFill>
                  <a:srgbClr val="1D6199"/>
                </a:solidFill>
              </a:rPr>
              <a:t>Directory nodes</a:t>
            </a:r>
          </a:p>
          <a:p>
            <a:pPr marL="544512" lvl="1" indent="-433387"/>
            <a:r>
              <a:rPr lang="en-US" dirty="0"/>
              <a:t>Directory node refers to other leaf or directory nodes</a:t>
            </a:r>
          </a:p>
          <a:p>
            <a:pPr marL="544512" lvl="1" indent="-433387"/>
            <a:r>
              <a:rPr lang="en-US" dirty="0"/>
              <a:t>Each outgoing edge is represented by (edge label, node identifier</a:t>
            </a:r>
            <a:r>
              <a:rPr lang="en-US" sz="2400" dirty="0"/>
              <a:t>)</a:t>
            </a:r>
          </a:p>
          <a:p>
            <a:pPr marL="265113" lvl="2" indent="-265113">
              <a:lnSpc>
                <a:spcPct val="100000"/>
              </a:lnSpc>
              <a:spcBef>
                <a:spcPts val="1000"/>
              </a:spcBef>
              <a:buFont typeface="Webdings" panose="05030102010509060703" pitchFamily="18" charset="2"/>
              <a:buChar char=""/>
            </a:pPr>
            <a:r>
              <a:rPr lang="en-US" sz="2400" dirty="0"/>
              <a:t>Each node can store any type of data</a:t>
            </a:r>
          </a:p>
          <a:p>
            <a:pPr marL="265113" lvl="2" indent="-265113">
              <a:lnSpc>
                <a:spcPct val="100000"/>
              </a:lnSpc>
              <a:spcBef>
                <a:spcPts val="1000"/>
              </a:spcBef>
              <a:buFont typeface="Webdings" panose="05030102010509060703" pitchFamily="18" charset="2"/>
              <a:buChar char=""/>
            </a:pPr>
            <a:r>
              <a:rPr lang="en-US" sz="2400" dirty="0"/>
              <a:t>I.e., State and/or address (e.g., to a different machine) and/or path</a:t>
            </a:r>
            <a:endParaRPr lang="en-US" dirty="0"/>
          </a:p>
          <a:p>
            <a:pPr marL="0" indent="0">
              <a:buNone/>
            </a:pPr>
            <a:endParaRPr lang="en-US" dirty="0"/>
          </a:p>
        </p:txBody>
      </p:sp>
    </p:spTree>
    <p:extLst>
      <p:ext uri="{BB962C8B-B14F-4D97-AF65-F5344CB8AC3E}">
        <p14:creationId xmlns:p14="http://schemas.microsoft.com/office/powerpoint/2010/main" val="418648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Name Spaces - An Example </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a:lnSpc>
                <a:spcPct val="100000"/>
              </a:lnSpc>
            </a:pPr>
            <a:r>
              <a:rPr lang="en-US" dirty="0"/>
              <a:t>A path name is used to refer to a node in the graph</a:t>
            </a:r>
          </a:p>
          <a:p>
            <a:pPr>
              <a:lnSpc>
                <a:spcPct val="100000"/>
              </a:lnSpc>
            </a:pPr>
            <a:r>
              <a:rPr lang="en-US" dirty="0"/>
              <a:t>A path name is a sequence of edge labels leading from one node to another</a:t>
            </a:r>
          </a:p>
          <a:p>
            <a:pPr marL="877887" lvl="2" indent="-433387"/>
            <a:r>
              <a:rPr lang="en-US" dirty="0"/>
              <a:t>An </a:t>
            </a:r>
            <a:r>
              <a:rPr lang="en-US" dirty="0">
                <a:solidFill>
                  <a:srgbClr val="1D6199"/>
                </a:solidFill>
              </a:rPr>
              <a:t>absolute path </a:t>
            </a:r>
            <a:r>
              <a:rPr lang="en-US" dirty="0"/>
              <a:t>name starts from the root node (e.g., /home/</a:t>
            </a:r>
            <a:r>
              <a:rPr lang="en-US" dirty="0" err="1"/>
              <a:t>steen</a:t>
            </a:r>
            <a:r>
              <a:rPr lang="en-US" dirty="0"/>
              <a:t>/</a:t>
            </a:r>
            <a:r>
              <a:rPr lang="en-US" dirty="0" err="1"/>
              <a:t>mbox</a:t>
            </a:r>
            <a:r>
              <a:rPr lang="en-US" dirty="0"/>
              <a:t>)</a:t>
            </a:r>
          </a:p>
          <a:p>
            <a:pPr marL="877887" lvl="2" indent="-433387"/>
            <a:r>
              <a:rPr lang="en-US" dirty="0"/>
              <a:t>A </a:t>
            </a:r>
            <a:r>
              <a:rPr lang="en-US" dirty="0">
                <a:solidFill>
                  <a:srgbClr val="1D6199"/>
                </a:solidFill>
              </a:rPr>
              <a:t>relative path </a:t>
            </a:r>
            <a:r>
              <a:rPr lang="en-US" dirty="0"/>
              <a:t>name does not start at the root node (e.g., </a:t>
            </a:r>
            <a:r>
              <a:rPr lang="en-US" dirty="0" err="1"/>
              <a:t>steen</a:t>
            </a:r>
            <a:r>
              <a:rPr lang="en-US" dirty="0"/>
              <a:t>/</a:t>
            </a:r>
            <a:r>
              <a:rPr lang="en-US" dirty="0" err="1"/>
              <a:t>mbox</a:t>
            </a:r>
            <a:r>
              <a:rPr lang="en-US" dirty="0"/>
              <a:t>)</a:t>
            </a:r>
          </a:p>
        </p:txBody>
      </p:sp>
      <p:sp>
        <p:nvSpPr>
          <p:cNvPr id="4" name="Rectangle 3">
            <a:extLst>
              <a:ext uri="{FF2B5EF4-FFF2-40B4-BE49-F238E27FC236}">
                <a16:creationId xmlns:a16="http://schemas.microsoft.com/office/drawing/2014/main" id="{CF335E5A-40CE-46AE-9296-CC3BE5AE4006}"/>
              </a:ext>
            </a:extLst>
          </p:cNvPr>
          <p:cNvSpPr/>
          <p:nvPr/>
        </p:nvSpPr>
        <p:spPr>
          <a:xfrm>
            <a:off x="2192274" y="2600024"/>
            <a:ext cx="7464552" cy="457200"/>
          </a:xfrm>
          <a:prstGeom prst="rect">
            <a:avLst/>
          </a:prstGeom>
          <a:solidFill>
            <a:srgbClr val="1D3064"/>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1" hangingPunct="1">
              <a:defRPr/>
            </a:pPr>
            <a:r>
              <a:rPr lang="en-US" sz="2400" dirty="0">
                <a:solidFill>
                  <a:schemeClr val="bg1"/>
                </a:solidFill>
              </a:rPr>
              <a:t>Looking up for the entity with name “/home/</a:t>
            </a:r>
            <a:r>
              <a:rPr lang="en-US" sz="2400" dirty="0" err="1">
                <a:solidFill>
                  <a:schemeClr val="bg1"/>
                </a:solidFill>
              </a:rPr>
              <a:t>steen</a:t>
            </a:r>
            <a:r>
              <a:rPr lang="en-US" sz="2400" dirty="0">
                <a:solidFill>
                  <a:schemeClr val="bg1"/>
                </a:solidFill>
              </a:rPr>
              <a:t>/</a:t>
            </a:r>
            <a:r>
              <a:rPr lang="en-US" sz="2400" dirty="0" err="1">
                <a:solidFill>
                  <a:schemeClr val="bg1"/>
                </a:solidFill>
              </a:rPr>
              <a:t>mbox</a:t>
            </a:r>
            <a:r>
              <a:rPr lang="en-US" sz="2400" dirty="0">
                <a:solidFill>
                  <a:schemeClr val="bg1"/>
                </a:solidFill>
              </a:rPr>
              <a:t>”</a:t>
            </a:r>
          </a:p>
        </p:txBody>
      </p:sp>
      <p:sp>
        <p:nvSpPr>
          <p:cNvPr id="5" name="Rectangle 4">
            <a:extLst>
              <a:ext uri="{FF2B5EF4-FFF2-40B4-BE49-F238E27FC236}">
                <a16:creationId xmlns:a16="http://schemas.microsoft.com/office/drawing/2014/main" id="{D7D2E4CF-4812-4623-B287-A6035A89860E}"/>
              </a:ext>
            </a:extLst>
          </p:cNvPr>
          <p:cNvSpPr/>
          <p:nvPr/>
        </p:nvSpPr>
        <p:spPr>
          <a:xfrm>
            <a:off x="7162800" y="3347738"/>
            <a:ext cx="381000" cy="38100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r>
              <a:rPr lang="en-US" sz="1400" dirty="0"/>
              <a:t>n0</a:t>
            </a:r>
          </a:p>
        </p:txBody>
      </p:sp>
      <p:sp>
        <p:nvSpPr>
          <p:cNvPr id="6" name="Rectangle 5">
            <a:extLst>
              <a:ext uri="{FF2B5EF4-FFF2-40B4-BE49-F238E27FC236}">
                <a16:creationId xmlns:a16="http://schemas.microsoft.com/office/drawing/2014/main" id="{35F33779-AF71-43A9-B7E2-82079F33474A}"/>
              </a:ext>
            </a:extLst>
          </p:cNvPr>
          <p:cNvSpPr/>
          <p:nvPr/>
        </p:nvSpPr>
        <p:spPr>
          <a:xfrm>
            <a:off x="5867400" y="4033538"/>
            <a:ext cx="381000" cy="38100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r>
              <a:rPr lang="en-US" sz="1400" dirty="0"/>
              <a:t>n1</a:t>
            </a:r>
          </a:p>
        </p:txBody>
      </p:sp>
      <p:sp>
        <p:nvSpPr>
          <p:cNvPr id="7" name="Rectangle 6">
            <a:extLst>
              <a:ext uri="{FF2B5EF4-FFF2-40B4-BE49-F238E27FC236}">
                <a16:creationId xmlns:a16="http://schemas.microsoft.com/office/drawing/2014/main" id="{88D1BD07-2830-43B3-AC6E-16C808A0E2CF}"/>
              </a:ext>
            </a:extLst>
          </p:cNvPr>
          <p:cNvSpPr/>
          <p:nvPr/>
        </p:nvSpPr>
        <p:spPr>
          <a:xfrm>
            <a:off x="6705600" y="5100338"/>
            <a:ext cx="381000" cy="38100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r>
              <a:rPr lang="en-US" sz="1400" dirty="0"/>
              <a:t>n4</a:t>
            </a:r>
          </a:p>
        </p:txBody>
      </p:sp>
      <p:sp>
        <p:nvSpPr>
          <p:cNvPr id="8" name="Oval 7">
            <a:extLst>
              <a:ext uri="{FF2B5EF4-FFF2-40B4-BE49-F238E27FC236}">
                <a16:creationId xmlns:a16="http://schemas.microsoft.com/office/drawing/2014/main" id="{D116BD48-7BFB-42C9-8731-B6FA15690C11}"/>
              </a:ext>
            </a:extLst>
          </p:cNvPr>
          <p:cNvSpPr/>
          <p:nvPr/>
        </p:nvSpPr>
        <p:spPr>
          <a:xfrm>
            <a:off x="8458200" y="4109738"/>
            <a:ext cx="609600" cy="3048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dirty="0"/>
              <a:t>n5</a:t>
            </a:r>
          </a:p>
        </p:txBody>
      </p:sp>
      <p:sp>
        <p:nvSpPr>
          <p:cNvPr id="9" name="Oval 8">
            <a:extLst>
              <a:ext uri="{FF2B5EF4-FFF2-40B4-BE49-F238E27FC236}">
                <a16:creationId xmlns:a16="http://schemas.microsoft.com/office/drawing/2014/main" id="{21AA9C69-3EE0-4C6B-B8AA-4804F3DF2651}"/>
              </a:ext>
            </a:extLst>
          </p:cNvPr>
          <p:cNvSpPr/>
          <p:nvPr/>
        </p:nvSpPr>
        <p:spPr>
          <a:xfrm>
            <a:off x="4876800" y="5176538"/>
            <a:ext cx="609600" cy="3048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dirty="0"/>
              <a:t>n2</a:t>
            </a:r>
          </a:p>
        </p:txBody>
      </p:sp>
      <p:sp>
        <p:nvSpPr>
          <p:cNvPr id="10" name="Oval 9">
            <a:extLst>
              <a:ext uri="{FF2B5EF4-FFF2-40B4-BE49-F238E27FC236}">
                <a16:creationId xmlns:a16="http://schemas.microsoft.com/office/drawing/2014/main" id="{E6B99E52-E49B-4219-BABA-7059BC9EE077}"/>
              </a:ext>
            </a:extLst>
          </p:cNvPr>
          <p:cNvSpPr/>
          <p:nvPr/>
        </p:nvSpPr>
        <p:spPr>
          <a:xfrm>
            <a:off x="5715000" y="5176538"/>
            <a:ext cx="609600" cy="3048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sz="1400" dirty="0"/>
              <a:t>n3</a:t>
            </a:r>
          </a:p>
        </p:txBody>
      </p:sp>
      <p:sp>
        <p:nvSpPr>
          <p:cNvPr id="11" name="Oval 10">
            <a:extLst>
              <a:ext uri="{FF2B5EF4-FFF2-40B4-BE49-F238E27FC236}">
                <a16:creationId xmlns:a16="http://schemas.microsoft.com/office/drawing/2014/main" id="{9D348840-7F9C-4A87-8485-0AF6A937C32C}"/>
              </a:ext>
            </a:extLst>
          </p:cNvPr>
          <p:cNvSpPr/>
          <p:nvPr/>
        </p:nvSpPr>
        <p:spPr>
          <a:xfrm>
            <a:off x="6553200" y="6167138"/>
            <a:ext cx="685800" cy="381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endParaRPr lang="en-US" sz="1400" dirty="0"/>
          </a:p>
        </p:txBody>
      </p:sp>
      <p:sp>
        <p:nvSpPr>
          <p:cNvPr id="12" name="Oval 11">
            <a:extLst>
              <a:ext uri="{FF2B5EF4-FFF2-40B4-BE49-F238E27FC236}">
                <a16:creationId xmlns:a16="http://schemas.microsoft.com/office/drawing/2014/main" id="{CFF5C318-19CB-4E1C-8FF1-C54A8D701761}"/>
              </a:ext>
            </a:extLst>
          </p:cNvPr>
          <p:cNvSpPr/>
          <p:nvPr/>
        </p:nvSpPr>
        <p:spPr>
          <a:xfrm>
            <a:off x="5715000" y="6167138"/>
            <a:ext cx="609600" cy="381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endParaRPr lang="en-US" sz="1200" dirty="0"/>
          </a:p>
        </p:txBody>
      </p:sp>
      <p:cxnSp>
        <p:nvCxnSpPr>
          <p:cNvPr id="13" name="Straight Connector 12">
            <a:extLst>
              <a:ext uri="{FF2B5EF4-FFF2-40B4-BE49-F238E27FC236}">
                <a16:creationId xmlns:a16="http://schemas.microsoft.com/office/drawing/2014/main" id="{ACF0B3CC-EF94-4F4F-8E79-57EB31BCEE65}"/>
              </a:ext>
            </a:extLst>
          </p:cNvPr>
          <p:cNvCxnSpPr>
            <a:stCxn id="5" idx="2"/>
          </p:cNvCxnSpPr>
          <p:nvPr/>
        </p:nvCxnSpPr>
        <p:spPr>
          <a:xfrm>
            <a:off x="7353300" y="3728738"/>
            <a:ext cx="1257300" cy="381000"/>
          </a:xfrm>
          <a:prstGeom prst="line">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F9A5BC8-7BCB-4B8E-BA57-7FEA31523AD8}"/>
              </a:ext>
            </a:extLst>
          </p:cNvPr>
          <p:cNvCxnSpPr/>
          <p:nvPr/>
        </p:nvCxnSpPr>
        <p:spPr>
          <a:xfrm flipH="1">
            <a:off x="6324600" y="3728738"/>
            <a:ext cx="1028700" cy="304800"/>
          </a:xfrm>
          <a:prstGeom prst="line">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97DD8EF-F2A2-46BB-8F2E-C24C3A97D7D4}"/>
              </a:ext>
            </a:extLst>
          </p:cNvPr>
          <p:cNvCxnSpPr>
            <a:stCxn id="6" idx="2"/>
            <a:endCxn id="10" idx="0"/>
          </p:cNvCxnSpPr>
          <p:nvPr/>
        </p:nvCxnSpPr>
        <p:spPr>
          <a:xfrm flipH="1">
            <a:off x="6019800" y="4414538"/>
            <a:ext cx="38100" cy="762000"/>
          </a:xfrm>
          <a:prstGeom prst="line">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4EC3D8D-08BC-42EB-AC92-D460FAA346FD}"/>
              </a:ext>
            </a:extLst>
          </p:cNvPr>
          <p:cNvCxnSpPr>
            <a:stCxn id="6" idx="2"/>
            <a:endCxn id="7" idx="0"/>
          </p:cNvCxnSpPr>
          <p:nvPr/>
        </p:nvCxnSpPr>
        <p:spPr>
          <a:xfrm>
            <a:off x="6057900" y="4414538"/>
            <a:ext cx="838200" cy="685800"/>
          </a:xfrm>
          <a:prstGeom prst="line">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F636C20-F1D3-49B4-8B0C-98C31FE0AFA6}"/>
              </a:ext>
            </a:extLst>
          </p:cNvPr>
          <p:cNvCxnSpPr>
            <a:stCxn id="6" idx="2"/>
            <a:endCxn id="9" idx="0"/>
          </p:cNvCxnSpPr>
          <p:nvPr/>
        </p:nvCxnSpPr>
        <p:spPr>
          <a:xfrm flipH="1">
            <a:off x="5181600" y="4414538"/>
            <a:ext cx="876300" cy="762000"/>
          </a:xfrm>
          <a:prstGeom prst="line">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01670026-AE63-4DE7-A94F-70DB8CEA9A7C}"/>
              </a:ext>
            </a:extLst>
          </p:cNvPr>
          <p:cNvSpPr/>
          <p:nvPr/>
        </p:nvSpPr>
        <p:spPr>
          <a:xfrm>
            <a:off x="3657600" y="5405138"/>
            <a:ext cx="609600" cy="381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endParaRPr lang="en-US" sz="1200" dirty="0"/>
          </a:p>
        </p:txBody>
      </p:sp>
      <p:sp>
        <p:nvSpPr>
          <p:cNvPr id="19" name="Rectangle 18">
            <a:extLst>
              <a:ext uri="{FF2B5EF4-FFF2-40B4-BE49-F238E27FC236}">
                <a16:creationId xmlns:a16="http://schemas.microsoft.com/office/drawing/2014/main" id="{BD293990-EFCA-418A-8876-B1AA1BBDC656}"/>
              </a:ext>
            </a:extLst>
          </p:cNvPr>
          <p:cNvSpPr/>
          <p:nvPr/>
        </p:nvSpPr>
        <p:spPr>
          <a:xfrm>
            <a:off x="3733800" y="5938538"/>
            <a:ext cx="381000" cy="381000"/>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1" hangingPunct="1">
              <a:defRPr/>
            </a:pPr>
            <a:endParaRPr lang="en-US" sz="1400" dirty="0"/>
          </a:p>
        </p:txBody>
      </p:sp>
      <p:sp>
        <p:nvSpPr>
          <p:cNvPr id="20" name="TextBox 41">
            <a:extLst>
              <a:ext uri="{FF2B5EF4-FFF2-40B4-BE49-F238E27FC236}">
                <a16:creationId xmlns:a16="http://schemas.microsoft.com/office/drawing/2014/main" id="{C3F38EAB-036F-427E-82C5-E7C4C91F8FD7}"/>
              </a:ext>
            </a:extLst>
          </p:cNvPr>
          <p:cNvSpPr txBox="1">
            <a:spLocks noChangeArrowheads="1"/>
          </p:cNvSpPr>
          <p:nvPr/>
        </p:nvSpPr>
        <p:spPr bwMode="auto">
          <a:xfrm>
            <a:off x="2362200" y="5405138"/>
            <a:ext cx="1371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chemeClr val="tx1"/>
                </a:solidFill>
              </a:rPr>
              <a:t>Leaf node</a:t>
            </a:r>
          </a:p>
        </p:txBody>
      </p:sp>
      <p:sp>
        <p:nvSpPr>
          <p:cNvPr id="21" name="TextBox 42">
            <a:extLst>
              <a:ext uri="{FF2B5EF4-FFF2-40B4-BE49-F238E27FC236}">
                <a16:creationId xmlns:a16="http://schemas.microsoft.com/office/drawing/2014/main" id="{301D0442-959B-4F71-AE95-4718B4EB5679}"/>
              </a:ext>
            </a:extLst>
          </p:cNvPr>
          <p:cNvSpPr txBox="1">
            <a:spLocks noChangeArrowheads="1"/>
          </p:cNvSpPr>
          <p:nvPr/>
        </p:nvSpPr>
        <p:spPr bwMode="auto">
          <a:xfrm>
            <a:off x="1981200" y="5949652"/>
            <a:ext cx="1752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chemeClr val="tx1"/>
                </a:solidFill>
              </a:rPr>
              <a:t>Directory node</a:t>
            </a:r>
          </a:p>
        </p:txBody>
      </p:sp>
      <p:cxnSp>
        <p:nvCxnSpPr>
          <p:cNvPr id="22" name="Straight Connector 21">
            <a:extLst>
              <a:ext uri="{FF2B5EF4-FFF2-40B4-BE49-F238E27FC236}">
                <a16:creationId xmlns:a16="http://schemas.microsoft.com/office/drawing/2014/main" id="{DABAEB79-B64D-403F-B8A0-0664E5B77EE9}"/>
              </a:ext>
            </a:extLst>
          </p:cNvPr>
          <p:cNvCxnSpPr>
            <a:stCxn id="7" idx="2"/>
            <a:endCxn id="11" idx="0"/>
          </p:cNvCxnSpPr>
          <p:nvPr/>
        </p:nvCxnSpPr>
        <p:spPr>
          <a:xfrm>
            <a:off x="6896100" y="5481338"/>
            <a:ext cx="0" cy="685800"/>
          </a:xfrm>
          <a:prstGeom prst="line">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8A28491-4302-411B-8612-3DC332A42D73}"/>
              </a:ext>
            </a:extLst>
          </p:cNvPr>
          <p:cNvCxnSpPr>
            <a:stCxn id="7" idx="2"/>
            <a:endCxn id="12" idx="0"/>
          </p:cNvCxnSpPr>
          <p:nvPr/>
        </p:nvCxnSpPr>
        <p:spPr>
          <a:xfrm flipH="1">
            <a:off x="6019800" y="5481338"/>
            <a:ext cx="876300" cy="685800"/>
          </a:xfrm>
          <a:prstGeom prst="line">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4" name="TextBox 52">
            <a:extLst>
              <a:ext uri="{FF2B5EF4-FFF2-40B4-BE49-F238E27FC236}">
                <a16:creationId xmlns:a16="http://schemas.microsoft.com/office/drawing/2014/main" id="{FE8310D9-79D7-4775-AD64-90F8F5D9C8B9}"/>
              </a:ext>
            </a:extLst>
          </p:cNvPr>
          <p:cNvSpPr txBox="1">
            <a:spLocks noChangeArrowheads="1"/>
          </p:cNvSpPr>
          <p:nvPr/>
        </p:nvSpPr>
        <p:spPr bwMode="auto">
          <a:xfrm>
            <a:off x="6096000" y="3500138"/>
            <a:ext cx="838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chemeClr val="tx1"/>
                </a:solidFill>
              </a:rPr>
              <a:t>home</a:t>
            </a:r>
          </a:p>
        </p:txBody>
      </p:sp>
      <p:sp>
        <p:nvSpPr>
          <p:cNvPr id="25" name="TextBox 53">
            <a:extLst>
              <a:ext uri="{FF2B5EF4-FFF2-40B4-BE49-F238E27FC236}">
                <a16:creationId xmlns:a16="http://schemas.microsoft.com/office/drawing/2014/main" id="{B62B38BF-7E43-447C-A263-746F1DC2AD08}"/>
              </a:ext>
            </a:extLst>
          </p:cNvPr>
          <p:cNvSpPr txBox="1">
            <a:spLocks noChangeArrowheads="1"/>
          </p:cNvSpPr>
          <p:nvPr/>
        </p:nvSpPr>
        <p:spPr bwMode="auto">
          <a:xfrm>
            <a:off x="7848600" y="3423938"/>
            <a:ext cx="838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chemeClr val="tx1"/>
                </a:solidFill>
              </a:rPr>
              <a:t>keys</a:t>
            </a:r>
          </a:p>
        </p:txBody>
      </p:sp>
      <p:sp>
        <p:nvSpPr>
          <p:cNvPr id="26" name="TextBox 54">
            <a:extLst>
              <a:ext uri="{FF2B5EF4-FFF2-40B4-BE49-F238E27FC236}">
                <a16:creationId xmlns:a16="http://schemas.microsoft.com/office/drawing/2014/main" id="{7B163DCB-A969-42F8-AFFC-A0AE98083CA5}"/>
              </a:ext>
            </a:extLst>
          </p:cNvPr>
          <p:cNvSpPr txBox="1">
            <a:spLocks noChangeArrowheads="1"/>
          </p:cNvSpPr>
          <p:nvPr/>
        </p:nvSpPr>
        <p:spPr bwMode="auto">
          <a:xfrm>
            <a:off x="6705600" y="4490738"/>
            <a:ext cx="838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err="1">
                <a:solidFill>
                  <a:schemeClr val="tx1"/>
                </a:solidFill>
              </a:rPr>
              <a:t>steen</a:t>
            </a:r>
            <a:endParaRPr lang="en-US" altLang="en-US" sz="1800" dirty="0">
              <a:solidFill>
                <a:schemeClr val="tx1"/>
              </a:solidFill>
            </a:endParaRPr>
          </a:p>
        </p:txBody>
      </p:sp>
      <p:sp>
        <p:nvSpPr>
          <p:cNvPr id="27" name="TextBox 55">
            <a:extLst>
              <a:ext uri="{FF2B5EF4-FFF2-40B4-BE49-F238E27FC236}">
                <a16:creationId xmlns:a16="http://schemas.microsoft.com/office/drawing/2014/main" id="{8D254C54-B7DE-43D8-8658-220F3B79C2F8}"/>
              </a:ext>
            </a:extLst>
          </p:cNvPr>
          <p:cNvSpPr txBox="1">
            <a:spLocks noChangeArrowheads="1"/>
          </p:cNvSpPr>
          <p:nvPr/>
        </p:nvSpPr>
        <p:spPr bwMode="auto">
          <a:xfrm>
            <a:off x="5486400" y="4643138"/>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chemeClr val="tx1"/>
                </a:solidFill>
              </a:rPr>
              <a:t>max</a:t>
            </a:r>
          </a:p>
        </p:txBody>
      </p:sp>
      <p:sp>
        <p:nvSpPr>
          <p:cNvPr id="28" name="TextBox 56">
            <a:extLst>
              <a:ext uri="{FF2B5EF4-FFF2-40B4-BE49-F238E27FC236}">
                <a16:creationId xmlns:a16="http://schemas.microsoft.com/office/drawing/2014/main" id="{C7966946-E4B3-47FB-A43F-481234A1AEF3}"/>
              </a:ext>
            </a:extLst>
          </p:cNvPr>
          <p:cNvSpPr txBox="1">
            <a:spLocks noChangeArrowheads="1"/>
          </p:cNvSpPr>
          <p:nvPr/>
        </p:nvSpPr>
        <p:spPr bwMode="auto">
          <a:xfrm>
            <a:off x="4648200" y="4490738"/>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chemeClr val="tx1"/>
                </a:solidFill>
              </a:rPr>
              <a:t>elke</a:t>
            </a:r>
          </a:p>
        </p:txBody>
      </p:sp>
      <p:sp>
        <p:nvSpPr>
          <p:cNvPr id="29" name="Rounded Rectangle 28">
            <a:extLst>
              <a:ext uri="{FF2B5EF4-FFF2-40B4-BE49-F238E27FC236}">
                <a16:creationId xmlns:a16="http://schemas.microsoft.com/office/drawing/2014/main" id="{F1E8DDE2-B080-4EEF-97BC-43C541A9D196}"/>
              </a:ext>
            </a:extLst>
          </p:cNvPr>
          <p:cNvSpPr/>
          <p:nvPr/>
        </p:nvSpPr>
        <p:spPr>
          <a:xfrm>
            <a:off x="3810000" y="3576338"/>
            <a:ext cx="1447800" cy="914400"/>
          </a:xfrm>
          <a:prstGeom prst="roundRect">
            <a:avLst/>
          </a:prstGeom>
          <a:solidFill>
            <a:srgbClr val="FFFF00"/>
          </a:solidFill>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eaLnBrk="1" hangingPunct="1">
              <a:defRPr/>
            </a:pPr>
            <a:r>
              <a:rPr lang="en-US" dirty="0">
                <a:solidFill>
                  <a:schemeClr val="tx1"/>
                </a:solidFill>
              </a:rPr>
              <a:t>n2: “</a:t>
            </a:r>
            <a:r>
              <a:rPr lang="en-US" dirty="0" err="1">
                <a:solidFill>
                  <a:schemeClr val="tx1"/>
                </a:solidFill>
              </a:rPr>
              <a:t>elke</a:t>
            </a:r>
            <a:r>
              <a:rPr lang="en-US" dirty="0">
                <a:solidFill>
                  <a:schemeClr val="tx1"/>
                </a:solidFill>
              </a:rPr>
              <a:t>”</a:t>
            </a:r>
          </a:p>
          <a:p>
            <a:pPr algn="ctr" eaLnBrk="1" hangingPunct="1">
              <a:defRPr/>
            </a:pPr>
            <a:r>
              <a:rPr lang="en-US" dirty="0">
                <a:solidFill>
                  <a:schemeClr val="tx1"/>
                </a:solidFill>
              </a:rPr>
              <a:t>n3: “max”</a:t>
            </a:r>
          </a:p>
          <a:p>
            <a:pPr algn="ctr" eaLnBrk="1" hangingPunct="1">
              <a:defRPr/>
            </a:pPr>
            <a:r>
              <a:rPr lang="en-US" dirty="0">
                <a:solidFill>
                  <a:schemeClr val="tx1"/>
                </a:solidFill>
              </a:rPr>
              <a:t>n4: “</a:t>
            </a:r>
            <a:r>
              <a:rPr lang="en-US" dirty="0" err="1">
                <a:solidFill>
                  <a:schemeClr val="tx1"/>
                </a:solidFill>
              </a:rPr>
              <a:t>steen</a:t>
            </a:r>
            <a:r>
              <a:rPr lang="en-US" dirty="0">
                <a:solidFill>
                  <a:schemeClr val="tx1"/>
                </a:solidFill>
              </a:rPr>
              <a:t>”</a:t>
            </a:r>
          </a:p>
        </p:txBody>
      </p:sp>
      <p:sp>
        <p:nvSpPr>
          <p:cNvPr id="30" name="TextBox 58">
            <a:extLst>
              <a:ext uri="{FF2B5EF4-FFF2-40B4-BE49-F238E27FC236}">
                <a16:creationId xmlns:a16="http://schemas.microsoft.com/office/drawing/2014/main" id="{913CAB4C-52A1-46B4-9AAB-96D5F7F3F145}"/>
              </a:ext>
            </a:extLst>
          </p:cNvPr>
          <p:cNvSpPr txBox="1">
            <a:spLocks noChangeArrowheads="1"/>
          </p:cNvSpPr>
          <p:nvPr/>
        </p:nvSpPr>
        <p:spPr bwMode="auto">
          <a:xfrm>
            <a:off x="3505200" y="3195338"/>
            <a:ext cx="2057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chemeClr val="tx1"/>
                </a:solidFill>
              </a:rPr>
              <a:t>Data stored in n1</a:t>
            </a:r>
          </a:p>
        </p:txBody>
      </p:sp>
      <p:cxnSp>
        <p:nvCxnSpPr>
          <p:cNvPr id="31" name="Straight Connector 30">
            <a:extLst>
              <a:ext uri="{FF2B5EF4-FFF2-40B4-BE49-F238E27FC236}">
                <a16:creationId xmlns:a16="http://schemas.microsoft.com/office/drawing/2014/main" id="{D52C2918-0D79-44CB-8796-0711B020A75E}"/>
              </a:ext>
            </a:extLst>
          </p:cNvPr>
          <p:cNvCxnSpPr>
            <a:stCxn id="6" idx="1"/>
            <a:endCxn id="29" idx="3"/>
          </p:cNvCxnSpPr>
          <p:nvPr/>
        </p:nvCxnSpPr>
        <p:spPr>
          <a:xfrm flipH="1" flipV="1">
            <a:off x="5257800" y="4033538"/>
            <a:ext cx="609600" cy="190500"/>
          </a:xfrm>
          <a:prstGeom prst="line">
            <a:avLst/>
          </a:prstGeom>
          <a:ln>
            <a:prstDash val="sysDot"/>
          </a:ln>
        </p:spPr>
        <p:style>
          <a:lnRef idx="1">
            <a:schemeClr val="dk1"/>
          </a:lnRef>
          <a:fillRef idx="0">
            <a:schemeClr val="dk1"/>
          </a:fillRef>
          <a:effectRef idx="0">
            <a:schemeClr val="dk1"/>
          </a:effectRef>
          <a:fontRef idx="minor">
            <a:schemeClr val="tx1"/>
          </a:fontRef>
        </p:style>
      </p:cxnSp>
      <p:sp>
        <p:nvSpPr>
          <p:cNvPr id="32" name="TextBox 80">
            <a:extLst>
              <a:ext uri="{FF2B5EF4-FFF2-40B4-BE49-F238E27FC236}">
                <a16:creationId xmlns:a16="http://schemas.microsoft.com/office/drawing/2014/main" id="{E38518E3-8681-4DB5-AD52-B167E87BF0F7}"/>
              </a:ext>
            </a:extLst>
          </p:cNvPr>
          <p:cNvSpPr txBox="1">
            <a:spLocks noChangeArrowheads="1"/>
          </p:cNvSpPr>
          <p:nvPr/>
        </p:nvSpPr>
        <p:spPr bwMode="auto">
          <a:xfrm>
            <a:off x="5334000" y="5633738"/>
            <a:ext cx="914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chemeClr val="tx1"/>
                </a:solidFill>
              </a:rPr>
              <a:t>twmrc</a:t>
            </a:r>
          </a:p>
        </p:txBody>
      </p:sp>
      <p:sp>
        <p:nvSpPr>
          <p:cNvPr id="33" name="TextBox 81">
            <a:extLst>
              <a:ext uri="{FF2B5EF4-FFF2-40B4-BE49-F238E27FC236}">
                <a16:creationId xmlns:a16="http://schemas.microsoft.com/office/drawing/2014/main" id="{BF9CF92C-256E-40D6-A036-32DBDE32D666}"/>
              </a:ext>
            </a:extLst>
          </p:cNvPr>
          <p:cNvSpPr txBox="1">
            <a:spLocks noChangeArrowheads="1"/>
          </p:cNvSpPr>
          <p:nvPr/>
        </p:nvSpPr>
        <p:spPr bwMode="auto">
          <a:xfrm>
            <a:off x="6248400" y="5709938"/>
            <a:ext cx="914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3200">
                <a:solidFill>
                  <a:srgbClr val="808080"/>
                </a:solidFill>
                <a:latin typeface="Arial" panose="020B0604020202020204" pitchFamily="34" charset="0"/>
                <a:cs typeface="Arial" panose="020B0604020202020204" pitchFamily="34" charset="0"/>
              </a:defRPr>
            </a:lvl1pPr>
            <a:lvl2pPr marL="742950" indent="-285750">
              <a:spcBef>
                <a:spcPct val="20000"/>
              </a:spcBef>
              <a:buBlip>
                <a:blip r:embed="rId2"/>
              </a:buBlip>
              <a:defRPr sz="2800">
                <a:solidFill>
                  <a:srgbClr val="808080"/>
                </a:solidFill>
                <a:latin typeface="Arial" panose="020B0604020202020204" pitchFamily="34" charset="0"/>
                <a:cs typeface="Arial" panose="020B0604020202020204" pitchFamily="34" charset="0"/>
              </a:defRPr>
            </a:lvl2pPr>
            <a:lvl3pPr marL="1143000" indent="-228600">
              <a:spcBef>
                <a:spcPct val="20000"/>
              </a:spcBef>
              <a:buBlip>
                <a:blip r:embed="rId2"/>
              </a:buBlip>
              <a:defRPr sz="2400">
                <a:solidFill>
                  <a:srgbClr val="808080"/>
                </a:solidFill>
                <a:latin typeface="Arial" panose="020B0604020202020204" pitchFamily="34" charset="0"/>
                <a:cs typeface="Arial" panose="020B0604020202020204" pitchFamily="34" charset="0"/>
              </a:defRPr>
            </a:lvl3pPr>
            <a:lvl4pPr marL="16002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4pPr>
            <a:lvl5pPr marL="2057400" indent="-228600">
              <a:spcBef>
                <a:spcPct val="20000"/>
              </a:spcBef>
              <a:buBlip>
                <a:blip r:embed="rId2"/>
              </a:buBlip>
              <a:defRPr sz="2000">
                <a:solidFill>
                  <a:srgbClr val="80808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Blip>
                <a:blip r:embed="rId2"/>
              </a:buBlip>
              <a:defRPr sz="2000">
                <a:solidFill>
                  <a:srgbClr val="808080"/>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chemeClr val="tx1"/>
                </a:solidFill>
              </a:rPr>
              <a:t>mbox</a:t>
            </a:r>
          </a:p>
        </p:txBody>
      </p:sp>
      <p:cxnSp>
        <p:nvCxnSpPr>
          <p:cNvPr id="34" name="Straight Arrow Connector 33">
            <a:extLst>
              <a:ext uri="{FF2B5EF4-FFF2-40B4-BE49-F238E27FC236}">
                <a16:creationId xmlns:a16="http://schemas.microsoft.com/office/drawing/2014/main" id="{A0AA291E-FA14-4F62-ADAB-A8F4FCCA68E5}"/>
              </a:ext>
            </a:extLst>
          </p:cNvPr>
          <p:cNvCxnSpPr>
            <a:stCxn id="7" idx="2"/>
            <a:endCxn id="11" idx="0"/>
          </p:cNvCxnSpPr>
          <p:nvPr/>
        </p:nvCxnSpPr>
        <p:spPr>
          <a:xfrm>
            <a:off x="6896100" y="5481338"/>
            <a:ext cx="0" cy="685800"/>
          </a:xfrm>
          <a:prstGeom prst="straightConnector1">
            <a:avLst/>
          </a:prstGeom>
          <a:ln w="38100">
            <a:solidFill>
              <a:srgbClr val="0000FF"/>
            </a:solidFill>
            <a:tailEnd type="arrow"/>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41383221-611E-4737-9668-6B489E06761E}"/>
              </a:ext>
            </a:extLst>
          </p:cNvPr>
          <p:cNvCxnSpPr>
            <a:stCxn id="5" idx="2"/>
          </p:cNvCxnSpPr>
          <p:nvPr/>
        </p:nvCxnSpPr>
        <p:spPr>
          <a:xfrm flipH="1">
            <a:off x="6248400" y="3728738"/>
            <a:ext cx="1104900" cy="304800"/>
          </a:xfrm>
          <a:prstGeom prst="straightConnector1">
            <a:avLst/>
          </a:prstGeom>
          <a:ln w="38100">
            <a:solidFill>
              <a:srgbClr val="0000FF"/>
            </a:solidFill>
            <a:tailEnd type="arrow"/>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A5EB5DE0-5E35-4B7F-A1D1-D49BF19A8DA9}"/>
              </a:ext>
            </a:extLst>
          </p:cNvPr>
          <p:cNvCxnSpPr>
            <a:stCxn id="6" idx="2"/>
            <a:endCxn id="7" idx="0"/>
          </p:cNvCxnSpPr>
          <p:nvPr/>
        </p:nvCxnSpPr>
        <p:spPr>
          <a:xfrm>
            <a:off x="6057900" y="4414538"/>
            <a:ext cx="838200" cy="685800"/>
          </a:xfrm>
          <a:prstGeom prst="straightConnector1">
            <a:avLst/>
          </a:prstGeom>
          <a:ln w="38100">
            <a:solidFill>
              <a:srgbClr val="0000FF"/>
            </a:solidFill>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76227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Name Resolution</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Given a path name, it is easy to lookup information stored in the node for the entity in name space</a:t>
            </a:r>
          </a:p>
          <a:p>
            <a:r>
              <a:rPr lang="en-US" dirty="0"/>
              <a:t>The process of looking up a name is called </a:t>
            </a:r>
            <a:r>
              <a:rPr lang="en-US" dirty="0">
                <a:solidFill>
                  <a:srgbClr val="1D6199"/>
                </a:solidFill>
              </a:rPr>
              <a:t>name resolution</a:t>
            </a:r>
            <a:r>
              <a:rPr lang="en-US" dirty="0"/>
              <a:t>.</a:t>
            </a:r>
          </a:p>
          <a:p>
            <a:r>
              <a:rPr lang="en-US" dirty="0"/>
              <a:t>Example:</a:t>
            </a:r>
          </a:p>
          <a:p>
            <a:pPr lvl="2"/>
            <a:r>
              <a:rPr lang="en-US" sz="2400" dirty="0"/>
              <a:t>N:&lt;label-1, label-2, …, label-n&gt;</a:t>
            </a:r>
          </a:p>
          <a:p>
            <a:pPr lvl="2"/>
            <a:r>
              <a:rPr lang="en-US" sz="2400" dirty="0"/>
              <a:t>Resolution starts at N, looking up the directory table returns the identifier for the node that label-1 refers to, N1</a:t>
            </a:r>
          </a:p>
          <a:p>
            <a:pPr lvl="2"/>
            <a:r>
              <a:rPr lang="en-US" sz="2400" dirty="0"/>
              <a:t>Second, looking up the label-2 in directory table of the node N1, and so on</a:t>
            </a:r>
          </a:p>
          <a:p>
            <a:pPr lvl="2"/>
            <a:r>
              <a:rPr lang="en-US" sz="2400" dirty="0"/>
              <a:t>Resolution stops at node referred to by label-n by returning the content of that node</a:t>
            </a:r>
          </a:p>
          <a:p>
            <a:pPr marL="0" indent="0">
              <a:buNone/>
            </a:pPr>
            <a:endParaRPr lang="en-US" dirty="0"/>
          </a:p>
        </p:txBody>
      </p:sp>
    </p:spTree>
    <p:extLst>
      <p:ext uri="{BB962C8B-B14F-4D97-AF65-F5344CB8AC3E}">
        <p14:creationId xmlns:p14="http://schemas.microsoft.com/office/powerpoint/2010/main" val="734094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Name Resolution</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marL="265113" lvl="2" indent="-265113" fontAlgn="base">
              <a:buFont typeface="Wingdings 3" panose="05040102010807070707" pitchFamily="18" charset="2"/>
              <a:buChar char=""/>
            </a:pPr>
            <a:r>
              <a:rPr lang="en-US" altLang="en-US" sz="2400" dirty="0"/>
              <a:t>Name resolution cannot be accomplished without an initial directory node</a:t>
            </a:r>
          </a:p>
          <a:p>
            <a:pPr marL="265113" lvl="2" indent="-265113" fontAlgn="base">
              <a:buFont typeface="Wingdings 3" panose="05040102010807070707" pitchFamily="18" charset="2"/>
              <a:buChar char=""/>
            </a:pPr>
            <a:r>
              <a:rPr lang="en-US" altLang="en-US" sz="2400" dirty="0"/>
              <a:t>The closure mechanism selects the implicit context from which to start name resolution</a:t>
            </a:r>
          </a:p>
          <a:p>
            <a:pPr marL="265113" lvl="2" indent="-265113" fontAlgn="base">
              <a:buFont typeface="Wingdings 3" panose="05040102010807070707" pitchFamily="18" charset="2"/>
              <a:buChar char=""/>
            </a:pPr>
            <a:r>
              <a:rPr lang="en-US" altLang="en-US" sz="2400" dirty="0"/>
              <a:t>Examples:</a:t>
            </a:r>
          </a:p>
          <a:p>
            <a:pPr marL="1169988" lvl="1" indent="-363538"/>
            <a:r>
              <a:rPr lang="en-US" altLang="en-US" sz="2200" dirty="0">
                <a:ea typeface="ＭＳ Ｐゴシック" charset="-128"/>
              </a:rPr>
              <a:t>www.qatar.cmu.edu: start at the DNS Server</a:t>
            </a:r>
          </a:p>
          <a:p>
            <a:pPr marL="1169988" lvl="1" indent="-363538"/>
            <a:r>
              <a:rPr lang="en-US" altLang="en-US" sz="2200" dirty="0">
                <a:ea typeface="ＭＳ Ｐゴシック" charset="-128"/>
              </a:rPr>
              <a:t>/home/</a:t>
            </a:r>
            <a:r>
              <a:rPr lang="en-US" altLang="en-US" sz="2200" dirty="0" err="1">
                <a:ea typeface="ＭＳ Ｐゴシック" charset="-128"/>
              </a:rPr>
              <a:t>steen</a:t>
            </a:r>
            <a:r>
              <a:rPr lang="en-US" altLang="en-US" sz="2200" dirty="0">
                <a:ea typeface="ＭＳ Ｐゴシック" charset="-128"/>
              </a:rPr>
              <a:t>/</a:t>
            </a:r>
            <a:r>
              <a:rPr lang="en-US" altLang="en-US" sz="2200" dirty="0" err="1">
                <a:ea typeface="ＭＳ Ｐゴシック" charset="-128"/>
              </a:rPr>
              <a:t>mbox</a:t>
            </a:r>
            <a:r>
              <a:rPr lang="en-US" altLang="en-US" sz="2200" dirty="0">
                <a:ea typeface="ＭＳ Ｐゴシック" charset="-128"/>
              </a:rPr>
              <a:t>: start at the root of the file-system</a:t>
            </a:r>
          </a:p>
          <a:p>
            <a:pPr>
              <a:lnSpc>
                <a:spcPct val="100000"/>
              </a:lnSpc>
            </a:pPr>
            <a:endParaRPr lang="en-US" dirty="0"/>
          </a:p>
        </p:txBody>
      </p:sp>
    </p:spTree>
    <p:extLst>
      <p:ext uri="{BB962C8B-B14F-4D97-AF65-F5344CB8AC3E}">
        <p14:creationId xmlns:p14="http://schemas.microsoft.com/office/powerpoint/2010/main" val="775869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Name Server</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marL="265113" lvl="2" indent="-265113" fontAlgn="base">
              <a:buFont typeface="Wingdings 3" panose="05040102010807070707" pitchFamily="18" charset="2"/>
              <a:buChar char=""/>
            </a:pPr>
            <a:r>
              <a:rPr lang="en-US" altLang="en-US" sz="2400" dirty="0"/>
              <a:t>Name space are managed by </a:t>
            </a:r>
            <a:r>
              <a:rPr lang="en-US" altLang="en-US" sz="2400" dirty="0">
                <a:solidFill>
                  <a:srgbClr val="1D6199"/>
                </a:solidFill>
              </a:rPr>
              <a:t>name server</a:t>
            </a:r>
          </a:p>
          <a:p>
            <a:pPr marL="265113" lvl="2" indent="-265113" fontAlgn="base">
              <a:buFont typeface="Wingdings 3" panose="05040102010807070707" pitchFamily="18" charset="2"/>
              <a:buChar char=""/>
            </a:pPr>
            <a:r>
              <a:rPr lang="en-US" altLang="en-US" sz="2400" dirty="0">
                <a:ea typeface="ＭＳ Ｐゴシック" charset="-128"/>
              </a:rPr>
              <a:t>A name server is a process that maintains information about named objects and facilitates users to access that information</a:t>
            </a:r>
          </a:p>
          <a:p>
            <a:pPr marL="265113" lvl="2" indent="-265113" fontAlgn="base">
              <a:buFont typeface="Wingdings 3" panose="05040102010807070707" pitchFamily="18" charset="2"/>
              <a:buChar char=""/>
            </a:pPr>
            <a:r>
              <a:rPr lang="en-US" altLang="en-US" sz="2400" dirty="0">
                <a:ea typeface="ＭＳ Ｐゴシック" charset="-128"/>
              </a:rPr>
              <a:t>It acts to bind an object’s name to some of its properties (i.e. object’s location)</a:t>
            </a:r>
          </a:p>
          <a:p>
            <a:pPr marL="265113" lvl="2" indent="-265113" fontAlgn="base">
              <a:buFont typeface="Wingdings 3" panose="05040102010807070707" pitchFamily="18" charset="2"/>
              <a:buChar char=""/>
            </a:pPr>
            <a:r>
              <a:rPr lang="en-US" altLang="en-US" sz="2400" dirty="0">
                <a:ea typeface="ＭＳ Ｐゴシック" charset="-128"/>
              </a:rPr>
              <a:t>The name servers that store the information about an object are called </a:t>
            </a:r>
            <a:r>
              <a:rPr lang="en-US" altLang="en-US" sz="2400" dirty="0">
                <a:solidFill>
                  <a:srgbClr val="1D6199"/>
                </a:solidFill>
                <a:ea typeface="ＭＳ Ｐゴシック" charset="-128"/>
              </a:rPr>
              <a:t>authoritative name servers</a:t>
            </a:r>
          </a:p>
          <a:p>
            <a:pPr marL="265113" lvl="2" indent="-265113" fontAlgn="base">
              <a:buFont typeface="Wingdings 3" panose="05040102010807070707" pitchFamily="18" charset="2"/>
              <a:buChar char=""/>
            </a:pPr>
            <a:r>
              <a:rPr lang="en-US" altLang="en-US" sz="2400" dirty="0">
                <a:ea typeface="ＭＳ Ｐゴシック" charset="-128"/>
              </a:rPr>
              <a:t>To determine the authoritative name servers for every named object, the name service maintains </a:t>
            </a:r>
            <a:r>
              <a:rPr lang="en-US" altLang="en-US" sz="2400" dirty="0">
                <a:solidFill>
                  <a:srgbClr val="1D6199"/>
                </a:solidFill>
                <a:ea typeface="ＭＳ Ｐゴシック" charset="-128"/>
              </a:rPr>
              <a:t>authority attributes </a:t>
            </a:r>
            <a:endParaRPr lang="en-US" altLang="en-US" sz="2200" dirty="0">
              <a:solidFill>
                <a:srgbClr val="1D6199"/>
              </a:solidFill>
              <a:ea typeface="ＭＳ Ｐゴシック" charset="-128"/>
            </a:endParaRPr>
          </a:p>
          <a:p>
            <a:pPr>
              <a:lnSpc>
                <a:spcPct val="100000"/>
              </a:lnSpc>
            </a:pPr>
            <a:r>
              <a:rPr lang="en-US" altLang="en-US" dirty="0">
                <a:ea typeface="ＭＳ Ｐゴシック" charset="-128"/>
              </a:rPr>
              <a:t>authority attributes contain list of authoritative name servers for each object</a:t>
            </a:r>
            <a:endParaRPr lang="en-US" dirty="0"/>
          </a:p>
        </p:txBody>
      </p:sp>
    </p:spTree>
    <p:extLst>
      <p:ext uri="{BB962C8B-B14F-4D97-AF65-F5344CB8AC3E}">
        <p14:creationId xmlns:p14="http://schemas.microsoft.com/office/powerpoint/2010/main" val="2941391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Name Server</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marL="265113" lvl="2" indent="-265113" fontAlgn="base">
              <a:buFont typeface="Wingdings 3" panose="05040102010807070707" pitchFamily="18" charset="2"/>
              <a:buChar char=""/>
            </a:pPr>
            <a:r>
              <a:rPr lang="en-US" altLang="en-US" sz="2400" dirty="0"/>
              <a:t>Authoritative name servers of domain should know the locations of the authoritative name servers </a:t>
            </a:r>
            <a:r>
              <a:rPr lang="en-US" altLang="en-US" sz="2400" b="1" dirty="0">
                <a:solidFill>
                  <a:srgbClr val="1D6199"/>
                </a:solidFill>
              </a:rPr>
              <a:t>branched out </a:t>
            </a:r>
            <a:r>
              <a:rPr lang="en-US" altLang="en-US" sz="2400" dirty="0"/>
              <a:t>from that domain</a:t>
            </a:r>
          </a:p>
          <a:p>
            <a:pPr marL="265113" lvl="2" indent="-265113" fontAlgn="base">
              <a:buFont typeface="Wingdings 3" panose="05040102010807070707" pitchFamily="18" charset="2"/>
              <a:buChar char=""/>
            </a:pPr>
            <a:r>
              <a:rPr lang="en-US" altLang="en-US" sz="2400" dirty="0"/>
              <a:t>E.g. Authoritative name server of domain root need only know locations of authoritative name servers of domain D1, D2 and D3</a:t>
            </a:r>
          </a:p>
          <a:p>
            <a:pPr marL="265113" lvl="2" indent="-265113" fontAlgn="base">
              <a:buFont typeface="Wingdings 3" panose="05040102010807070707" pitchFamily="18" charset="2"/>
              <a:buChar char=""/>
            </a:pPr>
            <a:r>
              <a:rPr lang="en-US" altLang="en-US" sz="2400" dirty="0"/>
              <a:t>All name servers must know the location of authoritative name server of domain root</a:t>
            </a:r>
          </a:p>
          <a:p>
            <a:pPr marL="265113" lvl="2" indent="-265113" fontAlgn="base">
              <a:buFont typeface="Wingdings 3" panose="05040102010807070707" pitchFamily="18" charset="2"/>
              <a:buChar char=""/>
            </a:pPr>
            <a:endParaRPr lang="en-US" altLang="en-US" sz="2400" dirty="0"/>
          </a:p>
          <a:p>
            <a:pPr marL="265113" lvl="2" indent="-265113" fontAlgn="base">
              <a:buFont typeface="Wingdings 3" panose="05040102010807070707" pitchFamily="18" charset="2"/>
              <a:buChar char=""/>
            </a:pPr>
            <a:endParaRPr lang="en-US" altLang="en-US" sz="2400" dirty="0"/>
          </a:p>
        </p:txBody>
      </p:sp>
      <p:pic>
        <p:nvPicPr>
          <p:cNvPr id="7" name="Picture 6">
            <a:extLst>
              <a:ext uri="{FF2B5EF4-FFF2-40B4-BE49-F238E27FC236}">
                <a16:creationId xmlns:a16="http://schemas.microsoft.com/office/drawing/2014/main" id="{2C9135CF-4CB3-DE3D-BE0C-19F3696A8159}"/>
              </a:ext>
            </a:extLst>
          </p:cNvPr>
          <p:cNvPicPr>
            <a:picLocks noChangeAspect="1"/>
          </p:cNvPicPr>
          <p:nvPr/>
        </p:nvPicPr>
        <p:blipFill>
          <a:blip r:embed="rId2"/>
          <a:stretch>
            <a:fillRect/>
          </a:stretch>
        </p:blipFill>
        <p:spPr>
          <a:xfrm>
            <a:off x="1849626" y="3144178"/>
            <a:ext cx="7929584" cy="3391932"/>
          </a:xfrm>
          <a:prstGeom prst="rect">
            <a:avLst/>
          </a:prstGeom>
        </p:spPr>
      </p:pic>
    </p:spTree>
    <p:extLst>
      <p:ext uri="{BB962C8B-B14F-4D97-AF65-F5344CB8AC3E}">
        <p14:creationId xmlns:p14="http://schemas.microsoft.com/office/powerpoint/2010/main" val="27776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Name Agent</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marL="265113" lvl="2" indent="-265113" fontAlgn="base">
              <a:buFont typeface="Wingdings 3" panose="05040102010807070707" pitchFamily="18" charset="2"/>
              <a:buChar char=""/>
            </a:pPr>
            <a:r>
              <a:rPr lang="en-US" altLang="en-US" sz="2400" dirty="0"/>
              <a:t>The distribution of </a:t>
            </a:r>
            <a:r>
              <a:rPr lang="en-US" altLang="en-US" sz="2400" dirty="0">
                <a:solidFill>
                  <a:srgbClr val="1D6199"/>
                </a:solidFill>
              </a:rPr>
              <a:t>name service </a:t>
            </a:r>
            <a:r>
              <a:rPr lang="en-US" altLang="en-US" sz="2400" dirty="0"/>
              <a:t>and the </a:t>
            </a:r>
            <a:r>
              <a:rPr lang="en-US" altLang="en-US" sz="2400" dirty="0">
                <a:solidFill>
                  <a:srgbClr val="1D6199"/>
                </a:solidFill>
              </a:rPr>
              <a:t>location of name servers </a:t>
            </a:r>
            <a:r>
              <a:rPr lang="en-US" altLang="en-US" sz="2400" dirty="0"/>
              <a:t>should be transparent to the clients of name service</a:t>
            </a:r>
          </a:p>
          <a:p>
            <a:pPr marL="265113" lvl="2" indent="-265113" fontAlgn="base">
              <a:buFont typeface="Wingdings 3" panose="05040102010807070707" pitchFamily="18" charset="2"/>
              <a:buChar char=""/>
            </a:pPr>
            <a:r>
              <a:rPr lang="en-US" sz="2400" dirty="0"/>
              <a:t>This transparency is achieved through </a:t>
            </a:r>
            <a:r>
              <a:rPr lang="en-US" sz="2400" dirty="0">
                <a:solidFill>
                  <a:srgbClr val="1D6199"/>
                </a:solidFill>
              </a:rPr>
              <a:t>name agent</a:t>
            </a:r>
            <a:r>
              <a:rPr lang="en-US" sz="2400" dirty="0"/>
              <a:t> that act between name servers and their clients</a:t>
            </a:r>
          </a:p>
          <a:p>
            <a:pPr marL="265113" lvl="2" indent="-265113" fontAlgn="base">
              <a:buFont typeface="Wingdings 3" panose="05040102010807070707" pitchFamily="18" charset="2"/>
              <a:buChar char=""/>
            </a:pPr>
            <a:r>
              <a:rPr lang="en-US" sz="2400" dirty="0"/>
              <a:t>The name agent maintains a knowledge of existing name servers</a:t>
            </a:r>
          </a:p>
          <a:p>
            <a:pPr marL="265113" lvl="2" indent="-265113" fontAlgn="base">
              <a:buFont typeface="Wingdings 3" panose="05040102010807070707" pitchFamily="18" charset="2"/>
              <a:buChar char=""/>
            </a:pPr>
            <a:r>
              <a:rPr lang="en-US" sz="2400" dirty="0"/>
              <a:t>When client requests for name service, the name agents uses the proper communication protocol to transfer the user’s request to proper name server</a:t>
            </a:r>
          </a:p>
          <a:p>
            <a:pPr marL="265113" lvl="2" indent="-265113" fontAlgn="base">
              <a:buFont typeface="Wingdings 3" panose="05040102010807070707" pitchFamily="18" charset="2"/>
              <a:buChar char=""/>
            </a:pPr>
            <a:r>
              <a:rPr lang="en-US" sz="2400" dirty="0"/>
              <a:t>On receiving reply from server, it forwards it to the client</a:t>
            </a:r>
          </a:p>
          <a:p>
            <a:pPr marL="0" lvl="2" indent="0" fontAlgn="base">
              <a:buNone/>
            </a:pPr>
            <a:r>
              <a:rPr lang="en-US" sz="2400" dirty="0"/>
              <a:t> </a:t>
            </a:r>
            <a:endParaRPr lang="en-US" dirty="0"/>
          </a:p>
        </p:txBody>
      </p:sp>
    </p:spTree>
    <p:extLst>
      <p:ext uri="{BB962C8B-B14F-4D97-AF65-F5344CB8AC3E}">
        <p14:creationId xmlns:p14="http://schemas.microsoft.com/office/powerpoint/2010/main" val="722402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Name Agent</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marL="265113" lvl="2" indent="-265113" fontAlgn="base">
              <a:buFont typeface="Wingdings 3" panose="05040102010807070707" pitchFamily="18" charset="2"/>
              <a:buChar char=""/>
            </a:pPr>
            <a:r>
              <a:rPr lang="en-US" altLang="en-US" sz="2400" dirty="0"/>
              <a:t>Name agents may be of two types:</a:t>
            </a:r>
          </a:p>
          <a:p>
            <a:pPr marL="722313" lvl="3" indent="-265113" fontAlgn="base">
              <a:buFont typeface="Wingdings 3" panose="05040102010807070707" pitchFamily="18" charset="2"/>
              <a:buChar char=""/>
            </a:pPr>
            <a:r>
              <a:rPr lang="en-US" sz="2200" dirty="0">
                <a:solidFill>
                  <a:srgbClr val="1D6199"/>
                </a:solidFill>
              </a:rPr>
              <a:t>Private-</a:t>
            </a:r>
            <a:r>
              <a:rPr lang="en-US" sz="2200" dirty="0"/>
              <a:t> which work for single client, structured as a set of subroutines that are linked to the client program</a:t>
            </a:r>
          </a:p>
          <a:p>
            <a:pPr marL="722313" lvl="3" indent="-265113" fontAlgn="base">
              <a:buFont typeface="Wingdings 3" panose="05040102010807070707" pitchFamily="18" charset="2"/>
              <a:buChar char=""/>
            </a:pPr>
            <a:r>
              <a:rPr lang="en-US" sz="2200" dirty="0">
                <a:solidFill>
                  <a:srgbClr val="1D6199"/>
                </a:solidFill>
              </a:rPr>
              <a:t>Share-</a:t>
            </a:r>
            <a:r>
              <a:rPr lang="en-US" sz="2200" dirty="0"/>
              <a:t> which work for several clients, structured as a part of an operating system kernel, with system calls to invoke name service operations or as a separate process</a:t>
            </a:r>
          </a:p>
          <a:p>
            <a:pPr marL="265113" lvl="2" indent="-265113" fontAlgn="base">
              <a:buFont typeface="Wingdings 3" panose="05040102010807070707" pitchFamily="18" charset="2"/>
              <a:buChar char=""/>
            </a:pPr>
            <a:r>
              <a:rPr lang="en-US" sz="2400" dirty="0"/>
              <a:t>Name agents are known by various names</a:t>
            </a:r>
          </a:p>
          <a:p>
            <a:pPr marL="722313" lvl="3" indent="-265113" fontAlgn="base">
              <a:buFont typeface="Wingdings 3" panose="05040102010807070707" pitchFamily="18" charset="2"/>
              <a:buChar char=""/>
            </a:pPr>
            <a:r>
              <a:rPr lang="en-US" sz="2200" dirty="0" err="1"/>
              <a:t>E.g</a:t>
            </a:r>
            <a:r>
              <a:rPr lang="en-US" sz="2200" dirty="0"/>
              <a:t> in DARPA, Internet Domain Name service (DNS) the are called “resolvers”</a:t>
            </a:r>
          </a:p>
          <a:p>
            <a:pPr marL="722313" lvl="3" indent="-265113" fontAlgn="base">
              <a:buFont typeface="Wingdings 3" panose="05040102010807070707" pitchFamily="18" charset="2"/>
              <a:buChar char=""/>
            </a:pPr>
            <a:r>
              <a:rPr lang="en-US" sz="2200" dirty="0"/>
              <a:t>In DCE Directory Service they are called “clerks”</a:t>
            </a:r>
          </a:p>
          <a:p>
            <a:pPr marL="0" lvl="2" indent="0" fontAlgn="base">
              <a:buNone/>
            </a:pPr>
            <a:r>
              <a:rPr lang="en-US" sz="2400" dirty="0"/>
              <a:t> </a:t>
            </a:r>
            <a:endParaRPr lang="en-US" dirty="0"/>
          </a:p>
        </p:txBody>
      </p:sp>
    </p:spTree>
    <p:extLst>
      <p:ext uri="{BB962C8B-B14F-4D97-AF65-F5344CB8AC3E}">
        <p14:creationId xmlns:p14="http://schemas.microsoft.com/office/powerpoint/2010/main" val="3061594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Context</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marL="265113" lvl="2" indent="-265113" fontAlgn="base">
              <a:buFont typeface="Wingdings 3" panose="05040102010807070707" pitchFamily="18" charset="2"/>
              <a:buChar char=""/>
            </a:pPr>
            <a:r>
              <a:rPr lang="en-US" altLang="en-US" sz="2400" dirty="0">
                <a:solidFill>
                  <a:srgbClr val="1D6199"/>
                </a:solidFill>
              </a:rPr>
              <a:t>Names</a:t>
            </a:r>
            <a:r>
              <a:rPr lang="en-US" altLang="en-US" sz="2400" dirty="0"/>
              <a:t> are always associated with </a:t>
            </a:r>
            <a:r>
              <a:rPr lang="en-US" altLang="en-US" sz="2400" dirty="0">
                <a:solidFill>
                  <a:srgbClr val="1D6199"/>
                </a:solidFill>
              </a:rPr>
              <a:t>some context </a:t>
            </a:r>
          </a:p>
          <a:p>
            <a:pPr marL="265113" lvl="2" indent="-265113" fontAlgn="base">
              <a:buFont typeface="Wingdings 3" panose="05040102010807070707" pitchFamily="18" charset="2"/>
              <a:buChar char=""/>
            </a:pPr>
            <a:r>
              <a:rPr lang="en-US" sz="2400" dirty="0"/>
              <a:t>Context can be thought of as environment in which a name is valid</a:t>
            </a:r>
          </a:p>
          <a:p>
            <a:pPr marL="265113" lvl="2" indent="-265113" fontAlgn="base">
              <a:buFont typeface="Wingdings 3" panose="05040102010807070707" pitchFamily="18" charset="2"/>
              <a:buChar char=""/>
            </a:pPr>
            <a:r>
              <a:rPr lang="en-US" sz="2400" dirty="0"/>
              <a:t>Context or name pair is said to form a </a:t>
            </a:r>
            <a:r>
              <a:rPr lang="en-US" sz="2400" dirty="0">
                <a:solidFill>
                  <a:srgbClr val="1D6199"/>
                </a:solidFill>
              </a:rPr>
              <a:t>qualified name</a:t>
            </a:r>
          </a:p>
          <a:p>
            <a:pPr marL="265113" lvl="2" indent="-265113" fontAlgn="base">
              <a:buFont typeface="Wingdings 3" panose="05040102010807070707" pitchFamily="18" charset="2"/>
              <a:buChar char=""/>
            </a:pPr>
            <a:r>
              <a:rPr lang="en-US" sz="2400" dirty="0"/>
              <a:t>Qualified name can be used for uniquely identifying an object</a:t>
            </a:r>
          </a:p>
          <a:p>
            <a:pPr marL="265113" lvl="2" indent="-265113" fontAlgn="base">
              <a:buFont typeface="Wingdings 3" panose="05040102010807070707" pitchFamily="18" charset="2"/>
              <a:buChar char=""/>
            </a:pPr>
            <a:r>
              <a:rPr lang="en-US" sz="2400" dirty="0"/>
              <a:t>Contexts are useful </a:t>
            </a:r>
            <a:r>
              <a:rPr lang="en-US" sz="2400" dirty="0">
                <a:solidFill>
                  <a:srgbClr val="1D6199"/>
                </a:solidFill>
              </a:rPr>
              <a:t>to partition a name space </a:t>
            </a:r>
            <a:r>
              <a:rPr lang="en-US" sz="2400" dirty="0"/>
              <a:t>into smaller components</a:t>
            </a:r>
          </a:p>
          <a:p>
            <a:pPr marL="265113" lvl="2" indent="-265113" fontAlgn="base">
              <a:buFont typeface="Wingdings 3" panose="05040102010807070707" pitchFamily="18" charset="2"/>
              <a:buChar char=""/>
            </a:pPr>
            <a:r>
              <a:rPr lang="en-US" sz="2400" dirty="0"/>
              <a:t>Context represent a division of the name space along</a:t>
            </a:r>
          </a:p>
          <a:p>
            <a:pPr marL="265113" lvl="2" indent="-265113" fontAlgn="base">
              <a:buFont typeface="Wingdings 3" panose="05040102010807070707" pitchFamily="18" charset="2"/>
              <a:buChar char=""/>
            </a:pPr>
            <a:r>
              <a:rPr lang="en-US" sz="2400" dirty="0"/>
              <a:t>A name may occur in more than one context</a:t>
            </a:r>
          </a:p>
          <a:p>
            <a:pPr marL="265113" lvl="2" indent="-265113" fontAlgn="base">
              <a:buFont typeface="Wingdings 3" panose="05040102010807070707" pitchFamily="18" charset="2"/>
              <a:buChar char=""/>
            </a:pPr>
            <a:r>
              <a:rPr lang="en-US" sz="2400" dirty="0"/>
              <a:t>Context may also be nested as in case of hierarchical name space</a:t>
            </a:r>
          </a:p>
          <a:p>
            <a:pPr marL="265113" lvl="2" indent="-265113" fontAlgn="base">
              <a:buFont typeface="Wingdings 3" panose="05040102010807070707" pitchFamily="18" charset="2"/>
              <a:buChar char=""/>
            </a:pPr>
            <a:endParaRPr lang="en-US" sz="2400" dirty="0"/>
          </a:p>
        </p:txBody>
      </p:sp>
    </p:spTree>
    <p:extLst>
      <p:ext uri="{BB962C8B-B14F-4D97-AF65-F5344CB8AC3E}">
        <p14:creationId xmlns:p14="http://schemas.microsoft.com/office/powerpoint/2010/main" val="3716723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Context</a:t>
            </a:r>
          </a:p>
        </p:txBody>
      </p:sp>
      <p:pic>
        <p:nvPicPr>
          <p:cNvPr id="7" name="Picture 6">
            <a:extLst>
              <a:ext uri="{FF2B5EF4-FFF2-40B4-BE49-F238E27FC236}">
                <a16:creationId xmlns:a16="http://schemas.microsoft.com/office/drawing/2014/main" id="{DF8D204B-BCAD-38E4-47DD-D9D26C228C59}"/>
              </a:ext>
            </a:extLst>
          </p:cNvPr>
          <p:cNvPicPr>
            <a:picLocks noChangeAspect="1"/>
          </p:cNvPicPr>
          <p:nvPr/>
        </p:nvPicPr>
        <p:blipFill>
          <a:blip r:embed="rId2"/>
          <a:stretch>
            <a:fillRect/>
          </a:stretch>
        </p:blipFill>
        <p:spPr>
          <a:xfrm>
            <a:off x="354554" y="863444"/>
            <a:ext cx="11056507" cy="4626628"/>
          </a:xfrm>
          <a:prstGeom prst="rect">
            <a:avLst/>
          </a:prstGeom>
        </p:spPr>
      </p:pic>
    </p:spTree>
    <p:extLst>
      <p:ext uri="{BB962C8B-B14F-4D97-AF65-F5344CB8AC3E}">
        <p14:creationId xmlns:p14="http://schemas.microsoft.com/office/powerpoint/2010/main" val="2165757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Abbreviation/Alias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marL="265113" lvl="2" indent="-265113" fontAlgn="base">
              <a:buFont typeface="Wingdings 3" panose="05040102010807070707" pitchFamily="18" charset="2"/>
              <a:buChar char=""/>
            </a:pPr>
            <a:r>
              <a:rPr lang="en-US" altLang="en-US" sz="2400" dirty="0"/>
              <a:t>A qualified name, which is normally a compound name may consist of </a:t>
            </a:r>
            <a:r>
              <a:rPr lang="en-US" altLang="en-US" sz="2400" dirty="0">
                <a:solidFill>
                  <a:srgbClr val="1D6199"/>
                </a:solidFill>
              </a:rPr>
              <a:t>several simple name </a:t>
            </a:r>
            <a:r>
              <a:rPr lang="en-US" altLang="en-US" sz="2400" dirty="0"/>
              <a:t>and may be very long</a:t>
            </a:r>
          </a:p>
          <a:p>
            <a:pPr marL="265113" lvl="2" indent="-265113" fontAlgn="base">
              <a:buFont typeface="Wingdings 3" panose="05040102010807070707" pitchFamily="18" charset="2"/>
              <a:buChar char=""/>
            </a:pPr>
            <a:r>
              <a:rPr lang="en-US" sz="2400" dirty="0"/>
              <a:t>It may be inconvenient for user to specify qualified name every time</a:t>
            </a:r>
          </a:p>
          <a:p>
            <a:pPr marL="265113" lvl="2" indent="-265113" fontAlgn="base">
              <a:buFont typeface="Wingdings 3" panose="05040102010807070707" pitchFamily="18" charset="2"/>
              <a:buChar char=""/>
            </a:pPr>
            <a:r>
              <a:rPr lang="en-US" sz="2400" dirty="0"/>
              <a:t>So users are allowed to specify and use their own short form substitutes for qualified names are </a:t>
            </a:r>
            <a:r>
              <a:rPr lang="en-US" sz="2400" b="1" dirty="0">
                <a:solidFill>
                  <a:srgbClr val="1D6199"/>
                </a:solidFill>
              </a:rPr>
              <a:t>called abbreviation</a:t>
            </a:r>
          </a:p>
          <a:p>
            <a:pPr marL="265113" lvl="2" indent="-265113" fontAlgn="base">
              <a:buFont typeface="Wingdings 3" panose="05040102010807070707" pitchFamily="18" charset="2"/>
              <a:buChar char=""/>
            </a:pPr>
            <a:r>
              <a:rPr lang="en-US" sz="2400" dirty="0"/>
              <a:t>All abbreviation defined by a user form a </a:t>
            </a:r>
            <a:r>
              <a:rPr lang="en-US" sz="2400" dirty="0">
                <a:solidFill>
                  <a:srgbClr val="1D6199"/>
                </a:solidFill>
              </a:rPr>
              <a:t>private context </a:t>
            </a:r>
            <a:r>
              <a:rPr lang="en-US" sz="2400" dirty="0"/>
              <a:t>of that user</a:t>
            </a:r>
          </a:p>
          <a:p>
            <a:pPr marL="265113" lvl="2" indent="-265113" fontAlgn="base">
              <a:buFont typeface="Wingdings 3" panose="05040102010807070707" pitchFamily="18" charset="2"/>
              <a:buChar char=""/>
            </a:pPr>
            <a:r>
              <a:rPr lang="en-US" sz="2400" dirty="0"/>
              <a:t>A mapping of abbreviation to qualified names is maintained on a per private context basis</a:t>
            </a:r>
          </a:p>
          <a:p>
            <a:pPr marL="265113" lvl="2" indent="-265113" fontAlgn="base">
              <a:buFont typeface="Wingdings 3" panose="05040102010807070707" pitchFamily="18" charset="2"/>
              <a:buChar char=""/>
            </a:pPr>
            <a:r>
              <a:rPr lang="en-US" sz="2400" dirty="0"/>
              <a:t>Different users may use the same abbreviation to identify different objects</a:t>
            </a:r>
          </a:p>
          <a:p>
            <a:pPr marL="265113" lvl="2" indent="-265113" fontAlgn="base">
              <a:buFont typeface="Wingdings 3" panose="05040102010807070707" pitchFamily="18" charset="2"/>
              <a:buChar char=""/>
            </a:pPr>
            <a:r>
              <a:rPr lang="en-US" sz="2400" dirty="0"/>
              <a:t>For example, two users, user-1 and user-2 may use the same abbreviation </a:t>
            </a:r>
            <a:r>
              <a:rPr lang="en-US" sz="2400" i="1" dirty="0">
                <a:solidFill>
                  <a:srgbClr val="1D6199"/>
                </a:solidFill>
              </a:rPr>
              <a:t>my-object-1</a:t>
            </a:r>
            <a:r>
              <a:rPr lang="en-US" sz="2400" dirty="0"/>
              <a:t> to identify their object with qualified name </a:t>
            </a:r>
            <a:r>
              <a:rPr lang="en-US" sz="2400" i="1" dirty="0">
                <a:solidFill>
                  <a:srgbClr val="1D6199"/>
                </a:solidFill>
              </a:rPr>
              <a:t>/user-1/project-1/group-1/object-1</a:t>
            </a:r>
            <a:r>
              <a:rPr lang="en-US" sz="2400" dirty="0"/>
              <a:t> and </a:t>
            </a:r>
            <a:r>
              <a:rPr lang="en-US" sz="2400" i="1" dirty="0">
                <a:solidFill>
                  <a:srgbClr val="1D6199"/>
                </a:solidFill>
              </a:rPr>
              <a:t>/user-2/project-5/group-3/object-1</a:t>
            </a:r>
            <a:endParaRPr lang="en-US" sz="2400" dirty="0"/>
          </a:p>
          <a:p>
            <a:pPr marL="265113" lvl="2" indent="-265113" fontAlgn="base">
              <a:buFont typeface="Wingdings 3" panose="05040102010807070707" pitchFamily="18" charset="2"/>
              <a:buChar char=""/>
            </a:pPr>
            <a:endParaRPr lang="en-US" sz="2400" dirty="0"/>
          </a:p>
        </p:txBody>
      </p:sp>
    </p:spTree>
    <p:extLst>
      <p:ext uri="{BB962C8B-B14F-4D97-AF65-F5344CB8AC3E}">
        <p14:creationId xmlns:p14="http://schemas.microsoft.com/office/powerpoint/2010/main" val="2843006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Abbreviation/Alias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marL="265113" lvl="2" indent="-265113" fontAlgn="base">
              <a:buFont typeface="Wingdings 3" panose="05040102010807070707" pitchFamily="18" charset="2"/>
              <a:buChar char=""/>
            </a:pPr>
            <a:r>
              <a:rPr lang="en-US" altLang="en-US" sz="2400" dirty="0"/>
              <a:t>User may wish to identify an object by one of two or more simple names</a:t>
            </a:r>
          </a:p>
          <a:p>
            <a:pPr marL="265113" lvl="2" indent="-265113" fontAlgn="base">
              <a:buFont typeface="Wingdings 3" panose="05040102010807070707" pitchFamily="18" charset="2"/>
              <a:buChar char=""/>
            </a:pPr>
            <a:r>
              <a:rPr lang="en-US" sz="2400" dirty="0"/>
              <a:t>A naming system may provide this flexibility to its users by allowing </a:t>
            </a:r>
            <a:r>
              <a:rPr lang="en-US" sz="2400" dirty="0">
                <a:solidFill>
                  <a:srgbClr val="1D6199"/>
                </a:solidFill>
              </a:rPr>
              <a:t>many-to-one bindings </a:t>
            </a:r>
            <a:r>
              <a:rPr lang="en-US" sz="2400" dirty="0"/>
              <a:t>within a context</a:t>
            </a:r>
          </a:p>
          <a:p>
            <a:pPr marL="265113" lvl="2" indent="-265113" fontAlgn="base">
              <a:buFont typeface="Wingdings 3" panose="05040102010807070707" pitchFamily="18" charset="2"/>
              <a:buChar char=""/>
            </a:pPr>
            <a:r>
              <a:rPr lang="en-US" sz="2400" dirty="0"/>
              <a:t>So more than one simple name may be bound to the same qualified name within context</a:t>
            </a:r>
          </a:p>
          <a:p>
            <a:pPr marL="265113" lvl="2" indent="-265113" fontAlgn="base">
              <a:buFont typeface="Wingdings 3" panose="05040102010807070707" pitchFamily="18" charset="2"/>
              <a:buChar char=""/>
            </a:pPr>
            <a:r>
              <a:rPr lang="en-US" sz="2400" dirty="0"/>
              <a:t>The simple names bound to the same qualified name are called synonyms or nicknames</a:t>
            </a:r>
          </a:p>
          <a:p>
            <a:pPr marL="265113" lvl="2" indent="-265113" fontAlgn="base">
              <a:buFont typeface="Wingdings 3" panose="05040102010807070707" pitchFamily="18" charset="2"/>
              <a:buChar char=""/>
            </a:pPr>
            <a:endParaRPr lang="en-US" sz="2400" dirty="0"/>
          </a:p>
        </p:txBody>
      </p:sp>
    </p:spTree>
    <p:extLst>
      <p:ext uri="{BB962C8B-B14F-4D97-AF65-F5344CB8AC3E}">
        <p14:creationId xmlns:p14="http://schemas.microsoft.com/office/powerpoint/2010/main" val="1459101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Absolute and Relative names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marL="265113" lvl="2" indent="-265113" fontAlgn="base">
              <a:buFont typeface="Wingdings 3" panose="05040102010807070707" pitchFamily="18" charset="2"/>
              <a:buChar char=""/>
            </a:pPr>
            <a:r>
              <a:rPr lang="en-US" sz="2400" dirty="0"/>
              <a:t>A </a:t>
            </a:r>
            <a:r>
              <a:rPr lang="en-US" sz="2400" dirty="0">
                <a:solidFill>
                  <a:srgbClr val="1D6199"/>
                </a:solidFill>
              </a:rPr>
              <a:t>current working context</a:t>
            </a:r>
            <a:r>
              <a:rPr lang="en-US" sz="2400" dirty="0"/>
              <a:t> is also known by shorter names current context or working context</a:t>
            </a:r>
          </a:p>
          <a:p>
            <a:pPr marL="265113" lvl="2" indent="-265113" fontAlgn="base">
              <a:buFont typeface="Wingdings 3" panose="05040102010807070707" pitchFamily="18" charset="2"/>
              <a:buChar char=""/>
            </a:pPr>
            <a:r>
              <a:rPr lang="en-US" sz="2400" dirty="0"/>
              <a:t>A user always associated with a context that is his or her current context</a:t>
            </a:r>
          </a:p>
          <a:p>
            <a:pPr marL="265113" lvl="2" indent="-265113" fontAlgn="base">
              <a:buFont typeface="Wingdings 3" panose="05040102010807070707" pitchFamily="18" charset="2"/>
              <a:buChar char=""/>
            </a:pPr>
            <a:r>
              <a:rPr lang="en-US" sz="2400" dirty="0"/>
              <a:t>A user can change his or her current context whenever he or she desires</a:t>
            </a:r>
          </a:p>
          <a:p>
            <a:pPr marL="265113" lvl="2" indent="-265113" fontAlgn="base">
              <a:buFont typeface="Wingdings 3" panose="05040102010807070707" pitchFamily="18" charset="2"/>
              <a:buChar char=""/>
            </a:pPr>
            <a:r>
              <a:rPr lang="en-US" sz="2400" dirty="0"/>
              <a:t>In this method, </a:t>
            </a:r>
            <a:r>
              <a:rPr lang="en-US" sz="2400" dirty="0">
                <a:solidFill>
                  <a:srgbClr val="1D6199"/>
                </a:solidFill>
              </a:rPr>
              <a:t>object names can be of two types- absolute or relative</a:t>
            </a:r>
          </a:p>
          <a:p>
            <a:pPr marL="265113" lvl="2" indent="-265113" fontAlgn="base">
              <a:buFont typeface="Wingdings 3" panose="05040102010807070707" pitchFamily="18" charset="2"/>
              <a:buChar char=""/>
            </a:pPr>
            <a:r>
              <a:rPr lang="en-US" sz="2400" dirty="0"/>
              <a:t>An </a:t>
            </a:r>
            <a:r>
              <a:rPr lang="en-US" sz="2400" dirty="0">
                <a:solidFill>
                  <a:srgbClr val="1D6199"/>
                </a:solidFill>
              </a:rPr>
              <a:t>absolute name </a:t>
            </a:r>
            <a:r>
              <a:rPr lang="en-US" sz="2400" dirty="0"/>
              <a:t>begins at the root context of the name space tree and follows a path down to the specified object, giving the context names on the path</a:t>
            </a:r>
          </a:p>
          <a:p>
            <a:pPr marL="265113" lvl="2" indent="-265113" fontAlgn="base">
              <a:buFont typeface="Wingdings 3" panose="05040102010807070707" pitchFamily="18" charset="2"/>
              <a:buChar char=""/>
            </a:pPr>
            <a:r>
              <a:rPr lang="en-US" sz="2400" dirty="0"/>
              <a:t>A </a:t>
            </a:r>
            <a:r>
              <a:rPr lang="en-US" sz="2400" dirty="0">
                <a:solidFill>
                  <a:srgbClr val="1D6199"/>
                </a:solidFill>
              </a:rPr>
              <a:t>relative name </a:t>
            </a:r>
            <a:r>
              <a:rPr lang="en-US" sz="2400" dirty="0"/>
              <a:t>defines a path from the current context to the specified object</a:t>
            </a:r>
          </a:p>
          <a:p>
            <a:pPr marL="265113" lvl="2" indent="-265113" fontAlgn="base">
              <a:buFont typeface="Wingdings 3" panose="05040102010807070707" pitchFamily="18" charset="2"/>
              <a:buChar char=""/>
            </a:pPr>
            <a:endParaRPr lang="en-US" sz="2400" dirty="0"/>
          </a:p>
          <a:p>
            <a:pPr marL="265113" lvl="2" indent="-265113" fontAlgn="base">
              <a:buFont typeface="Wingdings 3" panose="05040102010807070707" pitchFamily="18" charset="2"/>
              <a:buChar char=""/>
            </a:pPr>
            <a:endParaRPr lang="en-US" sz="2400" dirty="0"/>
          </a:p>
        </p:txBody>
      </p:sp>
    </p:spTree>
    <p:extLst>
      <p:ext uri="{BB962C8B-B14F-4D97-AF65-F5344CB8AC3E}">
        <p14:creationId xmlns:p14="http://schemas.microsoft.com/office/powerpoint/2010/main" val="111662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Absolute and Relative names</a:t>
            </a:r>
          </a:p>
        </p:txBody>
      </p:sp>
      <p:pic>
        <p:nvPicPr>
          <p:cNvPr id="7" name="Picture 6">
            <a:extLst>
              <a:ext uri="{FF2B5EF4-FFF2-40B4-BE49-F238E27FC236}">
                <a16:creationId xmlns:a16="http://schemas.microsoft.com/office/drawing/2014/main" id="{DF8D204B-BCAD-38E4-47DD-D9D26C228C59}"/>
              </a:ext>
            </a:extLst>
          </p:cNvPr>
          <p:cNvPicPr>
            <a:picLocks noChangeAspect="1"/>
          </p:cNvPicPr>
          <p:nvPr/>
        </p:nvPicPr>
        <p:blipFill>
          <a:blip r:embed="rId2"/>
          <a:stretch>
            <a:fillRect/>
          </a:stretch>
        </p:blipFill>
        <p:spPr>
          <a:xfrm>
            <a:off x="354554" y="863444"/>
            <a:ext cx="11056507" cy="4626628"/>
          </a:xfrm>
          <a:prstGeom prst="rect">
            <a:avLst/>
          </a:prstGeom>
        </p:spPr>
      </p:pic>
    </p:spTree>
    <p:extLst>
      <p:ext uri="{BB962C8B-B14F-4D97-AF65-F5344CB8AC3E}">
        <p14:creationId xmlns:p14="http://schemas.microsoft.com/office/powerpoint/2010/main" val="394214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Generic and multicast names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marL="265113" lvl="2" indent="-265113" fontAlgn="base">
              <a:buFont typeface="Wingdings 3" panose="05040102010807070707" pitchFamily="18" charset="2"/>
              <a:buChar char=""/>
            </a:pPr>
            <a:r>
              <a:rPr lang="en-US" sz="2400" dirty="0"/>
              <a:t>The use of generic and multicast names requires the naming system to </a:t>
            </a:r>
            <a:r>
              <a:rPr lang="en-US" sz="2400" dirty="0">
                <a:solidFill>
                  <a:srgbClr val="1D6199"/>
                </a:solidFill>
              </a:rPr>
              <a:t>support one-to-many bindings</a:t>
            </a:r>
          </a:p>
          <a:p>
            <a:pPr marL="265113" lvl="2" indent="-265113" fontAlgn="base">
              <a:buFont typeface="Wingdings 3" panose="05040102010807070707" pitchFamily="18" charset="2"/>
              <a:buChar char=""/>
            </a:pPr>
            <a:r>
              <a:rPr lang="en-US" sz="2400" dirty="0"/>
              <a:t>The naming system must allow a simple name to be bound to a set of qualified names</a:t>
            </a:r>
          </a:p>
          <a:p>
            <a:pPr marL="265113" lvl="2" indent="-265113" fontAlgn="base">
              <a:buFont typeface="Wingdings 3" panose="05040102010807070707" pitchFamily="18" charset="2"/>
              <a:buChar char=""/>
            </a:pPr>
            <a:r>
              <a:rPr lang="en-US" sz="2400" dirty="0"/>
              <a:t>A </a:t>
            </a:r>
            <a:r>
              <a:rPr lang="en-US" sz="2400" dirty="0">
                <a:solidFill>
                  <a:srgbClr val="1D6199"/>
                </a:solidFill>
              </a:rPr>
              <a:t>generic name </a:t>
            </a:r>
            <a:r>
              <a:rPr lang="en-US" sz="2400" dirty="0"/>
              <a:t>is mapped to any one of the set of objects which it is bound</a:t>
            </a:r>
          </a:p>
          <a:p>
            <a:pPr marL="265113" lvl="2" indent="-265113" fontAlgn="base">
              <a:buFont typeface="Wingdings 3" panose="05040102010807070707" pitchFamily="18" charset="2"/>
              <a:buChar char=""/>
            </a:pPr>
            <a:r>
              <a:rPr lang="en-US" sz="2400" dirty="0"/>
              <a:t>When user wants to request to be serviced by any of the servers capable of servicing that request and the user is not concerned with which server services his or her request</a:t>
            </a:r>
          </a:p>
          <a:p>
            <a:pPr marL="265113" lvl="2" indent="-265113" fontAlgn="base">
              <a:buFont typeface="Wingdings 3" panose="05040102010807070707" pitchFamily="18" charset="2"/>
              <a:buChar char=""/>
            </a:pPr>
            <a:endParaRPr lang="en-US" sz="2400" dirty="0"/>
          </a:p>
          <a:p>
            <a:pPr marL="265113" lvl="2" indent="-265113" fontAlgn="base">
              <a:buFont typeface="Wingdings 3" panose="05040102010807070707" pitchFamily="18" charset="2"/>
              <a:buChar char=""/>
            </a:pPr>
            <a:endParaRPr lang="en-US" sz="2400" dirty="0"/>
          </a:p>
          <a:p>
            <a:pPr marL="265113" lvl="2" indent="-265113" fontAlgn="base">
              <a:buFont typeface="Wingdings 3" panose="05040102010807070707" pitchFamily="18" charset="2"/>
              <a:buChar char=""/>
            </a:pPr>
            <a:endParaRPr lang="en-US" sz="2400" dirty="0"/>
          </a:p>
        </p:txBody>
      </p:sp>
    </p:spTree>
    <p:extLst>
      <p:ext uri="{BB962C8B-B14F-4D97-AF65-F5344CB8AC3E}">
        <p14:creationId xmlns:p14="http://schemas.microsoft.com/office/powerpoint/2010/main" val="4218643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Descriptive/Attribute based name</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marL="265113" lvl="2" indent="-265113" fontAlgn="base">
              <a:buFont typeface="Wingdings 3" panose="05040102010807070707" pitchFamily="18" charset="2"/>
              <a:buChar char=""/>
            </a:pPr>
            <a:r>
              <a:rPr lang="en-US" sz="2400" dirty="0"/>
              <a:t>Descriptive/ Attribute based names allow an object to be identified by set of attributed or properties that describe the object </a:t>
            </a:r>
          </a:p>
          <a:p>
            <a:pPr marL="265113" lvl="2" indent="-265113" fontAlgn="base">
              <a:buFont typeface="Wingdings 3" panose="05040102010807070707" pitchFamily="18" charset="2"/>
              <a:buChar char=""/>
            </a:pPr>
            <a:r>
              <a:rPr lang="en-US" sz="2400" dirty="0"/>
              <a:t>It also allow uniquely to identify it among the group of objects in the name space</a:t>
            </a:r>
          </a:p>
          <a:p>
            <a:pPr marL="265113" lvl="2" indent="-265113" fontAlgn="base">
              <a:buFont typeface="Wingdings 3" panose="05040102010807070707" pitchFamily="18" charset="2"/>
              <a:buChar char=""/>
            </a:pPr>
            <a:endParaRPr lang="en-US" sz="2400" dirty="0"/>
          </a:p>
        </p:txBody>
      </p:sp>
    </p:spTree>
    <p:extLst>
      <p:ext uri="{BB962C8B-B14F-4D97-AF65-F5344CB8AC3E}">
        <p14:creationId xmlns:p14="http://schemas.microsoft.com/office/powerpoint/2010/main" val="1825896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3DC79-8B12-49B2-D869-87FFD698F001}"/>
              </a:ext>
            </a:extLst>
          </p:cNvPr>
          <p:cNvSpPr>
            <a:spLocks noGrp="1"/>
          </p:cNvSpPr>
          <p:nvPr>
            <p:ph type="title"/>
          </p:nvPr>
        </p:nvSpPr>
        <p:spPr/>
        <p:txBody>
          <a:bodyPr>
            <a:normAutofit/>
          </a:bodyPr>
          <a:lstStyle/>
          <a:p>
            <a:pPr>
              <a:spcBef>
                <a:spcPts val="1000"/>
              </a:spcBef>
              <a:buClr>
                <a:srgbClr val="1D6199"/>
              </a:buClr>
              <a:defRPr/>
            </a:pPr>
            <a:r>
              <a:rPr lang="en-IN" sz="6000" dirty="0"/>
              <a:t>System Oriented </a:t>
            </a:r>
            <a:r>
              <a:rPr lang="en-IN" dirty="0"/>
              <a:t>N</a:t>
            </a:r>
            <a:r>
              <a:rPr lang="en-IN" sz="6000" dirty="0"/>
              <a:t>ames</a:t>
            </a:r>
          </a:p>
        </p:txBody>
      </p:sp>
      <p:sp>
        <p:nvSpPr>
          <p:cNvPr id="3" name="Text Placeholder 2">
            <a:extLst>
              <a:ext uri="{FF2B5EF4-FFF2-40B4-BE49-F238E27FC236}">
                <a16:creationId xmlns:a16="http://schemas.microsoft.com/office/drawing/2014/main" id="{7336A222-FE8E-8548-6B81-0F4C891F3E0A}"/>
              </a:ext>
            </a:extLst>
          </p:cNvPr>
          <p:cNvSpPr>
            <a:spLocks noGrp="1"/>
          </p:cNvSpPr>
          <p:nvPr>
            <p:ph type="body" idx="1"/>
          </p:nvPr>
        </p:nvSpPr>
        <p:spPr/>
        <p:txBody>
          <a:bodyPr/>
          <a:lstStyle/>
          <a:p>
            <a:r>
              <a:rPr lang="en-US" dirty="0"/>
              <a:t>Section – 11</a:t>
            </a:r>
            <a:endParaRPr lang="en-IN" dirty="0"/>
          </a:p>
        </p:txBody>
      </p:sp>
    </p:spTree>
    <p:extLst>
      <p:ext uri="{BB962C8B-B14F-4D97-AF65-F5344CB8AC3E}">
        <p14:creationId xmlns:p14="http://schemas.microsoft.com/office/powerpoint/2010/main" val="405175680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IN" sz="3600" dirty="0"/>
              <a:t>System Oriented </a:t>
            </a:r>
            <a:r>
              <a:rPr lang="en-IN" dirty="0"/>
              <a:t>N</a:t>
            </a:r>
            <a:r>
              <a:rPr lang="en-IN" sz="3600" dirty="0"/>
              <a:t>ames</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marL="265113" lvl="2" indent="-265113" fontAlgn="base">
              <a:buFont typeface="Wingdings 3" panose="05040102010807070707" pitchFamily="18" charset="2"/>
              <a:buChar char=""/>
            </a:pPr>
            <a:r>
              <a:rPr lang="en-US" sz="2400" dirty="0"/>
              <a:t>System-oriented names are used primarily by the </a:t>
            </a:r>
            <a:r>
              <a:rPr lang="en-US" sz="2400" b="1" dirty="0">
                <a:solidFill>
                  <a:srgbClr val="1D6199"/>
                </a:solidFill>
              </a:rPr>
              <a:t>system itself </a:t>
            </a:r>
            <a:r>
              <a:rPr lang="en-US" sz="2400" dirty="0"/>
              <a:t>rather than by users. </a:t>
            </a:r>
          </a:p>
          <a:p>
            <a:pPr marL="265113" lvl="2" indent="-265113" fontAlgn="base">
              <a:buFont typeface="Wingdings 3" panose="05040102010807070707" pitchFamily="18" charset="2"/>
              <a:buChar char=""/>
            </a:pPr>
            <a:r>
              <a:rPr lang="en-US" sz="2400" dirty="0"/>
              <a:t>These names uniquely identify resources, processes, or services within a distributed system.</a:t>
            </a:r>
          </a:p>
          <a:p>
            <a:pPr marL="265113" lvl="2" indent="-265113" fontAlgn="base">
              <a:buFont typeface="Wingdings 3" panose="05040102010807070707" pitchFamily="18" charset="2"/>
              <a:buChar char=""/>
            </a:pPr>
            <a:r>
              <a:rPr lang="en-US" sz="2400" dirty="0"/>
              <a:t>Unlike user-friendly names, these are often less readable and are optimized for system operations.</a:t>
            </a:r>
          </a:p>
          <a:p>
            <a:r>
              <a:rPr lang="en-US" b="1" dirty="0">
                <a:solidFill>
                  <a:srgbClr val="1D6199"/>
                </a:solidFill>
              </a:rPr>
              <a:t>Types of System-Oriented Names:</a:t>
            </a:r>
            <a:endParaRPr lang="en-US" dirty="0">
              <a:solidFill>
                <a:srgbClr val="1D6199"/>
              </a:solidFill>
            </a:endParaRPr>
          </a:p>
          <a:p>
            <a:pPr lvl="1"/>
            <a:r>
              <a:rPr lang="en-US" b="1" dirty="0">
                <a:solidFill>
                  <a:srgbClr val="1D6199"/>
                </a:solidFill>
              </a:rPr>
              <a:t>Flat Names</a:t>
            </a:r>
            <a:r>
              <a:rPr lang="en-US" dirty="0">
                <a:solidFill>
                  <a:srgbClr val="1D6199"/>
                </a:solidFill>
              </a:rPr>
              <a:t>: </a:t>
            </a:r>
            <a:r>
              <a:rPr lang="en-US" dirty="0"/>
              <a:t>Unique identifiers with no hierarchy. Examples include MAC addresses or universally unique identifiers (UUIDs).</a:t>
            </a:r>
          </a:p>
          <a:p>
            <a:pPr lvl="1"/>
            <a:r>
              <a:rPr lang="en-US" b="1" dirty="0">
                <a:solidFill>
                  <a:srgbClr val="1D6199"/>
                </a:solidFill>
              </a:rPr>
              <a:t>Hierarchical Names: </a:t>
            </a:r>
            <a:r>
              <a:rPr lang="en-US" dirty="0"/>
              <a:t>Structured names that reflect some organizational structure. Examples include DNS names, where each level in the hierarchy corresponds to a domain.</a:t>
            </a:r>
          </a:p>
          <a:p>
            <a:pPr lvl="1"/>
            <a:r>
              <a:rPr lang="en-US" b="1" dirty="0">
                <a:solidFill>
                  <a:srgbClr val="1D6199"/>
                </a:solidFill>
              </a:rPr>
              <a:t>Attribute-Based Names: </a:t>
            </a:r>
            <a:r>
              <a:rPr lang="en-US" dirty="0"/>
              <a:t>These names are based on a set of attributes rather than a specific identifier, which allows more flexible and dynamic resource management.</a:t>
            </a:r>
          </a:p>
          <a:p>
            <a:pPr marL="265113" lvl="2" indent="-265113" fontAlgn="base">
              <a:buFont typeface="Wingdings 3" panose="05040102010807070707" pitchFamily="18" charset="2"/>
              <a:buChar char=""/>
            </a:pPr>
            <a:endParaRPr lang="en-US" sz="2400" dirty="0"/>
          </a:p>
        </p:txBody>
      </p:sp>
    </p:spTree>
    <p:extLst>
      <p:ext uri="{BB962C8B-B14F-4D97-AF65-F5344CB8AC3E}">
        <p14:creationId xmlns:p14="http://schemas.microsoft.com/office/powerpoint/2010/main" val="2104450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sz="3600" dirty="0"/>
              <a:t>Centralized Approach for Generating System-Oriented Names</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marL="265113" lvl="2" indent="-265113" fontAlgn="base">
              <a:buFont typeface="Wingdings 3" panose="05040102010807070707" pitchFamily="18" charset="2"/>
              <a:buChar char=""/>
            </a:pPr>
            <a:r>
              <a:rPr lang="en-US" sz="2400" dirty="0"/>
              <a:t>A centralized approach refers to a method where a </a:t>
            </a:r>
            <a:r>
              <a:rPr lang="en-US" sz="2400" b="1" dirty="0">
                <a:solidFill>
                  <a:srgbClr val="1D6199"/>
                </a:solidFill>
              </a:rPr>
              <a:t>single central authority </a:t>
            </a:r>
            <a:r>
              <a:rPr lang="en-US" sz="2400" dirty="0"/>
              <a:t>or </a:t>
            </a:r>
            <a:r>
              <a:rPr lang="en-US" sz="2400" b="1" dirty="0">
                <a:solidFill>
                  <a:srgbClr val="1D6199"/>
                </a:solidFill>
              </a:rPr>
              <a:t>server</a:t>
            </a:r>
            <a:r>
              <a:rPr lang="en-US" sz="2400" dirty="0"/>
              <a:t> is responsible for creating and managing the unique names or identifiers used across the distributed system</a:t>
            </a:r>
          </a:p>
          <a:p>
            <a:r>
              <a:rPr lang="en-US" b="1" dirty="0">
                <a:solidFill>
                  <a:srgbClr val="1D6199"/>
                </a:solidFill>
              </a:rPr>
              <a:t>Central Authority:</a:t>
            </a:r>
          </a:p>
          <a:p>
            <a:pPr lvl="1"/>
            <a:r>
              <a:rPr lang="en-US" dirty="0"/>
              <a:t>A </a:t>
            </a:r>
            <a:r>
              <a:rPr lang="en-US" dirty="0">
                <a:solidFill>
                  <a:srgbClr val="1D6199"/>
                </a:solidFill>
              </a:rPr>
              <a:t>single server or central authority </a:t>
            </a:r>
            <a:r>
              <a:rPr lang="en-US" dirty="0"/>
              <a:t>is responsible for the generation, allocation, and management of names or identifiers in the system.</a:t>
            </a:r>
          </a:p>
          <a:p>
            <a:pPr lvl="1"/>
            <a:r>
              <a:rPr lang="en-US" dirty="0"/>
              <a:t>This central server ensures that </a:t>
            </a:r>
            <a:r>
              <a:rPr lang="en-US" dirty="0">
                <a:solidFill>
                  <a:srgbClr val="1D6199"/>
                </a:solidFill>
              </a:rPr>
              <a:t>all names are unique </a:t>
            </a:r>
            <a:r>
              <a:rPr lang="en-US" dirty="0"/>
              <a:t>within the system, preventing conflicts or duplication.</a:t>
            </a:r>
          </a:p>
          <a:p>
            <a:pPr marL="265113" lvl="2" indent="-265113" fontAlgn="base">
              <a:buFont typeface="Wingdings 3" panose="05040102010807070707" pitchFamily="18" charset="2"/>
              <a:buChar char=""/>
            </a:pPr>
            <a:endParaRPr lang="en-US" sz="2400" dirty="0"/>
          </a:p>
        </p:txBody>
      </p:sp>
    </p:spTree>
    <p:extLst>
      <p:ext uri="{BB962C8B-B14F-4D97-AF65-F5344CB8AC3E}">
        <p14:creationId xmlns:p14="http://schemas.microsoft.com/office/powerpoint/2010/main" val="635560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sz="3600" dirty="0"/>
              <a:t>Centralized Approach for Generating System-Oriented Names</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b="1" dirty="0">
                <a:solidFill>
                  <a:srgbClr val="1D6199"/>
                </a:solidFill>
              </a:rPr>
              <a:t>Simplicity and Consistency</a:t>
            </a:r>
            <a:r>
              <a:rPr lang="en-US" dirty="0">
                <a:solidFill>
                  <a:srgbClr val="1D6199"/>
                </a:solidFill>
              </a:rPr>
              <a:t>:</a:t>
            </a:r>
          </a:p>
          <a:p>
            <a:pPr lvl="1"/>
            <a:r>
              <a:rPr lang="en-US" dirty="0"/>
              <a:t>The centralized approach simplifies the management of names because all naming activities are </a:t>
            </a:r>
            <a:r>
              <a:rPr lang="en-US" dirty="0">
                <a:solidFill>
                  <a:srgbClr val="1D6199"/>
                </a:solidFill>
              </a:rPr>
              <a:t>handled by one entity. </a:t>
            </a:r>
          </a:p>
          <a:p>
            <a:pPr lvl="1"/>
            <a:r>
              <a:rPr lang="en-US" dirty="0"/>
              <a:t>This ensures </a:t>
            </a:r>
            <a:r>
              <a:rPr lang="en-US" dirty="0">
                <a:solidFill>
                  <a:srgbClr val="1D6199"/>
                </a:solidFill>
              </a:rPr>
              <a:t>a consistent naming convention </a:t>
            </a:r>
            <a:r>
              <a:rPr lang="en-US" dirty="0"/>
              <a:t>across the entire system.</a:t>
            </a:r>
          </a:p>
          <a:p>
            <a:pPr lvl="1"/>
            <a:r>
              <a:rPr lang="en-US" dirty="0"/>
              <a:t>It </a:t>
            </a:r>
            <a:r>
              <a:rPr lang="en-US" dirty="0">
                <a:solidFill>
                  <a:srgbClr val="1D6199"/>
                </a:solidFill>
              </a:rPr>
              <a:t>reduces the complexity </a:t>
            </a:r>
            <a:r>
              <a:rPr lang="en-US" dirty="0"/>
              <a:t>that might arise in a decentralized or distributed naming system, where multiple entities might generate conflicting names.</a:t>
            </a:r>
          </a:p>
          <a:p>
            <a:r>
              <a:rPr lang="en-US" b="1" dirty="0">
                <a:solidFill>
                  <a:srgbClr val="1D6199"/>
                </a:solidFill>
              </a:rPr>
              <a:t>Scalability Concerns:</a:t>
            </a:r>
          </a:p>
          <a:p>
            <a:pPr lvl="1"/>
            <a:r>
              <a:rPr lang="en-US" dirty="0"/>
              <a:t>As the system grows, the </a:t>
            </a:r>
            <a:r>
              <a:rPr lang="en-US" dirty="0">
                <a:solidFill>
                  <a:srgbClr val="1D6199"/>
                </a:solidFill>
              </a:rPr>
              <a:t>central server may become a bottleneck </a:t>
            </a:r>
            <a:r>
              <a:rPr lang="en-US" dirty="0"/>
              <a:t>due to the increasing load of name generation and management requests.</a:t>
            </a:r>
          </a:p>
          <a:p>
            <a:pPr lvl="1"/>
            <a:r>
              <a:rPr lang="en-US" dirty="0"/>
              <a:t>The central server must be </a:t>
            </a:r>
            <a:r>
              <a:rPr lang="en-US" dirty="0">
                <a:solidFill>
                  <a:srgbClr val="1D6199"/>
                </a:solidFill>
              </a:rPr>
              <a:t>robust and capable of handling high volumes of requests </a:t>
            </a:r>
            <a:r>
              <a:rPr lang="en-US" dirty="0"/>
              <a:t>without becoming a point of failure.</a:t>
            </a:r>
          </a:p>
          <a:p>
            <a:endParaRPr lang="en-US" dirty="0"/>
          </a:p>
          <a:p>
            <a:pPr marL="265113" lvl="2" indent="-265113" fontAlgn="base">
              <a:buFont typeface="Wingdings 3" panose="05040102010807070707" pitchFamily="18" charset="2"/>
              <a:buChar char=""/>
            </a:pPr>
            <a:endParaRPr lang="en-US" sz="2400" dirty="0"/>
          </a:p>
        </p:txBody>
      </p:sp>
    </p:spTree>
    <p:extLst>
      <p:ext uri="{BB962C8B-B14F-4D97-AF65-F5344CB8AC3E}">
        <p14:creationId xmlns:p14="http://schemas.microsoft.com/office/powerpoint/2010/main" val="4013393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sz="3600" dirty="0"/>
              <a:t>Centralized Approach for Generating System-Oriented Names</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b="1" dirty="0">
                <a:solidFill>
                  <a:srgbClr val="1D6199"/>
                </a:solidFill>
              </a:rPr>
              <a:t>Single Point of Failure:</a:t>
            </a:r>
          </a:p>
          <a:p>
            <a:pPr lvl="1"/>
            <a:r>
              <a:rPr lang="en-US" dirty="0"/>
              <a:t>One of the main disadvantages of a centralized naming system is that it introduces a </a:t>
            </a:r>
            <a:r>
              <a:rPr lang="en-US" dirty="0">
                <a:solidFill>
                  <a:srgbClr val="1D6199"/>
                </a:solidFill>
              </a:rPr>
              <a:t>single point of failure</a:t>
            </a:r>
            <a:r>
              <a:rPr lang="en-US" dirty="0"/>
              <a:t>.</a:t>
            </a:r>
          </a:p>
          <a:p>
            <a:pPr lvl="1"/>
            <a:r>
              <a:rPr lang="en-US" dirty="0"/>
              <a:t>If the central authority goes down, the entire system may </a:t>
            </a:r>
            <a:r>
              <a:rPr lang="en-US" dirty="0">
                <a:solidFill>
                  <a:srgbClr val="1D6199"/>
                </a:solidFill>
              </a:rPr>
              <a:t>lose the ability to generate or resolve names</a:t>
            </a:r>
            <a:r>
              <a:rPr lang="en-US" dirty="0"/>
              <a:t>, leading to potential system-wide issues.</a:t>
            </a:r>
          </a:p>
          <a:p>
            <a:pPr lvl="1"/>
            <a:r>
              <a:rPr lang="en-US" dirty="0"/>
              <a:t>This issue can be mitigated by implementing </a:t>
            </a:r>
            <a:r>
              <a:rPr lang="en-US" dirty="0">
                <a:solidFill>
                  <a:srgbClr val="1D6199"/>
                </a:solidFill>
              </a:rPr>
              <a:t>redundancy, backups, or failover mechanisms</a:t>
            </a:r>
            <a:r>
              <a:rPr lang="en-US" dirty="0"/>
              <a:t>.</a:t>
            </a:r>
          </a:p>
          <a:p>
            <a:r>
              <a:rPr lang="en-US" b="1" dirty="0">
                <a:solidFill>
                  <a:srgbClr val="1D6199"/>
                </a:solidFill>
              </a:rPr>
              <a:t>Examples of Centralized Naming Systems:</a:t>
            </a:r>
          </a:p>
          <a:p>
            <a:pPr lvl="1"/>
            <a:r>
              <a:rPr lang="en-US" dirty="0">
                <a:solidFill>
                  <a:srgbClr val="1D6199"/>
                </a:solidFill>
              </a:rPr>
              <a:t>Domain Name System (DNS): </a:t>
            </a:r>
            <a:r>
              <a:rPr lang="en-US" dirty="0"/>
              <a:t>In its traditional form, DNS has a hierarchical structure, but within a particular domain, a centralized server (e.g., the primary DNS server) handles all name resolution requests.</a:t>
            </a:r>
          </a:p>
          <a:p>
            <a:pPr lvl="1"/>
            <a:r>
              <a:rPr lang="en-US" dirty="0">
                <a:solidFill>
                  <a:srgbClr val="1D6199"/>
                </a:solidFill>
              </a:rPr>
              <a:t>Active Directory: </a:t>
            </a:r>
            <a:r>
              <a:rPr lang="en-US" dirty="0"/>
              <a:t>In Microsoft environments, Active Directory uses a centralized server to manage the names and identifiers for users, devices, and services within a network.</a:t>
            </a:r>
          </a:p>
          <a:p>
            <a:pPr marL="265113" lvl="2" indent="-265113" fontAlgn="base">
              <a:buFont typeface="Wingdings 3" panose="05040102010807070707" pitchFamily="18" charset="2"/>
              <a:buChar char=""/>
            </a:pPr>
            <a:endParaRPr lang="en-US" sz="2400" dirty="0"/>
          </a:p>
        </p:txBody>
      </p:sp>
    </p:spTree>
    <p:extLst>
      <p:ext uri="{BB962C8B-B14F-4D97-AF65-F5344CB8AC3E}">
        <p14:creationId xmlns:p14="http://schemas.microsoft.com/office/powerpoint/2010/main" val="332938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sz="3600" dirty="0"/>
              <a:t> Distributed Approach for Generating System-Oriented Names</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A distributed approach for generating system-oriented names is explored </a:t>
            </a:r>
            <a:r>
              <a:rPr lang="en-IN" dirty="0"/>
              <a:t>in large-scale distributed systems.</a:t>
            </a:r>
          </a:p>
          <a:p>
            <a:r>
              <a:rPr lang="en-US" b="1" dirty="0">
                <a:solidFill>
                  <a:srgbClr val="1D6199"/>
                </a:solidFill>
              </a:rPr>
              <a:t>Decentralized Name Generation</a:t>
            </a:r>
            <a:r>
              <a:rPr lang="en-US" dirty="0">
                <a:solidFill>
                  <a:srgbClr val="1D6199"/>
                </a:solidFill>
              </a:rPr>
              <a:t>:</a:t>
            </a:r>
          </a:p>
          <a:p>
            <a:pPr lvl="1"/>
            <a:r>
              <a:rPr lang="en-US" dirty="0"/>
              <a:t>In a distributed approach, </a:t>
            </a:r>
            <a:r>
              <a:rPr lang="en-US" dirty="0">
                <a:solidFill>
                  <a:srgbClr val="1D6199"/>
                </a:solidFill>
              </a:rPr>
              <a:t>no single central authority </a:t>
            </a:r>
            <a:r>
              <a:rPr lang="en-US" dirty="0"/>
              <a:t>is responsible for generating names. </a:t>
            </a:r>
          </a:p>
          <a:p>
            <a:pPr lvl="1"/>
            <a:r>
              <a:rPr lang="en-US" dirty="0"/>
              <a:t>Instead, </a:t>
            </a:r>
            <a:r>
              <a:rPr lang="en-US" dirty="0">
                <a:solidFill>
                  <a:srgbClr val="1D6199"/>
                </a:solidFill>
              </a:rPr>
              <a:t>multiple nodes or processes in the system can generate </a:t>
            </a:r>
            <a:r>
              <a:rPr lang="en-US" dirty="0"/>
              <a:t>and manage names independently.</a:t>
            </a:r>
          </a:p>
          <a:p>
            <a:pPr lvl="1"/>
            <a:r>
              <a:rPr lang="en-US" dirty="0"/>
              <a:t>This method </a:t>
            </a:r>
            <a:r>
              <a:rPr lang="en-US" dirty="0">
                <a:solidFill>
                  <a:srgbClr val="1D6199"/>
                </a:solidFill>
              </a:rPr>
              <a:t>enhances the system's scalability </a:t>
            </a:r>
            <a:r>
              <a:rPr lang="en-US" dirty="0"/>
              <a:t>by distributing the load across many nodes, avoiding the bottlenecks and single points of failure associated with centralized systems.</a:t>
            </a:r>
          </a:p>
          <a:p>
            <a:endParaRPr lang="en-US" sz="2400" dirty="0"/>
          </a:p>
        </p:txBody>
      </p:sp>
    </p:spTree>
    <p:extLst>
      <p:ext uri="{BB962C8B-B14F-4D97-AF65-F5344CB8AC3E}">
        <p14:creationId xmlns:p14="http://schemas.microsoft.com/office/powerpoint/2010/main" val="4007154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sz="3600" dirty="0"/>
              <a:t> Distributed Approach for Generating System-Oriented Names</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b="1" dirty="0">
                <a:solidFill>
                  <a:srgbClr val="1D6199"/>
                </a:solidFill>
              </a:rPr>
              <a:t>Ensuring Uniqueness</a:t>
            </a:r>
            <a:r>
              <a:rPr lang="en-US" dirty="0">
                <a:solidFill>
                  <a:srgbClr val="1D6199"/>
                </a:solidFill>
              </a:rPr>
              <a:t>:</a:t>
            </a:r>
          </a:p>
          <a:p>
            <a:pPr lvl="1"/>
            <a:r>
              <a:rPr lang="en-US" dirty="0"/>
              <a:t>A key challenge in distributed name generation is ensuring that names are unique across the entire system. Various techniques can be employed to achieve this:</a:t>
            </a:r>
          </a:p>
          <a:p>
            <a:pPr lvl="1"/>
            <a:r>
              <a:rPr lang="en-US" dirty="0">
                <a:solidFill>
                  <a:srgbClr val="1D6199"/>
                </a:solidFill>
              </a:rPr>
              <a:t>UUIDs (Universally Unique Identifiers): </a:t>
            </a:r>
            <a:r>
              <a:rPr lang="en-US" dirty="0"/>
              <a:t>These are often used in distributed systems because they can be generated independently by different nodes while ensuring uniqueness.</a:t>
            </a:r>
          </a:p>
          <a:p>
            <a:pPr lvl="1"/>
            <a:r>
              <a:rPr lang="en-US" dirty="0">
                <a:solidFill>
                  <a:srgbClr val="1D6199"/>
                </a:solidFill>
              </a:rPr>
              <a:t>Hashing Algorithms: </a:t>
            </a:r>
            <a:r>
              <a:rPr lang="en-US" dirty="0"/>
              <a:t>Nodes may use cryptographic hashing to generate names or identifiers based on unique input data, ensuring that each name is unique.</a:t>
            </a:r>
          </a:p>
          <a:p>
            <a:pPr lvl="1"/>
            <a:r>
              <a:rPr lang="en-US" dirty="0">
                <a:solidFill>
                  <a:srgbClr val="1D6199"/>
                </a:solidFill>
              </a:rPr>
              <a:t>Hierarchical Naming:</a:t>
            </a:r>
            <a:r>
              <a:rPr lang="en-US" dirty="0"/>
              <a:t> Names may include prefixes or segments that indicate the node or domain that generated them, reducing the chance of conflicts.</a:t>
            </a:r>
          </a:p>
        </p:txBody>
      </p:sp>
    </p:spTree>
    <p:extLst>
      <p:ext uri="{BB962C8B-B14F-4D97-AF65-F5344CB8AC3E}">
        <p14:creationId xmlns:p14="http://schemas.microsoft.com/office/powerpoint/2010/main" val="2662550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sz="3600" dirty="0"/>
              <a:t> Distributed Approach for Generating System-Oriented Names</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b="1" dirty="0">
                <a:solidFill>
                  <a:srgbClr val="1D6199"/>
                </a:solidFill>
              </a:rPr>
              <a:t>Challenges and Solutions</a:t>
            </a:r>
            <a:r>
              <a:rPr lang="en-US" dirty="0">
                <a:solidFill>
                  <a:srgbClr val="1D6199"/>
                </a:solidFill>
              </a:rPr>
              <a:t>:</a:t>
            </a:r>
          </a:p>
          <a:p>
            <a:pPr lvl="1"/>
            <a:r>
              <a:rPr lang="en-US" dirty="0">
                <a:solidFill>
                  <a:srgbClr val="1D6199"/>
                </a:solidFill>
              </a:rPr>
              <a:t>Synchronization: </a:t>
            </a:r>
            <a:r>
              <a:rPr lang="en-US" dirty="0"/>
              <a:t>Ensuring that all nodes are synchronized with the latest name mappings can be difficult, especially in large or highly dynamic systems. Protocols for eventual consistency are often used.</a:t>
            </a:r>
          </a:p>
          <a:p>
            <a:pPr lvl="1"/>
            <a:r>
              <a:rPr lang="en-US" dirty="0">
                <a:solidFill>
                  <a:srgbClr val="1D6199"/>
                </a:solidFill>
              </a:rPr>
              <a:t>Conflict Resolution</a:t>
            </a:r>
            <a:r>
              <a:rPr lang="en-US" dirty="0"/>
              <a:t>: When two nodes inadvertently generate the same name, conflict resolution mechanisms are needed, such as assigning additional attributes to differentiate the names.</a:t>
            </a:r>
          </a:p>
          <a:p>
            <a:r>
              <a:rPr lang="en-US" b="1" dirty="0">
                <a:solidFill>
                  <a:srgbClr val="1D6199"/>
                </a:solidFill>
              </a:rPr>
              <a:t>Examples of Distributed Naming Systems</a:t>
            </a:r>
            <a:r>
              <a:rPr lang="en-US" dirty="0">
                <a:solidFill>
                  <a:srgbClr val="1D6199"/>
                </a:solidFill>
              </a:rPr>
              <a:t>:</a:t>
            </a:r>
          </a:p>
          <a:p>
            <a:pPr lvl="1"/>
            <a:r>
              <a:rPr lang="en-US" dirty="0">
                <a:solidFill>
                  <a:srgbClr val="1D6199"/>
                </a:solidFill>
              </a:rPr>
              <a:t>Peer-to-Peer Networks: </a:t>
            </a:r>
            <a:r>
              <a:rPr lang="en-US" dirty="0"/>
              <a:t>In systems like BitTorrent or </a:t>
            </a:r>
            <a:r>
              <a:rPr lang="en-US" dirty="0" err="1"/>
              <a:t>Kademlia</a:t>
            </a:r>
            <a:r>
              <a:rPr lang="en-US" dirty="0"/>
              <a:t>, distributed approaches are used for both name generation and resolution, where each node plays a role in maintaining the network's overall name structure.</a:t>
            </a:r>
          </a:p>
          <a:p>
            <a:pPr lvl="1"/>
            <a:r>
              <a:rPr lang="en-US" dirty="0">
                <a:solidFill>
                  <a:srgbClr val="1D6199"/>
                </a:solidFill>
              </a:rPr>
              <a:t>Blockchain-Based Naming</a:t>
            </a:r>
            <a:r>
              <a:rPr lang="en-US" dirty="0"/>
              <a:t>: Systems like </a:t>
            </a:r>
            <a:r>
              <a:rPr lang="en-US" dirty="0" err="1"/>
              <a:t>Namecoin</a:t>
            </a:r>
            <a:r>
              <a:rPr lang="en-US" dirty="0"/>
              <a:t> use blockchain to implement a fully decentralized naming system, where names are securely managed and distributed across the network.</a:t>
            </a:r>
          </a:p>
          <a:p>
            <a:endParaRPr lang="en-US" dirty="0"/>
          </a:p>
        </p:txBody>
      </p:sp>
    </p:spTree>
    <p:extLst>
      <p:ext uri="{BB962C8B-B14F-4D97-AF65-F5344CB8AC3E}">
        <p14:creationId xmlns:p14="http://schemas.microsoft.com/office/powerpoint/2010/main" val="2997845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3DC79-8B12-49B2-D869-87FFD698F001}"/>
              </a:ext>
            </a:extLst>
          </p:cNvPr>
          <p:cNvSpPr>
            <a:spLocks noGrp="1"/>
          </p:cNvSpPr>
          <p:nvPr>
            <p:ph type="title"/>
          </p:nvPr>
        </p:nvSpPr>
        <p:spPr/>
        <p:txBody>
          <a:bodyPr>
            <a:normAutofit/>
          </a:bodyPr>
          <a:lstStyle/>
          <a:p>
            <a:pPr>
              <a:spcBef>
                <a:spcPts val="1000"/>
              </a:spcBef>
              <a:buClr>
                <a:srgbClr val="1D6199"/>
              </a:buClr>
              <a:defRPr/>
            </a:pPr>
            <a:r>
              <a:rPr lang="en-IN" sz="6000" dirty="0"/>
              <a:t>Object locating mechanism</a:t>
            </a:r>
          </a:p>
        </p:txBody>
      </p:sp>
      <p:sp>
        <p:nvSpPr>
          <p:cNvPr id="3" name="Text Placeholder 2">
            <a:extLst>
              <a:ext uri="{FF2B5EF4-FFF2-40B4-BE49-F238E27FC236}">
                <a16:creationId xmlns:a16="http://schemas.microsoft.com/office/drawing/2014/main" id="{7336A222-FE8E-8548-6B81-0F4C891F3E0A}"/>
              </a:ext>
            </a:extLst>
          </p:cNvPr>
          <p:cNvSpPr>
            <a:spLocks noGrp="1"/>
          </p:cNvSpPr>
          <p:nvPr>
            <p:ph type="body" idx="1"/>
          </p:nvPr>
        </p:nvSpPr>
        <p:spPr/>
        <p:txBody>
          <a:bodyPr/>
          <a:lstStyle/>
          <a:p>
            <a:r>
              <a:rPr lang="en-US" dirty="0"/>
              <a:t>Section – 12</a:t>
            </a:r>
            <a:endParaRPr lang="en-IN" dirty="0"/>
          </a:p>
        </p:txBody>
      </p:sp>
    </p:spTree>
    <p:extLst>
      <p:ext uri="{BB962C8B-B14F-4D97-AF65-F5344CB8AC3E}">
        <p14:creationId xmlns:p14="http://schemas.microsoft.com/office/powerpoint/2010/main" val="102427925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IN" sz="3600" dirty="0"/>
              <a:t>Object locating mechanism</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Object locating mechanisms ensure that when a client requests access to a particular object, the system can efficiently </a:t>
            </a:r>
            <a:r>
              <a:rPr lang="en-US" b="1" dirty="0">
                <a:solidFill>
                  <a:srgbClr val="1D6199"/>
                </a:solidFill>
              </a:rPr>
              <a:t>locate the object's current location </a:t>
            </a:r>
            <a:r>
              <a:rPr lang="en-US" dirty="0"/>
              <a:t>and </a:t>
            </a:r>
            <a:r>
              <a:rPr lang="en-US" b="1" dirty="0">
                <a:solidFill>
                  <a:srgbClr val="1D6199"/>
                </a:solidFill>
              </a:rPr>
              <a:t>facilitate communication with it.</a:t>
            </a:r>
          </a:p>
          <a:p>
            <a:r>
              <a:rPr lang="en-US" b="1" dirty="0">
                <a:solidFill>
                  <a:srgbClr val="1D6199"/>
                </a:solidFill>
              </a:rPr>
              <a:t>Concept of Object Location</a:t>
            </a:r>
            <a:r>
              <a:rPr lang="en-US" dirty="0">
                <a:solidFill>
                  <a:srgbClr val="1D6199"/>
                </a:solidFill>
              </a:rPr>
              <a:t>:</a:t>
            </a:r>
          </a:p>
          <a:p>
            <a:pPr lvl="1"/>
            <a:r>
              <a:rPr lang="en-US" dirty="0"/>
              <a:t>Objects (resources, files, processes) are often </a:t>
            </a:r>
            <a:r>
              <a:rPr lang="en-US" b="1" dirty="0">
                <a:solidFill>
                  <a:srgbClr val="1D6199"/>
                </a:solidFill>
              </a:rPr>
              <a:t>not tied to a single physical </a:t>
            </a:r>
            <a:r>
              <a:rPr lang="en-US" dirty="0"/>
              <a:t>location. </a:t>
            </a:r>
          </a:p>
          <a:p>
            <a:pPr lvl="1"/>
            <a:r>
              <a:rPr lang="en-US" dirty="0"/>
              <a:t>Instead, they may </a:t>
            </a:r>
            <a:r>
              <a:rPr lang="en-US" b="1" dirty="0">
                <a:solidFill>
                  <a:srgbClr val="1D6199"/>
                </a:solidFill>
              </a:rPr>
              <a:t>move or be replicated </a:t>
            </a:r>
            <a:r>
              <a:rPr lang="en-US" dirty="0"/>
              <a:t>across multiple nodes to improve performance, availability, and fault tolerance.</a:t>
            </a:r>
          </a:p>
          <a:p>
            <a:pPr lvl="1"/>
            <a:r>
              <a:rPr lang="en-US" dirty="0"/>
              <a:t>Object locating mechanisms are the methods and protocols used to </a:t>
            </a:r>
            <a:r>
              <a:rPr lang="en-US" b="1" dirty="0">
                <a:solidFill>
                  <a:srgbClr val="1D6199"/>
                </a:solidFill>
              </a:rPr>
              <a:t>determine the physical or logical location of these objects</a:t>
            </a:r>
            <a:r>
              <a:rPr lang="en-US" dirty="0"/>
              <a:t> when they are requested by clients or other system components.</a:t>
            </a:r>
          </a:p>
          <a:p>
            <a:endParaRPr lang="en-US" b="1" dirty="0">
              <a:solidFill>
                <a:srgbClr val="1D6199"/>
              </a:solidFill>
            </a:endParaRPr>
          </a:p>
        </p:txBody>
      </p:sp>
    </p:spTree>
    <p:extLst>
      <p:ext uri="{BB962C8B-B14F-4D97-AF65-F5344CB8AC3E}">
        <p14:creationId xmlns:p14="http://schemas.microsoft.com/office/powerpoint/2010/main" val="3728650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sz="3600" dirty="0"/>
              <a:t>Types of Object Locating Mechanisms:</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IN" b="1" dirty="0">
                <a:solidFill>
                  <a:srgbClr val="1D6199"/>
                </a:solidFill>
              </a:rPr>
              <a:t>Broadcasting and Multicasting</a:t>
            </a:r>
            <a:r>
              <a:rPr lang="en-IN" dirty="0">
                <a:solidFill>
                  <a:srgbClr val="1D6199"/>
                </a:solidFill>
              </a:rPr>
              <a:t>:</a:t>
            </a:r>
          </a:p>
          <a:p>
            <a:pPr lvl="1"/>
            <a:r>
              <a:rPr lang="en-US" dirty="0">
                <a:solidFill>
                  <a:srgbClr val="1D6199"/>
                </a:solidFill>
              </a:rPr>
              <a:t>Broadcasting</a:t>
            </a:r>
          </a:p>
          <a:p>
            <a:pPr lvl="2"/>
            <a:r>
              <a:rPr lang="en-US" dirty="0"/>
              <a:t>the request for an object's location is sent to all nodes in the system. </a:t>
            </a:r>
          </a:p>
          <a:p>
            <a:pPr lvl="2"/>
            <a:r>
              <a:rPr lang="en-US" dirty="0"/>
              <a:t>Each node checks if it has the object and responds accordingly.</a:t>
            </a:r>
          </a:p>
          <a:p>
            <a:pPr lvl="1"/>
            <a:r>
              <a:rPr lang="en-US" dirty="0">
                <a:solidFill>
                  <a:srgbClr val="1D6199"/>
                </a:solidFill>
              </a:rPr>
              <a:t>Multicasting</a:t>
            </a:r>
          </a:p>
          <a:p>
            <a:pPr lvl="2"/>
            <a:r>
              <a:rPr lang="en-US" dirty="0"/>
              <a:t>A more efficient version of broadcasting where the request is sent only to a specific group of nodes likely to have the object.</a:t>
            </a:r>
          </a:p>
          <a:p>
            <a:pPr lvl="1"/>
            <a:r>
              <a:rPr lang="en-US" dirty="0">
                <a:solidFill>
                  <a:srgbClr val="1D6199"/>
                </a:solidFill>
              </a:rPr>
              <a:t>Drawback</a:t>
            </a:r>
            <a:endParaRPr lang="en-US" dirty="0"/>
          </a:p>
          <a:p>
            <a:pPr lvl="2"/>
            <a:r>
              <a:rPr lang="en-US" dirty="0"/>
              <a:t>These methods can generate significant network traffic and are generally not scalable for large systems.</a:t>
            </a:r>
          </a:p>
        </p:txBody>
      </p:sp>
    </p:spTree>
    <p:extLst>
      <p:ext uri="{BB962C8B-B14F-4D97-AF65-F5344CB8AC3E}">
        <p14:creationId xmlns:p14="http://schemas.microsoft.com/office/powerpoint/2010/main" val="1352224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sz="3600" dirty="0"/>
              <a:t>Types of Object Locating Mechanisms:</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b="1" dirty="0">
                <a:solidFill>
                  <a:srgbClr val="1D6199"/>
                </a:solidFill>
              </a:rPr>
              <a:t>Forwarding Pointers</a:t>
            </a:r>
            <a:r>
              <a:rPr lang="en-US" dirty="0">
                <a:solidFill>
                  <a:srgbClr val="1D6199"/>
                </a:solidFill>
              </a:rPr>
              <a:t>:</a:t>
            </a:r>
          </a:p>
          <a:p>
            <a:pPr lvl="1"/>
            <a:r>
              <a:rPr lang="en-US" dirty="0"/>
              <a:t>When an object moves from one node to another, the </a:t>
            </a:r>
            <a:r>
              <a:rPr lang="en-US" dirty="0">
                <a:solidFill>
                  <a:srgbClr val="1D6199"/>
                </a:solidFill>
              </a:rPr>
              <a:t>original node retains a forwarding pointer </a:t>
            </a:r>
            <a:r>
              <a:rPr lang="en-US" dirty="0"/>
              <a:t>to the new location of the object.</a:t>
            </a:r>
          </a:p>
          <a:p>
            <a:pPr lvl="1"/>
            <a:r>
              <a:rPr lang="en-US" b="1" dirty="0">
                <a:solidFill>
                  <a:srgbClr val="1D6199"/>
                </a:solidFill>
              </a:rPr>
              <a:t>Chaining</a:t>
            </a:r>
            <a:endParaRPr lang="en-US" dirty="0">
              <a:solidFill>
                <a:srgbClr val="1D6199"/>
              </a:solidFill>
            </a:endParaRPr>
          </a:p>
          <a:p>
            <a:pPr lvl="2"/>
            <a:r>
              <a:rPr lang="en-US" dirty="0"/>
              <a:t>In some systems, a chain of forwarding pointers is maintained if </a:t>
            </a:r>
            <a:r>
              <a:rPr lang="en-US" dirty="0">
                <a:solidFill>
                  <a:srgbClr val="1D6199"/>
                </a:solidFill>
              </a:rPr>
              <a:t>an object moves multiple </a:t>
            </a:r>
            <a:r>
              <a:rPr lang="en-US" dirty="0"/>
              <a:t>times. </a:t>
            </a:r>
          </a:p>
          <a:p>
            <a:pPr lvl="2"/>
            <a:r>
              <a:rPr lang="en-US" dirty="0"/>
              <a:t>The request follows the chain </a:t>
            </a:r>
            <a:r>
              <a:rPr lang="en-US" dirty="0">
                <a:solidFill>
                  <a:srgbClr val="1D6199"/>
                </a:solidFill>
              </a:rPr>
              <a:t>until it reaches the current location.</a:t>
            </a:r>
          </a:p>
          <a:p>
            <a:pPr lvl="1"/>
            <a:r>
              <a:rPr lang="en-US" b="1" dirty="0">
                <a:solidFill>
                  <a:srgbClr val="1D6199"/>
                </a:solidFill>
              </a:rPr>
              <a:t>Drawback</a:t>
            </a:r>
          </a:p>
          <a:p>
            <a:pPr lvl="2"/>
            <a:r>
              <a:rPr lang="en-US" dirty="0"/>
              <a:t>If an object moves frequently, the </a:t>
            </a:r>
            <a:r>
              <a:rPr lang="en-US" dirty="0">
                <a:solidFill>
                  <a:srgbClr val="1D6199"/>
                </a:solidFill>
              </a:rPr>
              <a:t>chain can become long, leading to inefficiencies </a:t>
            </a:r>
            <a:r>
              <a:rPr lang="en-US" dirty="0"/>
              <a:t>in locating the object.</a:t>
            </a:r>
          </a:p>
        </p:txBody>
      </p:sp>
    </p:spTree>
    <p:extLst>
      <p:ext uri="{BB962C8B-B14F-4D97-AF65-F5344CB8AC3E}">
        <p14:creationId xmlns:p14="http://schemas.microsoft.com/office/powerpoint/2010/main" val="3139973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sz="3600" dirty="0"/>
              <a:t>Types of Object Locating Mechanisms:</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b="1" dirty="0">
                <a:solidFill>
                  <a:srgbClr val="1D6199"/>
                </a:solidFill>
              </a:rPr>
              <a:t>Distributed Hash Tables (DHTs)</a:t>
            </a:r>
            <a:r>
              <a:rPr lang="en-US" dirty="0">
                <a:solidFill>
                  <a:srgbClr val="1D6199"/>
                </a:solidFill>
              </a:rPr>
              <a:t>:</a:t>
            </a:r>
          </a:p>
          <a:p>
            <a:pPr lvl="1"/>
            <a:r>
              <a:rPr lang="en-US" dirty="0"/>
              <a:t>DHTs are used in systems like peer-to-peer networks to </a:t>
            </a:r>
            <a:r>
              <a:rPr lang="en-US" dirty="0">
                <a:solidFill>
                  <a:srgbClr val="1D6199"/>
                </a:solidFill>
              </a:rPr>
              <a:t>distribute the responsibility </a:t>
            </a:r>
            <a:r>
              <a:rPr lang="en-US" dirty="0"/>
              <a:t>for storing and locating objects across multiple nodes.</a:t>
            </a:r>
          </a:p>
          <a:p>
            <a:pPr lvl="1"/>
            <a:r>
              <a:rPr lang="en-US" dirty="0"/>
              <a:t>Each object is </a:t>
            </a:r>
            <a:r>
              <a:rPr lang="en-US" dirty="0">
                <a:solidFill>
                  <a:srgbClr val="1D6199"/>
                </a:solidFill>
              </a:rPr>
              <a:t>assigned a unique key</a:t>
            </a:r>
            <a:r>
              <a:rPr lang="en-US" dirty="0"/>
              <a:t>, and the DHT maps this key to a specific node in the network.</a:t>
            </a:r>
          </a:p>
          <a:p>
            <a:pPr lvl="1"/>
            <a:r>
              <a:rPr lang="en-US" dirty="0">
                <a:solidFill>
                  <a:srgbClr val="1D6199"/>
                </a:solidFill>
              </a:rPr>
              <a:t>Advantage </a:t>
            </a:r>
          </a:p>
          <a:p>
            <a:pPr lvl="2"/>
            <a:r>
              <a:rPr lang="en-US" dirty="0"/>
              <a:t>DHTs provide an </a:t>
            </a:r>
            <a:r>
              <a:rPr lang="en-US" dirty="0">
                <a:solidFill>
                  <a:srgbClr val="1D6199"/>
                </a:solidFill>
              </a:rPr>
              <a:t>efficient and scalable way </a:t>
            </a:r>
            <a:r>
              <a:rPr lang="en-US" dirty="0"/>
              <a:t>to locate objects in large distributed systems</a:t>
            </a:r>
          </a:p>
          <a:p>
            <a:r>
              <a:rPr lang="en-US" b="1" dirty="0">
                <a:solidFill>
                  <a:srgbClr val="1D6199"/>
                </a:solidFill>
              </a:rPr>
              <a:t>Centralized Directory Services</a:t>
            </a:r>
            <a:r>
              <a:rPr lang="en-US" dirty="0">
                <a:solidFill>
                  <a:srgbClr val="1D6199"/>
                </a:solidFill>
              </a:rPr>
              <a:t>:</a:t>
            </a:r>
          </a:p>
          <a:p>
            <a:pPr lvl="1"/>
            <a:r>
              <a:rPr lang="en-US" dirty="0"/>
              <a:t>A centralized directory maintains a </a:t>
            </a:r>
            <a:r>
              <a:rPr lang="en-US" dirty="0">
                <a:solidFill>
                  <a:srgbClr val="1D6199"/>
                </a:solidFill>
              </a:rPr>
              <a:t>mapping of object identifiers to their locations</a:t>
            </a:r>
            <a:r>
              <a:rPr lang="en-US" dirty="0"/>
              <a:t>. </a:t>
            </a:r>
          </a:p>
          <a:p>
            <a:pPr lvl="1"/>
            <a:r>
              <a:rPr lang="en-US" dirty="0"/>
              <a:t>When an object is needed, the system </a:t>
            </a:r>
            <a:r>
              <a:rPr lang="en-US" dirty="0">
                <a:solidFill>
                  <a:srgbClr val="1D6199"/>
                </a:solidFill>
              </a:rPr>
              <a:t>queries the directory to find the object’s current location</a:t>
            </a:r>
            <a:r>
              <a:rPr lang="en-US" dirty="0"/>
              <a:t>.</a:t>
            </a:r>
          </a:p>
          <a:p>
            <a:pPr lvl="1"/>
            <a:r>
              <a:rPr lang="en-US" dirty="0">
                <a:solidFill>
                  <a:srgbClr val="1D6199"/>
                </a:solidFill>
              </a:rPr>
              <a:t>Advantage</a:t>
            </a:r>
            <a:r>
              <a:rPr lang="en-US" dirty="0"/>
              <a:t>: Simplifies object location by centralizing the information.</a:t>
            </a:r>
          </a:p>
          <a:p>
            <a:pPr lvl="1"/>
            <a:r>
              <a:rPr lang="en-US" dirty="0">
                <a:solidFill>
                  <a:srgbClr val="1D6199"/>
                </a:solidFill>
              </a:rPr>
              <a:t>Drawback: </a:t>
            </a:r>
            <a:r>
              <a:rPr lang="en-US" dirty="0"/>
              <a:t>It introduces a single point of failure and may become a bottleneck in large systems.</a:t>
            </a:r>
          </a:p>
          <a:p>
            <a:pPr marL="0" indent="0">
              <a:buNone/>
            </a:pPr>
            <a:endParaRPr lang="en-US" dirty="0"/>
          </a:p>
        </p:txBody>
      </p:sp>
    </p:spTree>
    <p:extLst>
      <p:ext uri="{BB962C8B-B14F-4D97-AF65-F5344CB8AC3E}">
        <p14:creationId xmlns:p14="http://schemas.microsoft.com/office/powerpoint/2010/main" val="1551922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sz="3600" dirty="0"/>
              <a:t>Types of Object Locating Mechanisms:</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b="1" dirty="0">
                <a:solidFill>
                  <a:srgbClr val="1D6199"/>
                </a:solidFill>
              </a:rPr>
              <a:t>Hierarchical Location Services</a:t>
            </a:r>
            <a:r>
              <a:rPr lang="en-US" dirty="0">
                <a:solidFill>
                  <a:srgbClr val="1D6199"/>
                </a:solidFill>
              </a:rPr>
              <a:t>:</a:t>
            </a:r>
          </a:p>
          <a:p>
            <a:pPr lvl="1"/>
            <a:r>
              <a:rPr lang="en-US" dirty="0"/>
              <a:t>The system is </a:t>
            </a:r>
            <a:r>
              <a:rPr lang="en-US" dirty="0">
                <a:solidFill>
                  <a:srgbClr val="1D6199"/>
                </a:solidFill>
              </a:rPr>
              <a:t>divided</a:t>
            </a:r>
            <a:r>
              <a:rPr lang="en-US" dirty="0"/>
              <a:t> into regions, each with its own directory or name server. </a:t>
            </a:r>
          </a:p>
          <a:p>
            <a:pPr lvl="1"/>
            <a:r>
              <a:rPr lang="en-US" dirty="0"/>
              <a:t>These </a:t>
            </a:r>
            <a:r>
              <a:rPr lang="en-US" dirty="0">
                <a:solidFill>
                  <a:srgbClr val="1D6199"/>
                </a:solidFill>
              </a:rPr>
              <a:t>local directories are responsible for objects within their region</a:t>
            </a:r>
            <a:r>
              <a:rPr lang="en-US" dirty="0"/>
              <a:t>.</a:t>
            </a:r>
          </a:p>
          <a:p>
            <a:pPr lvl="1"/>
            <a:r>
              <a:rPr lang="en-US" dirty="0"/>
              <a:t>For objects </a:t>
            </a:r>
            <a:r>
              <a:rPr lang="en-US" dirty="0">
                <a:solidFill>
                  <a:srgbClr val="1D6199"/>
                </a:solidFill>
              </a:rPr>
              <a:t>outside the region</a:t>
            </a:r>
            <a:r>
              <a:rPr lang="en-US" dirty="0"/>
              <a:t>, the local directory can refer to </a:t>
            </a:r>
            <a:r>
              <a:rPr lang="en-US" dirty="0">
                <a:solidFill>
                  <a:srgbClr val="1D6199"/>
                </a:solidFill>
              </a:rPr>
              <a:t>higher-level directories </a:t>
            </a:r>
            <a:r>
              <a:rPr lang="en-US" dirty="0"/>
              <a:t>until the object is located.</a:t>
            </a:r>
          </a:p>
          <a:p>
            <a:pPr lvl="1"/>
            <a:r>
              <a:rPr lang="en-US" dirty="0">
                <a:solidFill>
                  <a:srgbClr val="1D6199"/>
                </a:solidFill>
              </a:rPr>
              <a:t>Advantage: </a:t>
            </a:r>
            <a:r>
              <a:rPr lang="en-US" dirty="0"/>
              <a:t>Reduces the load on any single directory and </a:t>
            </a:r>
            <a:r>
              <a:rPr lang="en-US" dirty="0">
                <a:solidFill>
                  <a:srgbClr val="1D6199"/>
                </a:solidFill>
              </a:rPr>
              <a:t>allows the system to scale more </a:t>
            </a:r>
            <a:r>
              <a:rPr lang="en-US" dirty="0"/>
              <a:t>effectively.</a:t>
            </a:r>
          </a:p>
          <a:p>
            <a:r>
              <a:rPr lang="en-US" b="1" dirty="0">
                <a:solidFill>
                  <a:srgbClr val="1D6199"/>
                </a:solidFill>
              </a:rPr>
              <a:t>Home-Based Approaches</a:t>
            </a:r>
            <a:r>
              <a:rPr lang="en-US" dirty="0">
                <a:solidFill>
                  <a:srgbClr val="1D6199"/>
                </a:solidFill>
              </a:rPr>
              <a:t>:</a:t>
            </a:r>
          </a:p>
          <a:p>
            <a:pPr lvl="1"/>
            <a:r>
              <a:rPr lang="en-US" dirty="0"/>
              <a:t>Each object has a "</a:t>
            </a:r>
            <a:r>
              <a:rPr lang="en-US" b="1" dirty="0">
                <a:solidFill>
                  <a:srgbClr val="1D6199"/>
                </a:solidFill>
              </a:rPr>
              <a:t>home</a:t>
            </a:r>
            <a:r>
              <a:rPr lang="en-US" dirty="0"/>
              <a:t>" node where it was originally created or registered. </a:t>
            </a:r>
          </a:p>
          <a:p>
            <a:pPr lvl="1"/>
            <a:r>
              <a:rPr lang="en-US" dirty="0"/>
              <a:t>The home node keeps track of the </a:t>
            </a:r>
            <a:r>
              <a:rPr lang="en-US" dirty="0">
                <a:solidFill>
                  <a:srgbClr val="1D6199"/>
                </a:solidFill>
              </a:rPr>
              <a:t>object's current location </a:t>
            </a:r>
            <a:r>
              <a:rPr lang="en-US" dirty="0"/>
              <a:t>and updates this information whenever the object moves.</a:t>
            </a:r>
          </a:p>
          <a:p>
            <a:pPr lvl="1"/>
            <a:r>
              <a:rPr lang="en-US" dirty="0">
                <a:solidFill>
                  <a:srgbClr val="1D6199"/>
                </a:solidFill>
              </a:rPr>
              <a:t>Advantage: </a:t>
            </a:r>
            <a:r>
              <a:rPr lang="en-US" dirty="0"/>
              <a:t>Simplifies location management by providing a consistent reference point.</a:t>
            </a:r>
          </a:p>
          <a:p>
            <a:pPr lvl="1"/>
            <a:r>
              <a:rPr lang="en-US" dirty="0">
                <a:solidFill>
                  <a:srgbClr val="1D6199"/>
                </a:solidFill>
              </a:rPr>
              <a:t>Drawback:</a:t>
            </a:r>
            <a:r>
              <a:rPr lang="en-US" dirty="0"/>
              <a:t> If the home node fails, the location information could be lost.</a:t>
            </a:r>
          </a:p>
          <a:p>
            <a:endParaRPr lang="en-US" dirty="0"/>
          </a:p>
        </p:txBody>
      </p:sp>
    </p:spTree>
    <p:extLst>
      <p:ext uri="{BB962C8B-B14F-4D97-AF65-F5344CB8AC3E}">
        <p14:creationId xmlns:p14="http://schemas.microsoft.com/office/powerpoint/2010/main" val="780703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3DC79-8B12-49B2-D869-87FFD698F001}"/>
              </a:ext>
            </a:extLst>
          </p:cNvPr>
          <p:cNvSpPr>
            <a:spLocks noGrp="1"/>
          </p:cNvSpPr>
          <p:nvPr>
            <p:ph type="title"/>
          </p:nvPr>
        </p:nvSpPr>
        <p:spPr/>
        <p:txBody>
          <a:bodyPr>
            <a:normAutofit/>
          </a:bodyPr>
          <a:lstStyle/>
          <a:p>
            <a:pPr>
              <a:spcBef>
                <a:spcPts val="1000"/>
              </a:spcBef>
              <a:buClr>
                <a:srgbClr val="1D6199"/>
              </a:buClr>
              <a:defRPr/>
            </a:pPr>
            <a:r>
              <a:rPr lang="en-IN" sz="6000" dirty="0"/>
              <a:t>Human </a:t>
            </a:r>
            <a:r>
              <a:rPr lang="en-IN" dirty="0"/>
              <a:t>O</a:t>
            </a:r>
            <a:r>
              <a:rPr lang="en-IN" sz="6000" dirty="0"/>
              <a:t>riented Names</a:t>
            </a:r>
          </a:p>
        </p:txBody>
      </p:sp>
      <p:sp>
        <p:nvSpPr>
          <p:cNvPr id="3" name="Text Placeholder 2">
            <a:extLst>
              <a:ext uri="{FF2B5EF4-FFF2-40B4-BE49-F238E27FC236}">
                <a16:creationId xmlns:a16="http://schemas.microsoft.com/office/drawing/2014/main" id="{7336A222-FE8E-8548-6B81-0F4C891F3E0A}"/>
              </a:ext>
            </a:extLst>
          </p:cNvPr>
          <p:cNvSpPr>
            <a:spLocks noGrp="1"/>
          </p:cNvSpPr>
          <p:nvPr>
            <p:ph type="body" idx="1"/>
          </p:nvPr>
        </p:nvSpPr>
        <p:spPr/>
        <p:txBody>
          <a:bodyPr/>
          <a:lstStyle/>
          <a:p>
            <a:r>
              <a:rPr lang="en-US" dirty="0"/>
              <a:t>Section – 13</a:t>
            </a:r>
            <a:endParaRPr lang="en-IN" dirty="0"/>
          </a:p>
        </p:txBody>
      </p:sp>
    </p:spTree>
    <p:extLst>
      <p:ext uri="{BB962C8B-B14F-4D97-AF65-F5344CB8AC3E}">
        <p14:creationId xmlns:p14="http://schemas.microsoft.com/office/powerpoint/2010/main" val="291851213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IN" sz="3600" dirty="0"/>
              <a:t>Human Oriented Names</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Human-oriented names are designed to be </a:t>
            </a:r>
            <a:r>
              <a:rPr lang="en-US" b="1" dirty="0">
                <a:solidFill>
                  <a:srgbClr val="1D6199"/>
                </a:solidFill>
              </a:rPr>
              <a:t>easily understood and remembered by humans</a:t>
            </a:r>
            <a:r>
              <a:rPr lang="en-US" dirty="0"/>
              <a:t>, as opposed to system-oriented names.</a:t>
            </a:r>
          </a:p>
          <a:p>
            <a:r>
              <a:rPr lang="en-US" dirty="0"/>
              <a:t>These names are often used in </a:t>
            </a:r>
            <a:r>
              <a:rPr lang="en-US" b="1" dirty="0">
                <a:solidFill>
                  <a:srgbClr val="1D6199"/>
                </a:solidFill>
              </a:rPr>
              <a:t>user interfaces</a:t>
            </a:r>
            <a:r>
              <a:rPr lang="en-US" dirty="0"/>
              <a:t> </a:t>
            </a:r>
          </a:p>
          <a:p>
            <a:r>
              <a:rPr lang="en-US" dirty="0"/>
              <a:t>It is used in </a:t>
            </a:r>
            <a:r>
              <a:rPr lang="en-US" b="1" dirty="0">
                <a:solidFill>
                  <a:srgbClr val="1D6199"/>
                </a:solidFill>
              </a:rPr>
              <a:t>interactions </a:t>
            </a:r>
            <a:r>
              <a:rPr lang="en-US" dirty="0"/>
              <a:t>where ease of use and recall are more important than the efficiency of the system.</a:t>
            </a:r>
          </a:p>
          <a:p>
            <a:r>
              <a:rPr lang="en-US" dirty="0"/>
              <a:t>Examples include URLs, email addresses, and file names that are understandable to end-users.</a:t>
            </a:r>
          </a:p>
        </p:txBody>
      </p:sp>
    </p:spTree>
    <p:extLst>
      <p:ext uri="{BB962C8B-B14F-4D97-AF65-F5344CB8AC3E}">
        <p14:creationId xmlns:p14="http://schemas.microsoft.com/office/powerpoint/2010/main" val="725079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IN" sz="3600" dirty="0"/>
              <a:t>Human Oriented Names</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b="1" dirty="0">
                <a:solidFill>
                  <a:srgbClr val="1D6199"/>
                </a:solidFill>
              </a:rPr>
              <a:t>Characteristics:</a:t>
            </a:r>
          </a:p>
          <a:p>
            <a:pPr lvl="1"/>
            <a:r>
              <a:rPr lang="en-US" dirty="0">
                <a:solidFill>
                  <a:srgbClr val="1D6199"/>
                </a:solidFill>
              </a:rPr>
              <a:t>Readability:</a:t>
            </a:r>
            <a:r>
              <a:rPr lang="en-US" dirty="0"/>
              <a:t> Human-oriented names are designed to be easy to read and interpret. They often use familiar words or phrases.</a:t>
            </a:r>
          </a:p>
          <a:p>
            <a:pPr lvl="1"/>
            <a:r>
              <a:rPr lang="en-US" dirty="0">
                <a:solidFill>
                  <a:srgbClr val="1D6199"/>
                </a:solidFill>
              </a:rPr>
              <a:t>Memorability:</a:t>
            </a:r>
            <a:r>
              <a:rPr lang="en-US" dirty="0"/>
              <a:t> These names are constructed to be memorable, often reflecting the purpose or content of the resource they represent.</a:t>
            </a:r>
          </a:p>
          <a:p>
            <a:pPr lvl="1"/>
            <a:r>
              <a:rPr lang="en-US" dirty="0">
                <a:solidFill>
                  <a:srgbClr val="1D6199"/>
                </a:solidFill>
              </a:rPr>
              <a:t>Contextual Meaning: </a:t>
            </a:r>
            <a:r>
              <a:rPr lang="en-US" dirty="0"/>
              <a:t>Human-oriented names often carry contextual or semantic meaning, making it easier for users to understand what the name refers to without needing additional information.</a:t>
            </a:r>
          </a:p>
          <a:p>
            <a:r>
              <a:rPr lang="en-US" b="1" dirty="0">
                <a:solidFill>
                  <a:srgbClr val="1D6199"/>
                </a:solidFill>
              </a:rPr>
              <a:t>Examples:</a:t>
            </a:r>
          </a:p>
          <a:p>
            <a:pPr lvl="1"/>
            <a:r>
              <a:rPr lang="en-US" dirty="0">
                <a:solidFill>
                  <a:srgbClr val="1D6199"/>
                </a:solidFill>
              </a:rPr>
              <a:t>Domain Names: D</a:t>
            </a:r>
            <a:r>
              <a:rPr lang="en-US" dirty="0"/>
              <a:t>omain names (e.g., www.example.com) are a classic example of human-oriented names.</a:t>
            </a:r>
          </a:p>
          <a:p>
            <a:pPr lvl="1"/>
            <a:r>
              <a:rPr lang="en-US" dirty="0">
                <a:solidFill>
                  <a:srgbClr val="1D6199"/>
                </a:solidFill>
              </a:rPr>
              <a:t>File Names: </a:t>
            </a:r>
            <a:r>
              <a:rPr lang="en-US" dirty="0"/>
              <a:t>Files may be given human-oriented names that reflect their content or purpose (e.g., Annual_Report_2023.pdf).</a:t>
            </a:r>
          </a:p>
          <a:p>
            <a:pPr lvl="1"/>
            <a:r>
              <a:rPr lang="en-US" dirty="0">
                <a:solidFill>
                  <a:srgbClr val="1D6199"/>
                </a:solidFill>
              </a:rPr>
              <a:t>Email Addresses: </a:t>
            </a:r>
            <a:r>
              <a:rPr lang="en-US" dirty="0"/>
              <a:t>An email address like john.doe@example.com is another example of a human-oriented name, combining a user-friendly identifier with a domain name.</a:t>
            </a:r>
          </a:p>
        </p:txBody>
      </p:sp>
    </p:spTree>
    <p:extLst>
      <p:ext uri="{BB962C8B-B14F-4D97-AF65-F5344CB8AC3E}">
        <p14:creationId xmlns:p14="http://schemas.microsoft.com/office/powerpoint/2010/main" val="3413344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IN" sz="3600" dirty="0"/>
              <a:t>Human Oriented Names</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b="1" dirty="0">
                <a:solidFill>
                  <a:srgbClr val="1D6199"/>
                </a:solidFill>
              </a:rPr>
              <a:t>Mapping to System-Oriented Names</a:t>
            </a:r>
            <a:endParaRPr lang="en-US" dirty="0"/>
          </a:p>
          <a:p>
            <a:pPr lvl="1"/>
            <a:r>
              <a:rPr lang="en-US" dirty="0"/>
              <a:t>Human-oriented names are often mapped to system-oriented names that the underlying system </a:t>
            </a:r>
            <a:r>
              <a:rPr lang="en-US" dirty="0">
                <a:solidFill>
                  <a:srgbClr val="1D6199"/>
                </a:solidFill>
              </a:rPr>
              <a:t>uses to locate and manage resources. </a:t>
            </a:r>
          </a:p>
          <a:p>
            <a:pPr lvl="1"/>
            <a:r>
              <a:rPr lang="en-US" dirty="0"/>
              <a:t>This mapping is typically handled by a </a:t>
            </a:r>
            <a:r>
              <a:rPr lang="en-US" dirty="0">
                <a:solidFill>
                  <a:srgbClr val="1D6199"/>
                </a:solidFill>
              </a:rPr>
              <a:t>naming service or directory service</a:t>
            </a:r>
            <a:r>
              <a:rPr lang="en-US" dirty="0"/>
              <a:t>.</a:t>
            </a:r>
          </a:p>
          <a:p>
            <a:pPr lvl="1"/>
            <a:r>
              <a:rPr lang="en-US" dirty="0"/>
              <a:t>For example, a domain name like www.example.com is mapped to an </a:t>
            </a:r>
            <a:r>
              <a:rPr lang="en-US" dirty="0">
                <a:solidFill>
                  <a:srgbClr val="1D6199"/>
                </a:solidFill>
              </a:rPr>
              <a:t>IP address </a:t>
            </a:r>
            <a:r>
              <a:rPr lang="en-US" dirty="0"/>
              <a:t>by the Domain Name System (DNS), allowing users to access websites without needing to remember numeric IP addresses.</a:t>
            </a:r>
          </a:p>
        </p:txBody>
      </p:sp>
    </p:spTree>
    <p:extLst>
      <p:ext uri="{BB962C8B-B14F-4D97-AF65-F5344CB8AC3E}">
        <p14:creationId xmlns:p14="http://schemas.microsoft.com/office/powerpoint/2010/main" val="24744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IN" sz="3600" dirty="0"/>
              <a:t>Human Oriented Names</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b="1" dirty="0">
                <a:solidFill>
                  <a:srgbClr val="1D6199"/>
                </a:solidFill>
              </a:rPr>
              <a:t>Challenges</a:t>
            </a:r>
            <a:r>
              <a:rPr lang="en-US" dirty="0">
                <a:solidFill>
                  <a:srgbClr val="1D6199"/>
                </a:solidFill>
              </a:rPr>
              <a:t>:</a:t>
            </a:r>
          </a:p>
          <a:p>
            <a:pPr lvl="1"/>
            <a:r>
              <a:rPr lang="en-US" dirty="0">
                <a:solidFill>
                  <a:srgbClr val="1D6199"/>
                </a:solidFill>
              </a:rPr>
              <a:t>Name Conflicts: </a:t>
            </a:r>
          </a:p>
          <a:p>
            <a:pPr lvl="2"/>
            <a:r>
              <a:rPr lang="en-US" dirty="0"/>
              <a:t>In large distributed systems, ensuring that human-oriented </a:t>
            </a:r>
            <a:r>
              <a:rPr lang="en-US" dirty="0">
                <a:solidFill>
                  <a:srgbClr val="1D6199"/>
                </a:solidFill>
              </a:rPr>
              <a:t>names remain unique </a:t>
            </a:r>
            <a:r>
              <a:rPr lang="en-US" dirty="0"/>
              <a:t>and meaningful can be challenging.</a:t>
            </a:r>
          </a:p>
          <a:p>
            <a:pPr lvl="2"/>
            <a:r>
              <a:rPr lang="en-US" dirty="0"/>
              <a:t>Conflict resolution mechanisms may be required when different users or entities attempt to </a:t>
            </a:r>
            <a:r>
              <a:rPr lang="en-US" dirty="0">
                <a:solidFill>
                  <a:srgbClr val="1D6199"/>
                </a:solidFill>
              </a:rPr>
              <a:t>use the same name</a:t>
            </a:r>
            <a:r>
              <a:rPr lang="en-US" dirty="0"/>
              <a:t>.</a:t>
            </a:r>
          </a:p>
          <a:p>
            <a:pPr lvl="1"/>
            <a:r>
              <a:rPr lang="en-US" dirty="0">
                <a:solidFill>
                  <a:srgbClr val="1D6199"/>
                </a:solidFill>
              </a:rPr>
              <a:t>Scalability:</a:t>
            </a:r>
            <a:r>
              <a:rPr lang="en-US" dirty="0"/>
              <a:t> </a:t>
            </a:r>
          </a:p>
          <a:p>
            <a:pPr lvl="2"/>
            <a:r>
              <a:rPr lang="en-US" dirty="0"/>
              <a:t>As the system grows, maintaining the mappings between human-oriented and system-oriented names in a scalable way is </a:t>
            </a:r>
            <a:r>
              <a:rPr lang="en-US" dirty="0">
                <a:solidFill>
                  <a:srgbClr val="1D6199"/>
                </a:solidFill>
              </a:rPr>
              <a:t>critical.</a:t>
            </a:r>
          </a:p>
          <a:p>
            <a:pPr lvl="1"/>
            <a:r>
              <a:rPr lang="en-US" dirty="0">
                <a:solidFill>
                  <a:srgbClr val="1D6199"/>
                </a:solidFill>
              </a:rPr>
              <a:t>User Expectations:</a:t>
            </a:r>
            <a:r>
              <a:rPr lang="en-US" dirty="0"/>
              <a:t> </a:t>
            </a:r>
          </a:p>
          <a:p>
            <a:pPr lvl="2"/>
            <a:r>
              <a:rPr lang="en-US" dirty="0"/>
              <a:t>Users expect human-oriented names to be </a:t>
            </a:r>
            <a:r>
              <a:rPr lang="en-US" dirty="0">
                <a:solidFill>
                  <a:srgbClr val="1D6199"/>
                </a:solidFill>
              </a:rPr>
              <a:t>consistent and persistent</a:t>
            </a:r>
            <a:r>
              <a:rPr lang="en-US" dirty="0"/>
              <a:t>. If a name changes frequently or is reassigned, it can lead to confusion.</a:t>
            </a:r>
          </a:p>
        </p:txBody>
      </p:sp>
    </p:spTree>
    <p:extLst>
      <p:ext uri="{BB962C8B-B14F-4D97-AF65-F5344CB8AC3E}">
        <p14:creationId xmlns:p14="http://schemas.microsoft.com/office/powerpoint/2010/main" val="2647548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IN" sz="3600" dirty="0"/>
              <a:t>Important Questions</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Define: Clock synchronization, clock skew, Drifting of clock, mutual exclusion and critical section</a:t>
            </a:r>
          </a:p>
          <a:p>
            <a:r>
              <a:rPr lang="en-US" dirty="0"/>
              <a:t>Explain Berkeley Algorithm for physical clock synchronization</a:t>
            </a:r>
          </a:p>
          <a:p>
            <a:r>
              <a:rPr lang="en-US" dirty="0"/>
              <a:t>Explain </a:t>
            </a:r>
            <a:r>
              <a:rPr lang="en-US" dirty="0" err="1"/>
              <a:t>Lamport’s</a:t>
            </a:r>
            <a:r>
              <a:rPr lang="en-US" dirty="0"/>
              <a:t> Algorithm for logical clock synchronization</a:t>
            </a:r>
          </a:p>
          <a:p>
            <a:r>
              <a:rPr lang="en-US" dirty="0"/>
              <a:t>How Centralized Mutual Exclusion Algorithm works in distributed system.</a:t>
            </a:r>
          </a:p>
          <a:p>
            <a:r>
              <a:rPr lang="en-US" dirty="0"/>
              <a:t>Determine how token ring algorithm works for mutual exclusion?</a:t>
            </a:r>
          </a:p>
          <a:p>
            <a:r>
              <a:rPr lang="en-US" dirty="0"/>
              <a:t>Describe Bully’s election algorithm by illustrating it for 7 processes group.</a:t>
            </a:r>
          </a:p>
          <a:p>
            <a:endParaRPr lang="en-US" dirty="0"/>
          </a:p>
        </p:txBody>
      </p:sp>
    </p:spTree>
    <p:extLst>
      <p:ext uri="{BB962C8B-B14F-4D97-AF65-F5344CB8AC3E}">
        <p14:creationId xmlns:p14="http://schemas.microsoft.com/office/powerpoint/2010/main" val="4233611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IN" sz="3600" dirty="0"/>
              <a:t>Important Questions</a:t>
            </a:r>
            <a:endParaRPr lang="en-US" dirty="0"/>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IN" dirty="0"/>
              <a:t>p1, p2 and p3 are processes of distributed system, Resource requirement of each process is shown in table. Using deadlock avoidance algorithm, check that sequence p1 p2 p3 and sequence p3 p1 p2 are safe or not?      Total resources = 10</a:t>
            </a:r>
          </a:p>
          <a:p>
            <a:endParaRPr lang="en-IN" dirty="0"/>
          </a:p>
          <a:p>
            <a:endParaRPr lang="en-IN" dirty="0"/>
          </a:p>
          <a:p>
            <a:r>
              <a:rPr lang="en-US" dirty="0"/>
              <a:t>Write about name server, name agent and name resolution in naming system.</a:t>
            </a:r>
            <a:endParaRPr lang="en-IN" dirty="0"/>
          </a:p>
          <a:p>
            <a:r>
              <a:rPr lang="en-IN" dirty="0"/>
              <a:t>Determine how system oriented names are useful in distributed system?</a:t>
            </a:r>
            <a:endParaRPr lang="en-US" dirty="0"/>
          </a:p>
          <a:p>
            <a:endParaRPr lang="en-US" dirty="0"/>
          </a:p>
        </p:txBody>
      </p:sp>
      <p:graphicFrame>
        <p:nvGraphicFramePr>
          <p:cNvPr id="4" name="Table 3">
            <a:extLst>
              <a:ext uri="{FF2B5EF4-FFF2-40B4-BE49-F238E27FC236}">
                <a16:creationId xmlns:a16="http://schemas.microsoft.com/office/drawing/2014/main" id="{BF7871D6-6CB7-5DB2-B683-5F6D792941FF}"/>
              </a:ext>
            </a:extLst>
          </p:cNvPr>
          <p:cNvGraphicFramePr>
            <a:graphicFrameLocks noGrp="1"/>
          </p:cNvGraphicFramePr>
          <p:nvPr>
            <p:extLst>
              <p:ext uri="{D42A27DB-BD31-4B8C-83A1-F6EECF244321}">
                <p14:modId xmlns:p14="http://schemas.microsoft.com/office/powerpoint/2010/main" val="3304054089"/>
              </p:ext>
            </p:extLst>
          </p:nvPr>
        </p:nvGraphicFramePr>
        <p:xfrm>
          <a:off x="530616" y="2159989"/>
          <a:ext cx="2757707" cy="1181088"/>
        </p:xfrm>
        <a:graphic>
          <a:graphicData uri="http://schemas.openxmlformats.org/drawingml/2006/table">
            <a:tbl>
              <a:tblPr firstRow="1" bandRow="1">
                <a:tableStyleId>{5940675A-B579-460E-94D1-54222C63F5DA}</a:tableStyleId>
              </a:tblPr>
              <a:tblGrid>
                <a:gridCol w="1649765">
                  <a:extLst>
                    <a:ext uri="{9D8B030D-6E8A-4147-A177-3AD203B41FA5}">
                      <a16:colId xmlns:a16="http://schemas.microsoft.com/office/drawing/2014/main" val="3180218154"/>
                    </a:ext>
                  </a:extLst>
                </a:gridCol>
                <a:gridCol w="369314">
                  <a:extLst>
                    <a:ext uri="{9D8B030D-6E8A-4147-A177-3AD203B41FA5}">
                      <a16:colId xmlns:a16="http://schemas.microsoft.com/office/drawing/2014/main" val="224698781"/>
                    </a:ext>
                  </a:extLst>
                </a:gridCol>
                <a:gridCol w="369314">
                  <a:extLst>
                    <a:ext uri="{9D8B030D-6E8A-4147-A177-3AD203B41FA5}">
                      <a16:colId xmlns:a16="http://schemas.microsoft.com/office/drawing/2014/main" val="3134808105"/>
                    </a:ext>
                  </a:extLst>
                </a:gridCol>
                <a:gridCol w="369314">
                  <a:extLst>
                    <a:ext uri="{9D8B030D-6E8A-4147-A177-3AD203B41FA5}">
                      <a16:colId xmlns:a16="http://schemas.microsoft.com/office/drawing/2014/main" val="450319884"/>
                    </a:ext>
                  </a:extLst>
                </a:gridCol>
              </a:tblGrid>
              <a:tr h="295272">
                <a:tc>
                  <a:txBody>
                    <a:bodyPr/>
                    <a:lstStyle/>
                    <a:p>
                      <a:endParaRPr lang="en-IN" sz="1100" dirty="0">
                        <a:effectLst/>
                        <a:latin typeface="Calibri" panose="020F0502020204030204" pitchFamily="34" charset="0"/>
                        <a:ea typeface="Calibri" panose="020F0502020204030204" pitchFamily="34" charset="0"/>
                        <a:cs typeface="Shruti" panose="02000500000000000000" pitchFamily="2"/>
                      </a:endParaRPr>
                    </a:p>
                  </a:txBody>
                  <a:tcPr marL="68580" marR="68580" marT="0" marB="0"/>
                </a:tc>
                <a:tc>
                  <a:txBody>
                    <a:bodyPr/>
                    <a:lstStyle/>
                    <a:p>
                      <a:pPr algn="just"/>
                      <a:r>
                        <a:rPr lang="en-US" sz="1200">
                          <a:effectLst/>
                        </a:rPr>
                        <a:t>p1</a:t>
                      </a:r>
                      <a:endParaRPr lang="en-IN" sz="1000">
                        <a:effectLst/>
                        <a:latin typeface="Times New Roman" panose="02020603050405020304" pitchFamily="18" charset="0"/>
                        <a:ea typeface="Times New Roman" panose="02020603050405020304" pitchFamily="18" charset="0"/>
                        <a:cs typeface="Shruti" panose="02000500000000000000" pitchFamily="2"/>
                      </a:endParaRPr>
                    </a:p>
                  </a:txBody>
                  <a:tcPr marL="68580" marR="68580" marT="0" marB="0"/>
                </a:tc>
                <a:tc>
                  <a:txBody>
                    <a:bodyPr/>
                    <a:lstStyle/>
                    <a:p>
                      <a:pPr algn="just"/>
                      <a:r>
                        <a:rPr lang="en-US" sz="1200">
                          <a:effectLst/>
                        </a:rPr>
                        <a:t>p2</a:t>
                      </a:r>
                      <a:endParaRPr lang="en-IN" sz="1000">
                        <a:effectLst/>
                        <a:latin typeface="Times New Roman" panose="02020603050405020304" pitchFamily="18" charset="0"/>
                        <a:ea typeface="Times New Roman" panose="02020603050405020304" pitchFamily="18" charset="0"/>
                        <a:cs typeface="Shruti" panose="02000500000000000000" pitchFamily="2"/>
                      </a:endParaRPr>
                    </a:p>
                  </a:txBody>
                  <a:tcPr marL="68580" marR="68580" marT="0" marB="0"/>
                </a:tc>
                <a:tc>
                  <a:txBody>
                    <a:bodyPr/>
                    <a:lstStyle/>
                    <a:p>
                      <a:pPr algn="just"/>
                      <a:r>
                        <a:rPr lang="en-US" sz="1200">
                          <a:effectLst/>
                        </a:rPr>
                        <a:t>p3</a:t>
                      </a:r>
                      <a:endParaRPr lang="en-IN" sz="1000">
                        <a:effectLst/>
                        <a:latin typeface="Times New Roman" panose="02020603050405020304" pitchFamily="18" charset="0"/>
                        <a:ea typeface="Times New Roman" panose="02020603050405020304" pitchFamily="18" charset="0"/>
                        <a:cs typeface="Shruti" panose="02000500000000000000" pitchFamily="2"/>
                      </a:endParaRPr>
                    </a:p>
                  </a:txBody>
                  <a:tcPr marL="68580" marR="68580" marT="0" marB="0"/>
                </a:tc>
                <a:extLst>
                  <a:ext uri="{0D108BD9-81ED-4DB2-BD59-A6C34878D82A}">
                    <a16:rowId xmlns:a16="http://schemas.microsoft.com/office/drawing/2014/main" val="1425124864"/>
                  </a:ext>
                </a:extLst>
              </a:tr>
              <a:tr h="295272">
                <a:tc>
                  <a:txBody>
                    <a:bodyPr/>
                    <a:lstStyle/>
                    <a:p>
                      <a:pPr algn="just"/>
                      <a:r>
                        <a:rPr lang="en-US" sz="1200">
                          <a:effectLst/>
                        </a:rPr>
                        <a:t>Max resources</a:t>
                      </a:r>
                      <a:endParaRPr lang="en-IN" sz="1000">
                        <a:effectLst/>
                        <a:latin typeface="Times New Roman" panose="02020603050405020304" pitchFamily="18" charset="0"/>
                        <a:ea typeface="Times New Roman" panose="02020603050405020304" pitchFamily="18" charset="0"/>
                        <a:cs typeface="Shruti" panose="02000500000000000000" pitchFamily="2"/>
                      </a:endParaRPr>
                    </a:p>
                  </a:txBody>
                  <a:tcPr marL="68580" marR="68580" marT="0" marB="0"/>
                </a:tc>
                <a:tc>
                  <a:txBody>
                    <a:bodyPr/>
                    <a:lstStyle/>
                    <a:p>
                      <a:pPr algn="just"/>
                      <a:r>
                        <a:rPr lang="en-US" sz="1200">
                          <a:effectLst/>
                        </a:rPr>
                        <a:t>5</a:t>
                      </a:r>
                      <a:endParaRPr lang="en-IN" sz="1000">
                        <a:effectLst/>
                        <a:latin typeface="Times New Roman" panose="02020603050405020304" pitchFamily="18" charset="0"/>
                        <a:ea typeface="Times New Roman" panose="02020603050405020304" pitchFamily="18" charset="0"/>
                        <a:cs typeface="Shruti" panose="02000500000000000000" pitchFamily="2"/>
                      </a:endParaRPr>
                    </a:p>
                  </a:txBody>
                  <a:tcPr marL="68580" marR="68580" marT="0" marB="0"/>
                </a:tc>
                <a:tc>
                  <a:txBody>
                    <a:bodyPr/>
                    <a:lstStyle/>
                    <a:p>
                      <a:pPr algn="just"/>
                      <a:r>
                        <a:rPr lang="en-US" sz="1200">
                          <a:effectLst/>
                        </a:rPr>
                        <a:t>4</a:t>
                      </a:r>
                      <a:endParaRPr lang="en-IN" sz="1000">
                        <a:effectLst/>
                        <a:latin typeface="Times New Roman" panose="02020603050405020304" pitchFamily="18" charset="0"/>
                        <a:ea typeface="Times New Roman" panose="02020603050405020304" pitchFamily="18" charset="0"/>
                        <a:cs typeface="Shruti" panose="02000500000000000000" pitchFamily="2"/>
                      </a:endParaRPr>
                    </a:p>
                  </a:txBody>
                  <a:tcPr marL="68580" marR="68580" marT="0" marB="0"/>
                </a:tc>
                <a:tc>
                  <a:txBody>
                    <a:bodyPr/>
                    <a:lstStyle/>
                    <a:p>
                      <a:pPr algn="just"/>
                      <a:r>
                        <a:rPr lang="en-US" sz="1200">
                          <a:effectLst/>
                        </a:rPr>
                        <a:t>9</a:t>
                      </a:r>
                      <a:endParaRPr lang="en-IN" sz="1000">
                        <a:effectLst/>
                        <a:latin typeface="Times New Roman" panose="02020603050405020304" pitchFamily="18" charset="0"/>
                        <a:ea typeface="Times New Roman" panose="02020603050405020304" pitchFamily="18" charset="0"/>
                        <a:cs typeface="Shruti" panose="02000500000000000000" pitchFamily="2"/>
                      </a:endParaRPr>
                    </a:p>
                  </a:txBody>
                  <a:tcPr marL="68580" marR="68580" marT="0" marB="0"/>
                </a:tc>
                <a:extLst>
                  <a:ext uri="{0D108BD9-81ED-4DB2-BD59-A6C34878D82A}">
                    <a16:rowId xmlns:a16="http://schemas.microsoft.com/office/drawing/2014/main" val="3479754781"/>
                  </a:ext>
                </a:extLst>
              </a:tr>
              <a:tr h="295272">
                <a:tc>
                  <a:txBody>
                    <a:bodyPr/>
                    <a:lstStyle/>
                    <a:p>
                      <a:pPr algn="just"/>
                      <a:r>
                        <a:rPr lang="en-US" sz="1200">
                          <a:effectLst/>
                        </a:rPr>
                        <a:t>Holds resources</a:t>
                      </a:r>
                      <a:endParaRPr lang="en-IN" sz="1000">
                        <a:effectLst/>
                        <a:latin typeface="Times New Roman" panose="02020603050405020304" pitchFamily="18" charset="0"/>
                        <a:ea typeface="Times New Roman" panose="02020603050405020304" pitchFamily="18" charset="0"/>
                        <a:cs typeface="Shruti" panose="02000500000000000000" pitchFamily="2"/>
                      </a:endParaRPr>
                    </a:p>
                  </a:txBody>
                  <a:tcPr marL="68580" marR="68580" marT="0" marB="0"/>
                </a:tc>
                <a:tc>
                  <a:txBody>
                    <a:bodyPr/>
                    <a:lstStyle/>
                    <a:p>
                      <a:pPr algn="just"/>
                      <a:r>
                        <a:rPr lang="en-US" sz="1200">
                          <a:effectLst/>
                        </a:rPr>
                        <a:t>3</a:t>
                      </a:r>
                      <a:endParaRPr lang="en-IN" sz="1000">
                        <a:effectLst/>
                        <a:latin typeface="Times New Roman" panose="02020603050405020304" pitchFamily="18" charset="0"/>
                        <a:ea typeface="Times New Roman" panose="02020603050405020304" pitchFamily="18" charset="0"/>
                        <a:cs typeface="Shruti" panose="02000500000000000000" pitchFamily="2"/>
                      </a:endParaRPr>
                    </a:p>
                  </a:txBody>
                  <a:tcPr marL="68580" marR="68580" marT="0" marB="0"/>
                </a:tc>
                <a:tc>
                  <a:txBody>
                    <a:bodyPr/>
                    <a:lstStyle/>
                    <a:p>
                      <a:pPr algn="just"/>
                      <a:r>
                        <a:rPr lang="en-US" sz="1200">
                          <a:effectLst/>
                        </a:rPr>
                        <a:t>2</a:t>
                      </a:r>
                      <a:endParaRPr lang="en-IN" sz="1000">
                        <a:effectLst/>
                        <a:latin typeface="Times New Roman" panose="02020603050405020304" pitchFamily="18" charset="0"/>
                        <a:ea typeface="Times New Roman" panose="02020603050405020304" pitchFamily="18" charset="0"/>
                        <a:cs typeface="Shruti" panose="02000500000000000000" pitchFamily="2"/>
                      </a:endParaRPr>
                    </a:p>
                  </a:txBody>
                  <a:tcPr marL="68580" marR="68580" marT="0" marB="0"/>
                </a:tc>
                <a:tc>
                  <a:txBody>
                    <a:bodyPr/>
                    <a:lstStyle/>
                    <a:p>
                      <a:pPr algn="just"/>
                      <a:r>
                        <a:rPr lang="en-US" sz="1200">
                          <a:effectLst/>
                        </a:rPr>
                        <a:t>3</a:t>
                      </a:r>
                      <a:endParaRPr lang="en-IN" sz="1000">
                        <a:effectLst/>
                        <a:latin typeface="Times New Roman" panose="02020603050405020304" pitchFamily="18" charset="0"/>
                        <a:ea typeface="Times New Roman" panose="02020603050405020304" pitchFamily="18" charset="0"/>
                        <a:cs typeface="Shruti" panose="02000500000000000000" pitchFamily="2"/>
                      </a:endParaRPr>
                    </a:p>
                  </a:txBody>
                  <a:tcPr marL="68580" marR="68580" marT="0" marB="0"/>
                </a:tc>
                <a:extLst>
                  <a:ext uri="{0D108BD9-81ED-4DB2-BD59-A6C34878D82A}">
                    <a16:rowId xmlns:a16="http://schemas.microsoft.com/office/drawing/2014/main" val="1619232563"/>
                  </a:ext>
                </a:extLst>
              </a:tr>
              <a:tr h="295272">
                <a:tc>
                  <a:txBody>
                    <a:bodyPr/>
                    <a:lstStyle/>
                    <a:p>
                      <a:pPr algn="just"/>
                      <a:r>
                        <a:rPr lang="en-US" sz="1200" dirty="0">
                          <a:effectLst/>
                        </a:rPr>
                        <a:t>Free resources</a:t>
                      </a:r>
                      <a:endParaRPr lang="en-IN" sz="1000" dirty="0">
                        <a:effectLst/>
                        <a:latin typeface="Times New Roman" panose="02020603050405020304" pitchFamily="18" charset="0"/>
                        <a:ea typeface="Times New Roman" panose="02020603050405020304" pitchFamily="18" charset="0"/>
                        <a:cs typeface="Shruti" panose="02000500000000000000" pitchFamily="2"/>
                      </a:endParaRPr>
                    </a:p>
                  </a:txBody>
                  <a:tcPr marL="68580" marR="68580" marT="0" marB="0"/>
                </a:tc>
                <a:tc gridSpan="3">
                  <a:txBody>
                    <a:bodyPr/>
                    <a:lstStyle/>
                    <a:p>
                      <a:pPr algn="just"/>
                      <a:r>
                        <a:rPr lang="en-US" sz="1200" dirty="0">
                          <a:effectLst/>
                        </a:rPr>
                        <a:t>2</a:t>
                      </a:r>
                      <a:endParaRPr lang="en-IN" sz="1000" dirty="0">
                        <a:effectLst/>
                        <a:latin typeface="Times New Roman" panose="02020603050405020304" pitchFamily="18" charset="0"/>
                        <a:ea typeface="Times New Roman" panose="02020603050405020304" pitchFamily="18" charset="0"/>
                        <a:cs typeface="Shruti" panose="02000500000000000000" pitchFamily="2"/>
                      </a:endParaRPr>
                    </a:p>
                  </a:txBody>
                  <a:tcPr marL="68580" marR="6858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42920900"/>
                  </a:ext>
                </a:extLst>
              </a:tr>
            </a:tbl>
          </a:graphicData>
        </a:graphic>
      </p:graphicFrame>
    </p:spTree>
    <p:extLst>
      <p:ext uri="{BB962C8B-B14F-4D97-AF65-F5344CB8AC3E}">
        <p14:creationId xmlns:p14="http://schemas.microsoft.com/office/powerpoint/2010/main" val="398818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lstStyle/>
          <a:p>
            <a:endParaRPr lang="en-US" dirty="0"/>
          </a:p>
        </p:txBody>
      </p:sp>
      <p:sp>
        <p:nvSpPr>
          <p:cNvPr id="4" name="Text Placeholder 3"/>
          <p:cNvSpPr>
            <a:spLocks noGrp="1"/>
          </p:cNvSpPr>
          <p:nvPr>
            <p:ph type="body" sz="quarter" idx="13"/>
          </p:nvPr>
        </p:nvSpPr>
        <p:spPr/>
        <p:txBody>
          <a:bodyPr/>
          <a:lstStyle/>
          <a:p>
            <a:r>
              <a:rPr lang="en-US" dirty="0"/>
              <a:t>Computer Engineering Department</a:t>
            </a:r>
          </a:p>
        </p:txBody>
      </p:sp>
      <p:sp>
        <p:nvSpPr>
          <p:cNvPr id="5" name="Text Placeholder 4"/>
          <p:cNvSpPr>
            <a:spLocks noGrp="1"/>
          </p:cNvSpPr>
          <p:nvPr>
            <p:ph type="body" sz="quarter" idx="14"/>
          </p:nvPr>
        </p:nvSpPr>
        <p:spPr/>
        <p:txBody>
          <a:bodyPr/>
          <a:lstStyle/>
          <a:p>
            <a:r>
              <a:rPr lang="en-IN" dirty="0"/>
              <a:t>Prof. Nidhi K Chitroda</a:t>
            </a:r>
          </a:p>
        </p:txBody>
      </p:sp>
      <p:sp>
        <p:nvSpPr>
          <p:cNvPr id="9"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p:txBody>
          <a:bodyPr/>
          <a:lstStyle/>
          <a:p>
            <a:r>
              <a:rPr lang="en-US" b="1" dirty="0">
                <a:latin typeface="Roboto Condensed Light" panose="02000000000000000000" pitchFamily="2" charset="0"/>
                <a:ea typeface="Roboto Condensed Light" panose="02000000000000000000" pitchFamily="2" charset="0"/>
              </a:rPr>
              <a:t>Distributed Operating Systems (DOS)</a:t>
            </a:r>
          </a:p>
        </p:txBody>
      </p:sp>
      <p:sp>
        <p:nvSpPr>
          <p:cNvPr id="7" name="Text Placeholder 6">
            <a:extLst>
              <a:ext uri="{FF2B5EF4-FFF2-40B4-BE49-F238E27FC236}">
                <a16:creationId xmlns:a16="http://schemas.microsoft.com/office/drawing/2014/main" id="{9546DD42-775F-14AC-50FD-C3CD6AB226D9}"/>
              </a:ext>
            </a:extLst>
          </p:cNvPr>
          <p:cNvSpPr>
            <a:spLocks noGrp="1"/>
          </p:cNvSpPr>
          <p:nvPr>
            <p:ph type="body" sz="quarter" idx="11"/>
          </p:nvPr>
        </p:nvSpPr>
        <p:spPr/>
        <p:txBody>
          <a:bodyPr/>
          <a:lstStyle/>
          <a:p>
            <a:endParaRPr lang="en-IN"/>
          </a:p>
        </p:txBody>
      </p:sp>
      <p:pic>
        <p:nvPicPr>
          <p:cNvPr id="8" name="Picture 7">
            <a:extLst>
              <a:ext uri="{FF2B5EF4-FFF2-40B4-BE49-F238E27FC236}">
                <a16:creationId xmlns:a16="http://schemas.microsoft.com/office/drawing/2014/main" id="{ABC681FA-69F6-5774-E41C-A55580288B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619" y="5131222"/>
            <a:ext cx="1420089" cy="1420089"/>
          </a:xfrm>
          <a:prstGeom prst="rect">
            <a:avLst/>
          </a:prstGeom>
        </p:spPr>
      </p:pic>
    </p:spTree>
    <p:extLst>
      <p:ext uri="{BB962C8B-B14F-4D97-AF65-F5344CB8AC3E}">
        <p14:creationId xmlns:p14="http://schemas.microsoft.com/office/powerpoint/2010/main" val="2025292370"/>
      </p:ext>
    </p:extLst>
  </p:cSld>
  <p:clrMapOvr>
    <a:masterClrMapping/>
  </p:clrMapOvr>
</p:sld>
</file>

<file path=ppt/theme/theme1.xml><?xml version="1.0" encoding="utf-8"?>
<a:theme xmlns:a="http://schemas.openxmlformats.org/drawingml/2006/main" name="Office Theme">
  <a:themeElements>
    <a:clrScheme name="DeptPPT">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13568</TotalTime>
  <Words>11844</Words>
  <Application>Microsoft Office PowerPoint</Application>
  <PresentationFormat>Widescreen</PresentationFormat>
  <Paragraphs>1762</Paragraphs>
  <Slides>151</Slides>
  <Notes>14</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151</vt:i4>
      </vt:variant>
    </vt:vector>
  </HeadingPairs>
  <TitlesOfParts>
    <vt:vector size="166" baseType="lpstr">
      <vt:lpstr>Wingdings</vt:lpstr>
      <vt:lpstr>Arial</vt:lpstr>
      <vt:lpstr>Roboto Condensed Light</vt:lpstr>
      <vt:lpstr>MS PGothic</vt:lpstr>
      <vt:lpstr>Courier New</vt:lpstr>
      <vt:lpstr>Times New Roman</vt:lpstr>
      <vt:lpstr>Roboto Condensed</vt:lpstr>
      <vt:lpstr>MS PGothic</vt:lpstr>
      <vt:lpstr>Webdings</vt:lpstr>
      <vt:lpstr>Wingdings 2</vt:lpstr>
      <vt:lpstr>Wingdings 3</vt:lpstr>
      <vt:lpstr>Cambria Math</vt:lpstr>
      <vt:lpstr>Calibri</vt:lpstr>
      <vt:lpstr>Office Theme</vt:lpstr>
      <vt:lpstr>Equation</vt:lpstr>
      <vt:lpstr>Unit-3  Synchronization and Naming</vt:lpstr>
      <vt:lpstr>PowerPoint Presentation</vt:lpstr>
      <vt:lpstr>PowerPoint Presentation</vt:lpstr>
      <vt:lpstr>Synchronization</vt:lpstr>
      <vt:lpstr>Synchronization</vt:lpstr>
      <vt:lpstr>Need for Synchronization – An Example</vt:lpstr>
      <vt:lpstr>Need for Synchronization – An Example</vt:lpstr>
      <vt:lpstr>Clock Synchronization</vt:lpstr>
      <vt:lpstr>Clock Synchronization</vt:lpstr>
      <vt:lpstr>Coordinated Universal Time (UTC)</vt:lpstr>
      <vt:lpstr>Tracking Time on a Computer</vt:lpstr>
      <vt:lpstr>Clock Skew</vt:lpstr>
      <vt:lpstr>Clock Skew</vt:lpstr>
      <vt:lpstr>Drifting of Clock</vt:lpstr>
      <vt:lpstr>Dealing with Drift</vt:lpstr>
      <vt:lpstr>Dealing with Drift</vt:lpstr>
      <vt:lpstr>Physical Clocks</vt:lpstr>
      <vt:lpstr>Physical Clocks</vt:lpstr>
      <vt:lpstr>Physical Clocks</vt:lpstr>
      <vt:lpstr>Physical Clocks</vt:lpstr>
      <vt:lpstr>Physical Clocks</vt:lpstr>
      <vt:lpstr>Synchronization to a time server</vt:lpstr>
      <vt:lpstr>Cristian’s Algorithm</vt:lpstr>
      <vt:lpstr>Cristian’s Algorithm</vt:lpstr>
      <vt:lpstr>Cristian’s Algorithm</vt:lpstr>
      <vt:lpstr>Cristian’s Algorithm</vt:lpstr>
      <vt:lpstr>Cristian’s Algorithm</vt:lpstr>
      <vt:lpstr>Error Bounds in Cristian’s Algorithm </vt:lpstr>
      <vt:lpstr>Cristian’s Algorithm</vt:lpstr>
      <vt:lpstr>Berkeley Algorithm</vt:lpstr>
      <vt:lpstr>Berkeley Algorithm</vt:lpstr>
      <vt:lpstr>Network Time Protocol (NTP)</vt:lpstr>
      <vt:lpstr>Network Time Protocol (NTP)</vt:lpstr>
      <vt:lpstr>Hierarchical organization of NTP Servers</vt:lpstr>
      <vt:lpstr>Network Time Protocol (NTP)</vt:lpstr>
      <vt:lpstr>Logical Clocks</vt:lpstr>
      <vt:lpstr>Logical Clocks</vt:lpstr>
      <vt:lpstr>Lamport’s Logical Clock</vt:lpstr>
      <vt:lpstr>The Happened-before Relation</vt:lpstr>
      <vt:lpstr>Properties of Logical Clock</vt:lpstr>
      <vt:lpstr>Synchronizing Logical Clocks</vt:lpstr>
      <vt:lpstr>Lamport’s Clock Algorithm</vt:lpstr>
      <vt:lpstr>Implementation of Lamport’s Clock</vt:lpstr>
      <vt:lpstr>Implementation of Lamport’s Clock</vt:lpstr>
      <vt:lpstr>Vector Clocks</vt:lpstr>
      <vt:lpstr>Updating Vector Clocks</vt:lpstr>
      <vt:lpstr>Vector Clock Update Algorithm</vt:lpstr>
      <vt:lpstr>Inferring Events with Vector Clocks</vt:lpstr>
      <vt:lpstr>Enforcing Causal Communication</vt:lpstr>
      <vt:lpstr>Mutual Exclusion</vt:lpstr>
      <vt:lpstr>Critical Section &amp; Mutual Exclusion</vt:lpstr>
      <vt:lpstr>Critical Section &amp; Mutual Exclusion</vt:lpstr>
      <vt:lpstr>Mutual Exclusion</vt:lpstr>
      <vt:lpstr>Mutual Exclusion</vt:lpstr>
      <vt:lpstr>Critical Section </vt:lpstr>
      <vt:lpstr>Types of Distributed Mutual Exclusion</vt:lpstr>
      <vt:lpstr>Permission-based Approaches</vt:lpstr>
      <vt:lpstr>Centralized Mutual Exclusion Algorithm</vt:lpstr>
      <vt:lpstr>Centralized Mutual Exclusion Algorithm</vt:lpstr>
      <vt:lpstr>Centralized Mutual Exclusion Algorithm</vt:lpstr>
      <vt:lpstr>A Centralized Algorithm – Advantages and Disadvantages</vt:lpstr>
      <vt:lpstr>Distributed Mutual Exclusion Algorithm</vt:lpstr>
      <vt:lpstr>Distributed Mutual Exclusion Algorithm</vt:lpstr>
      <vt:lpstr>Distributed Mutual Exclusion Algorithm</vt:lpstr>
      <vt:lpstr>A Token Ring Algorithm</vt:lpstr>
      <vt:lpstr>Failure in Token Ring Algorithm</vt:lpstr>
      <vt:lpstr>Failure in Token Ring Algorithm</vt:lpstr>
      <vt:lpstr>Comparison of Mutual Exclusion Algorithms</vt:lpstr>
      <vt:lpstr>Need for a Coordinator</vt:lpstr>
      <vt:lpstr>Election Algorithms</vt:lpstr>
      <vt:lpstr>Election in Distributed Systems</vt:lpstr>
      <vt:lpstr>Election Algorithms</vt:lpstr>
      <vt:lpstr>Assumptions</vt:lpstr>
      <vt:lpstr>Election Algorithms</vt:lpstr>
      <vt:lpstr>Bully Algorithm</vt:lpstr>
      <vt:lpstr>Bully Algorithm</vt:lpstr>
      <vt:lpstr>Ring Algorithm</vt:lpstr>
      <vt:lpstr>Ring Algorithm</vt:lpstr>
      <vt:lpstr>Comparison of Election Algorithms</vt:lpstr>
      <vt:lpstr>Summary of Election Algorithms</vt:lpstr>
      <vt:lpstr>Elections in Wireless Environments</vt:lpstr>
      <vt:lpstr>Elections in Wireless Environments</vt:lpstr>
      <vt:lpstr>Elections in Wireless Environments</vt:lpstr>
      <vt:lpstr>Elections in Wireless Environments</vt:lpstr>
      <vt:lpstr>Global State</vt:lpstr>
      <vt:lpstr>Global State</vt:lpstr>
      <vt:lpstr>Global State</vt:lpstr>
      <vt:lpstr>Algorithm for taking a Distributed snapshot</vt:lpstr>
      <vt:lpstr>Algorithm for taking a Distributed snapshot</vt:lpstr>
      <vt:lpstr>Deadlocks in DOS</vt:lpstr>
      <vt:lpstr>Basic concepts</vt:lpstr>
      <vt:lpstr>What is Deadlock?</vt:lpstr>
      <vt:lpstr>Distributed deadlocks</vt:lpstr>
      <vt:lpstr>Distributed deadlocks</vt:lpstr>
      <vt:lpstr>Distributed deadlocks</vt:lpstr>
      <vt:lpstr>Distributed deadlocks</vt:lpstr>
      <vt:lpstr>Distributed deadlocks</vt:lpstr>
      <vt:lpstr>Deadlock avoidance</vt:lpstr>
      <vt:lpstr>Deadlock avoidance</vt:lpstr>
      <vt:lpstr>Deadlock avoidance</vt:lpstr>
      <vt:lpstr>Deadlock avoidance</vt:lpstr>
      <vt:lpstr>Deadlock avoidance</vt:lpstr>
      <vt:lpstr>Deadlock avoidance</vt:lpstr>
      <vt:lpstr>Deadlock avoidance</vt:lpstr>
      <vt:lpstr>Naming</vt:lpstr>
      <vt:lpstr>Names, identifiers, and addresses</vt:lpstr>
      <vt:lpstr>Features of Good naming </vt:lpstr>
      <vt:lpstr>Features of Good naming </vt:lpstr>
      <vt:lpstr>Features of Good naming </vt:lpstr>
      <vt:lpstr>Features of Good naming </vt:lpstr>
      <vt:lpstr>Features of Good naming </vt:lpstr>
      <vt:lpstr>Fundamental Technologies and Concepts</vt:lpstr>
      <vt:lpstr>Name Spaces</vt:lpstr>
      <vt:lpstr>Name Spaces</vt:lpstr>
      <vt:lpstr>Name Spaces - An Example </vt:lpstr>
      <vt:lpstr>Name Resolution</vt:lpstr>
      <vt:lpstr>Name Resolution</vt:lpstr>
      <vt:lpstr>Name Server</vt:lpstr>
      <vt:lpstr>Name Server</vt:lpstr>
      <vt:lpstr>Name Agent</vt:lpstr>
      <vt:lpstr>Name Agent</vt:lpstr>
      <vt:lpstr>Context</vt:lpstr>
      <vt:lpstr>Context</vt:lpstr>
      <vt:lpstr>Abbreviation/Alias</vt:lpstr>
      <vt:lpstr>Abbreviation/Alias</vt:lpstr>
      <vt:lpstr>Absolute and Relative names</vt:lpstr>
      <vt:lpstr>Absolute and Relative names</vt:lpstr>
      <vt:lpstr>Generic and multicast names</vt:lpstr>
      <vt:lpstr>Descriptive/Attribute based name</vt:lpstr>
      <vt:lpstr>System Oriented Names</vt:lpstr>
      <vt:lpstr>System Oriented Names</vt:lpstr>
      <vt:lpstr>Centralized Approach for Generating System-Oriented Names</vt:lpstr>
      <vt:lpstr>Centralized Approach for Generating System-Oriented Names</vt:lpstr>
      <vt:lpstr>Centralized Approach for Generating System-Oriented Names</vt:lpstr>
      <vt:lpstr> Distributed Approach for Generating System-Oriented Names</vt:lpstr>
      <vt:lpstr> Distributed Approach for Generating System-Oriented Names</vt:lpstr>
      <vt:lpstr> Distributed Approach for Generating System-Oriented Names</vt:lpstr>
      <vt:lpstr>Object locating mechanism</vt:lpstr>
      <vt:lpstr>Object locating mechanism</vt:lpstr>
      <vt:lpstr>Types of Object Locating Mechanisms:</vt:lpstr>
      <vt:lpstr>Types of Object Locating Mechanisms:</vt:lpstr>
      <vt:lpstr>Types of Object Locating Mechanisms:</vt:lpstr>
      <vt:lpstr>Types of Object Locating Mechanisms:</vt:lpstr>
      <vt:lpstr>Human Oriented Names</vt:lpstr>
      <vt:lpstr>Human Oriented Names</vt:lpstr>
      <vt:lpstr>Human Oriented Names</vt:lpstr>
      <vt:lpstr>Human Oriented Names</vt:lpstr>
      <vt:lpstr>Human Oriented Names</vt:lpstr>
      <vt:lpstr>Important Questions</vt:lpstr>
      <vt:lpstr>Important 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Linked List - Linear Data Structure</dc:title>
  <dc:creator>ADMIN</dc:creator>
  <cp:keywords>Linked List, Data Structure, Darshan Institute of Engineering &amp; Technology, DIET</cp:keywords>
  <cp:lastModifiedBy>Nidhi Chitroda</cp:lastModifiedBy>
  <cp:revision>1046</cp:revision>
  <dcterms:created xsi:type="dcterms:W3CDTF">2020-05-01T05:09:15Z</dcterms:created>
  <dcterms:modified xsi:type="dcterms:W3CDTF">2026-07-24T02:32:39Z</dcterms:modified>
</cp:coreProperties>
</file>